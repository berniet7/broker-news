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K Modular" charset="1" panose="00000800000000000000"/>
      <p:regular r:id="rId19"/>
    </p:embeddedFont>
    <p:embeddedFont>
      <p:font typeface="Tomorrow Bold" charset="1" panose="00000000000000000000"/>
      <p:regular r:id="rId20"/>
    </p:embeddedFont>
    <p:embeddedFont>
      <p:font typeface="Tomorrow" charset="1" panose="00000000000000000000"/>
      <p:regular r:id="rId21"/>
    </p:embeddedFont>
    <p:embeddedFont>
      <p:font typeface="Arimo" charset="1" panose="020B0604020202020204"/>
      <p:regular r:id="rId22"/>
    </p:embeddedFont>
    <p:embeddedFont>
      <p:font typeface="Arimo Bold" charset="1" panose="020B0704020202020204"/>
      <p:regular r:id="rId26"/>
    </p:embeddedFont>
    <p:embeddedFont>
      <p:font typeface="Aptos Bold" charset="1" panose="020B0004020202020204"/>
      <p:regular r:id="rId27"/>
    </p:embeddedFont>
    <p:embeddedFont>
      <p:font typeface="Aptos" charset="1" panose="020B0004020202020204"/>
      <p:regular r:id="rId28"/>
    </p:embeddedFont>
    <p:embeddedFont>
      <p:font typeface="Noto Sans Bold" charset="1" panose="020B0802040504020204"/>
      <p:regular r:id="rId31"/>
    </p:embeddedFont>
    <p:embeddedFont>
      <p:font typeface="Noto Sans" charset="1" panose="020B050204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的形成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的定義與服務分層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213730" y="2288320"/>
          <a:ext cx="13874381" cy="7181850"/>
        </p:xfrm>
        <a:graphic>
          <a:graphicData uri="http://schemas.openxmlformats.org/drawingml/2006/table">
            <a:tbl>
              <a:tblPr/>
              <a:tblGrid>
                <a:gridCol w="3443225"/>
                <a:gridCol w="3443225"/>
                <a:gridCol w="3443225"/>
                <a:gridCol w="3544705"/>
              </a:tblGrid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比</a:t>
                      </a: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較面向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散戶Open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HTF/Low 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法人Electronic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</a:tr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主要客群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個人程式交易者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小型量化團隊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HFT、做市商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自營、專業量化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外資、資產管理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量化基金、機構交易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客戶目標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自動化策略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自行串接交易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最小化延遲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提高執行確定性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提升執行效率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穩定處理大量交</a:t>
                      </a: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68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核心服務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API、SDK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行情／帳務／下單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Co-location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Cross-connect、低延遲行情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FIX、DMA, </a:t>
                      </a: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Broker Algo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競爭核心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易用性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功能完整度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Latency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網路與交易基礎設施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Execution Quality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穩定性、風控與服務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06191"/>
            <a:ext cx="6223581" cy="1431196"/>
            <a:chOff x="0" y="0"/>
            <a:chExt cx="8298108" cy="190826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市場定義和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服務分層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FFE24C"/>
            </a:solidFill>
            <a:ln w="19065" cap="sq">
              <a:solidFill>
                <a:srgbClr val="FFE24C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3840">
            <a:off x="745436" y="10084384"/>
            <a:ext cx="16971578" cy="0"/>
          </a:xfrm>
          <a:prstGeom prst="line">
            <a:avLst/>
          </a:prstGeom>
          <a:ln cap="rnd" w="9525">
            <a:solidFill>
              <a:srgbClr val="23424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4484" y="2078612"/>
            <a:ext cx="6863363" cy="555803"/>
            <a:chOff x="0" y="0"/>
            <a:chExt cx="9151150" cy="741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1149" cy="741062"/>
            </a:xfrm>
            <a:custGeom>
              <a:avLst/>
              <a:gdLst/>
              <a:ahLst/>
              <a:cxnLst/>
              <a:rect r="r" b="b" t="t" l="l"/>
              <a:pathLst>
                <a:path h="74106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41062"/>
                  </a:lnTo>
                  <a:lnTo>
                    <a:pt x="0" y="741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38" r="0" b="-1751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151150" cy="760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客戶交易需求 × 券商服務深度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136130" y="4893522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136130" y="648582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136130" y="811930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136126" y="8816290"/>
            <a:ext cx="13608423" cy="0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348518" y="2634415"/>
            <a:ext cx="1575216" cy="682720"/>
            <a:chOff x="0" y="0"/>
            <a:chExt cx="1830235" cy="7932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30" cy="793243"/>
            </a:xfrm>
            <a:custGeom>
              <a:avLst/>
              <a:gdLst/>
              <a:ahLst/>
              <a:cxnLst/>
              <a:rect r="r" b="b" t="t" l="l"/>
              <a:pathLst>
                <a:path h="793243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793243"/>
                  </a:lnTo>
                  <a:lnTo>
                    <a:pt x="0" y="793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77" r="0" b="296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30235" cy="812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5"/>
                </a:lnSpc>
              </a:pPr>
              <a:r>
                <a:rPr lang="en-US" b="true" sz="1921" spc="1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券商服務深度</a:t>
              </a:r>
            </a:p>
            <a:p>
              <a:pPr algn="ctr">
                <a:lnSpc>
                  <a:spcPts val="2305"/>
                </a:lnSpc>
              </a:pPr>
              <a:r>
                <a:rPr lang="en-US" b="true" sz="1921" spc="2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單位交易量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26911" y="8586263"/>
            <a:ext cx="2059010" cy="460054"/>
            <a:chOff x="0" y="0"/>
            <a:chExt cx="2745346" cy="6134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5345" cy="613399"/>
            </a:xfrm>
            <a:custGeom>
              <a:avLst/>
              <a:gdLst/>
              <a:ahLst/>
              <a:cxnLst/>
              <a:rect r="r" b="b" t="t" l="l"/>
              <a:pathLst>
                <a:path h="613399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13399"/>
                  </a:lnTo>
                  <a:lnTo>
                    <a:pt x="0" y="613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4" r="0" b="-289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745346" cy="63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潛在</a:t>
              </a: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客戶數量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96832" y="7835238"/>
            <a:ext cx="513226" cy="513226"/>
            <a:chOff x="0" y="0"/>
            <a:chExt cx="684301" cy="684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2E8CFF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302513" y="7652596"/>
            <a:ext cx="1990373" cy="329441"/>
            <a:chOff x="0" y="0"/>
            <a:chExt cx="2653830" cy="439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3833" cy="439255"/>
            </a:xfrm>
            <a:custGeom>
              <a:avLst/>
              <a:gdLst/>
              <a:ahLst/>
              <a:cxnLst/>
              <a:rect r="r" b="b" t="t" l="l"/>
              <a:pathLst>
                <a:path h="439255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1" r="0" b="-677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65383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02513" y="8036949"/>
            <a:ext cx="2264912" cy="247079"/>
            <a:chOff x="0" y="0"/>
            <a:chExt cx="3019882" cy="3294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9879" cy="329441"/>
            </a:xfrm>
            <a:custGeom>
              <a:avLst/>
              <a:gdLst/>
              <a:ahLst/>
              <a:cxnLst/>
              <a:rect r="r" b="b" t="t" l="l"/>
              <a:pathLst>
                <a:path h="329441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3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01988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3BD7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Programmable Access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02513" y="8366390"/>
            <a:ext cx="2264912" cy="219627"/>
            <a:chOff x="0" y="0"/>
            <a:chExt cx="3019882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9879" cy="292837"/>
            </a:xfrm>
            <a:custGeom>
              <a:avLst/>
              <a:gdLst/>
              <a:ahLst/>
              <a:cxnLst/>
              <a:rect r="r" b="b" t="t" l="l"/>
              <a:pathLst>
                <a:path h="29283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939" r="0" b="-1509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1988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API、SDK、行情、文件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03542" y="5676722"/>
            <a:ext cx="513226" cy="513226"/>
            <a:chOff x="0" y="0"/>
            <a:chExt cx="684301" cy="6843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55D5AC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6085685" y="5466620"/>
            <a:ext cx="2813980" cy="356892"/>
            <a:chOff x="0" y="0"/>
            <a:chExt cx="3751974" cy="475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1971" cy="475860"/>
            </a:xfrm>
            <a:custGeom>
              <a:avLst/>
              <a:gdLst/>
              <a:ahLst/>
              <a:cxnLst/>
              <a:rect r="r" b="b" t="t" l="l"/>
              <a:pathLst>
                <a:path h="475860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32" r="0" b="-1036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751974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219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INSTITUTIONAL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085685" y="5892149"/>
            <a:ext cx="2127647" cy="247079"/>
            <a:chOff x="0" y="0"/>
            <a:chExt cx="2836862" cy="329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6856" cy="329441"/>
            </a:xfrm>
            <a:custGeom>
              <a:avLst/>
              <a:gdLst/>
              <a:ahLst/>
              <a:cxnLst/>
              <a:rect r="r" b="b" t="t" l="l"/>
              <a:pathLst>
                <a:path h="329441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8" r="0" b="-1177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3686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55D5A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Execution Quality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085685" y="6221591"/>
            <a:ext cx="2882608" cy="219627"/>
            <a:chOff x="0" y="0"/>
            <a:chExt cx="3843477" cy="2928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3483" cy="292837"/>
            </a:xfrm>
            <a:custGeom>
              <a:avLst/>
              <a:gdLst/>
              <a:ahLst/>
              <a:cxnLst/>
              <a:rect r="r" b="b" t="t" l="l"/>
              <a:pathLst>
                <a:path h="292837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0" r="0" b="-2057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843477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FIX、DMA、Algo、OMS/EMS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98128" y="4127410"/>
            <a:ext cx="513226" cy="513226"/>
            <a:chOff x="0" y="0"/>
            <a:chExt cx="684301" cy="6843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FF7545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548898" y="3972228"/>
            <a:ext cx="1166774" cy="356892"/>
            <a:chOff x="0" y="0"/>
            <a:chExt cx="1555699" cy="475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5695" cy="475860"/>
            </a:xfrm>
            <a:custGeom>
              <a:avLst/>
              <a:gdLst/>
              <a:ahLst/>
              <a:cxnLst/>
              <a:rect r="r" b="b" t="t" l="l"/>
              <a:pathLst>
                <a:path h="475860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1" r="0" b="-13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555699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48898" y="4397748"/>
            <a:ext cx="2402176" cy="233353"/>
            <a:chOff x="0" y="0"/>
            <a:chExt cx="3202902" cy="3111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2902" cy="311139"/>
            </a:xfrm>
            <a:custGeom>
              <a:avLst/>
              <a:gdLst/>
              <a:ahLst/>
              <a:cxnLst/>
              <a:rect r="r" b="b" t="t" l="l"/>
              <a:pathLst>
                <a:path h="311139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311139"/>
                  </a:lnTo>
                  <a:lnTo>
                    <a:pt x="0" y="311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581" r="0" b="-1505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02902" cy="311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75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Latency / Infrastructure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48898" y="4809552"/>
            <a:ext cx="2539441" cy="219627"/>
            <a:chOff x="0" y="0"/>
            <a:chExt cx="3385922" cy="2928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925" cy="292837"/>
            </a:xfrm>
            <a:custGeom>
              <a:avLst/>
              <a:gdLst/>
              <a:ahLst/>
              <a:cxnLst/>
              <a:rect r="r" b="b" t="t" l="l"/>
              <a:pathLst>
                <a:path h="292837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38592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CoLo、Cross-connect、低延遲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748656" y="9814608"/>
            <a:ext cx="137265" cy="137265"/>
            <a:chOff x="0" y="0"/>
            <a:chExt cx="183020" cy="1830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023" cy="183023"/>
            </a:xfrm>
            <a:custGeom>
              <a:avLst/>
              <a:gdLst/>
              <a:ahLst/>
              <a:cxnLst/>
              <a:rect r="r" b="b" t="t" l="l"/>
              <a:pathLst>
                <a:path h="183023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83020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7E99A3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V="true">
            <a:off x="2136126" y="3335598"/>
            <a:ext cx="0" cy="5480693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686333" y="437866"/>
            <a:ext cx="6223581" cy="1431196"/>
            <a:chOff x="0" y="0"/>
            <a:chExt cx="8298108" cy="1908261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程式交易服務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三個層級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海外程式交易服務的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4527" y="5507232"/>
            <a:ext cx="12058285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形成轉折與投入訊號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56334"/>
            <a:chOff x="0" y="0"/>
            <a:chExt cx="24427878" cy="208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08407"/>
            </a:xfrm>
            <a:custGeom>
              <a:avLst/>
              <a:gdLst/>
              <a:ahLst/>
              <a:cxnLst/>
              <a:rect r="r" b="b" t="t" l="l"/>
              <a:pathLst>
                <a:path h="208407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4D9FF"/>
            </a:solidFill>
          </p:spPr>
        </p:sp>
      </p:grpSp>
      <p:sp>
        <p:nvSpPr>
          <p:cNvPr name="AutoShape 4" id="4"/>
          <p:cNvSpPr/>
          <p:nvPr/>
        </p:nvSpPr>
        <p:spPr>
          <a:xfrm rot="3960">
            <a:off x="-10487" y="10111835"/>
            <a:ext cx="18322823" cy="0"/>
          </a:xfrm>
          <a:prstGeom prst="line">
            <a:avLst/>
          </a:prstGeom>
          <a:ln cap="rnd" w="9525">
            <a:solidFill>
              <a:srgbClr val="C98A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13794" y="705955"/>
            <a:ext cx="4625902" cy="664871"/>
            <a:chOff x="0" y="0"/>
            <a:chExt cx="6167869" cy="8864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67875" cy="886494"/>
            </a:xfrm>
            <a:custGeom>
              <a:avLst/>
              <a:gdLst/>
              <a:ahLst/>
              <a:cxnLst/>
              <a:rect r="r" b="b" t="t" l="l"/>
              <a:pathLst>
                <a:path h="886494" w="6167875">
                  <a:moveTo>
                    <a:pt x="0" y="0"/>
                  </a:moveTo>
                  <a:lnTo>
                    <a:pt x="6167875" y="0"/>
                  </a:lnTo>
                  <a:lnTo>
                    <a:pt x="6167875" y="886494"/>
                  </a:lnTo>
                  <a:lnTo>
                    <a:pt x="0" y="8864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95" r="25816" b="-253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6167869" cy="87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1"/>
                </a:lnSpc>
              </a:pPr>
              <a:r>
                <a:rPr lang="en-US" sz="3551" b="true">
                  <a:solidFill>
                    <a:srgbClr val="FF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OpenAPI 案例｜印度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323" y="2158813"/>
            <a:ext cx="3753688" cy="5116125"/>
            <a:chOff x="0" y="0"/>
            <a:chExt cx="5004918" cy="6821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092D43"/>
            </a:solidFill>
            <a:ln w="20018" cap="sq">
              <a:solidFill>
                <a:srgbClr val="14D9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68975" y="2378916"/>
            <a:ext cx="266148" cy="266148"/>
            <a:chOff x="0" y="0"/>
            <a:chExt cx="354863" cy="3548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14D9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951" y="2271770"/>
            <a:ext cx="494167" cy="411804"/>
            <a:chOff x="0" y="0"/>
            <a:chExt cx="658889" cy="549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14D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5961" y="2772794"/>
            <a:ext cx="3294412" cy="466706"/>
            <a:chOff x="0" y="0"/>
            <a:chExt cx="4392549" cy="62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92552" cy="622278"/>
            </a:xfrm>
            <a:custGeom>
              <a:avLst/>
              <a:gdLst/>
              <a:ahLst/>
              <a:cxnLst/>
              <a:rect r="r" b="b" t="t" l="l"/>
              <a:pathLst>
                <a:path h="622278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392549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背景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1292" y="3296650"/>
            <a:ext cx="3703749" cy="3732976"/>
            <a:chOff x="0" y="0"/>
            <a:chExt cx="4938332" cy="4977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38327" cy="4977306"/>
            </a:xfrm>
            <a:custGeom>
              <a:avLst/>
              <a:gdLst/>
              <a:ahLst/>
              <a:cxnLst/>
              <a:rect r="r" b="b" t="t" l="l"/>
              <a:pathLst>
                <a:path h="4977306" w="4938327">
                  <a:moveTo>
                    <a:pt x="0" y="0"/>
                  </a:moveTo>
                  <a:lnTo>
                    <a:pt x="4938327" y="0"/>
                  </a:lnTo>
                  <a:lnTo>
                    <a:pt x="4938327" y="4977306"/>
                  </a:lnTo>
                  <a:lnTo>
                    <a:pt x="0" y="49773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01" r="15499" b="7722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938332" cy="4977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2000：Internet Based Trading 開放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2010：Wireless / Mobile Trading 進一步普及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2010–11 → 2015–16：</a:t>
              </a: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5.64M → 9.46M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 registered clients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10.7% → 24.2%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 Internet Trading 占比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交易入口從人工通路轉向 Software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程式設計能力普及程度排名全球第二（2024)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08068" y="2158813"/>
            <a:ext cx="3753688" cy="5116125"/>
            <a:chOff x="0" y="0"/>
            <a:chExt cx="5004918" cy="682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0C243A"/>
            </a:solidFill>
            <a:ln w="20018" cap="sq">
              <a:solidFill>
                <a:srgbClr val="FFD84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000720" y="2378916"/>
            <a:ext cx="266148" cy="266148"/>
            <a:chOff x="0" y="0"/>
            <a:chExt cx="354863" cy="3548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FFD8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339696" y="2271770"/>
            <a:ext cx="494167" cy="411804"/>
            <a:chOff x="0" y="0"/>
            <a:chExt cx="658889" cy="549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37706" y="2772794"/>
            <a:ext cx="3294412" cy="466706"/>
            <a:chOff x="0" y="0"/>
            <a:chExt cx="4392549" cy="62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92552" cy="622278"/>
            </a:xfrm>
            <a:custGeom>
              <a:avLst/>
              <a:gdLst/>
              <a:ahLst/>
              <a:cxnLst/>
              <a:rect r="r" b="b" t="t" l="l"/>
              <a:pathLst>
                <a:path h="622278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392549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客戶需求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00720" y="3344275"/>
            <a:ext cx="3129696" cy="2208976"/>
            <a:chOff x="0" y="0"/>
            <a:chExt cx="4172928" cy="294530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72924" cy="2945306"/>
            </a:xfrm>
            <a:custGeom>
              <a:avLst/>
              <a:gdLst/>
              <a:ahLst/>
              <a:cxnLst/>
              <a:rect r="r" b="b" t="t" l="l"/>
              <a:pathLst>
                <a:path h="2945306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2945306"/>
                  </a:lnTo>
                  <a:lnTo>
                    <a:pt x="0" y="29453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2" r="0" b="6151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172928" cy="2945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Zerodha：digital broker 客群成形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2013 → 2016：約 </a:t>
              </a: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30K clients  →  100K+ 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clients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Kite Connect 發布時指出：</a:t>
              </a: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客戶反覆要求客製交易體驗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53538" y="2158813"/>
            <a:ext cx="3753688" cy="5116125"/>
            <a:chOff x="0" y="0"/>
            <a:chExt cx="5004918" cy="6821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3E2B0A"/>
            </a:solidFill>
            <a:ln w="20018" cap="sq">
              <a:solidFill>
                <a:srgbClr val="C98A2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146191" y="2378916"/>
            <a:ext cx="266148" cy="266148"/>
            <a:chOff x="0" y="0"/>
            <a:chExt cx="354863" cy="3548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C98A2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85166" y="2271770"/>
            <a:ext cx="494167" cy="411804"/>
            <a:chOff x="0" y="0"/>
            <a:chExt cx="658889" cy="549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C98A2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83176" y="2772794"/>
            <a:ext cx="3294412" cy="466709"/>
            <a:chOff x="0" y="0"/>
            <a:chExt cx="4392549" cy="62227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92552" cy="622282"/>
            </a:xfrm>
            <a:custGeom>
              <a:avLst/>
              <a:gdLst/>
              <a:ahLst/>
              <a:cxnLst/>
              <a:rect r="r" b="b" t="t" l="l"/>
              <a:pathLst>
                <a:path h="622282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392549" cy="622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Flow 被使用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61831" y="3353803"/>
            <a:ext cx="3433429" cy="2208976"/>
            <a:chOff x="0" y="0"/>
            <a:chExt cx="4577905" cy="29453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77901" cy="2945306"/>
            </a:xfrm>
            <a:custGeom>
              <a:avLst/>
              <a:gdLst/>
              <a:ahLst/>
              <a:cxnLst/>
              <a:rect r="r" b="b" t="t" l="l"/>
              <a:pathLst>
                <a:path h="2945306" w="4577901">
                  <a:moveTo>
                    <a:pt x="0" y="0"/>
                  </a:moveTo>
                  <a:lnTo>
                    <a:pt x="4577901" y="0"/>
                  </a:lnTo>
                  <a:lnTo>
                    <a:pt x="4577901" y="2945306"/>
                  </a:lnTo>
                  <a:lnTo>
                    <a:pt x="0" y="29453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2" r="8846" b="6151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577905" cy="2945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3"/>
                </a:lnSpc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API 需求不只 Zerodha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2020/12：Angel SmartAPI 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(10,000+ registrations)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2021：SEBI 觀察到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Many brokers provide API access. Investors use APIs to automate trades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085283" y="2158813"/>
            <a:ext cx="3753688" cy="5116125"/>
            <a:chOff x="0" y="0"/>
            <a:chExt cx="5004918" cy="6821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0A362D"/>
            </a:solidFill>
            <a:ln w="20018" cap="sq">
              <a:solidFill>
                <a:srgbClr val="03C88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277936" y="2378916"/>
            <a:ext cx="266148" cy="266148"/>
            <a:chOff x="0" y="0"/>
            <a:chExt cx="354863" cy="3548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03C88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16911" y="2271770"/>
            <a:ext cx="494167" cy="411804"/>
            <a:chOff x="0" y="0"/>
            <a:chExt cx="658889" cy="5490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03C8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314921" y="2772794"/>
            <a:ext cx="3294412" cy="466706"/>
            <a:chOff x="0" y="0"/>
            <a:chExt cx="4392549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92552" cy="622278"/>
            </a:xfrm>
            <a:custGeom>
              <a:avLst/>
              <a:gdLst/>
              <a:ahLst/>
              <a:cxnLst/>
              <a:rect r="r" b="b" t="t" l="l"/>
              <a:pathLst>
                <a:path h="622278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392549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制度化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397284" y="3383787"/>
            <a:ext cx="3129696" cy="2513776"/>
            <a:chOff x="0" y="0"/>
            <a:chExt cx="4172928" cy="335170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2924" cy="3351706"/>
            </a:xfrm>
            <a:custGeom>
              <a:avLst/>
              <a:gdLst/>
              <a:ahLst/>
              <a:cxnLst/>
              <a:rect r="r" b="b" t="t" l="l"/>
              <a:pathLst>
                <a:path h="3351706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3351706"/>
                  </a:lnTo>
                  <a:lnTo>
                    <a:pt x="0" y="33517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03" r="0" b="6618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172928" cy="3351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2024：SEBI 指出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retail algo demand increasing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2025：Retail Algo Framework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2026：NSE 將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Client Direct API / Member Frontend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列為 Retail Algo 正式類別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54971" y="8161561"/>
            <a:ext cx="16540705" cy="684061"/>
            <a:chOff x="0" y="0"/>
            <a:chExt cx="22054274" cy="91208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054269" cy="912076"/>
            </a:xfrm>
            <a:custGeom>
              <a:avLst/>
              <a:gdLst/>
              <a:ahLst/>
              <a:cxnLst/>
              <a:rect r="r" b="b" t="t" l="l"/>
              <a:pathLst>
                <a:path h="912076" w="22054269">
                  <a:moveTo>
                    <a:pt x="0" y="0"/>
                  </a:moveTo>
                  <a:lnTo>
                    <a:pt x="22054269" y="0"/>
                  </a:lnTo>
                  <a:lnTo>
                    <a:pt x="22054269" y="912076"/>
                  </a:lnTo>
                  <a:lnTo>
                    <a:pt x="0" y="912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030" r="0" b="-40827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2054274" cy="921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3"/>
                </a:lnSpc>
              </a:pPr>
              <a:r>
                <a:rPr lang="en-US" sz="2011" b="true">
                  <a:solidFill>
                    <a:srgbClr val="FF3B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印度 OpenAPI 並非單一券商產品帶動，而是在數位自主交易客群擴張後，客戶開始要求 Programmable Access；API 使用擴散至多家券商，最終被納入 Retail Algo 正式架構。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13794" y="9732245"/>
            <a:ext cx="16938774" cy="260804"/>
            <a:chOff x="0" y="0"/>
            <a:chExt cx="22585032" cy="34773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585037" cy="347744"/>
            </a:xfrm>
            <a:custGeom>
              <a:avLst/>
              <a:gdLst/>
              <a:ahLst/>
              <a:cxnLst/>
              <a:rect r="r" b="b" t="t" l="l"/>
              <a:pathLst>
                <a:path h="347744" w="22585037">
                  <a:moveTo>
                    <a:pt x="0" y="0"/>
                  </a:moveTo>
                  <a:lnTo>
                    <a:pt x="22585037" y="0"/>
                  </a:lnTo>
                  <a:lnTo>
                    <a:pt x="22585037" y="347744"/>
                  </a:lnTo>
                  <a:lnTo>
                    <a:pt x="0" y="347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5502" r="0" b="-121550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2585032" cy="347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45"/>
                </a:lnSpc>
              </a:pPr>
              <a:r>
                <a:rPr lang="en-US" sz="788">
                  <a:solidFill>
                    <a:srgbClr val="7793A7"/>
                  </a:solidFill>
                  <a:latin typeface="Aptos"/>
                  <a:ea typeface="Aptos"/>
                  <a:cs typeface="Aptos"/>
                  <a:sym typeface="Aptos"/>
                </a:rPr>
                <a:t>Sources: NSE Internet Based Trading / Wireless Trading; NSE Factbook 2017 Table 4-6; Zerodha Kite Connect 2016 &amp; company history; Angel Broking SmartAPI / Business Standard 2021; SEBI Consultation Paper 2021; SEBI Draft Circular 2024 &amp; Circular 2025; NSE Retail Algo / Client Direct API; Reuters 2024/2025.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32" y="2251050"/>
            <a:ext cx="8149961" cy="7091563"/>
            <a:chOff x="0" y="0"/>
            <a:chExt cx="2368118" cy="2060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042" cy="2060474"/>
            </a:xfrm>
            <a:custGeom>
              <a:avLst/>
              <a:gdLst/>
              <a:ahLst/>
              <a:cxnLst/>
              <a:rect r="r" b="b" t="t" l="l"/>
              <a:pathLst>
                <a:path h="2060474" w="2368042">
                  <a:moveTo>
                    <a:pt x="0" y="190174"/>
                  </a:moveTo>
                  <a:cubicBezTo>
                    <a:pt x="0" y="85072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85072"/>
                    <a:pt x="2368042" y="190174"/>
                  </a:cubicBezTo>
                  <a:lnTo>
                    <a:pt x="2368042" y="1870300"/>
                  </a:lnTo>
                  <a:cubicBezTo>
                    <a:pt x="2368042" y="1975402"/>
                    <a:pt x="2317877" y="2060474"/>
                    <a:pt x="2255901" y="2060474"/>
                  </a:cubicBezTo>
                  <a:lnTo>
                    <a:pt x="112141" y="2060474"/>
                  </a:lnTo>
                  <a:cubicBezTo>
                    <a:pt x="50165" y="2060474"/>
                    <a:pt x="0" y="1975402"/>
                    <a:pt x="0" y="1870300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93492" y="4154041"/>
            <a:ext cx="7860108" cy="4424999"/>
            <a:chOff x="0" y="0"/>
            <a:chExt cx="24427878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blipFill>
              <a:blip r:embed="rId3"/>
              <a:stretch>
                <a:fillRect l="0" t="-5644" r="0" b="-5644"/>
              </a:stretch>
            </a:blip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案例｜美國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流動性被切散後，「去哪裡成交」變成系統問題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39007" y="2201573"/>
            <a:ext cx="4969078" cy="1041530"/>
            <a:chOff x="0" y="0"/>
            <a:chExt cx="6131268" cy="12851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31270" cy="1285124"/>
            </a:xfrm>
            <a:custGeom>
              <a:avLst/>
              <a:gdLst/>
              <a:ahLst/>
              <a:cxnLst/>
              <a:rect r="r" b="b" t="t" l="l"/>
              <a:pathLst>
                <a:path h="1285124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1285124"/>
                  </a:lnTo>
                  <a:lnTo>
                    <a:pt x="0" y="12851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812" r="0" b="-3711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131268" cy="1285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04"/>
                </a:lnSpc>
              </a:pPr>
              <a:r>
                <a:rPr lang="en-US" sz="5254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79.1% → 25.1%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24320" y="3141709"/>
            <a:ext cx="4598451" cy="745640"/>
            <a:chOff x="0" y="0"/>
            <a:chExt cx="6131268" cy="9941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31270" cy="994191"/>
            </a:xfrm>
            <a:custGeom>
              <a:avLst/>
              <a:gdLst/>
              <a:ahLst/>
              <a:cxnLst/>
              <a:rect r="r" b="b" t="t" l="l"/>
              <a:pathLst>
                <a:path h="994191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94191"/>
                  </a:lnTo>
                  <a:lnTo>
                    <a:pt x="0" y="9941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06" r="0" b="-588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131268" cy="99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NYSE 掛牌股在 NYSE 成交占比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2005 → 2009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53600" y="2251050"/>
            <a:ext cx="10157774" cy="549069"/>
            <a:chOff x="0" y="0"/>
            <a:chExt cx="13543699" cy="732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43700" cy="732092"/>
            </a:xfrm>
            <a:custGeom>
              <a:avLst/>
              <a:gdLst/>
              <a:ahLst/>
              <a:cxnLst/>
              <a:rect r="r" b="b" t="t" l="l"/>
              <a:pathLst>
                <a:path h="732092" w="13543700">
                  <a:moveTo>
                    <a:pt x="0" y="0"/>
                  </a:moveTo>
                  <a:lnTo>
                    <a:pt x="13543700" y="0"/>
                  </a:lnTo>
                  <a:lnTo>
                    <a:pt x="1354370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543699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為什麼會需要 SOR？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91139" y="3095393"/>
            <a:ext cx="1776089" cy="911304"/>
            <a:chOff x="0" y="0"/>
            <a:chExt cx="2368118" cy="1215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647752" y="3297104"/>
            <a:ext cx="1262863" cy="590245"/>
            <a:chOff x="0" y="0"/>
            <a:chExt cx="1683817" cy="786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NYSE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367786" y="3095393"/>
            <a:ext cx="1776089" cy="911304"/>
            <a:chOff x="0" y="0"/>
            <a:chExt cx="2368118" cy="1215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624399" y="3297104"/>
            <a:ext cx="1262863" cy="590245"/>
            <a:chOff x="0" y="0"/>
            <a:chExt cx="1683817" cy="7869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NASDAQ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43" y="3095393"/>
            <a:ext cx="1776089" cy="911304"/>
            <a:chOff x="0" y="0"/>
            <a:chExt cx="2368118" cy="1215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601056" y="3297104"/>
            <a:ext cx="1262863" cy="590245"/>
            <a:chOff x="0" y="0"/>
            <a:chExt cx="1683817" cy="7869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321090" y="3095393"/>
            <a:ext cx="1776089" cy="911304"/>
            <a:chOff x="0" y="0"/>
            <a:chExt cx="2368118" cy="12150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577703" y="3297104"/>
            <a:ext cx="1262863" cy="590245"/>
            <a:chOff x="0" y="0"/>
            <a:chExt cx="1683817" cy="78699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Dark Pool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297737" y="3095393"/>
            <a:ext cx="1776089" cy="911304"/>
            <a:chOff x="0" y="0"/>
            <a:chExt cx="2368118" cy="1215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6554350" y="3297104"/>
            <a:ext cx="1262863" cy="590249"/>
            <a:chOff x="0" y="0"/>
            <a:chExt cx="1683817" cy="7869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83812" cy="787004"/>
            </a:xfrm>
            <a:custGeom>
              <a:avLst/>
              <a:gdLst/>
              <a:ahLst/>
              <a:cxnLst/>
              <a:rect r="r" b="b" t="t" l="l"/>
              <a:pathLst>
                <a:path h="787004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7004"/>
                  </a:lnTo>
                  <a:lnTo>
                    <a:pt x="0" y="7870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683817" cy="78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Internalizer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flipH="true">
            <a:off x="13230107" y="4062370"/>
            <a:ext cx="7142" cy="896828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9308459" y="4959198"/>
            <a:ext cx="7843295" cy="1062295"/>
            <a:chOff x="0" y="0"/>
            <a:chExt cx="10457726" cy="14163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57815" cy="1416558"/>
            </a:xfrm>
            <a:custGeom>
              <a:avLst/>
              <a:gdLst/>
              <a:ahLst/>
              <a:cxnLst/>
              <a:rect r="r" b="b" t="t" l="l"/>
              <a:pathLst>
                <a:path h="1416558" w="10457815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10345928" y="0"/>
                  </a:lnTo>
                  <a:cubicBezTo>
                    <a:pt x="10407650" y="0"/>
                    <a:pt x="10457815" y="50038"/>
                    <a:pt x="10457815" y="111887"/>
                  </a:cubicBezTo>
                  <a:lnTo>
                    <a:pt x="10457815" y="1304671"/>
                  </a:lnTo>
                  <a:cubicBezTo>
                    <a:pt x="10457815" y="1366393"/>
                    <a:pt x="10407777" y="1416558"/>
                    <a:pt x="10345928" y="1416558"/>
                  </a:cubicBezTo>
                  <a:lnTo>
                    <a:pt x="111887" y="1416558"/>
                  </a:lnTo>
                  <a:cubicBezTo>
                    <a:pt x="50165" y="1416558"/>
                    <a:pt x="0" y="1366520"/>
                    <a:pt x="0" y="1304671"/>
                  </a:cubicBezTo>
                  <a:close/>
                </a:path>
              </a:pathLst>
            </a:custGeom>
            <a:solidFill>
              <a:srgbClr val="112E42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565072" y="5160899"/>
            <a:ext cx="7330069" cy="741245"/>
            <a:chOff x="0" y="0"/>
            <a:chExt cx="9773425" cy="98832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73427" cy="988324"/>
            </a:xfrm>
            <a:custGeom>
              <a:avLst/>
              <a:gdLst/>
              <a:ahLst/>
              <a:cxnLst/>
              <a:rect r="r" b="b" t="t" l="l"/>
              <a:pathLst>
                <a:path h="988324" w="9773427">
                  <a:moveTo>
                    <a:pt x="0" y="0"/>
                  </a:moveTo>
                  <a:lnTo>
                    <a:pt x="9773427" y="0"/>
                  </a:lnTo>
                  <a:lnTo>
                    <a:pt x="9773427" y="988324"/>
                  </a:lnTo>
                  <a:lnTo>
                    <a:pt x="0" y="9883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685" r="0" b="-14268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9773425" cy="978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同一張 Institutional Order 要即時比較價格、流動性、成交機率與成本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13230107" y="6021492"/>
            <a:ext cx="4761" cy="900627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9313220" y="6922119"/>
            <a:ext cx="7843295" cy="1144657"/>
            <a:chOff x="0" y="0"/>
            <a:chExt cx="10457726" cy="15262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57688" cy="1526159"/>
            </a:xfrm>
            <a:custGeom>
              <a:avLst/>
              <a:gdLst/>
              <a:ahLst/>
              <a:cxnLst/>
              <a:rect r="r" b="b" t="t" l="l"/>
              <a:pathLst>
                <a:path h="1526159" w="10457688">
                  <a:moveTo>
                    <a:pt x="0" y="111633"/>
                  </a:moveTo>
                  <a:cubicBezTo>
                    <a:pt x="0" y="50038"/>
                    <a:pt x="50038" y="0"/>
                    <a:pt x="111633" y="0"/>
                  </a:cubicBezTo>
                  <a:lnTo>
                    <a:pt x="10346055" y="0"/>
                  </a:lnTo>
                  <a:cubicBezTo>
                    <a:pt x="10407777" y="0"/>
                    <a:pt x="10457688" y="50038"/>
                    <a:pt x="10457688" y="111633"/>
                  </a:cubicBezTo>
                  <a:lnTo>
                    <a:pt x="10457688" y="1414526"/>
                  </a:lnTo>
                  <a:cubicBezTo>
                    <a:pt x="10457688" y="1476248"/>
                    <a:pt x="10407650" y="1526159"/>
                    <a:pt x="10346055" y="1526159"/>
                  </a:cubicBezTo>
                  <a:lnTo>
                    <a:pt x="111633" y="1526159"/>
                  </a:lnTo>
                  <a:cubicBezTo>
                    <a:pt x="49911" y="1526159"/>
                    <a:pt x="0" y="1476121"/>
                    <a:pt x="0" y="1414526"/>
                  </a:cubicBezTo>
                  <a:close/>
                </a:path>
              </a:pathLst>
            </a:custGeom>
            <a:solidFill>
              <a:srgbClr val="101F33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597284" y="7123821"/>
            <a:ext cx="7275166" cy="782422"/>
            <a:chOff x="0" y="0"/>
            <a:chExt cx="9700222" cy="104322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00218" cy="1043231"/>
            </a:xfrm>
            <a:custGeom>
              <a:avLst/>
              <a:gdLst/>
              <a:ahLst/>
              <a:cxnLst/>
              <a:rect r="r" b="b" t="t" l="l"/>
              <a:pathLst>
                <a:path h="1043231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1043231"/>
                  </a:lnTo>
                  <a:lnTo>
                    <a:pt x="0" y="1043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176" r="0" b="-13117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700222" cy="1043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訂單該送去哪裡？</a:t>
              </a: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→ SOR / Automated Routing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Source: SEC testimony, 2010, market fragmentation statistics.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120704" y="8640112"/>
            <a:ext cx="6205685" cy="49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b="true" sz="165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Trading Centers and Estimated Percentage of Share Volume in NMS Stocks September 2009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案例｜韓國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沒有多 Venue，跨商品策略也會創造 Algo Demand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66745" y="2200463"/>
            <a:ext cx="10569578" cy="549069"/>
            <a:chOff x="0" y="0"/>
            <a:chExt cx="14092771" cy="732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92769" cy="732092"/>
            </a:xfrm>
            <a:custGeom>
              <a:avLst/>
              <a:gdLst/>
              <a:ahLst/>
              <a:cxnLst/>
              <a:rect r="r" b="b" t="t" l="l"/>
              <a:pathLst>
                <a:path h="732092" w="14092769">
                  <a:moveTo>
                    <a:pt x="0" y="0"/>
                  </a:moveTo>
                  <a:lnTo>
                    <a:pt x="14092769" y="0"/>
                  </a:lnTo>
                  <a:lnTo>
                    <a:pt x="1409276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087" r="0" b="-3250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092771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為什麼會需要 Basket / Program Algo？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72897" y="3244832"/>
            <a:ext cx="4602449" cy="911304"/>
            <a:chOff x="0" y="0"/>
            <a:chExt cx="6136599" cy="1215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6637" cy="1215009"/>
            </a:xfrm>
            <a:custGeom>
              <a:avLst/>
              <a:gdLst/>
              <a:ahLst/>
              <a:cxnLst/>
              <a:rect r="r" b="b" t="t" l="l"/>
              <a:pathLst>
                <a:path h="1215009" w="6136637">
                  <a:moveTo>
                    <a:pt x="0" y="112141"/>
                  </a:moveTo>
                  <a:cubicBezTo>
                    <a:pt x="0" y="50165"/>
                    <a:pt x="101088" y="0"/>
                    <a:pt x="225976" y="0"/>
                  </a:cubicBezTo>
                  <a:lnTo>
                    <a:pt x="5910700" y="0"/>
                  </a:lnTo>
                  <a:cubicBezTo>
                    <a:pt x="6035588" y="0"/>
                    <a:pt x="6136637" y="50165"/>
                    <a:pt x="6136637" y="112141"/>
                  </a:cubicBezTo>
                  <a:lnTo>
                    <a:pt x="6136637" y="1102868"/>
                  </a:lnTo>
                  <a:cubicBezTo>
                    <a:pt x="6136637" y="1164844"/>
                    <a:pt x="6035588" y="1215009"/>
                    <a:pt x="5910700" y="1215009"/>
                  </a:cubicBezTo>
                  <a:lnTo>
                    <a:pt x="225976" y="1215009"/>
                  </a:lnTo>
                  <a:cubicBezTo>
                    <a:pt x="101088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D3444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273290" y="3405359"/>
            <a:ext cx="4167155" cy="680224"/>
            <a:chOff x="0" y="0"/>
            <a:chExt cx="5556207" cy="9069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56210" cy="906970"/>
            </a:xfrm>
            <a:custGeom>
              <a:avLst/>
              <a:gdLst/>
              <a:ahLst/>
              <a:cxnLst/>
              <a:rect r="r" b="b" t="t" l="l"/>
              <a:pathLst>
                <a:path h="906970" w="5556210">
                  <a:moveTo>
                    <a:pt x="0" y="0"/>
                  </a:moveTo>
                  <a:lnTo>
                    <a:pt x="5556210" y="0"/>
                  </a:lnTo>
                  <a:lnTo>
                    <a:pt x="5556210" y="906970"/>
                  </a:lnTo>
                  <a:lnTo>
                    <a:pt x="0" y="90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36" r="57507" b="58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556207" cy="91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Cash Basket, Futures, options等等跨商品的避險、投機、套利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374121" y="4156089"/>
            <a:ext cx="0" cy="933498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0653562" y="5089586"/>
            <a:ext cx="5441118" cy="1007393"/>
            <a:chOff x="0" y="0"/>
            <a:chExt cx="7254824" cy="13431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54748" cy="1343152"/>
            </a:xfrm>
            <a:custGeom>
              <a:avLst/>
              <a:gdLst/>
              <a:ahLst/>
              <a:cxnLst/>
              <a:rect r="r" b="b" t="t" l="l"/>
              <a:pathLst>
                <a:path h="1343152" w="7254748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7142861" y="0"/>
                  </a:lnTo>
                  <a:cubicBezTo>
                    <a:pt x="7204710" y="0"/>
                    <a:pt x="7254748" y="50165"/>
                    <a:pt x="7254748" y="111887"/>
                  </a:cubicBezTo>
                  <a:lnTo>
                    <a:pt x="7254748" y="1231265"/>
                  </a:lnTo>
                  <a:cubicBezTo>
                    <a:pt x="7254748" y="1293114"/>
                    <a:pt x="7204583" y="1343152"/>
                    <a:pt x="7142861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51401A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67086" y="5268110"/>
            <a:ext cx="4927892" cy="686333"/>
            <a:chOff x="0" y="0"/>
            <a:chExt cx="6570523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70525" cy="915115"/>
            </a:xfrm>
            <a:custGeom>
              <a:avLst/>
              <a:gdLst/>
              <a:ahLst/>
              <a:cxnLst/>
              <a:rect r="r" b="b" t="t" l="l"/>
              <a:pathLst>
                <a:path h="915115" w="6570525">
                  <a:moveTo>
                    <a:pt x="0" y="0"/>
                  </a:moveTo>
                  <a:lnTo>
                    <a:pt x="6570525" y="0"/>
                  </a:lnTo>
                  <a:lnTo>
                    <a:pt x="657052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02" r="0" b="-8990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570523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同一個策略，多商品同步執行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3374121" y="6096950"/>
            <a:ext cx="0" cy="933479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9246572" y="7030429"/>
            <a:ext cx="8255098" cy="1007393"/>
            <a:chOff x="0" y="0"/>
            <a:chExt cx="11006798" cy="13431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06709" cy="1343152"/>
            </a:xfrm>
            <a:custGeom>
              <a:avLst/>
              <a:gdLst/>
              <a:ahLst/>
              <a:cxnLst/>
              <a:rect r="r" b="b" t="t" l="l"/>
              <a:pathLst>
                <a:path h="1343152" w="11006709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0894822" y="0"/>
                  </a:lnTo>
                  <a:cubicBezTo>
                    <a:pt x="10956671" y="0"/>
                    <a:pt x="11006709" y="50165"/>
                    <a:pt x="11006709" y="111887"/>
                  </a:cubicBezTo>
                  <a:lnTo>
                    <a:pt x="11006709" y="1231265"/>
                  </a:lnTo>
                  <a:cubicBezTo>
                    <a:pt x="11006709" y="1293114"/>
                    <a:pt x="10956544" y="1343152"/>
                    <a:pt x="10894822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112E42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03185" y="7232140"/>
            <a:ext cx="7741872" cy="686333"/>
            <a:chOff x="0" y="0"/>
            <a:chExt cx="10322496" cy="915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322496" cy="915115"/>
            </a:xfrm>
            <a:custGeom>
              <a:avLst/>
              <a:gdLst/>
              <a:ahLst/>
              <a:cxnLst/>
              <a:rect r="r" b="b" t="t" l="l"/>
              <a:pathLst>
                <a:path h="915115" w="10322496">
                  <a:moveTo>
                    <a:pt x="0" y="0"/>
                  </a:moveTo>
                  <a:lnTo>
                    <a:pt x="10322496" y="0"/>
                  </a:lnTo>
                  <a:lnTo>
                    <a:pt x="1032249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791" r="0" b="-1697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1032249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Timing／避險誤差／Market Impact／Legging Risk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28138" y="8528506"/>
            <a:ext cx="6657461" cy="480431"/>
            <a:chOff x="0" y="0"/>
            <a:chExt cx="8876614" cy="640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76615" cy="640580"/>
            </a:xfrm>
            <a:custGeom>
              <a:avLst/>
              <a:gdLst/>
              <a:ahLst/>
              <a:cxnLst/>
              <a:rect r="r" b="b" t="t" l="l"/>
              <a:pathLst>
                <a:path h="640580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07" r="0" b="-22000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87661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訂單該如何執行？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KRX derivatives market history; KRX Program Trading definition.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5400000">
            <a:off x="2042229" y="1712215"/>
            <a:ext cx="4850336" cy="7928434"/>
          </a:xfrm>
          <a:custGeom>
            <a:avLst/>
            <a:gdLst/>
            <a:ahLst/>
            <a:cxnLst/>
            <a:rect r="r" b="b" t="t" l="l"/>
            <a:pathLst>
              <a:path h="7928434" w="4850336">
                <a:moveTo>
                  <a:pt x="0" y="0"/>
                </a:moveTo>
                <a:lnTo>
                  <a:pt x="4850336" y="0"/>
                </a:lnTo>
                <a:lnTo>
                  <a:pt x="4850336" y="7928435"/>
                </a:lnTo>
                <a:lnTo>
                  <a:pt x="0" y="7928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30596" y="2749532"/>
            <a:ext cx="7473601" cy="3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</a:t>
            </a: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lobal Exchange-Based Trading of Equity Derivatives</a:t>
            </a:r>
          </a:p>
        </p:txBody>
      </p:sp>
      <p:sp>
        <p:nvSpPr>
          <p:cNvPr name="AutoShape 40" id="40"/>
          <p:cNvSpPr/>
          <p:nvPr/>
        </p:nvSpPr>
        <p:spPr>
          <a:xfrm>
            <a:off x="4006887" y="6236538"/>
            <a:ext cx="4370353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4025937" y="5973493"/>
            <a:ext cx="0" cy="276648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4006887" y="5973493"/>
            <a:ext cx="4505684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8431614" y="5973493"/>
            <a:ext cx="0" cy="263045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775716" y="8263526"/>
            <a:ext cx="561039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  <a:spcBef>
                <a:spcPct val="0"/>
              </a:spcBef>
            </a:pPr>
            <a:r>
              <a:rPr lang="en-US" b="true" sz="3101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從2002年開始到2006</a:t>
            </a:r>
            <a:r>
              <a:rPr lang="en-US" b="true" sz="3101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是全球股權衍生性商品成交量最大的市場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Algo｜投入訊號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 Algo 值不值得做，取決於執行問題是否夠大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海外案例提供的是兩種問題形態，不是一條固定發展路徑。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7240" y="2324014"/>
            <a:ext cx="7637393" cy="6289294"/>
            <a:chOff x="0" y="0"/>
            <a:chExt cx="10183190" cy="83857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83241" cy="8385739"/>
            </a:xfrm>
            <a:custGeom>
              <a:avLst/>
              <a:gdLst/>
              <a:ahLst/>
              <a:cxnLst/>
              <a:rect r="r" b="b" t="t" l="l"/>
              <a:pathLst>
                <a:path h="8385739" w="10183241">
                  <a:moveTo>
                    <a:pt x="0" y="132431"/>
                  </a:moveTo>
                  <a:cubicBezTo>
                    <a:pt x="0" y="59350"/>
                    <a:pt x="49403" y="0"/>
                    <a:pt x="110236" y="0"/>
                  </a:cubicBezTo>
                  <a:lnTo>
                    <a:pt x="10073005" y="0"/>
                  </a:lnTo>
                  <a:cubicBezTo>
                    <a:pt x="10133838" y="0"/>
                    <a:pt x="10183241" y="59350"/>
                    <a:pt x="10183241" y="132431"/>
                  </a:cubicBezTo>
                  <a:lnTo>
                    <a:pt x="10183241" y="8253309"/>
                  </a:lnTo>
                  <a:cubicBezTo>
                    <a:pt x="10183241" y="8326391"/>
                    <a:pt x="10133838" y="8385739"/>
                    <a:pt x="10073005" y="8385739"/>
                  </a:cubicBezTo>
                  <a:lnTo>
                    <a:pt x="110236" y="8385739"/>
                  </a:lnTo>
                  <a:cubicBezTo>
                    <a:pt x="49403" y="8385739"/>
                    <a:pt x="0" y="8326391"/>
                    <a:pt x="0" y="8253309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647206" y="2786529"/>
            <a:ext cx="6657461" cy="549069"/>
            <a:chOff x="0" y="0"/>
            <a:chExt cx="8876614" cy="732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76615" cy="732092"/>
            </a:xfrm>
            <a:custGeom>
              <a:avLst/>
              <a:gdLst/>
              <a:ahLst/>
              <a:cxnLst/>
              <a:rect r="r" b="b" t="t" l="l"/>
              <a:pathLst>
                <a:path h="732092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876614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WHERE 型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15843" y="3774853"/>
            <a:ext cx="6451559" cy="1578569"/>
            <a:chOff x="0" y="0"/>
            <a:chExt cx="8602078" cy="2104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02080" cy="2104764"/>
            </a:xfrm>
            <a:custGeom>
              <a:avLst/>
              <a:gdLst/>
              <a:ahLst/>
              <a:cxnLst/>
              <a:rect r="r" b="b" t="t" l="l"/>
              <a:pathLst>
                <a:path h="21047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4" r="0" b="-296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602078" cy="2104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同一商品 → 多個 Venue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需要自動比較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Price / Liquidity / Cost / Fill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7206" y="6245657"/>
            <a:ext cx="6657461" cy="466706"/>
            <a:chOff x="0" y="0"/>
            <a:chExt cx="8876614" cy="6222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76615" cy="622278"/>
            </a:xfrm>
            <a:custGeom>
              <a:avLst/>
              <a:gdLst/>
              <a:ahLst/>
              <a:cxnLst/>
              <a:rect r="r" b="b" t="t" l="l"/>
              <a:pathLst>
                <a:path h="622278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948" r="0" b="-2279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876614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訊號：客戶開始需要 SOR / Venue Routing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0544" y="2324014"/>
            <a:ext cx="7637393" cy="6289294"/>
            <a:chOff x="0" y="0"/>
            <a:chExt cx="10183190" cy="83857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83241" cy="8385739"/>
            </a:xfrm>
            <a:custGeom>
              <a:avLst/>
              <a:gdLst/>
              <a:ahLst/>
              <a:cxnLst/>
              <a:rect r="r" b="b" t="t" l="l"/>
              <a:pathLst>
                <a:path h="8385739" w="10183241">
                  <a:moveTo>
                    <a:pt x="0" y="132431"/>
                  </a:moveTo>
                  <a:cubicBezTo>
                    <a:pt x="0" y="59350"/>
                    <a:pt x="49403" y="0"/>
                    <a:pt x="110236" y="0"/>
                  </a:cubicBezTo>
                  <a:lnTo>
                    <a:pt x="10073005" y="0"/>
                  </a:lnTo>
                  <a:cubicBezTo>
                    <a:pt x="10133838" y="0"/>
                    <a:pt x="10183241" y="59350"/>
                    <a:pt x="10183241" y="132431"/>
                  </a:cubicBezTo>
                  <a:lnTo>
                    <a:pt x="10183241" y="8253309"/>
                  </a:lnTo>
                  <a:cubicBezTo>
                    <a:pt x="10183241" y="8326391"/>
                    <a:pt x="10133838" y="8385739"/>
                    <a:pt x="10073005" y="8385739"/>
                  </a:cubicBezTo>
                  <a:lnTo>
                    <a:pt x="110236" y="8385739"/>
                  </a:lnTo>
                  <a:cubicBezTo>
                    <a:pt x="49403" y="8385739"/>
                    <a:pt x="0" y="8326391"/>
                    <a:pt x="0" y="8253309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020510" y="2786529"/>
            <a:ext cx="6657461" cy="549069"/>
            <a:chOff x="0" y="0"/>
            <a:chExt cx="8876614" cy="7320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76615" cy="732092"/>
            </a:xfrm>
            <a:custGeom>
              <a:avLst/>
              <a:gdLst/>
              <a:ahLst/>
              <a:cxnLst/>
              <a:rect r="r" b="b" t="t" l="l"/>
              <a:pathLst>
                <a:path h="732092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876614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HOW 型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89147" y="3774853"/>
            <a:ext cx="6451559" cy="1578569"/>
            <a:chOff x="0" y="0"/>
            <a:chExt cx="8602078" cy="2104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02080" cy="2104764"/>
            </a:xfrm>
            <a:custGeom>
              <a:avLst/>
              <a:gdLst/>
              <a:ahLst/>
              <a:cxnLst/>
              <a:rect r="r" b="b" t="t" l="l"/>
              <a:pathLst>
                <a:path h="21047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4" r="0" b="-296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602078" cy="2104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同一策略 → 多商品 / 多訂單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需要自動同步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Timing / Basket / Hedge / Impact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20510" y="6245657"/>
            <a:ext cx="6657461" cy="466706"/>
            <a:chOff x="0" y="0"/>
            <a:chExt cx="8876614" cy="622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76615" cy="622278"/>
            </a:xfrm>
            <a:custGeom>
              <a:avLst/>
              <a:gdLst/>
              <a:ahLst/>
              <a:cxnLst/>
              <a:rect r="r" b="b" t="t" l="l"/>
              <a:pathLst>
                <a:path h="622278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948" r="0" b="-22794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876614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訊號：客戶開始需要 Basket / Program Algo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97510"/>
            <a:chOff x="0" y="0"/>
            <a:chExt cx="24427878" cy="263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63398"/>
            </a:xfrm>
            <a:custGeom>
              <a:avLst/>
              <a:gdLst/>
              <a:ahLst/>
              <a:cxnLst/>
              <a:rect r="r" b="b" t="t" l="l"/>
              <a:pathLst>
                <a:path h="26339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63398"/>
                  </a:lnTo>
                  <a:lnTo>
                    <a:pt x="0" y="263398"/>
                  </a:ln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230602"/>
            <a:ext cx="18320909" cy="73971"/>
            <a:chOff x="0" y="0"/>
            <a:chExt cx="24427878" cy="98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8679"/>
            </a:xfrm>
            <a:custGeom>
              <a:avLst/>
              <a:gdLst/>
              <a:ahLst/>
              <a:cxnLst/>
              <a:rect r="r" b="b" t="t" l="l"/>
              <a:pathLst>
                <a:path h="98679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8679"/>
                  </a:lnTo>
                  <a:lnTo>
                    <a:pt x="0" y="98679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521618"/>
            <a:ext cx="3431677" cy="696615"/>
            <a:chOff x="0" y="0"/>
            <a:chExt cx="4575569" cy="928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75" cy="928821"/>
            </a:xfrm>
            <a:custGeom>
              <a:avLst/>
              <a:gdLst/>
              <a:ahLst/>
              <a:cxnLst/>
              <a:rect r="r" b="b" t="t" l="l"/>
              <a:pathLst>
                <a:path h="92882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928821"/>
                  </a:lnTo>
                  <a:lnTo>
                    <a:pt x="0" y="928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59" r="0" b="-275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5569" cy="928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2"/>
                </a:lnSpc>
              </a:pPr>
              <a:r>
                <a:rPr lang="en-US" sz="355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案例｜日本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1239" y="1738117"/>
            <a:ext cx="3729000" cy="5783547"/>
            <a:chOff x="0" y="0"/>
            <a:chExt cx="3153946" cy="48916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53925" cy="4891708"/>
            </a:xfrm>
            <a:custGeom>
              <a:avLst/>
              <a:gdLst/>
              <a:ahLst/>
              <a:cxnLst/>
              <a:rect r="r" b="b" t="t" l="l"/>
              <a:pathLst>
                <a:path h="4891708" w="3153925">
                  <a:moveTo>
                    <a:pt x="0" y="125031"/>
                  </a:moveTo>
                  <a:cubicBezTo>
                    <a:pt x="0" y="55984"/>
                    <a:pt x="41341" y="0"/>
                    <a:pt x="92329" y="0"/>
                  </a:cubicBezTo>
                  <a:lnTo>
                    <a:pt x="3061596" y="0"/>
                  </a:lnTo>
                  <a:cubicBezTo>
                    <a:pt x="3112583" y="0"/>
                    <a:pt x="3153925" y="55984"/>
                    <a:pt x="3153925" y="125031"/>
                  </a:cubicBezTo>
                  <a:lnTo>
                    <a:pt x="3153925" y="4766684"/>
                  </a:lnTo>
                  <a:cubicBezTo>
                    <a:pt x="3153925" y="4835731"/>
                    <a:pt x="3112583" y="4891708"/>
                    <a:pt x="3061596" y="4891708"/>
                  </a:cubicBezTo>
                  <a:lnTo>
                    <a:pt x="92329" y="4891708"/>
                  </a:lnTo>
                  <a:cubicBezTo>
                    <a:pt x="41341" y="4891708"/>
                    <a:pt x="0" y="4835731"/>
                    <a:pt x="0" y="4766684"/>
                  </a:cubicBezTo>
                  <a:close/>
                </a:path>
              </a:pathLst>
            </a:custGeom>
            <a:solidFill>
              <a:srgbClr val="0D3656"/>
            </a:solidFill>
            <a:ln w="20018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7947" y="2017915"/>
            <a:ext cx="393902" cy="393902"/>
            <a:chOff x="0" y="0"/>
            <a:chExt cx="464680" cy="464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8538" y="2067480"/>
            <a:ext cx="139630" cy="155143"/>
            <a:chOff x="0" y="0"/>
            <a:chExt cx="164719" cy="183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6215" y="1982141"/>
            <a:ext cx="2094466" cy="520765"/>
            <a:chOff x="0" y="0"/>
            <a:chExt cx="2470810" cy="6143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614335"/>
            </a:xfrm>
            <a:custGeom>
              <a:avLst/>
              <a:gdLst/>
              <a:ahLst/>
              <a:cxnLst/>
              <a:rect r="r" b="b" t="t" l="l"/>
              <a:pathLst>
                <a:path h="61433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14335"/>
                  </a:lnTo>
                  <a:lnTo>
                    <a:pt x="0" y="614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79" r="0" b="-23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70810" cy="61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背景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5519" y="1733920"/>
            <a:ext cx="3677315" cy="5783547"/>
            <a:chOff x="0" y="0"/>
            <a:chExt cx="4416729" cy="6946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6699" cy="6946519"/>
            </a:xfrm>
            <a:custGeom>
              <a:avLst/>
              <a:gdLst/>
              <a:ahLst/>
              <a:cxnLst/>
              <a:rect r="r" b="b" t="t" l="l"/>
              <a:pathLst>
                <a:path h="6946519" w="4416699">
                  <a:moveTo>
                    <a:pt x="0" y="177552"/>
                  </a:moveTo>
                  <a:cubicBezTo>
                    <a:pt x="0" y="79501"/>
                    <a:pt x="57894" y="0"/>
                    <a:pt x="129296" y="0"/>
                  </a:cubicBezTo>
                  <a:lnTo>
                    <a:pt x="4287403" y="0"/>
                  </a:lnTo>
                  <a:cubicBezTo>
                    <a:pt x="4358805" y="0"/>
                    <a:pt x="4416699" y="79501"/>
                    <a:pt x="4416699" y="177552"/>
                  </a:cubicBezTo>
                  <a:lnTo>
                    <a:pt x="4416699" y="6768998"/>
                  </a:lnTo>
                  <a:cubicBezTo>
                    <a:pt x="4416699" y="6867050"/>
                    <a:pt x="4358805" y="6946519"/>
                    <a:pt x="4287403" y="6946519"/>
                  </a:cubicBezTo>
                  <a:lnTo>
                    <a:pt x="129296" y="6946519"/>
                  </a:lnTo>
                  <a:cubicBezTo>
                    <a:pt x="57894" y="6946519"/>
                    <a:pt x="0" y="6867050"/>
                    <a:pt x="0" y="6768998"/>
                  </a:cubicBezTo>
                  <a:close/>
                </a:path>
              </a:pathLst>
            </a:custGeom>
            <a:solidFill>
              <a:srgbClr val="0D3851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410097" y="2015611"/>
            <a:ext cx="424945" cy="476536"/>
            <a:chOff x="0" y="0"/>
            <a:chExt cx="283643" cy="31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656" cy="318093"/>
            </a:xfrm>
            <a:custGeom>
              <a:avLst/>
              <a:gdLst/>
              <a:ahLst/>
              <a:cxnLst/>
              <a:rect r="r" b="b" t="t" l="l"/>
              <a:pathLst>
                <a:path h="318093" w="283656">
                  <a:moveTo>
                    <a:pt x="0" y="39729"/>
                  </a:moveTo>
                  <a:cubicBezTo>
                    <a:pt x="0" y="17821"/>
                    <a:pt x="15892" y="0"/>
                    <a:pt x="35427" y="0"/>
                  </a:cubicBezTo>
                  <a:lnTo>
                    <a:pt x="248224" y="0"/>
                  </a:lnTo>
                  <a:cubicBezTo>
                    <a:pt x="267837" y="0"/>
                    <a:pt x="283656" y="17821"/>
                    <a:pt x="283656" y="39729"/>
                  </a:cubicBezTo>
                  <a:lnTo>
                    <a:pt x="283656" y="278360"/>
                  </a:lnTo>
                  <a:cubicBezTo>
                    <a:pt x="283656" y="300354"/>
                    <a:pt x="267759" y="318093"/>
                    <a:pt x="248224" y="318093"/>
                  </a:cubicBezTo>
                  <a:lnTo>
                    <a:pt x="35427" y="318093"/>
                  </a:lnTo>
                  <a:cubicBezTo>
                    <a:pt x="15892" y="318093"/>
                    <a:pt x="0" y="300268"/>
                    <a:pt x="0" y="278360"/>
                  </a:cubicBez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3812" y="2087208"/>
            <a:ext cx="162052" cy="249133"/>
            <a:chOff x="0" y="0"/>
            <a:chExt cx="191170" cy="2938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172" cy="293902"/>
            </a:xfrm>
            <a:custGeom>
              <a:avLst/>
              <a:gdLst/>
              <a:ahLst/>
              <a:cxnLst/>
              <a:rect r="r" b="b" t="t" l="l"/>
              <a:pathLst>
                <a:path h="293902" w="191172">
                  <a:moveTo>
                    <a:pt x="0" y="0"/>
                  </a:moveTo>
                  <a:lnTo>
                    <a:pt x="191172" y="0"/>
                  </a:lnTo>
                  <a:lnTo>
                    <a:pt x="191172" y="293902"/>
                  </a:lnTo>
                  <a:lnTo>
                    <a:pt x="0" y="293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51" t="0" r="-65913" b="37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1170" cy="303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9171" y="1889261"/>
            <a:ext cx="2337429" cy="729237"/>
            <a:chOff x="0" y="0"/>
            <a:chExt cx="2757430" cy="860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7430" cy="860266"/>
            </a:xfrm>
            <a:custGeom>
              <a:avLst/>
              <a:gdLst/>
              <a:ahLst/>
              <a:cxnLst/>
              <a:rect r="r" b="b" t="t" l="l"/>
              <a:pathLst>
                <a:path h="860266" w="2757430">
                  <a:moveTo>
                    <a:pt x="0" y="0"/>
                  </a:moveTo>
                  <a:lnTo>
                    <a:pt x="2757430" y="0"/>
                  </a:lnTo>
                  <a:lnTo>
                    <a:pt x="2757430" y="860266"/>
                  </a:lnTo>
                  <a:lnTo>
                    <a:pt x="0" y="86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50" r="10394" b="121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57430" cy="8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交易所回應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88113" y="1742315"/>
            <a:ext cx="3677315" cy="5779349"/>
            <a:chOff x="0" y="0"/>
            <a:chExt cx="4338073" cy="68178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8044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38044">
                  <a:moveTo>
                    <a:pt x="0" y="174264"/>
                  </a:moveTo>
                  <a:cubicBezTo>
                    <a:pt x="0" y="78029"/>
                    <a:pt x="56863" y="0"/>
                    <a:pt x="126993" y="0"/>
                  </a:cubicBezTo>
                  <a:lnTo>
                    <a:pt x="4211051" y="0"/>
                  </a:lnTo>
                  <a:cubicBezTo>
                    <a:pt x="4281181" y="0"/>
                    <a:pt x="4338044" y="78029"/>
                    <a:pt x="4338044" y="174264"/>
                  </a:cubicBezTo>
                  <a:lnTo>
                    <a:pt x="4338044" y="6643627"/>
                  </a:lnTo>
                  <a:cubicBezTo>
                    <a:pt x="4338044" y="6739862"/>
                    <a:pt x="4281181" y="6817861"/>
                    <a:pt x="4211051" y="6817861"/>
                  </a:cubicBezTo>
                  <a:lnTo>
                    <a:pt x="126993" y="6817861"/>
                  </a:lnTo>
                  <a:cubicBezTo>
                    <a:pt x="5686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5D4311"/>
            </a:solidFill>
            <a:ln w="20018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97234" y="2070726"/>
            <a:ext cx="393902" cy="393902"/>
            <a:chOff x="0" y="0"/>
            <a:chExt cx="464680" cy="464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66E3B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7825" y="2120291"/>
            <a:ext cx="139630" cy="155143"/>
            <a:chOff x="0" y="0"/>
            <a:chExt cx="164719" cy="183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35502" y="2034952"/>
            <a:ext cx="2094466" cy="465439"/>
            <a:chOff x="0" y="0"/>
            <a:chExt cx="2470810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Flow 被使用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16334" y="1733920"/>
            <a:ext cx="3707074" cy="5779349"/>
            <a:chOff x="0" y="0"/>
            <a:chExt cx="4373179" cy="68178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3150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73150">
                  <a:moveTo>
                    <a:pt x="0" y="174264"/>
                  </a:moveTo>
                  <a:cubicBezTo>
                    <a:pt x="0" y="78029"/>
                    <a:pt x="57323" y="0"/>
                    <a:pt x="128021" y="0"/>
                  </a:cubicBezTo>
                  <a:lnTo>
                    <a:pt x="4245129" y="0"/>
                  </a:lnTo>
                  <a:cubicBezTo>
                    <a:pt x="4315827" y="0"/>
                    <a:pt x="4373150" y="78029"/>
                    <a:pt x="4373150" y="174264"/>
                  </a:cubicBezTo>
                  <a:lnTo>
                    <a:pt x="4373150" y="6643627"/>
                  </a:lnTo>
                  <a:cubicBezTo>
                    <a:pt x="4373150" y="6739862"/>
                    <a:pt x="4315827" y="6817861"/>
                    <a:pt x="4245129" y="6817861"/>
                  </a:cubicBezTo>
                  <a:lnTo>
                    <a:pt x="128021" y="6817861"/>
                  </a:lnTo>
                  <a:cubicBezTo>
                    <a:pt x="5732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0A4338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27453" y="2103254"/>
            <a:ext cx="393902" cy="393902"/>
            <a:chOff x="0" y="0"/>
            <a:chExt cx="464680" cy="464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308033" y="2152818"/>
            <a:ext cx="139630" cy="155143"/>
            <a:chOff x="0" y="0"/>
            <a:chExt cx="164719" cy="1830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65721" y="2067480"/>
            <a:ext cx="2094466" cy="465439"/>
            <a:chOff x="0" y="0"/>
            <a:chExt cx="2470810" cy="549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券商商品化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636157"/>
            <a:ext cx="8510568" cy="178451"/>
            <a:chOff x="0" y="0"/>
            <a:chExt cx="11347425" cy="2379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47425" cy="237930"/>
            </a:xfrm>
            <a:custGeom>
              <a:avLst/>
              <a:gdLst/>
              <a:ahLst/>
              <a:cxnLst/>
              <a:rect r="r" b="b" t="t" l="l"/>
              <a:pathLst>
                <a:path h="2379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9285" r="0" b="-8792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134742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"/>
                </a:lnSpc>
              </a:pPr>
              <a:r>
                <a:rPr lang="en-US" sz="84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註：Co-location 訂單不是 HFT 成交量本身，但可作為高速／自動化 Flow 的使用證據。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971" y="9855784"/>
            <a:ext cx="10432313" cy="137265"/>
            <a:chOff x="0" y="0"/>
            <a:chExt cx="13909751" cy="1830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909746" cy="183023"/>
            </a:xfrm>
            <a:custGeom>
              <a:avLst/>
              <a:gdLst/>
              <a:ahLst/>
              <a:cxnLst/>
              <a:rect r="r" b="b" t="t" l="l"/>
              <a:pathLst>
                <a:path h="183023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864" r="0" b="-14308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909751" cy="183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"/>
                </a:lnSpc>
              </a:pPr>
              <a:r>
                <a:rPr lang="en-US" sz="75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TSE/JPX Co-location materials 2009; TSE arrowhead 2010; BOJ speech 2010; The TRADE 2010/2011; FSA/Reuters 2016.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822744" y="3303006"/>
            <a:ext cx="3625991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2005/11-2006/1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系統發生嚴重故障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系統速度已經跟不上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海外市場的交易所以及交易者策略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原系統搓合速度約1~2秒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410097" y="3303006"/>
            <a:ext cx="3254091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在2008架設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1月推出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arrowhead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全新的交易系統使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搓合速度下降至1ms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48638" y="3245210"/>
            <a:ext cx="3468194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2010/11: 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20–30%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訂單來自 CoLo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2012/9: CoLo訂單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超過五成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2016: 達到了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70％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970278" y="3245210"/>
            <a:ext cx="3574339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2010/2：Merrill low-latency DMA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2011/2：Nissan 鎖定 HFT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提供服務：DMA / CoLo / LL-FIX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06012" y="8359864"/>
            <a:ext cx="1508981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交易所在舊系統速度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與穩定性不足下先建置 Co-location 與 Arrowhead，低延遲基礎設施到位後，高頻訂單快速成長並進一步帶動券商商品化服務。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97510"/>
            <a:chOff x="0" y="0"/>
            <a:chExt cx="24427878" cy="263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63398"/>
            </a:xfrm>
            <a:custGeom>
              <a:avLst/>
              <a:gdLst/>
              <a:ahLst/>
              <a:cxnLst/>
              <a:rect r="r" b="b" t="t" l="l"/>
              <a:pathLst>
                <a:path h="26339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63398"/>
                  </a:lnTo>
                  <a:lnTo>
                    <a:pt x="0" y="263398"/>
                  </a:ln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230602"/>
            <a:ext cx="18320909" cy="73971"/>
            <a:chOff x="0" y="0"/>
            <a:chExt cx="24427878" cy="98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8679"/>
            </a:xfrm>
            <a:custGeom>
              <a:avLst/>
              <a:gdLst/>
              <a:ahLst/>
              <a:cxnLst/>
              <a:rect r="r" b="b" t="t" l="l"/>
              <a:pathLst>
                <a:path h="98679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8679"/>
                  </a:lnTo>
                  <a:lnTo>
                    <a:pt x="0" y="98679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521618"/>
            <a:ext cx="3431677" cy="696615"/>
            <a:chOff x="0" y="0"/>
            <a:chExt cx="4575569" cy="928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75" cy="928821"/>
            </a:xfrm>
            <a:custGeom>
              <a:avLst/>
              <a:gdLst/>
              <a:ahLst/>
              <a:cxnLst/>
              <a:rect r="r" b="b" t="t" l="l"/>
              <a:pathLst>
                <a:path h="92882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928821"/>
                  </a:lnTo>
                  <a:lnTo>
                    <a:pt x="0" y="928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59" r="0" b="-275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5569" cy="928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2"/>
                </a:lnSpc>
              </a:pPr>
              <a:r>
                <a:rPr lang="en-US" sz="355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案例｜韓國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1239" y="1738117"/>
            <a:ext cx="3729000" cy="5783547"/>
            <a:chOff x="0" y="0"/>
            <a:chExt cx="3153946" cy="48916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53925" cy="4891708"/>
            </a:xfrm>
            <a:custGeom>
              <a:avLst/>
              <a:gdLst/>
              <a:ahLst/>
              <a:cxnLst/>
              <a:rect r="r" b="b" t="t" l="l"/>
              <a:pathLst>
                <a:path h="4891708" w="3153925">
                  <a:moveTo>
                    <a:pt x="0" y="125031"/>
                  </a:moveTo>
                  <a:cubicBezTo>
                    <a:pt x="0" y="55984"/>
                    <a:pt x="41341" y="0"/>
                    <a:pt x="92329" y="0"/>
                  </a:cubicBezTo>
                  <a:lnTo>
                    <a:pt x="3061596" y="0"/>
                  </a:lnTo>
                  <a:cubicBezTo>
                    <a:pt x="3112583" y="0"/>
                    <a:pt x="3153925" y="55984"/>
                    <a:pt x="3153925" y="125031"/>
                  </a:cubicBezTo>
                  <a:lnTo>
                    <a:pt x="3153925" y="4766684"/>
                  </a:lnTo>
                  <a:cubicBezTo>
                    <a:pt x="3153925" y="4835731"/>
                    <a:pt x="3112583" y="4891708"/>
                    <a:pt x="3061596" y="4891708"/>
                  </a:cubicBezTo>
                  <a:lnTo>
                    <a:pt x="92329" y="4891708"/>
                  </a:lnTo>
                  <a:cubicBezTo>
                    <a:pt x="41341" y="4891708"/>
                    <a:pt x="0" y="4835731"/>
                    <a:pt x="0" y="4766684"/>
                  </a:cubicBezTo>
                  <a:close/>
                </a:path>
              </a:pathLst>
            </a:custGeom>
            <a:solidFill>
              <a:srgbClr val="0D3656"/>
            </a:solidFill>
            <a:ln w="20018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7947" y="2017915"/>
            <a:ext cx="393902" cy="393902"/>
            <a:chOff x="0" y="0"/>
            <a:chExt cx="464680" cy="464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8538" y="2067480"/>
            <a:ext cx="139630" cy="155143"/>
            <a:chOff x="0" y="0"/>
            <a:chExt cx="164719" cy="183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6215" y="1982141"/>
            <a:ext cx="2094466" cy="520765"/>
            <a:chOff x="0" y="0"/>
            <a:chExt cx="2470810" cy="6143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614335"/>
            </a:xfrm>
            <a:custGeom>
              <a:avLst/>
              <a:gdLst/>
              <a:ahLst/>
              <a:cxnLst/>
              <a:rect r="r" b="b" t="t" l="l"/>
              <a:pathLst>
                <a:path h="61433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14335"/>
                  </a:lnTo>
                  <a:lnTo>
                    <a:pt x="0" y="614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79" r="0" b="-23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70810" cy="61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背景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5519" y="1733920"/>
            <a:ext cx="3677315" cy="5783547"/>
            <a:chOff x="0" y="0"/>
            <a:chExt cx="4416729" cy="6946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6699" cy="6946519"/>
            </a:xfrm>
            <a:custGeom>
              <a:avLst/>
              <a:gdLst/>
              <a:ahLst/>
              <a:cxnLst/>
              <a:rect r="r" b="b" t="t" l="l"/>
              <a:pathLst>
                <a:path h="6946519" w="4416699">
                  <a:moveTo>
                    <a:pt x="0" y="177552"/>
                  </a:moveTo>
                  <a:cubicBezTo>
                    <a:pt x="0" y="79501"/>
                    <a:pt x="57894" y="0"/>
                    <a:pt x="129296" y="0"/>
                  </a:cubicBezTo>
                  <a:lnTo>
                    <a:pt x="4287403" y="0"/>
                  </a:lnTo>
                  <a:cubicBezTo>
                    <a:pt x="4358805" y="0"/>
                    <a:pt x="4416699" y="79501"/>
                    <a:pt x="4416699" y="177552"/>
                  </a:cubicBezTo>
                  <a:lnTo>
                    <a:pt x="4416699" y="6768998"/>
                  </a:lnTo>
                  <a:cubicBezTo>
                    <a:pt x="4416699" y="6867050"/>
                    <a:pt x="4358805" y="6946519"/>
                    <a:pt x="4287403" y="6946519"/>
                  </a:cubicBezTo>
                  <a:lnTo>
                    <a:pt x="129296" y="6946519"/>
                  </a:lnTo>
                  <a:cubicBezTo>
                    <a:pt x="57894" y="6946519"/>
                    <a:pt x="0" y="6867050"/>
                    <a:pt x="0" y="6768998"/>
                  </a:cubicBezTo>
                  <a:close/>
                </a:path>
              </a:pathLst>
            </a:custGeom>
            <a:solidFill>
              <a:srgbClr val="0D3851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410097" y="2015611"/>
            <a:ext cx="424945" cy="476536"/>
            <a:chOff x="0" y="0"/>
            <a:chExt cx="283643" cy="31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656" cy="318093"/>
            </a:xfrm>
            <a:custGeom>
              <a:avLst/>
              <a:gdLst/>
              <a:ahLst/>
              <a:cxnLst/>
              <a:rect r="r" b="b" t="t" l="l"/>
              <a:pathLst>
                <a:path h="318093" w="283656">
                  <a:moveTo>
                    <a:pt x="0" y="39729"/>
                  </a:moveTo>
                  <a:cubicBezTo>
                    <a:pt x="0" y="17821"/>
                    <a:pt x="15892" y="0"/>
                    <a:pt x="35427" y="0"/>
                  </a:cubicBezTo>
                  <a:lnTo>
                    <a:pt x="248224" y="0"/>
                  </a:lnTo>
                  <a:cubicBezTo>
                    <a:pt x="267837" y="0"/>
                    <a:pt x="283656" y="17821"/>
                    <a:pt x="283656" y="39729"/>
                  </a:cubicBezTo>
                  <a:lnTo>
                    <a:pt x="283656" y="278360"/>
                  </a:lnTo>
                  <a:cubicBezTo>
                    <a:pt x="283656" y="300354"/>
                    <a:pt x="267759" y="318093"/>
                    <a:pt x="248224" y="318093"/>
                  </a:cubicBezTo>
                  <a:lnTo>
                    <a:pt x="35427" y="318093"/>
                  </a:lnTo>
                  <a:cubicBezTo>
                    <a:pt x="15892" y="318093"/>
                    <a:pt x="0" y="300268"/>
                    <a:pt x="0" y="278360"/>
                  </a:cubicBez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3812" y="2087208"/>
            <a:ext cx="162052" cy="249133"/>
            <a:chOff x="0" y="0"/>
            <a:chExt cx="191170" cy="2938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172" cy="293902"/>
            </a:xfrm>
            <a:custGeom>
              <a:avLst/>
              <a:gdLst/>
              <a:ahLst/>
              <a:cxnLst/>
              <a:rect r="r" b="b" t="t" l="l"/>
              <a:pathLst>
                <a:path h="293902" w="191172">
                  <a:moveTo>
                    <a:pt x="0" y="0"/>
                  </a:moveTo>
                  <a:lnTo>
                    <a:pt x="191172" y="0"/>
                  </a:lnTo>
                  <a:lnTo>
                    <a:pt x="191172" y="293902"/>
                  </a:lnTo>
                  <a:lnTo>
                    <a:pt x="0" y="293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51" t="0" r="-65913" b="37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1170" cy="303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9171" y="1889261"/>
            <a:ext cx="2337429" cy="729237"/>
            <a:chOff x="0" y="0"/>
            <a:chExt cx="2757430" cy="860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7430" cy="860266"/>
            </a:xfrm>
            <a:custGeom>
              <a:avLst/>
              <a:gdLst/>
              <a:ahLst/>
              <a:cxnLst/>
              <a:rect r="r" b="b" t="t" l="l"/>
              <a:pathLst>
                <a:path h="860266" w="2757430">
                  <a:moveTo>
                    <a:pt x="0" y="0"/>
                  </a:moveTo>
                  <a:lnTo>
                    <a:pt x="2757430" y="0"/>
                  </a:lnTo>
                  <a:lnTo>
                    <a:pt x="2757430" y="860266"/>
                  </a:lnTo>
                  <a:lnTo>
                    <a:pt x="0" y="86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50" r="10394" b="121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57430" cy="8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交易所回應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88113" y="1742315"/>
            <a:ext cx="3677315" cy="5779349"/>
            <a:chOff x="0" y="0"/>
            <a:chExt cx="4338073" cy="68178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8044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38044">
                  <a:moveTo>
                    <a:pt x="0" y="174264"/>
                  </a:moveTo>
                  <a:cubicBezTo>
                    <a:pt x="0" y="78029"/>
                    <a:pt x="56863" y="0"/>
                    <a:pt x="126993" y="0"/>
                  </a:cubicBezTo>
                  <a:lnTo>
                    <a:pt x="4211051" y="0"/>
                  </a:lnTo>
                  <a:cubicBezTo>
                    <a:pt x="4281181" y="0"/>
                    <a:pt x="4338044" y="78029"/>
                    <a:pt x="4338044" y="174264"/>
                  </a:cubicBezTo>
                  <a:lnTo>
                    <a:pt x="4338044" y="6643627"/>
                  </a:lnTo>
                  <a:cubicBezTo>
                    <a:pt x="4338044" y="6739862"/>
                    <a:pt x="4281181" y="6817861"/>
                    <a:pt x="4211051" y="6817861"/>
                  </a:cubicBezTo>
                  <a:lnTo>
                    <a:pt x="126993" y="6817861"/>
                  </a:lnTo>
                  <a:cubicBezTo>
                    <a:pt x="5686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5D4311"/>
            </a:solidFill>
            <a:ln w="20018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97234" y="2070726"/>
            <a:ext cx="393902" cy="393902"/>
            <a:chOff x="0" y="0"/>
            <a:chExt cx="464680" cy="464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66E3B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7825" y="2120291"/>
            <a:ext cx="139630" cy="155143"/>
            <a:chOff x="0" y="0"/>
            <a:chExt cx="164719" cy="183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35502" y="2034952"/>
            <a:ext cx="2094466" cy="465439"/>
            <a:chOff x="0" y="0"/>
            <a:chExt cx="2470810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Flow 被使用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16334" y="1733920"/>
            <a:ext cx="3707074" cy="5779349"/>
            <a:chOff x="0" y="0"/>
            <a:chExt cx="4373179" cy="68178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3150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73150">
                  <a:moveTo>
                    <a:pt x="0" y="174264"/>
                  </a:moveTo>
                  <a:cubicBezTo>
                    <a:pt x="0" y="78029"/>
                    <a:pt x="57323" y="0"/>
                    <a:pt x="128021" y="0"/>
                  </a:cubicBezTo>
                  <a:lnTo>
                    <a:pt x="4245129" y="0"/>
                  </a:lnTo>
                  <a:cubicBezTo>
                    <a:pt x="4315827" y="0"/>
                    <a:pt x="4373150" y="78029"/>
                    <a:pt x="4373150" y="174264"/>
                  </a:cubicBezTo>
                  <a:lnTo>
                    <a:pt x="4373150" y="6643627"/>
                  </a:lnTo>
                  <a:cubicBezTo>
                    <a:pt x="4373150" y="6739862"/>
                    <a:pt x="4315827" y="6817861"/>
                    <a:pt x="4245129" y="6817861"/>
                  </a:cubicBezTo>
                  <a:lnTo>
                    <a:pt x="128021" y="6817861"/>
                  </a:lnTo>
                  <a:cubicBezTo>
                    <a:pt x="5732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0A4338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27453" y="2103254"/>
            <a:ext cx="393902" cy="393902"/>
            <a:chOff x="0" y="0"/>
            <a:chExt cx="464680" cy="464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308033" y="2152818"/>
            <a:ext cx="139630" cy="155143"/>
            <a:chOff x="0" y="0"/>
            <a:chExt cx="164719" cy="1830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65721" y="2067480"/>
            <a:ext cx="2094466" cy="465439"/>
            <a:chOff x="0" y="0"/>
            <a:chExt cx="2470810" cy="549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券商商品化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636157"/>
            <a:ext cx="8510568" cy="178451"/>
            <a:chOff x="0" y="0"/>
            <a:chExt cx="11347425" cy="2379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47425" cy="237930"/>
            </a:xfrm>
            <a:custGeom>
              <a:avLst/>
              <a:gdLst/>
              <a:ahLst/>
              <a:cxnLst/>
              <a:rect r="r" b="b" t="t" l="l"/>
              <a:pathLst>
                <a:path h="2379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9285" r="0" b="-8792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134742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"/>
                </a:lnSpc>
              </a:pPr>
              <a:r>
                <a:rPr lang="en-US" sz="84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註：Co-location 訂單不是 HFT 成交量本身，但可作為高速／自動化 Flow 的使用證據。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971" y="9855784"/>
            <a:ext cx="10432313" cy="137265"/>
            <a:chOff x="0" y="0"/>
            <a:chExt cx="13909751" cy="1830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909746" cy="183023"/>
            </a:xfrm>
            <a:custGeom>
              <a:avLst/>
              <a:gdLst/>
              <a:ahLst/>
              <a:cxnLst/>
              <a:rect r="r" b="b" t="t" l="l"/>
              <a:pathLst>
                <a:path h="183023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864" r="0" b="-14308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909751" cy="183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"/>
                </a:lnSpc>
              </a:pPr>
              <a:r>
                <a:rPr lang="en-US" sz="75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TSE/JPX Co-location materials 2009; TSE arrowhead 2010; BOJ speech 2010; The TRADE 2010/2011; FSA/Reuters 2016.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789451" y="2618498"/>
            <a:ext cx="3606443" cy="43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衍生品市場先形成龐大的短線交易 Flow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2006 年，KOSPI 200 Options 全年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成交約 24.1 億口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，全世界第一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早期市場又高度散戶化， 2002 年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個人投資人占 Options 成交量約 66%。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韓國衍生品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沒有證交稅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、交易成本低、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槓桿高且容易做空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，對短線、套利及 HFT 特別有吸引力。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92459" y="2745129"/>
            <a:ext cx="3468194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2010/12 KOSPI 200 衍生品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高頻交易帳戶產生的 Orders 占比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 約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55–90%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 約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60–64%</a:t>
            </a:r>
          </a:p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而在每天超過 2 萬筆訂單的高頻帳戶中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占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 約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75.6%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 更達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98%</a:t>
            </a:r>
          </a:p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2010-2014：HFT總市場參與占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49.4%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472123" y="8350339"/>
            <a:ext cx="113437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高頻 Flow 已經出現後，券商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開始競爭「誰能把海外 HFT 更快地接進 KRX」。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205519" y="2745129"/>
            <a:ext cx="3487244" cy="43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2009/3/23 推出新一代交易系統 EXTURE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整合原先三個市場的交易、結算與行情系統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每日報價處理能力提升到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4,000 萬筆，約為舊系統兩倍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order execution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latency 降到 0.08 秒以下。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同年 KOSPI 200 Futures 進入 CME Globex 夜盤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016334" y="2656598"/>
            <a:ext cx="3619488" cy="46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234" indent="-229617" lvl="1">
              <a:lnSpc>
                <a:spcPts val="2552"/>
              </a:lnSpc>
              <a:buFont typeface="Arial"/>
              <a:buChar char="•"/>
            </a:pP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2006/8 Goodmorning Shinhan: Fidessa Low-Latency Network＋DMA,鎖定</a:t>
            </a:r>
            <a:r>
              <a:rPr lang="en-US" b="true" sz="21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 Buy-side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2011/8 Samsung Securities: Orc ExNet, 鎖定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 / European HFT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，提供 KOSPI200 Futures / Options 高速接入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2012/4 Korea Investment Securities: Orc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Low-Latency Connectivity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97510"/>
            <a:chOff x="0" y="0"/>
            <a:chExt cx="24427878" cy="263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63398"/>
            </a:xfrm>
            <a:custGeom>
              <a:avLst/>
              <a:gdLst/>
              <a:ahLst/>
              <a:cxnLst/>
              <a:rect r="r" b="b" t="t" l="l"/>
              <a:pathLst>
                <a:path h="26339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63398"/>
                  </a:lnTo>
                  <a:lnTo>
                    <a:pt x="0" y="263398"/>
                  </a:ln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230602"/>
            <a:ext cx="18320909" cy="73971"/>
            <a:chOff x="0" y="0"/>
            <a:chExt cx="24427878" cy="98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8679"/>
            </a:xfrm>
            <a:custGeom>
              <a:avLst/>
              <a:gdLst/>
              <a:ahLst/>
              <a:cxnLst/>
              <a:rect r="r" b="b" t="t" l="l"/>
              <a:pathLst>
                <a:path h="98679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8679"/>
                  </a:lnTo>
                  <a:lnTo>
                    <a:pt x="0" y="98679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521618"/>
            <a:ext cx="3431677" cy="696615"/>
            <a:chOff x="0" y="0"/>
            <a:chExt cx="4575569" cy="928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75" cy="928821"/>
            </a:xfrm>
            <a:custGeom>
              <a:avLst/>
              <a:gdLst/>
              <a:ahLst/>
              <a:cxnLst/>
              <a:rect r="r" b="b" t="t" l="l"/>
              <a:pathLst>
                <a:path h="92882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928821"/>
                  </a:lnTo>
                  <a:lnTo>
                    <a:pt x="0" y="928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59" r="0" b="-275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5569" cy="928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2"/>
                </a:lnSpc>
              </a:pPr>
              <a:r>
                <a:rPr lang="en-US" sz="355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案例｜美國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1239" y="1738117"/>
            <a:ext cx="3729000" cy="5783547"/>
            <a:chOff x="0" y="0"/>
            <a:chExt cx="3153946" cy="48916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53925" cy="4891708"/>
            </a:xfrm>
            <a:custGeom>
              <a:avLst/>
              <a:gdLst/>
              <a:ahLst/>
              <a:cxnLst/>
              <a:rect r="r" b="b" t="t" l="l"/>
              <a:pathLst>
                <a:path h="4891708" w="3153925">
                  <a:moveTo>
                    <a:pt x="0" y="125031"/>
                  </a:moveTo>
                  <a:cubicBezTo>
                    <a:pt x="0" y="55984"/>
                    <a:pt x="41341" y="0"/>
                    <a:pt x="92329" y="0"/>
                  </a:cubicBezTo>
                  <a:lnTo>
                    <a:pt x="3061596" y="0"/>
                  </a:lnTo>
                  <a:cubicBezTo>
                    <a:pt x="3112583" y="0"/>
                    <a:pt x="3153925" y="55984"/>
                    <a:pt x="3153925" y="125031"/>
                  </a:cubicBezTo>
                  <a:lnTo>
                    <a:pt x="3153925" y="4766684"/>
                  </a:lnTo>
                  <a:cubicBezTo>
                    <a:pt x="3153925" y="4835731"/>
                    <a:pt x="3112583" y="4891708"/>
                    <a:pt x="3061596" y="4891708"/>
                  </a:cubicBezTo>
                  <a:lnTo>
                    <a:pt x="92329" y="4891708"/>
                  </a:lnTo>
                  <a:cubicBezTo>
                    <a:pt x="41341" y="4891708"/>
                    <a:pt x="0" y="4835731"/>
                    <a:pt x="0" y="4766684"/>
                  </a:cubicBezTo>
                  <a:close/>
                </a:path>
              </a:pathLst>
            </a:custGeom>
            <a:solidFill>
              <a:srgbClr val="0D3656"/>
            </a:solidFill>
            <a:ln w="20018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7947" y="2017915"/>
            <a:ext cx="393902" cy="393902"/>
            <a:chOff x="0" y="0"/>
            <a:chExt cx="464680" cy="464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8538" y="2067480"/>
            <a:ext cx="139630" cy="155143"/>
            <a:chOff x="0" y="0"/>
            <a:chExt cx="164719" cy="183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6215" y="1982141"/>
            <a:ext cx="2094466" cy="520765"/>
            <a:chOff x="0" y="0"/>
            <a:chExt cx="2470810" cy="6143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614335"/>
            </a:xfrm>
            <a:custGeom>
              <a:avLst/>
              <a:gdLst/>
              <a:ahLst/>
              <a:cxnLst/>
              <a:rect r="r" b="b" t="t" l="l"/>
              <a:pathLst>
                <a:path h="61433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14335"/>
                  </a:lnTo>
                  <a:lnTo>
                    <a:pt x="0" y="614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79" r="0" b="-23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70810" cy="61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背景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5519" y="1733920"/>
            <a:ext cx="3677315" cy="5783547"/>
            <a:chOff x="0" y="0"/>
            <a:chExt cx="4416729" cy="6946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6699" cy="6946519"/>
            </a:xfrm>
            <a:custGeom>
              <a:avLst/>
              <a:gdLst/>
              <a:ahLst/>
              <a:cxnLst/>
              <a:rect r="r" b="b" t="t" l="l"/>
              <a:pathLst>
                <a:path h="6946519" w="4416699">
                  <a:moveTo>
                    <a:pt x="0" y="177552"/>
                  </a:moveTo>
                  <a:cubicBezTo>
                    <a:pt x="0" y="79501"/>
                    <a:pt x="57894" y="0"/>
                    <a:pt x="129296" y="0"/>
                  </a:cubicBezTo>
                  <a:lnTo>
                    <a:pt x="4287403" y="0"/>
                  </a:lnTo>
                  <a:cubicBezTo>
                    <a:pt x="4358805" y="0"/>
                    <a:pt x="4416699" y="79501"/>
                    <a:pt x="4416699" y="177552"/>
                  </a:cubicBezTo>
                  <a:lnTo>
                    <a:pt x="4416699" y="6768998"/>
                  </a:lnTo>
                  <a:cubicBezTo>
                    <a:pt x="4416699" y="6867050"/>
                    <a:pt x="4358805" y="6946519"/>
                    <a:pt x="4287403" y="6946519"/>
                  </a:cubicBezTo>
                  <a:lnTo>
                    <a:pt x="129296" y="6946519"/>
                  </a:lnTo>
                  <a:cubicBezTo>
                    <a:pt x="57894" y="6946519"/>
                    <a:pt x="0" y="6867050"/>
                    <a:pt x="0" y="6768998"/>
                  </a:cubicBezTo>
                  <a:close/>
                </a:path>
              </a:pathLst>
            </a:custGeom>
            <a:solidFill>
              <a:srgbClr val="0D3851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410097" y="2015611"/>
            <a:ext cx="424945" cy="476536"/>
            <a:chOff x="0" y="0"/>
            <a:chExt cx="283643" cy="31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656" cy="318093"/>
            </a:xfrm>
            <a:custGeom>
              <a:avLst/>
              <a:gdLst/>
              <a:ahLst/>
              <a:cxnLst/>
              <a:rect r="r" b="b" t="t" l="l"/>
              <a:pathLst>
                <a:path h="318093" w="283656">
                  <a:moveTo>
                    <a:pt x="0" y="39729"/>
                  </a:moveTo>
                  <a:cubicBezTo>
                    <a:pt x="0" y="17821"/>
                    <a:pt x="15892" y="0"/>
                    <a:pt x="35427" y="0"/>
                  </a:cubicBezTo>
                  <a:lnTo>
                    <a:pt x="248224" y="0"/>
                  </a:lnTo>
                  <a:cubicBezTo>
                    <a:pt x="267837" y="0"/>
                    <a:pt x="283656" y="17821"/>
                    <a:pt x="283656" y="39729"/>
                  </a:cubicBezTo>
                  <a:lnTo>
                    <a:pt x="283656" y="278360"/>
                  </a:lnTo>
                  <a:cubicBezTo>
                    <a:pt x="283656" y="300354"/>
                    <a:pt x="267759" y="318093"/>
                    <a:pt x="248224" y="318093"/>
                  </a:cubicBezTo>
                  <a:lnTo>
                    <a:pt x="35427" y="318093"/>
                  </a:lnTo>
                  <a:cubicBezTo>
                    <a:pt x="15892" y="318093"/>
                    <a:pt x="0" y="300268"/>
                    <a:pt x="0" y="278360"/>
                  </a:cubicBez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3812" y="2087208"/>
            <a:ext cx="162052" cy="249133"/>
            <a:chOff x="0" y="0"/>
            <a:chExt cx="191170" cy="2938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172" cy="293902"/>
            </a:xfrm>
            <a:custGeom>
              <a:avLst/>
              <a:gdLst/>
              <a:ahLst/>
              <a:cxnLst/>
              <a:rect r="r" b="b" t="t" l="l"/>
              <a:pathLst>
                <a:path h="293902" w="191172">
                  <a:moveTo>
                    <a:pt x="0" y="0"/>
                  </a:moveTo>
                  <a:lnTo>
                    <a:pt x="191172" y="0"/>
                  </a:lnTo>
                  <a:lnTo>
                    <a:pt x="191172" y="293902"/>
                  </a:lnTo>
                  <a:lnTo>
                    <a:pt x="0" y="293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51" t="0" r="-65913" b="37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1170" cy="303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9171" y="1889261"/>
            <a:ext cx="2337429" cy="729237"/>
            <a:chOff x="0" y="0"/>
            <a:chExt cx="2757430" cy="860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7430" cy="860266"/>
            </a:xfrm>
            <a:custGeom>
              <a:avLst/>
              <a:gdLst/>
              <a:ahLst/>
              <a:cxnLst/>
              <a:rect r="r" b="b" t="t" l="l"/>
              <a:pathLst>
                <a:path h="860266" w="2757430">
                  <a:moveTo>
                    <a:pt x="0" y="0"/>
                  </a:moveTo>
                  <a:lnTo>
                    <a:pt x="2757430" y="0"/>
                  </a:lnTo>
                  <a:lnTo>
                    <a:pt x="2757430" y="860266"/>
                  </a:lnTo>
                  <a:lnTo>
                    <a:pt x="0" y="86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50" r="10394" b="121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57430" cy="8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交易所回應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88113" y="1742315"/>
            <a:ext cx="3677315" cy="5779349"/>
            <a:chOff x="0" y="0"/>
            <a:chExt cx="4338073" cy="68178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8044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38044">
                  <a:moveTo>
                    <a:pt x="0" y="174264"/>
                  </a:moveTo>
                  <a:cubicBezTo>
                    <a:pt x="0" y="78029"/>
                    <a:pt x="56863" y="0"/>
                    <a:pt x="126993" y="0"/>
                  </a:cubicBezTo>
                  <a:lnTo>
                    <a:pt x="4211051" y="0"/>
                  </a:lnTo>
                  <a:cubicBezTo>
                    <a:pt x="4281181" y="0"/>
                    <a:pt x="4338044" y="78029"/>
                    <a:pt x="4338044" y="174264"/>
                  </a:cubicBezTo>
                  <a:lnTo>
                    <a:pt x="4338044" y="6643627"/>
                  </a:lnTo>
                  <a:cubicBezTo>
                    <a:pt x="4338044" y="6739862"/>
                    <a:pt x="4281181" y="6817861"/>
                    <a:pt x="4211051" y="6817861"/>
                  </a:cubicBezTo>
                  <a:lnTo>
                    <a:pt x="126993" y="6817861"/>
                  </a:lnTo>
                  <a:cubicBezTo>
                    <a:pt x="5686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5D4311"/>
            </a:solidFill>
            <a:ln w="20018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97234" y="2070726"/>
            <a:ext cx="393902" cy="393902"/>
            <a:chOff x="0" y="0"/>
            <a:chExt cx="464680" cy="464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66E3B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7825" y="2120291"/>
            <a:ext cx="139630" cy="155143"/>
            <a:chOff x="0" y="0"/>
            <a:chExt cx="164719" cy="183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35502" y="2034952"/>
            <a:ext cx="2094466" cy="465439"/>
            <a:chOff x="0" y="0"/>
            <a:chExt cx="2470810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Flow 被使用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16334" y="1733920"/>
            <a:ext cx="3707074" cy="5779349"/>
            <a:chOff x="0" y="0"/>
            <a:chExt cx="4373179" cy="68178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3150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73150">
                  <a:moveTo>
                    <a:pt x="0" y="174264"/>
                  </a:moveTo>
                  <a:cubicBezTo>
                    <a:pt x="0" y="78029"/>
                    <a:pt x="57323" y="0"/>
                    <a:pt x="128021" y="0"/>
                  </a:cubicBezTo>
                  <a:lnTo>
                    <a:pt x="4245129" y="0"/>
                  </a:lnTo>
                  <a:cubicBezTo>
                    <a:pt x="4315827" y="0"/>
                    <a:pt x="4373150" y="78029"/>
                    <a:pt x="4373150" y="174264"/>
                  </a:cubicBezTo>
                  <a:lnTo>
                    <a:pt x="4373150" y="6643627"/>
                  </a:lnTo>
                  <a:cubicBezTo>
                    <a:pt x="4373150" y="6739862"/>
                    <a:pt x="4315827" y="6817861"/>
                    <a:pt x="4245129" y="6817861"/>
                  </a:cubicBezTo>
                  <a:lnTo>
                    <a:pt x="128021" y="6817861"/>
                  </a:lnTo>
                  <a:cubicBezTo>
                    <a:pt x="5732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0A4338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27453" y="2103254"/>
            <a:ext cx="393902" cy="393902"/>
            <a:chOff x="0" y="0"/>
            <a:chExt cx="464680" cy="464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308033" y="2152818"/>
            <a:ext cx="139630" cy="155143"/>
            <a:chOff x="0" y="0"/>
            <a:chExt cx="164719" cy="1830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65721" y="2067480"/>
            <a:ext cx="2094466" cy="465439"/>
            <a:chOff x="0" y="0"/>
            <a:chExt cx="2470810" cy="549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券商商品化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636157"/>
            <a:ext cx="8510568" cy="178451"/>
            <a:chOff x="0" y="0"/>
            <a:chExt cx="11347425" cy="2379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47425" cy="237930"/>
            </a:xfrm>
            <a:custGeom>
              <a:avLst/>
              <a:gdLst/>
              <a:ahLst/>
              <a:cxnLst/>
              <a:rect r="r" b="b" t="t" l="l"/>
              <a:pathLst>
                <a:path h="2379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9285" r="0" b="-8792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134742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"/>
                </a:lnSpc>
              </a:pPr>
              <a:r>
                <a:rPr lang="en-US" sz="84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註：Co-location 訂單不是 HFT 成交量本身，但可作為高速／自動化 Flow 的使用證據。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971" y="9855784"/>
            <a:ext cx="10432313" cy="137265"/>
            <a:chOff x="0" y="0"/>
            <a:chExt cx="13909751" cy="1830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909746" cy="183023"/>
            </a:xfrm>
            <a:custGeom>
              <a:avLst/>
              <a:gdLst/>
              <a:ahLst/>
              <a:cxnLst/>
              <a:rect r="r" b="b" t="t" l="l"/>
              <a:pathLst>
                <a:path h="183023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864" r="0" b="-14308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909751" cy="183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"/>
                </a:lnSpc>
              </a:pPr>
              <a:r>
                <a:rPr lang="en-US" sz="75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TSE/JPX Co-location materials 2009; TSE arrowhead 2010; BOJ speech 2010; The TRADE 2010/2011; FSA/Reuters 2016.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57947" y="2594758"/>
            <a:ext cx="3399847" cy="442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 Decimalization  SEC要求把股票與選擇權報價從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分數制改成十進位，tick size最小1 cent</a:t>
            </a: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導致2001-2004</a:t>
            </a:r>
          </a:p>
          <a:p>
            <a:pPr algn="l" marL="428434" indent="-214217" lvl="1">
              <a:lnSpc>
                <a:spcPts val="2381"/>
              </a:lnSpc>
              <a:buFont typeface="Arial"/>
              <a:buChar char="•"/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 大幅壓縮：Nasdaq quoted spread下降了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50%</a:t>
            </a:r>
          </a:p>
          <a:p>
            <a:pPr algn="l" marL="428434" indent="-214217" lvl="1">
              <a:lnSpc>
                <a:spcPts val="2381"/>
              </a:lnSpc>
              <a:buFont typeface="Arial"/>
              <a:buChar char="•"/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Nasdaq做事商利潤從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9B下降至2.5B</a:t>
            </a: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，做市商數量從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接近 500 家下降至約 260 家</a:t>
            </a:r>
          </a:p>
          <a:p>
            <a:pPr algn="l">
              <a:lnSpc>
                <a:spcPts val="2381"/>
              </a:lnSpc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spread變薄使得原本傳統人工做市傳統的商業模式不再適用，需要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搶的更快以及更大量的下單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43619" y="2768970"/>
            <a:ext cx="3487244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2006 年: 提供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年:美國部分交易所平均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response time 已經低於 1ms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許多交易所同時提供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 與 direct proprietary data feeds。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016334" y="2656598"/>
            <a:ext cx="3619488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234" indent="-229617" lvl="1">
              <a:lnSpc>
                <a:spcPts val="2552"/>
              </a:lnSpc>
              <a:buFont typeface="Arial"/>
              <a:buChar char="•"/>
            </a:pP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2008 Morgan Stanley: Speedwa(</a:t>
            </a:r>
            <a:r>
              <a:rPr lang="en-US" b="true" sz="21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 DMA + Pre-trade Risk Check, 風控latency約為2us</a:t>
            </a: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algn="l" marL="459234" indent="-229617" lvl="1">
              <a:lnSpc>
                <a:spcPts val="2552"/>
              </a:lnSpc>
              <a:buFont typeface="Arial"/>
              <a:buChar char="•"/>
            </a:pP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2009 Wedbush：</a:t>
            </a:r>
            <a:r>
              <a:rPr lang="en-US" b="true" sz="21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Sponsored Access 客戶於 Nasdaq 約 695M shares/day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LimeInside：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CoLo + Sponsored Access + C++ API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34537" y="2699607"/>
            <a:ext cx="3430094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NYSE-listed stocks從2005到2009：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平均執行速度：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10.1 秒 → 0.7 秒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每日交易筆數：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2.9M → 22.1M，+662%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平均每筆交易：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724 股 → 268 股</a:t>
            </a:r>
          </a:p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2010年, SEC數據表示：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 已占美股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&gt;50% 成交量</a:t>
            </a:r>
          </a:p>
          <a:p>
            <a:pPr algn="l">
              <a:lnSpc>
                <a:spcPts val="2672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606012" y="8359864"/>
            <a:ext cx="1508981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 HFT 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的發展，是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市場電子化與碎片化加上 Decimalization 壓縮價差，使「速度、規模與低成本」開始具備直接經濟價值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97358"/>
            <a:chOff x="0" y="0"/>
            <a:chExt cx="24408790" cy="263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63144"/>
            </a:xfrm>
            <a:custGeom>
              <a:avLst/>
              <a:gdLst/>
              <a:ahLst/>
              <a:cxnLst/>
              <a:rect r="r" b="b" t="t" l="l"/>
              <a:pathLst>
                <a:path h="26314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63144"/>
                  </a:lnTo>
                  <a:lnTo>
                    <a:pt x="0" y="263144"/>
                  </a:lnTo>
                  <a:close/>
                </a:path>
              </a:pathLst>
            </a:custGeom>
            <a:solidFill>
              <a:srgbClr val="08CBE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10112883"/>
            <a:ext cx="18306593" cy="183642"/>
            <a:chOff x="0" y="0"/>
            <a:chExt cx="24408790" cy="244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D4A64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" y="658368"/>
            <a:ext cx="3429000" cy="617220"/>
            <a:chOff x="0" y="0"/>
            <a:chExt cx="4572000" cy="822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2000" cy="822960"/>
            </a:xfrm>
            <a:custGeom>
              <a:avLst/>
              <a:gdLst/>
              <a:ahLst/>
              <a:cxnLst/>
              <a:rect r="r" b="b" t="t" l="l"/>
              <a:pathLst>
                <a:path h="8229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7200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b="true" sz="3750" spc="5">
                  <a:solidFill>
                    <a:srgbClr val="FFC94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第二單元總結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4380" y="1330452"/>
            <a:ext cx="8503920" cy="411480"/>
            <a:chOff x="0" y="0"/>
            <a:chExt cx="1133856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38560" cy="548640"/>
            </a:xfrm>
            <a:custGeom>
              <a:avLst/>
              <a:gdLst/>
              <a:ahLst/>
              <a:cxnLst/>
              <a:rect r="r" b="b" t="t" l="l"/>
              <a:pathLst>
                <a:path h="5486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690" r="0" b="-3526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133856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海外案例看到的是：交易方式先變，服務才跟上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755648"/>
            <a:ext cx="11247120" cy="329184"/>
            <a:chOff x="0" y="0"/>
            <a:chExt cx="14996160" cy="4389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96161" cy="438912"/>
            </a:xfrm>
            <a:custGeom>
              <a:avLst/>
              <a:gdLst/>
              <a:ahLst/>
              <a:cxnLst/>
              <a:rect r="r" b="b" t="t" l="l"/>
              <a:pathLst>
                <a:path h="438912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738" r="0" b="-61573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99616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2">
                  <a:solidFill>
                    <a:srgbClr val="C1D0D8"/>
                  </a:solidFill>
                  <a:latin typeface="Arimo"/>
                  <a:ea typeface="Arimo"/>
                  <a:cs typeface="Arimo"/>
                  <a:sym typeface="Arimo"/>
                </a:rPr>
                <a:t>不是券商先把技術做出來等待客戶，而是市場先出現新的 Flow 或交易問題。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2474" y="2388394"/>
            <a:ext cx="5167312" cy="5441632"/>
            <a:chOff x="0" y="0"/>
            <a:chExt cx="6889750" cy="7255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89750" cy="7255511"/>
            </a:xfrm>
            <a:custGeom>
              <a:avLst/>
              <a:gdLst/>
              <a:ahLst/>
              <a:cxnLst/>
              <a:rect r="r" b="b" t="t" l="l"/>
              <a:pathLst>
                <a:path h="7255511" w="6889750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724396" y="0"/>
                  </a:lnTo>
                  <a:cubicBezTo>
                    <a:pt x="6815709" y="0"/>
                    <a:pt x="6889750" y="74041"/>
                    <a:pt x="6889750" y="165354"/>
                  </a:cubicBezTo>
                  <a:lnTo>
                    <a:pt x="6889750" y="7090156"/>
                  </a:lnTo>
                  <a:cubicBezTo>
                    <a:pt x="6889750" y="7181469"/>
                    <a:pt x="6815709" y="7255511"/>
                    <a:pt x="6724396" y="7255511"/>
                  </a:cubicBezTo>
                  <a:lnTo>
                    <a:pt x="165354" y="7255511"/>
                  </a:lnTo>
                  <a:cubicBezTo>
                    <a:pt x="74041" y="7255510"/>
                    <a:pt x="0" y="7181469"/>
                    <a:pt x="0" y="7090156"/>
                  </a:cubicBezTo>
                  <a:close/>
                </a:path>
              </a:pathLst>
            </a:custGeom>
            <a:solidFill>
              <a:srgbClr val="0A3B58">
                <a:alpha val="93725"/>
              </a:srgbClr>
            </a:solidFill>
            <a:ln w="23812" cap="sq">
              <a:solidFill>
                <a:srgbClr val="08CB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0595" y="2692527"/>
            <a:ext cx="471678" cy="416814"/>
            <a:chOff x="0" y="0"/>
            <a:chExt cx="628904" cy="555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8904" cy="555752"/>
            </a:xfrm>
            <a:custGeom>
              <a:avLst/>
              <a:gdLst/>
              <a:ahLst/>
              <a:cxnLst/>
              <a:rect r="r" b="b" t="t" l="l"/>
              <a:pathLst>
                <a:path h="555752" w="628904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lnTo>
                    <a:pt x="552196" y="0"/>
                  </a:lnTo>
                  <a:cubicBezTo>
                    <a:pt x="594487" y="0"/>
                    <a:pt x="628904" y="34290"/>
                    <a:pt x="628904" y="76708"/>
                  </a:cubicBezTo>
                  <a:lnTo>
                    <a:pt x="628904" y="479044"/>
                  </a:lnTo>
                  <a:cubicBezTo>
                    <a:pt x="628904" y="521335"/>
                    <a:pt x="594614" y="555752"/>
                    <a:pt x="552196" y="555752"/>
                  </a:cubicBezTo>
                  <a:lnTo>
                    <a:pt x="76708" y="555752"/>
                  </a:lnTo>
                  <a:cubicBezTo>
                    <a:pt x="34290" y="555752"/>
                    <a:pt x="0" y="521462"/>
                    <a:pt x="0" y="479044"/>
                  </a:cubicBezTo>
                  <a:close/>
                </a:path>
              </a:pathLst>
            </a:custGeom>
            <a:solidFill>
              <a:srgbClr val="22D5E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9848" y="2784348"/>
            <a:ext cx="246888" cy="164592"/>
            <a:chOff x="0" y="0"/>
            <a:chExt cx="329184" cy="2194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9184" cy="219456"/>
            </a:xfrm>
            <a:custGeom>
              <a:avLst/>
              <a:gdLst/>
              <a:ahLst/>
              <a:cxnLst/>
              <a:rect r="r" b="b" t="t" l="l"/>
              <a:pathLst>
                <a:path h="21945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29184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">
                  <a:solidFill>
                    <a:srgbClr val="06192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04772" y="2674620"/>
            <a:ext cx="4046220" cy="452628"/>
            <a:chOff x="0" y="0"/>
            <a:chExt cx="5394960" cy="603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94960" cy="603504"/>
            </a:xfrm>
            <a:custGeom>
              <a:avLst/>
              <a:gdLst/>
              <a:ahLst/>
              <a:cxnLst/>
              <a:rect r="r" b="b" t="t" l="l"/>
              <a:pathLst>
                <a:path h="60350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184" r="0" b="-1241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39496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OPEN API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04772" y="3195828"/>
            <a:ext cx="4046220" cy="329184"/>
            <a:chOff x="0" y="0"/>
            <a:chExt cx="5394960" cy="4389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94960" cy="438912"/>
            </a:xfrm>
            <a:custGeom>
              <a:avLst/>
              <a:gdLst/>
              <a:ahLst/>
              <a:cxnLst/>
              <a:rect r="r" b="b" t="t" l="l"/>
              <a:pathLst>
                <a:path h="438912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503" r="0" b="-1895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39496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">
                  <a:solidFill>
                    <a:srgbClr val="22D5E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交易自主化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7008" y="3936492"/>
            <a:ext cx="4389120" cy="2921508"/>
            <a:chOff x="0" y="0"/>
            <a:chExt cx="5852160" cy="38953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2160" cy="3895344"/>
            </a:xfrm>
            <a:custGeom>
              <a:avLst/>
              <a:gdLst/>
              <a:ahLst/>
              <a:cxnLst/>
              <a:rect r="r" b="b" t="t" l="l"/>
              <a:pathLst>
                <a:path h="389534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95344"/>
                  </a:lnTo>
                  <a:lnTo>
                    <a:pt x="0" y="3895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402" t="0" r="-3540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852160" cy="3914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Internet / Mobile Trading 普及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Self-directed Retail 擴大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客戶要求客製／自動化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API 擴散並被制度化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7008" y="7022592"/>
            <a:ext cx="4389120" cy="411480"/>
            <a:chOff x="0" y="0"/>
            <a:chExt cx="585216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2160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852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">
                  <a:solidFill>
                    <a:srgbClr val="C1D0D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印度：Digital Trading → Programmable Access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71774" y="2388394"/>
            <a:ext cx="5167312" cy="5441632"/>
            <a:chOff x="0" y="0"/>
            <a:chExt cx="6889750" cy="72555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89750" cy="7255511"/>
            </a:xfrm>
            <a:custGeom>
              <a:avLst/>
              <a:gdLst/>
              <a:ahLst/>
              <a:cxnLst/>
              <a:rect r="r" b="b" t="t" l="l"/>
              <a:pathLst>
                <a:path h="7255511" w="6889750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724396" y="0"/>
                  </a:lnTo>
                  <a:cubicBezTo>
                    <a:pt x="6815709" y="0"/>
                    <a:pt x="6889750" y="74041"/>
                    <a:pt x="6889750" y="165354"/>
                  </a:cubicBezTo>
                  <a:lnTo>
                    <a:pt x="6889750" y="7090156"/>
                  </a:lnTo>
                  <a:cubicBezTo>
                    <a:pt x="6889750" y="7181469"/>
                    <a:pt x="6815709" y="7255511"/>
                    <a:pt x="6724396" y="7255511"/>
                  </a:cubicBezTo>
                  <a:lnTo>
                    <a:pt x="165354" y="7255511"/>
                  </a:lnTo>
                  <a:cubicBezTo>
                    <a:pt x="74041" y="7255510"/>
                    <a:pt x="0" y="7181469"/>
                    <a:pt x="0" y="7090156"/>
                  </a:cubicBezTo>
                  <a:close/>
                </a:path>
              </a:pathLst>
            </a:custGeom>
            <a:solidFill>
              <a:srgbClr val="0B4647">
                <a:alpha val="93725"/>
              </a:srgbClr>
            </a:solidFill>
            <a:ln w="23812" cap="sq">
              <a:solidFill>
                <a:srgbClr val="61E0C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779895" y="2692527"/>
            <a:ext cx="471678" cy="416814"/>
            <a:chOff x="0" y="0"/>
            <a:chExt cx="628904" cy="555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8904" cy="555752"/>
            </a:xfrm>
            <a:custGeom>
              <a:avLst/>
              <a:gdLst/>
              <a:ahLst/>
              <a:cxnLst/>
              <a:rect r="r" b="b" t="t" l="l"/>
              <a:pathLst>
                <a:path h="555752" w="628904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lnTo>
                    <a:pt x="552196" y="0"/>
                  </a:lnTo>
                  <a:cubicBezTo>
                    <a:pt x="594487" y="0"/>
                    <a:pt x="628904" y="34290"/>
                    <a:pt x="628904" y="76708"/>
                  </a:cubicBezTo>
                  <a:lnTo>
                    <a:pt x="628904" y="479044"/>
                  </a:lnTo>
                  <a:cubicBezTo>
                    <a:pt x="628904" y="521335"/>
                    <a:pt x="594614" y="555752"/>
                    <a:pt x="552196" y="555752"/>
                  </a:cubicBezTo>
                  <a:lnTo>
                    <a:pt x="76708" y="555752"/>
                  </a:lnTo>
                  <a:cubicBezTo>
                    <a:pt x="34290" y="555752"/>
                    <a:pt x="0" y="521462"/>
                    <a:pt x="0" y="479044"/>
                  </a:cubicBezTo>
                  <a:close/>
                </a:path>
              </a:pathLst>
            </a:custGeom>
            <a:solidFill>
              <a:srgbClr val="61E0C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899148" y="2784348"/>
            <a:ext cx="246888" cy="164592"/>
            <a:chOff x="0" y="0"/>
            <a:chExt cx="329184" cy="219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9184" cy="219456"/>
            </a:xfrm>
            <a:custGeom>
              <a:avLst/>
              <a:gdLst/>
              <a:ahLst/>
              <a:cxnLst/>
              <a:rect r="r" b="b" t="t" l="l"/>
              <a:pathLst>
                <a:path h="21945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29184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">
                  <a:solidFill>
                    <a:srgbClr val="06192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34072" y="2674620"/>
            <a:ext cx="4046220" cy="452628"/>
            <a:chOff x="0" y="0"/>
            <a:chExt cx="5394960" cy="6035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94960" cy="603504"/>
            </a:xfrm>
            <a:custGeom>
              <a:avLst/>
              <a:gdLst/>
              <a:ahLst/>
              <a:cxnLst/>
              <a:rect r="r" b="b" t="t" l="l"/>
              <a:pathLst>
                <a:path h="60350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184" r="0" b="-1241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39496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BROKER ALGO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434072" y="3195828"/>
            <a:ext cx="4046220" cy="329184"/>
            <a:chOff x="0" y="0"/>
            <a:chExt cx="5394960" cy="4389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94960" cy="438912"/>
            </a:xfrm>
            <a:custGeom>
              <a:avLst/>
              <a:gdLst/>
              <a:ahLst/>
              <a:cxnLst/>
              <a:rect r="r" b="b" t="t" l="l"/>
              <a:pathLst>
                <a:path h="438912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503" r="0" b="-18950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539496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">
                  <a:solidFill>
                    <a:srgbClr val="61E0C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交易複雜化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036308" y="3936492"/>
            <a:ext cx="4389120" cy="2921508"/>
            <a:chOff x="0" y="0"/>
            <a:chExt cx="5852160" cy="38953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3895344"/>
            </a:xfrm>
            <a:custGeom>
              <a:avLst/>
              <a:gdLst/>
              <a:ahLst/>
              <a:cxnLst/>
              <a:rect r="r" b="b" t="t" l="l"/>
              <a:pathLst>
                <a:path h="389534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95344"/>
                  </a:lnTo>
                  <a:lnTo>
                    <a:pt x="0" y="3895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402" t="0" r="-3540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852160" cy="3914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美國：多 Venue → SOR / Routing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韓國：多商品／多訂單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Routing / Timing / Hedge 問題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人工執行開始不夠用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036308" y="7022592"/>
            <a:ext cx="4389120" cy="411480"/>
            <a:chOff x="0" y="0"/>
            <a:chExt cx="585216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52160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852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">
                  <a:solidFill>
                    <a:srgbClr val="C1D0D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美國／韓國：複雜度推動自動執行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01074" y="2388394"/>
            <a:ext cx="5167312" cy="5441632"/>
            <a:chOff x="0" y="0"/>
            <a:chExt cx="6889750" cy="72555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89750" cy="7255511"/>
            </a:xfrm>
            <a:custGeom>
              <a:avLst/>
              <a:gdLst/>
              <a:ahLst/>
              <a:cxnLst/>
              <a:rect r="r" b="b" t="t" l="l"/>
              <a:pathLst>
                <a:path h="7255511" w="6889750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6724396" y="0"/>
                  </a:lnTo>
                  <a:cubicBezTo>
                    <a:pt x="6815709" y="0"/>
                    <a:pt x="6889750" y="74041"/>
                    <a:pt x="6889750" y="165354"/>
                  </a:cubicBezTo>
                  <a:lnTo>
                    <a:pt x="6889750" y="7090156"/>
                  </a:lnTo>
                  <a:cubicBezTo>
                    <a:pt x="6889750" y="7181469"/>
                    <a:pt x="6815709" y="7255511"/>
                    <a:pt x="6724396" y="7255511"/>
                  </a:cubicBezTo>
                  <a:lnTo>
                    <a:pt x="165354" y="7255511"/>
                  </a:lnTo>
                  <a:cubicBezTo>
                    <a:pt x="74041" y="7255510"/>
                    <a:pt x="0" y="7181469"/>
                    <a:pt x="0" y="7090156"/>
                  </a:cubicBezTo>
                  <a:close/>
                </a:path>
              </a:pathLst>
            </a:custGeom>
            <a:solidFill>
              <a:srgbClr val="654A09">
                <a:alpha val="93725"/>
              </a:srgbClr>
            </a:solidFill>
            <a:ln w="23812" cap="sq">
              <a:solidFill>
                <a:srgbClr val="FFC93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609195" y="2692527"/>
            <a:ext cx="471678" cy="416814"/>
            <a:chOff x="0" y="0"/>
            <a:chExt cx="628904" cy="555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28904" cy="555752"/>
            </a:xfrm>
            <a:custGeom>
              <a:avLst/>
              <a:gdLst/>
              <a:ahLst/>
              <a:cxnLst/>
              <a:rect r="r" b="b" t="t" l="l"/>
              <a:pathLst>
                <a:path h="555752" w="628904">
                  <a:moveTo>
                    <a:pt x="0" y="76708"/>
                  </a:moveTo>
                  <a:cubicBezTo>
                    <a:pt x="0" y="34290"/>
                    <a:pt x="34290" y="0"/>
                    <a:pt x="76708" y="0"/>
                  </a:cubicBezTo>
                  <a:lnTo>
                    <a:pt x="552196" y="0"/>
                  </a:lnTo>
                  <a:cubicBezTo>
                    <a:pt x="594487" y="0"/>
                    <a:pt x="628904" y="34290"/>
                    <a:pt x="628904" y="76708"/>
                  </a:cubicBezTo>
                  <a:lnTo>
                    <a:pt x="628904" y="479044"/>
                  </a:lnTo>
                  <a:cubicBezTo>
                    <a:pt x="628904" y="521335"/>
                    <a:pt x="594614" y="555752"/>
                    <a:pt x="552196" y="555752"/>
                  </a:cubicBezTo>
                  <a:lnTo>
                    <a:pt x="76708" y="555752"/>
                  </a:lnTo>
                  <a:cubicBezTo>
                    <a:pt x="34290" y="555752"/>
                    <a:pt x="0" y="521462"/>
                    <a:pt x="0" y="479044"/>
                  </a:cubicBezTo>
                  <a:close/>
                </a:path>
              </a:pathLst>
            </a:custGeom>
            <a:solidFill>
              <a:srgbClr val="FF6E4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728448" y="2784348"/>
            <a:ext cx="246888" cy="164592"/>
            <a:chOff x="0" y="0"/>
            <a:chExt cx="329184" cy="2194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9184" cy="219456"/>
            </a:xfrm>
            <a:custGeom>
              <a:avLst/>
              <a:gdLst/>
              <a:ahLst/>
              <a:cxnLst/>
              <a:rect r="r" b="b" t="t" l="l"/>
              <a:pathLst>
                <a:path h="219456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219456"/>
                  </a:lnTo>
                  <a:lnTo>
                    <a:pt x="0" y="219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29184" cy="228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">
                  <a:solidFill>
                    <a:srgbClr val="06192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263372" y="2674620"/>
            <a:ext cx="4046220" cy="452628"/>
            <a:chOff x="0" y="0"/>
            <a:chExt cx="5394960" cy="60350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94960" cy="603504"/>
            </a:xfrm>
            <a:custGeom>
              <a:avLst/>
              <a:gdLst/>
              <a:ahLst/>
              <a:cxnLst/>
              <a:rect r="r" b="b" t="t" l="l"/>
              <a:pathLst>
                <a:path h="60350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184" r="0" b="-12418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394960" cy="622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HFT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263372" y="3195828"/>
            <a:ext cx="4046220" cy="329184"/>
            <a:chOff x="0" y="0"/>
            <a:chExt cx="5394960" cy="4389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94960" cy="438912"/>
            </a:xfrm>
            <a:custGeom>
              <a:avLst/>
              <a:gdLst/>
              <a:ahLst/>
              <a:cxnLst/>
              <a:rect r="r" b="b" t="t" l="l"/>
              <a:pathLst>
                <a:path h="438912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503" r="0" b="-18950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394960" cy="448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">
                  <a:solidFill>
                    <a:srgbClr val="FF6E4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交易高速化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65608" y="3936492"/>
            <a:ext cx="4389120" cy="2921508"/>
            <a:chOff x="0" y="0"/>
            <a:chExt cx="5852160" cy="38953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52160" cy="3895344"/>
            </a:xfrm>
            <a:custGeom>
              <a:avLst/>
              <a:gdLst/>
              <a:ahLst/>
              <a:cxnLst/>
              <a:rect r="r" b="b" t="t" l="l"/>
              <a:pathLst>
                <a:path h="389534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95344"/>
                  </a:lnTo>
                  <a:lnTo>
                    <a:pt x="0" y="3895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402" t="0" r="-3540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852160" cy="3914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日本：系統升級 → 高速 Flow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韓國：衍生品短線 Flow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美國：Spread 壓縮／交易小筆大量</a:t>
              </a:r>
            </a:p>
            <a:p>
              <a:pPr algn="l">
                <a:lnSpc>
                  <a:spcPts val="2610"/>
                </a:lnSpc>
              </a:pPr>
              <a:r>
                <a:rPr lang="en-US" b="true" sz="2175" spc="3">
                  <a:solidFill>
                    <a:srgbClr val="F4F7F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低延遲基礎設施商品化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865608" y="7022592"/>
            <a:ext cx="4389120" cy="411480"/>
            <a:chOff x="0" y="0"/>
            <a:chExt cx="585216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2160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5852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2">
                  <a:solidFill>
                    <a:srgbClr val="C1D0D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日本／韓國／美國：高速 Flow 驗證需求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40180" y="8394192"/>
            <a:ext cx="15499080" cy="644652"/>
            <a:chOff x="0" y="0"/>
            <a:chExt cx="20665440" cy="8595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665439" cy="859536"/>
            </a:xfrm>
            <a:custGeom>
              <a:avLst/>
              <a:gdLst/>
              <a:ahLst/>
              <a:cxnLst/>
              <a:rect r="r" b="b" t="t" l="l"/>
              <a:pathLst>
                <a:path h="859536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470" r="0" b="-41847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20665440" cy="878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10"/>
                </a:lnSpc>
              </a:pPr>
              <a:r>
                <a:rPr lang="en-US" b="true" sz="2925" spc="4">
                  <a:solidFill>
                    <a:srgbClr val="FF3E4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交易方式改變 → 新的 Flow／交易問題形成 → 需求被驗證 → 券商服務商品化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54380" y="9669780"/>
            <a:ext cx="3429000" cy="192024"/>
            <a:chOff x="0" y="0"/>
            <a:chExt cx="4572000" cy="25603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572000" cy="256032"/>
            </a:xfrm>
            <a:custGeom>
              <a:avLst/>
              <a:gdLst/>
              <a:ahLst/>
              <a:cxnLst/>
              <a:rect r="r" b="b" t="t" l="l"/>
              <a:pathLst>
                <a:path h="256032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4572000" cy="265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0"/>
                </a:lnSpc>
              </a:pPr>
              <a:r>
                <a:rPr lang="en-US" sz="825" spc="1">
                  <a:solidFill>
                    <a:srgbClr val="93A8B0"/>
                  </a:solidFill>
                  <a:latin typeface="Arimo"/>
                  <a:ea typeface="Arimo"/>
                  <a:cs typeface="Arimo"/>
                  <a:sym typeface="Arimo"/>
                </a:rPr>
                <a:t>Sources: 前頁海外案例整理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DAHSIRxGof4</dc:identifier>
  <dcterms:modified xsi:type="dcterms:W3CDTF">2011-08-01T06:04:30Z</dcterms:modified>
  <cp:revision>1</cp:revision>
  <dc:title>Blue Black Tech Programmer Presentation</dc:title>
</cp:coreProperties>
</file>