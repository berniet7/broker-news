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K Modular" charset="1" panose="00000800000000000000"/>
      <p:regular r:id="rId18"/>
    </p:embeddedFont>
    <p:embeddedFont>
      <p:font typeface="Tomorrow Bold" charset="1" panose="00000000000000000000"/>
      <p:regular r:id="rId19"/>
    </p:embeddedFont>
    <p:embeddedFont>
      <p:font typeface="Tomorrow" charset="1" panose="00000000000000000000"/>
      <p:regular r:id="rId20"/>
    </p:embeddedFont>
    <p:embeddedFont>
      <p:font typeface="Arimo" charset="1" panose="020B0604020202020204"/>
      <p:regular r:id="rId21"/>
    </p:embeddedFont>
    <p:embeddedFont>
      <p:font typeface="Arimo Bold" charset="1" panose="020B0704020202020204"/>
      <p:regular r:id="rId25"/>
    </p:embeddedFont>
    <p:embeddedFont>
      <p:font typeface="Aptos Bold" charset="1" panose="020B0004020202020204"/>
      <p:regular r:id="rId26"/>
    </p:embeddedFont>
    <p:embeddedFont>
      <p:font typeface="Aptos" charset="1" panose="020B0004020202020204"/>
      <p:regular r:id="rId27"/>
    </p:embeddedFont>
    <p:embeddedFont>
      <p:font typeface="Noto Sans Bold" charset="1" panose="020B0802040504020204"/>
      <p:regular r:id="rId30"/>
    </p:embeddedFont>
    <p:embeddedFont>
      <p:font typeface="Noto Sans" charset="1" panose="020B0502040504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3917" y="4043538"/>
            <a:ext cx="12079506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程式交易市場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38326" y="5507232"/>
            <a:ext cx="11902421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的形成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3917" y="4043538"/>
            <a:ext cx="12079506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程式交易市場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38326" y="5507232"/>
            <a:ext cx="11902421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的定義與服務分層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213730" y="2288320"/>
          <a:ext cx="13874381" cy="7181850"/>
        </p:xfrm>
        <a:graphic>
          <a:graphicData uri="http://schemas.openxmlformats.org/drawingml/2006/table">
            <a:tbl>
              <a:tblPr/>
              <a:tblGrid>
                <a:gridCol w="3443225"/>
                <a:gridCol w="3443225"/>
                <a:gridCol w="3443225"/>
                <a:gridCol w="3544705"/>
              </a:tblGrid>
              <a:tr h="1353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比</a:t>
                      </a: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較面向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散戶Open 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HTF/Low Latency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法人Electronic trading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</a:tr>
              <a:tr h="1353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主要客群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個人程式交易者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小型量化團隊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HFT、做市商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自營、專業量化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外資、資產管理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量化基金、機構交易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客戶目標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自動化策略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自行串接交易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最小化延遲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提高執行確定性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提升執行效率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穩定處理大量交</a:t>
                      </a: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易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688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核心服務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API、SDK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行情／帳務／下單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Co-location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Cross-connect、低延遲行情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FIX、DMA, </a:t>
                      </a: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Broker Algo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2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競爭核心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易用性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功能完整度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Latency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網路與交易基礎設施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Execution Quality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穩定性、風控與服務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406191"/>
            <a:ext cx="6223581" cy="1431196"/>
            <a:chOff x="0" y="0"/>
            <a:chExt cx="8298108" cy="190826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57150"/>
              <a:ext cx="6396281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市場定義和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018740"/>
              <a:ext cx="8298108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00BBDE"/>
                  </a:solidFill>
                  <a:latin typeface="HK Modular"/>
                  <a:ea typeface="HK Modular"/>
                  <a:cs typeface="HK Modular"/>
                  <a:sym typeface="HK Modular"/>
                </a:rPr>
                <a:t>服務分層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FFE24C"/>
            </a:solidFill>
            <a:ln w="19065" cap="sq">
              <a:solidFill>
                <a:srgbClr val="FFE24C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3840">
            <a:off x="745436" y="10084384"/>
            <a:ext cx="16971578" cy="0"/>
          </a:xfrm>
          <a:prstGeom prst="line">
            <a:avLst/>
          </a:prstGeom>
          <a:ln cap="rnd" w="9525">
            <a:solidFill>
              <a:srgbClr val="23424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44484" y="2078612"/>
            <a:ext cx="6863363" cy="555803"/>
            <a:chOff x="0" y="0"/>
            <a:chExt cx="9151150" cy="7410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51149" cy="741062"/>
            </a:xfrm>
            <a:custGeom>
              <a:avLst/>
              <a:gdLst/>
              <a:ahLst/>
              <a:cxnLst/>
              <a:rect r="r" b="b" t="t" l="l"/>
              <a:pathLst>
                <a:path h="741062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741062"/>
                  </a:lnTo>
                  <a:lnTo>
                    <a:pt x="0" y="7410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38" r="0" b="-17519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9151150" cy="760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spc="3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客戶交易需求 × 券商服務深度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2136130" y="4893522"/>
            <a:ext cx="13394041" cy="1052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2136130" y="6485826"/>
            <a:ext cx="13394041" cy="1052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136130" y="8119306"/>
            <a:ext cx="13394041" cy="1052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2136126" y="8816290"/>
            <a:ext cx="13608423" cy="0"/>
          </a:xfrm>
          <a:prstGeom prst="line">
            <a:avLst/>
          </a:prstGeom>
          <a:ln cap="rnd" w="9525">
            <a:solidFill>
              <a:srgbClr val="86A0A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348518" y="2634415"/>
            <a:ext cx="1575216" cy="682720"/>
            <a:chOff x="0" y="0"/>
            <a:chExt cx="1830235" cy="7932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0230" cy="793243"/>
            </a:xfrm>
            <a:custGeom>
              <a:avLst/>
              <a:gdLst/>
              <a:ahLst/>
              <a:cxnLst/>
              <a:rect r="r" b="b" t="t" l="l"/>
              <a:pathLst>
                <a:path h="793243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793243"/>
                  </a:lnTo>
                  <a:lnTo>
                    <a:pt x="0" y="7932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77" r="0" b="2966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30235" cy="8122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05"/>
                </a:lnSpc>
              </a:pPr>
              <a:r>
                <a:rPr lang="en-US" b="true" sz="1921" spc="1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券商服務深度</a:t>
              </a:r>
            </a:p>
            <a:p>
              <a:pPr algn="ctr">
                <a:lnSpc>
                  <a:spcPts val="2305"/>
                </a:lnSpc>
              </a:pPr>
              <a:r>
                <a:rPr lang="en-US" b="true" sz="1921" spc="2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單位交易量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826911" y="8586263"/>
            <a:ext cx="2059010" cy="460054"/>
            <a:chOff x="0" y="0"/>
            <a:chExt cx="2745346" cy="6134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45345" cy="613399"/>
            </a:xfrm>
            <a:custGeom>
              <a:avLst/>
              <a:gdLst/>
              <a:ahLst/>
              <a:cxnLst/>
              <a:rect r="r" b="b" t="t" l="l"/>
              <a:pathLst>
                <a:path h="613399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613399"/>
                  </a:lnTo>
                  <a:lnTo>
                    <a:pt x="0" y="6133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34" r="0" b="-289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745346" cy="632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b="true" sz="2251" spc="3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潛在</a:t>
              </a:r>
              <a:r>
                <a:rPr lang="en-US" b="true" sz="2251" spc="3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客戶數量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140735" y="7360056"/>
            <a:ext cx="513226" cy="513226"/>
            <a:chOff x="0" y="0"/>
            <a:chExt cx="684301" cy="6843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2E8CFF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946416" y="7177415"/>
            <a:ext cx="1990373" cy="329441"/>
            <a:chOff x="0" y="0"/>
            <a:chExt cx="2653830" cy="4392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53833" cy="439255"/>
            </a:xfrm>
            <a:custGeom>
              <a:avLst/>
              <a:gdLst/>
              <a:ahLst/>
              <a:cxnLst/>
              <a:rect r="r" b="b" t="t" l="l"/>
              <a:pathLst>
                <a:path h="439255" w="2653833">
                  <a:moveTo>
                    <a:pt x="0" y="0"/>
                  </a:moveTo>
                  <a:lnTo>
                    <a:pt x="2653833" y="0"/>
                  </a:lnTo>
                  <a:lnTo>
                    <a:pt x="2653833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721" r="0" b="-677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653830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 API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946416" y="7561767"/>
            <a:ext cx="2264912" cy="247079"/>
            <a:chOff x="0" y="0"/>
            <a:chExt cx="3019882" cy="3294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19879" cy="329441"/>
            </a:xfrm>
            <a:custGeom>
              <a:avLst/>
              <a:gdLst/>
              <a:ahLst/>
              <a:cxnLst/>
              <a:rect r="r" b="b" t="t" l="l"/>
              <a:pathLst>
                <a:path h="329441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3" r="0" b="-12861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019882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7"/>
                </a:lnSpc>
              </a:pPr>
              <a:r>
                <a:rPr lang="en-US" sz="1606" b="true">
                  <a:solidFill>
                    <a:srgbClr val="3BD7E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Programmable Access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946416" y="7891209"/>
            <a:ext cx="2264912" cy="219627"/>
            <a:chOff x="0" y="0"/>
            <a:chExt cx="3019882" cy="2928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19879" cy="292837"/>
            </a:xfrm>
            <a:custGeom>
              <a:avLst/>
              <a:gdLst/>
              <a:ahLst/>
              <a:cxnLst/>
              <a:rect r="r" b="b" t="t" l="l"/>
              <a:pathLst>
                <a:path h="292837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939" r="0" b="-15093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019882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API、SDK、行情、文件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52953" y="5950670"/>
            <a:ext cx="513226" cy="513226"/>
            <a:chOff x="0" y="0"/>
            <a:chExt cx="684301" cy="6843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55D5AC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7235095" y="5740568"/>
            <a:ext cx="2813980" cy="356892"/>
            <a:chOff x="0" y="0"/>
            <a:chExt cx="3751974" cy="4758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51971" cy="475860"/>
            </a:xfrm>
            <a:custGeom>
              <a:avLst/>
              <a:gdLst/>
              <a:ahLst/>
              <a:cxnLst/>
              <a:rect r="r" b="b" t="t" l="l"/>
              <a:pathLst>
                <a:path h="475860" w="3751971">
                  <a:moveTo>
                    <a:pt x="0" y="0"/>
                  </a:moveTo>
                  <a:lnTo>
                    <a:pt x="3751971" y="0"/>
                  </a:lnTo>
                  <a:lnTo>
                    <a:pt x="375197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32" r="0" b="-10363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751974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0"/>
                </a:lnSpc>
              </a:pPr>
              <a:r>
                <a:rPr lang="en-US" sz="2191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INSTITUTIONAL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235095" y="6166097"/>
            <a:ext cx="2127647" cy="247079"/>
            <a:chOff x="0" y="0"/>
            <a:chExt cx="2836862" cy="3294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36856" cy="329441"/>
            </a:xfrm>
            <a:custGeom>
              <a:avLst/>
              <a:gdLst/>
              <a:ahLst/>
              <a:cxnLst/>
              <a:rect r="r" b="b" t="t" l="l"/>
              <a:pathLst>
                <a:path h="329441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88" r="0" b="-11778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836862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7"/>
                </a:lnSpc>
              </a:pPr>
              <a:r>
                <a:rPr lang="en-US" sz="1606" b="true">
                  <a:solidFill>
                    <a:srgbClr val="55D5A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Execution Quality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235095" y="6495539"/>
            <a:ext cx="2882608" cy="219627"/>
            <a:chOff x="0" y="0"/>
            <a:chExt cx="3843477" cy="29283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843483" cy="292837"/>
            </a:xfrm>
            <a:custGeom>
              <a:avLst/>
              <a:gdLst/>
              <a:ahLst/>
              <a:cxnLst/>
              <a:rect r="r" b="b" t="t" l="l"/>
              <a:pathLst>
                <a:path h="292837" w="3843483">
                  <a:moveTo>
                    <a:pt x="0" y="0"/>
                  </a:moveTo>
                  <a:lnTo>
                    <a:pt x="3843483" y="0"/>
                  </a:lnTo>
                  <a:lnTo>
                    <a:pt x="3843483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0" r="0" b="-20574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3843477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FIX、DMA、Algo、OMS/EMS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798128" y="4127410"/>
            <a:ext cx="513226" cy="513226"/>
            <a:chOff x="0" y="0"/>
            <a:chExt cx="684301" cy="68430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FF7545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4548898" y="3972228"/>
            <a:ext cx="1166774" cy="356892"/>
            <a:chOff x="0" y="0"/>
            <a:chExt cx="1555699" cy="47585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55695" cy="475860"/>
            </a:xfrm>
            <a:custGeom>
              <a:avLst/>
              <a:gdLst/>
              <a:ahLst/>
              <a:cxnLst/>
              <a:rect r="r" b="b" t="t" l="l"/>
              <a:pathLst>
                <a:path h="475860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1" r="0" b="-1370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555699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HFT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548898" y="4397748"/>
            <a:ext cx="2402176" cy="233353"/>
            <a:chOff x="0" y="0"/>
            <a:chExt cx="3202902" cy="31113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02902" cy="311139"/>
            </a:xfrm>
            <a:custGeom>
              <a:avLst/>
              <a:gdLst/>
              <a:ahLst/>
              <a:cxnLst/>
              <a:rect r="r" b="b" t="t" l="l"/>
              <a:pathLst>
                <a:path h="311139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311139"/>
                  </a:lnTo>
                  <a:lnTo>
                    <a:pt x="0" y="3111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581" r="0" b="-15058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202902" cy="311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75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Latency / Infrastructure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548898" y="4809552"/>
            <a:ext cx="2539441" cy="219627"/>
            <a:chOff x="0" y="0"/>
            <a:chExt cx="3385922" cy="29283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85925" cy="292837"/>
            </a:xfrm>
            <a:custGeom>
              <a:avLst/>
              <a:gdLst/>
              <a:ahLst/>
              <a:cxnLst/>
              <a:rect r="r" b="b" t="t" l="l"/>
              <a:pathLst>
                <a:path h="292837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295" r="0" b="-1752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3385922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CoLo、Cross-connect、低延遲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748656" y="9814608"/>
            <a:ext cx="137265" cy="137265"/>
            <a:chOff x="0" y="0"/>
            <a:chExt cx="183020" cy="1830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3023" cy="183023"/>
            </a:xfrm>
            <a:custGeom>
              <a:avLst/>
              <a:gdLst/>
              <a:ahLst/>
              <a:cxnLst/>
              <a:rect r="r" b="b" t="t" l="l"/>
              <a:pathLst>
                <a:path h="183023" w="183023">
                  <a:moveTo>
                    <a:pt x="0" y="0"/>
                  </a:moveTo>
                  <a:lnTo>
                    <a:pt x="183023" y="0"/>
                  </a:lnTo>
                  <a:lnTo>
                    <a:pt x="183023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2" t="0" r="-78300" b="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183020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7E99A3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 flipV="true">
            <a:off x="2136126" y="3335598"/>
            <a:ext cx="0" cy="5480693"/>
          </a:xfrm>
          <a:prstGeom prst="line">
            <a:avLst/>
          </a:prstGeom>
          <a:ln cap="rnd" w="9525">
            <a:solidFill>
              <a:srgbClr val="86A0A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5" id="55"/>
          <p:cNvGrpSpPr/>
          <p:nvPr/>
        </p:nvGrpSpPr>
        <p:grpSpPr>
          <a:xfrm rot="0">
            <a:off x="686333" y="437866"/>
            <a:ext cx="6223581" cy="1431196"/>
            <a:chOff x="0" y="0"/>
            <a:chExt cx="8298108" cy="1908261"/>
          </a:xfrm>
        </p:grpSpPr>
        <p:sp>
          <p:nvSpPr>
            <p:cNvPr name="TextBox 56" id="56"/>
            <p:cNvSpPr txBox="true"/>
            <p:nvPr/>
          </p:nvSpPr>
          <p:spPr>
            <a:xfrm rot="0">
              <a:off x="0" y="57150"/>
              <a:ext cx="6396281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程式交易服務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0" y="1018740"/>
              <a:ext cx="8298108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00BBDE"/>
                  </a:solidFill>
                  <a:latin typeface="HK Modular"/>
                  <a:ea typeface="HK Modular"/>
                  <a:cs typeface="HK Modular"/>
                  <a:sym typeface="HK Modular"/>
                </a:rPr>
                <a:t>三個層級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3917" y="4043538"/>
            <a:ext cx="12079506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海外程式交易服務的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74527" y="5507232"/>
            <a:ext cx="12058285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形成轉折與投入訊號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56334"/>
            <a:chOff x="0" y="0"/>
            <a:chExt cx="24427878" cy="2084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08407"/>
            </a:xfrm>
            <a:custGeom>
              <a:avLst/>
              <a:gdLst/>
              <a:ahLst/>
              <a:cxnLst/>
              <a:rect r="r" b="b" t="t" l="l"/>
              <a:pathLst>
                <a:path h="208407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08407"/>
                  </a:lnTo>
                  <a:lnTo>
                    <a:pt x="0" y="208407"/>
                  </a:lnTo>
                  <a:close/>
                </a:path>
              </a:pathLst>
            </a:custGeom>
            <a:solidFill>
              <a:srgbClr val="14D9FF"/>
            </a:solidFill>
          </p:spPr>
        </p:sp>
      </p:grpSp>
      <p:sp>
        <p:nvSpPr>
          <p:cNvPr name="AutoShape 4" id="4"/>
          <p:cNvSpPr/>
          <p:nvPr/>
        </p:nvSpPr>
        <p:spPr>
          <a:xfrm rot="3960">
            <a:off x="-10487" y="10111835"/>
            <a:ext cx="18322823" cy="0"/>
          </a:xfrm>
          <a:prstGeom prst="line">
            <a:avLst/>
          </a:prstGeom>
          <a:ln cap="rnd" w="9525">
            <a:solidFill>
              <a:srgbClr val="C98A2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13794" y="705955"/>
            <a:ext cx="4625902" cy="664871"/>
            <a:chOff x="0" y="0"/>
            <a:chExt cx="6167869" cy="8864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67875" cy="886494"/>
            </a:xfrm>
            <a:custGeom>
              <a:avLst/>
              <a:gdLst/>
              <a:ahLst/>
              <a:cxnLst/>
              <a:rect r="r" b="b" t="t" l="l"/>
              <a:pathLst>
                <a:path h="886494" w="6167875">
                  <a:moveTo>
                    <a:pt x="0" y="0"/>
                  </a:moveTo>
                  <a:lnTo>
                    <a:pt x="6167875" y="0"/>
                  </a:lnTo>
                  <a:lnTo>
                    <a:pt x="6167875" y="886494"/>
                  </a:lnTo>
                  <a:lnTo>
                    <a:pt x="0" y="8864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95" r="25816" b="-2534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6167869" cy="876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1"/>
                </a:lnSpc>
              </a:pPr>
              <a:r>
                <a:rPr lang="en-US" sz="3551" b="true">
                  <a:solidFill>
                    <a:srgbClr val="FFD8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OpenAPI 案例｜印度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76323" y="2158813"/>
            <a:ext cx="3753688" cy="5116125"/>
            <a:chOff x="0" y="0"/>
            <a:chExt cx="5004918" cy="6821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04816" cy="6821451"/>
            </a:xfrm>
            <a:custGeom>
              <a:avLst/>
              <a:gdLst/>
              <a:ahLst/>
              <a:cxnLst/>
              <a:rect r="r" b="b" t="t" l="l"/>
              <a:pathLst>
                <a:path h="6821451" w="5004816">
                  <a:moveTo>
                    <a:pt x="0" y="100949"/>
                  </a:moveTo>
                  <a:cubicBezTo>
                    <a:pt x="0" y="45198"/>
                    <a:pt x="57658" y="0"/>
                    <a:pt x="128778" y="0"/>
                  </a:cubicBezTo>
                  <a:lnTo>
                    <a:pt x="4876038" y="0"/>
                  </a:lnTo>
                  <a:cubicBezTo>
                    <a:pt x="4947158" y="0"/>
                    <a:pt x="5004816" y="45198"/>
                    <a:pt x="5004816" y="100949"/>
                  </a:cubicBezTo>
                  <a:lnTo>
                    <a:pt x="5004816" y="6720501"/>
                  </a:lnTo>
                  <a:cubicBezTo>
                    <a:pt x="5004816" y="6776252"/>
                    <a:pt x="4947158" y="6821450"/>
                    <a:pt x="4876038" y="6821450"/>
                  </a:cubicBezTo>
                  <a:lnTo>
                    <a:pt x="128778" y="6821450"/>
                  </a:lnTo>
                  <a:cubicBezTo>
                    <a:pt x="57658" y="6821563"/>
                    <a:pt x="0" y="6776252"/>
                    <a:pt x="0" y="6720501"/>
                  </a:cubicBezTo>
                  <a:close/>
                </a:path>
              </a:pathLst>
            </a:custGeom>
            <a:solidFill>
              <a:srgbClr val="092D43"/>
            </a:solidFill>
            <a:ln w="20018" cap="sq">
              <a:solidFill>
                <a:srgbClr val="14D9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868975" y="2378916"/>
            <a:ext cx="266148" cy="266148"/>
            <a:chOff x="0" y="0"/>
            <a:chExt cx="354863" cy="3548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4838" cy="354838"/>
            </a:xfrm>
            <a:custGeom>
              <a:avLst/>
              <a:gdLst/>
              <a:ahLst/>
              <a:cxnLst/>
              <a:rect r="r" b="b" t="t" l="l"/>
              <a:pathLst>
                <a:path h="354838" w="354838">
                  <a:moveTo>
                    <a:pt x="0" y="0"/>
                  </a:moveTo>
                  <a:lnTo>
                    <a:pt x="354838" y="0"/>
                  </a:lnTo>
                  <a:lnTo>
                    <a:pt x="354838" y="354838"/>
                  </a:lnTo>
                  <a:lnTo>
                    <a:pt x="0" y="354838"/>
                  </a:lnTo>
                  <a:close/>
                </a:path>
              </a:pathLst>
            </a:custGeom>
            <a:solidFill>
              <a:srgbClr val="14D9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7951" y="2271770"/>
            <a:ext cx="494167" cy="411804"/>
            <a:chOff x="0" y="0"/>
            <a:chExt cx="658889" cy="5490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883" cy="549069"/>
            </a:xfrm>
            <a:custGeom>
              <a:avLst/>
              <a:gdLst/>
              <a:ahLst/>
              <a:cxnLst/>
              <a:rect r="r" b="b" t="t" l="l"/>
              <a:pathLst>
                <a:path h="549069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2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658889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14D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5961" y="2772794"/>
            <a:ext cx="3294412" cy="466706"/>
            <a:chOff x="0" y="0"/>
            <a:chExt cx="4392549" cy="6222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92552" cy="622278"/>
            </a:xfrm>
            <a:custGeom>
              <a:avLst/>
              <a:gdLst/>
              <a:ahLst/>
              <a:cxnLst/>
              <a:rect r="r" b="b" t="t" l="l"/>
              <a:pathLst>
                <a:path h="622278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1" r="0" b="-8754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392549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6"/>
                </a:lnSpc>
              </a:pPr>
              <a:r>
                <a:rPr lang="en-US" sz="2221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背景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01292" y="3296650"/>
            <a:ext cx="3703749" cy="3732976"/>
            <a:chOff x="0" y="0"/>
            <a:chExt cx="4938332" cy="49773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38327" cy="4977306"/>
            </a:xfrm>
            <a:custGeom>
              <a:avLst/>
              <a:gdLst/>
              <a:ahLst/>
              <a:cxnLst/>
              <a:rect r="r" b="b" t="t" l="l"/>
              <a:pathLst>
                <a:path h="4977306" w="4938327">
                  <a:moveTo>
                    <a:pt x="0" y="0"/>
                  </a:moveTo>
                  <a:lnTo>
                    <a:pt x="4938327" y="0"/>
                  </a:lnTo>
                  <a:lnTo>
                    <a:pt x="4938327" y="4977306"/>
                  </a:lnTo>
                  <a:lnTo>
                    <a:pt x="0" y="49773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01" r="15499" b="7722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938332" cy="4977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2000：Internet Based Trading 開放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2010：Wireless / Mobile Trading 進一步普及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2010–11 → 2015–16：</a:t>
              </a:r>
              <a:r>
                <a:rPr lang="en-US" sz="2036">
                  <a:solidFill>
                    <a:srgbClr val="FFC857"/>
                  </a:solidFill>
                  <a:latin typeface="Aptos"/>
                  <a:ea typeface="Aptos"/>
                  <a:cs typeface="Aptos"/>
                  <a:sym typeface="Aptos"/>
                </a:rPr>
                <a:t>5.64M → 9.46M</a:t>
              </a: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 registered clients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FC857"/>
                  </a:solidFill>
                  <a:latin typeface="Aptos"/>
                  <a:ea typeface="Aptos"/>
                  <a:cs typeface="Aptos"/>
                  <a:sym typeface="Aptos"/>
                </a:rPr>
                <a:t>10.7% → 24.2%</a:t>
              </a: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 Internet Trading 占比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交易入口從人工通路轉向 Software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程式設計能力普及程度排名全球第二（2024)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808068" y="2158813"/>
            <a:ext cx="3753688" cy="5116125"/>
            <a:chOff x="0" y="0"/>
            <a:chExt cx="5004918" cy="6821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04816" cy="6821451"/>
            </a:xfrm>
            <a:custGeom>
              <a:avLst/>
              <a:gdLst/>
              <a:ahLst/>
              <a:cxnLst/>
              <a:rect r="r" b="b" t="t" l="l"/>
              <a:pathLst>
                <a:path h="6821451" w="5004816">
                  <a:moveTo>
                    <a:pt x="0" y="100949"/>
                  </a:moveTo>
                  <a:cubicBezTo>
                    <a:pt x="0" y="45198"/>
                    <a:pt x="57658" y="0"/>
                    <a:pt x="128778" y="0"/>
                  </a:cubicBezTo>
                  <a:lnTo>
                    <a:pt x="4876038" y="0"/>
                  </a:lnTo>
                  <a:cubicBezTo>
                    <a:pt x="4947158" y="0"/>
                    <a:pt x="5004816" y="45198"/>
                    <a:pt x="5004816" y="100949"/>
                  </a:cubicBezTo>
                  <a:lnTo>
                    <a:pt x="5004816" y="6720501"/>
                  </a:lnTo>
                  <a:cubicBezTo>
                    <a:pt x="5004816" y="6776252"/>
                    <a:pt x="4947158" y="6821450"/>
                    <a:pt x="4876038" y="6821450"/>
                  </a:cubicBezTo>
                  <a:lnTo>
                    <a:pt x="128778" y="6821450"/>
                  </a:lnTo>
                  <a:cubicBezTo>
                    <a:pt x="57658" y="6821563"/>
                    <a:pt x="0" y="6776252"/>
                    <a:pt x="0" y="6720501"/>
                  </a:cubicBezTo>
                  <a:close/>
                </a:path>
              </a:pathLst>
            </a:custGeom>
            <a:solidFill>
              <a:srgbClr val="0C243A"/>
            </a:solidFill>
            <a:ln w="20018" cap="sq">
              <a:solidFill>
                <a:srgbClr val="FFD84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000720" y="2378916"/>
            <a:ext cx="266148" cy="266148"/>
            <a:chOff x="0" y="0"/>
            <a:chExt cx="354863" cy="3548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4838" cy="354838"/>
            </a:xfrm>
            <a:custGeom>
              <a:avLst/>
              <a:gdLst/>
              <a:ahLst/>
              <a:cxnLst/>
              <a:rect r="r" b="b" t="t" l="l"/>
              <a:pathLst>
                <a:path h="354838" w="354838">
                  <a:moveTo>
                    <a:pt x="0" y="0"/>
                  </a:moveTo>
                  <a:lnTo>
                    <a:pt x="354838" y="0"/>
                  </a:lnTo>
                  <a:lnTo>
                    <a:pt x="354838" y="354838"/>
                  </a:lnTo>
                  <a:lnTo>
                    <a:pt x="0" y="354838"/>
                  </a:lnTo>
                  <a:close/>
                </a:path>
              </a:pathLst>
            </a:custGeom>
            <a:solidFill>
              <a:srgbClr val="FFD84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339696" y="2271770"/>
            <a:ext cx="494167" cy="411804"/>
            <a:chOff x="0" y="0"/>
            <a:chExt cx="658889" cy="5490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8883" cy="549069"/>
            </a:xfrm>
            <a:custGeom>
              <a:avLst/>
              <a:gdLst/>
              <a:ahLst/>
              <a:cxnLst/>
              <a:rect r="r" b="b" t="t" l="l"/>
              <a:pathLst>
                <a:path h="549069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2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58889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D8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037706" y="2772794"/>
            <a:ext cx="3294412" cy="466706"/>
            <a:chOff x="0" y="0"/>
            <a:chExt cx="4392549" cy="6222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392552" cy="622278"/>
            </a:xfrm>
            <a:custGeom>
              <a:avLst/>
              <a:gdLst/>
              <a:ahLst/>
              <a:cxnLst/>
              <a:rect r="r" b="b" t="t" l="l"/>
              <a:pathLst>
                <a:path h="622278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1" r="0" b="-8754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392549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6"/>
                </a:lnSpc>
              </a:pPr>
              <a:r>
                <a:rPr lang="en-US" sz="2221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客戶需求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00720" y="3344275"/>
            <a:ext cx="3129696" cy="2208976"/>
            <a:chOff x="0" y="0"/>
            <a:chExt cx="4172928" cy="294530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72924" cy="2945306"/>
            </a:xfrm>
            <a:custGeom>
              <a:avLst/>
              <a:gdLst/>
              <a:ahLst/>
              <a:cxnLst/>
              <a:rect r="r" b="b" t="t" l="l"/>
              <a:pathLst>
                <a:path h="2945306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2945306"/>
                  </a:lnTo>
                  <a:lnTo>
                    <a:pt x="0" y="29453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32" r="0" b="6151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172928" cy="2945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Zerodha：digital broker 客群成形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2013 → 2016：約 </a:t>
              </a:r>
              <a:r>
                <a:rPr lang="en-US" sz="2036">
                  <a:solidFill>
                    <a:srgbClr val="FFC857"/>
                  </a:solidFill>
                  <a:latin typeface="Aptos"/>
                  <a:ea typeface="Aptos"/>
                  <a:cs typeface="Aptos"/>
                  <a:sym typeface="Aptos"/>
                </a:rPr>
                <a:t>30K clients  →  100K+ </a:t>
              </a: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clients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Kite Connect 發布時指出：</a:t>
              </a:r>
              <a:r>
                <a:rPr lang="en-US" sz="2036">
                  <a:solidFill>
                    <a:srgbClr val="FFC857"/>
                  </a:solidFill>
                  <a:latin typeface="Aptos"/>
                  <a:ea typeface="Aptos"/>
                  <a:cs typeface="Aptos"/>
                  <a:sym typeface="Aptos"/>
                </a:rPr>
                <a:t>客戶反覆要求客製交易體驗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953538" y="2158813"/>
            <a:ext cx="3753688" cy="5116125"/>
            <a:chOff x="0" y="0"/>
            <a:chExt cx="5004918" cy="6821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04816" cy="6821451"/>
            </a:xfrm>
            <a:custGeom>
              <a:avLst/>
              <a:gdLst/>
              <a:ahLst/>
              <a:cxnLst/>
              <a:rect r="r" b="b" t="t" l="l"/>
              <a:pathLst>
                <a:path h="6821451" w="5004816">
                  <a:moveTo>
                    <a:pt x="0" y="100949"/>
                  </a:moveTo>
                  <a:cubicBezTo>
                    <a:pt x="0" y="45198"/>
                    <a:pt x="57658" y="0"/>
                    <a:pt x="128778" y="0"/>
                  </a:cubicBezTo>
                  <a:lnTo>
                    <a:pt x="4876038" y="0"/>
                  </a:lnTo>
                  <a:cubicBezTo>
                    <a:pt x="4947158" y="0"/>
                    <a:pt x="5004816" y="45198"/>
                    <a:pt x="5004816" y="100949"/>
                  </a:cubicBezTo>
                  <a:lnTo>
                    <a:pt x="5004816" y="6720501"/>
                  </a:lnTo>
                  <a:cubicBezTo>
                    <a:pt x="5004816" y="6776252"/>
                    <a:pt x="4947158" y="6821450"/>
                    <a:pt x="4876038" y="6821450"/>
                  </a:cubicBezTo>
                  <a:lnTo>
                    <a:pt x="128778" y="6821450"/>
                  </a:lnTo>
                  <a:cubicBezTo>
                    <a:pt x="57658" y="6821563"/>
                    <a:pt x="0" y="6776252"/>
                    <a:pt x="0" y="6720501"/>
                  </a:cubicBezTo>
                  <a:close/>
                </a:path>
              </a:pathLst>
            </a:custGeom>
            <a:solidFill>
              <a:srgbClr val="3E2B0A"/>
            </a:solidFill>
            <a:ln w="20018" cap="sq">
              <a:solidFill>
                <a:srgbClr val="C98A2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146191" y="2378916"/>
            <a:ext cx="266148" cy="266148"/>
            <a:chOff x="0" y="0"/>
            <a:chExt cx="354863" cy="3548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54838" cy="354838"/>
            </a:xfrm>
            <a:custGeom>
              <a:avLst/>
              <a:gdLst/>
              <a:ahLst/>
              <a:cxnLst/>
              <a:rect r="r" b="b" t="t" l="l"/>
              <a:pathLst>
                <a:path h="354838" w="354838">
                  <a:moveTo>
                    <a:pt x="0" y="0"/>
                  </a:moveTo>
                  <a:lnTo>
                    <a:pt x="354838" y="0"/>
                  </a:lnTo>
                  <a:lnTo>
                    <a:pt x="354838" y="354838"/>
                  </a:lnTo>
                  <a:lnTo>
                    <a:pt x="0" y="354838"/>
                  </a:lnTo>
                  <a:close/>
                </a:path>
              </a:pathLst>
            </a:custGeom>
            <a:solidFill>
              <a:srgbClr val="C98A20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485166" y="2271770"/>
            <a:ext cx="494167" cy="411804"/>
            <a:chOff x="0" y="0"/>
            <a:chExt cx="658889" cy="5490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883" cy="549069"/>
            </a:xfrm>
            <a:custGeom>
              <a:avLst/>
              <a:gdLst/>
              <a:ahLst/>
              <a:cxnLst/>
              <a:rect r="r" b="b" t="t" l="l"/>
              <a:pathLst>
                <a:path h="549069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2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658889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C98A2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83176" y="2772794"/>
            <a:ext cx="3294412" cy="466709"/>
            <a:chOff x="0" y="0"/>
            <a:chExt cx="4392549" cy="62227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92552" cy="622282"/>
            </a:xfrm>
            <a:custGeom>
              <a:avLst/>
              <a:gdLst/>
              <a:ahLst/>
              <a:cxnLst/>
              <a:rect r="r" b="b" t="t" l="l"/>
              <a:pathLst>
                <a:path h="622282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622282"/>
                  </a:lnTo>
                  <a:lnTo>
                    <a:pt x="0" y="6222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1" r="0" b="-8754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392549" cy="622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6"/>
                </a:lnSpc>
              </a:pPr>
              <a:r>
                <a:rPr lang="en-US" sz="2221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Flow 被使用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161831" y="3353803"/>
            <a:ext cx="3433429" cy="2208976"/>
            <a:chOff x="0" y="0"/>
            <a:chExt cx="4577905" cy="294530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577901" cy="2945306"/>
            </a:xfrm>
            <a:custGeom>
              <a:avLst/>
              <a:gdLst/>
              <a:ahLst/>
              <a:cxnLst/>
              <a:rect r="r" b="b" t="t" l="l"/>
              <a:pathLst>
                <a:path h="2945306" w="4577901">
                  <a:moveTo>
                    <a:pt x="0" y="0"/>
                  </a:moveTo>
                  <a:lnTo>
                    <a:pt x="4577901" y="0"/>
                  </a:lnTo>
                  <a:lnTo>
                    <a:pt x="4577901" y="2945306"/>
                  </a:lnTo>
                  <a:lnTo>
                    <a:pt x="0" y="29453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32" r="8846" b="6151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577905" cy="29453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3"/>
                </a:lnSpc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API 需求不只 Zerodha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2020/12：Angel SmartAPI </a:t>
              </a:r>
              <a:r>
                <a:rPr lang="en-US" sz="2036">
                  <a:solidFill>
                    <a:srgbClr val="FFD84B"/>
                  </a:solidFill>
                  <a:latin typeface="Aptos"/>
                  <a:ea typeface="Aptos"/>
                  <a:cs typeface="Aptos"/>
                  <a:sym typeface="Aptos"/>
                </a:rPr>
                <a:t>(10,000+ registrations)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2021：SEBI 觀察到</a:t>
              </a:r>
              <a:r>
                <a:rPr lang="en-US" sz="2036">
                  <a:solidFill>
                    <a:srgbClr val="FFD84B"/>
                  </a:solidFill>
                  <a:latin typeface="Aptos"/>
                  <a:ea typeface="Aptos"/>
                  <a:cs typeface="Aptos"/>
                  <a:sym typeface="Aptos"/>
                </a:rPr>
                <a:t>Many brokers provide API access. Investors use APIs to automate trades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085283" y="2158813"/>
            <a:ext cx="3753688" cy="5116125"/>
            <a:chOff x="0" y="0"/>
            <a:chExt cx="5004918" cy="68215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04816" cy="6821451"/>
            </a:xfrm>
            <a:custGeom>
              <a:avLst/>
              <a:gdLst/>
              <a:ahLst/>
              <a:cxnLst/>
              <a:rect r="r" b="b" t="t" l="l"/>
              <a:pathLst>
                <a:path h="6821451" w="5004816">
                  <a:moveTo>
                    <a:pt x="0" y="100949"/>
                  </a:moveTo>
                  <a:cubicBezTo>
                    <a:pt x="0" y="45198"/>
                    <a:pt x="57658" y="0"/>
                    <a:pt x="128778" y="0"/>
                  </a:cubicBezTo>
                  <a:lnTo>
                    <a:pt x="4876038" y="0"/>
                  </a:lnTo>
                  <a:cubicBezTo>
                    <a:pt x="4947158" y="0"/>
                    <a:pt x="5004816" y="45198"/>
                    <a:pt x="5004816" y="100949"/>
                  </a:cubicBezTo>
                  <a:lnTo>
                    <a:pt x="5004816" y="6720501"/>
                  </a:lnTo>
                  <a:cubicBezTo>
                    <a:pt x="5004816" y="6776252"/>
                    <a:pt x="4947158" y="6821450"/>
                    <a:pt x="4876038" y="6821450"/>
                  </a:cubicBezTo>
                  <a:lnTo>
                    <a:pt x="128778" y="6821450"/>
                  </a:lnTo>
                  <a:cubicBezTo>
                    <a:pt x="57658" y="6821563"/>
                    <a:pt x="0" y="6776252"/>
                    <a:pt x="0" y="6720501"/>
                  </a:cubicBezTo>
                  <a:close/>
                </a:path>
              </a:pathLst>
            </a:custGeom>
            <a:solidFill>
              <a:srgbClr val="0A362D"/>
            </a:solidFill>
            <a:ln w="20018" cap="sq">
              <a:solidFill>
                <a:srgbClr val="03C889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277936" y="2378916"/>
            <a:ext cx="266148" cy="266148"/>
            <a:chOff x="0" y="0"/>
            <a:chExt cx="354863" cy="35486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54838" cy="354838"/>
            </a:xfrm>
            <a:custGeom>
              <a:avLst/>
              <a:gdLst/>
              <a:ahLst/>
              <a:cxnLst/>
              <a:rect r="r" b="b" t="t" l="l"/>
              <a:pathLst>
                <a:path h="354838" w="354838">
                  <a:moveTo>
                    <a:pt x="0" y="0"/>
                  </a:moveTo>
                  <a:lnTo>
                    <a:pt x="354838" y="0"/>
                  </a:lnTo>
                  <a:lnTo>
                    <a:pt x="354838" y="354838"/>
                  </a:lnTo>
                  <a:lnTo>
                    <a:pt x="0" y="354838"/>
                  </a:lnTo>
                  <a:close/>
                </a:path>
              </a:pathLst>
            </a:custGeom>
            <a:solidFill>
              <a:srgbClr val="03C88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616911" y="2271770"/>
            <a:ext cx="494167" cy="411804"/>
            <a:chOff x="0" y="0"/>
            <a:chExt cx="658889" cy="54907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58883" cy="549069"/>
            </a:xfrm>
            <a:custGeom>
              <a:avLst/>
              <a:gdLst/>
              <a:ahLst/>
              <a:cxnLst/>
              <a:rect r="r" b="b" t="t" l="l"/>
              <a:pathLst>
                <a:path h="549069" w="658883">
                  <a:moveTo>
                    <a:pt x="0" y="0"/>
                  </a:moveTo>
                  <a:lnTo>
                    <a:pt x="658883" y="0"/>
                  </a:lnTo>
                  <a:lnTo>
                    <a:pt x="658883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919" t="0" r="-5692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658889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03C88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314921" y="2772794"/>
            <a:ext cx="3294412" cy="466706"/>
            <a:chOff x="0" y="0"/>
            <a:chExt cx="4392549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92552" cy="622278"/>
            </a:xfrm>
            <a:custGeom>
              <a:avLst/>
              <a:gdLst/>
              <a:ahLst/>
              <a:cxnLst/>
              <a:rect r="r" b="b" t="t" l="l"/>
              <a:pathLst>
                <a:path h="622278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1" r="0" b="-8754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4392549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66"/>
                </a:lnSpc>
              </a:pPr>
              <a:r>
                <a:rPr lang="en-US" sz="2221" b="true">
                  <a:solidFill>
                    <a:srgbClr val="F5F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制度化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397284" y="3383787"/>
            <a:ext cx="3129696" cy="2513776"/>
            <a:chOff x="0" y="0"/>
            <a:chExt cx="4172928" cy="335170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72924" cy="3351706"/>
            </a:xfrm>
            <a:custGeom>
              <a:avLst/>
              <a:gdLst/>
              <a:ahLst/>
              <a:cxnLst/>
              <a:rect r="r" b="b" t="t" l="l"/>
              <a:pathLst>
                <a:path h="3351706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3351706"/>
                  </a:lnTo>
                  <a:lnTo>
                    <a:pt x="0" y="33517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03" r="0" b="6618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172928" cy="33517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2024：SEBI 指出</a:t>
              </a:r>
              <a:r>
                <a:rPr lang="en-US" sz="2036">
                  <a:solidFill>
                    <a:srgbClr val="FFD84B"/>
                  </a:solidFill>
                  <a:latin typeface="Aptos"/>
                  <a:ea typeface="Aptos"/>
                  <a:cs typeface="Aptos"/>
                  <a:sym typeface="Aptos"/>
                </a:rPr>
                <a:t>retail algo demand increasing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2025：Retail Algo Framework</a:t>
              </a:r>
            </a:p>
            <a:p>
              <a:pPr algn="l" marL="439578" indent="-219789" lvl="1">
                <a:lnSpc>
                  <a:spcPts val="2443"/>
                </a:lnSpc>
                <a:buFont typeface="Arial"/>
                <a:buChar char="•"/>
              </a:pP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2026：NSE 將</a:t>
              </a:r>
              <a:r>
                <a:rPr lang="en-US" sz="2036">
                  <a:solidFill>
                    <a:srgbClr val="FFD84B"/>
                  </a:solidFill>
                  <a:latin typeface="Aptos"/>
                  <a:ea typeface="Aptos"/>
                  <a:cs typeface="Aptos"/>
                  <a:sym typeface="Aptos"/>
                </a:rPr>
                <a:t>Client Direct API / Member Frontend</a:t>
              </a:r>
              <a:r>
                <a:rPr lang="en-US" sz="2036">
                  <a:solidFill>
                    <a:srgbClr val="F5F9FF"/>
                  </a:solidFill>
                  <a:latin typeface="Aptos"/>
                  <a:ea typeface="Aptos"/>
                  <a:cs typeface="Aptos"/>
                  <a:sym typeface="Aptos"/>
                </a:rPr>
                <a:t>列為 Retail Algo 正式類別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54971" y="8161561"/>
            <a:ext cx="16540705" cy="684061"/>
            <a:chOff x="0" y="0"/>
            <a:chExt cx="22054274" cy="91208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054269" cy="912076"/>
            </a:xfrm>
            <a:custGeom>
              <a:avLst/>
              <a:gdLst/>
              <a:ahLst/>
              <a:cxnLst/>
              <a:rect r="r" b="b" t="t" l="l"/>
              <a:pathLst>
                <a:path h="912076" w="22054269">
                  <a:moveTo>
                    <a:pt x="0" y="0"/>
                  </a:moveTo>
                  <a:lnTo>
                    <a:pt x="22054269" y="0"/>
                  </a:lnTo>
                  <a:lnTo>
                    <a:pt x="22054269" y="912076"/>
                  </a:lnTo>
                  <a:lnTo>
                    <a:pt x="0" y="9120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4030" r="0" b="-40827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22054274" cy="9216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13"/>
                </a:lnSpc>
              </a:pPr>
              <a:r>
                <a:rPr lang="en-US" sz="2011" b="true">
                  <a:solidFill>
                    <a:srgbClr val="FF3B3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印度 OpenAPI 並非單一券商產品帶動，而是在數位自主交易客群擴張後，客戶開始要求 Programmable Access；API 使用擴散至多家券商，最終被納入 Retail Algo 正式架構。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713794" y="9732245"/>
            <a:ext cx="16938774" cy="260804"/>
            <a:chOff x="0" y="0"/>
            <a:chExt cx="22585032" cy="34773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585037" cy="347744"/>
            </a:xfrm>
            <a:custGeom>
              <a:avLst/>
              <a:gdLst/>
              <a:ahLst/>
              <a:cxnLst/>
              <a:rect r="r" b="b" t="t" l="l"/>
              <a:pathLst>
                <a:path h="347744" w="22585037">
                  <a:moveTo>
                    <a:pt x="0" y="0"/>
                  </a:moveTo>
                  <a:lnTo>
                    <a:pt x="22585037" y="0"/>
                  </a:lnTo>
                  <a:lnTo>
                    <a:pt x="22585037" y="347744"/>
                  </a:lnTo>
                  <a:lnTo>
                    <a:pt x="0" y="3477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5502" r="0" b="-1215501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22585032" cy="347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45"/>
                </a:lnSpc>
              </a:pPr>
              <a:r>
                <a:rPr lang="en-US" sz="788">
                  <a:solidFill>
                    <a:srgbClr val="7793A7"/>
                  </a:solidFill>
                  <a:latin typeface="Aptos"/>
                  <a:ea typeface="Aptos"/>
                  <a:cs typeface="Aptos"/>
                  <a:sym typeface="Aptos"/>
                </a:rPr>
                <a:t>Sources: NSE Internet Based Trading / Wireless Trading; NSE Factbook 2017 Table 4-6; Zerodha Kite Connect 2016 &amp; company history; Angel Broking SmartAPI / Business Standard 2021; SEBI Consultation Paper 2021; SEBI Draft Circular 2024 &amp; Circular 2025; NSE Retail Algo / Client Direct API; Reuters 2024/2025.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232" y="2251050"/>
            <a:ext cx="8149961" cy="7091563"/>
            <a:chOff x="0" y="0"/>
            <a:chExt cx="2368118" cy="20605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042" cy="2060474"/>
            </a:xfrm>
            <a:custGeom>
              <a:avLst/>
              <a:gdLst/>
              <a:ahLst/>
              <a:cxnLst/>
              <a:rect r="r" b="b" t="t" l="l"/>
              <a:pathLst>
                <a:path h="2060474" w="2368042">
                  <a:moveTo>
                    <a:pt x="0" y="190174"/>
                  </a:moveTo>
                  <a:cubicBezTo>
                    <a:pt x="0" y="85072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85072"/>
                    <a:pt x="2368042" y="190174"/>
                  </a:cubicBezTo>
                  <a:lnTo>
                    <a:pt x="2368042" y="1870300"/>
                  </a:lnTo>
                  <a:cubicBezTo>
                    <a:pt x="2368042" y="1975402"/>
                    <a:pt x="2317877" y="2060474"/>
                    <a:pt x="2255901" y="2060474"/>
                  </a:cubicBezTo>
                  <a:lnTo>
                    <a:pt x="112141" y="2060474"/>
                  </a:lnTo>
                  <a:cubicBezTo>
                    <a:pt x="50165" y="2060474"/>
                    <a:pt x="0" y="1975402"/>
                    <a:pt x="0" y="1870300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93492" y="4154041"/>
            <a:ext cx="7860108" cy="4424999"/>
            <a:chOff x="0" y="0"/>
            <a:chExt cx="24427878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blipFill>
              <a:blip r:embed="rId3"/>
              <a:stretch>
                <a:fillRect l="0" t="-5644" r="0" b="-5644"/>
              </a:stretch>
            </a:blip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13794" y="466706"/>
            <a:ext cx="5627961" cy="595104"/>
            <a:chOff x="0" y="0"/>
            <a:chExt cx="7503947" cy="7934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 案例｜美國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13794" y="933421"/>
            <a:ext cx="16609333" cy="713794"/>
            <a:chOff x="0" y="0"/>
            <a:chExt cx="22145777" cy="951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145782" cy="951720"/>
            </a:xfrm>
            <a:custGeom>
              <a:avLst/>
              <a:gdLst/>
              <a:ahLst/>
              <a:cxnLst/>
              <a:rect r="r" b="b" t="t" l="l"/>
              <a:pathLst>
                <a:path h="951720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3401" r="0" b="-40340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2145777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流動性被切散後，「去哪裡成交」變成系統問題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39007" y="2201573"/>
            <a:ext cx="4969078" cy="1041530"/>
            <a:chOff x="0" y="0"/>
            <a:chExt cx="6131268" cy="12851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31270" cy="1285124"/>
            </a:xfrm>
            <a:custGeom>
              <a:avLst/>
              <a:gdLst/>
              <a:ahLst/>
              <a:cxnLst/>
              <a:rect r="r" b="b" t="t" l="l"/>
              <a:pathLst>
                <a:path h="1285124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1285124"/>
                  </a:lnTo>
                  <a:lnTo>
                    <a:pt x="0" y="12851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812" r="0" b="-3711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6131268" cy="12851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04"/>
                </a:lnSpc>
              </a:pPr>
              <a:r>
                <a:rPr lang="en-US" sz="5254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79.1% → 25.1%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924320" y="3141709"/>
            <a:ext cx="4598451" cy="745640"/>
            <a:chOff x="0" y="0"/>
            <a:chExt cx="6131268" cy="99418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31270" cy="994191"/>
            </a:xfrm>
            <a:custGeom>
              <a:avLst/>
              <a:gdLst/>
              <a:ahLst/>
              <a:cxnLst/>
              <a:rect r="r" b="b" t="t" l="l"/>
              <a:pathLst>
                <a:path h="994191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994191"/>
                  </a:lnTo>
                  <a:lnTo>
                    <a:pt x="0" y="9941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506" r="0" b="-588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131268" cy="9941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NYSE 掛牌股在 NYSE 成交占比</a:t>
              </a:r>
            </a:p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2005 → 2009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153600" y="2251050"/>
            <a:ext cx="10157774" cy="549069"/>
            <a:chOff x="0" y="0"/>
            <a:chExt cx="13543699" cy="7320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543700" cy="732092"/>
            </a:xfrm>
            <a:custGeom>
              <a:avLst/>
              <a:gdLst/>
              <a:ahLst/>
              <a:cxnLst/>
              <a:rect r="r" b="b" t="t" l="l"/>
              <a:pathLst>
                <a:path h="732092" w="13543700">
                  <a:moveTo>
                    <a:pt x="0" y="0"/>
                  </a:moveTo>
                  <a:lnTo>
                    <a:pt x="13543700" y="0"/>
                  </a:lnTo>
                  <a:lnTo>
                    <a:pt x="1354370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3543699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3"/>
                </a:lnSpc>
              </a:pPr>
              <a:r>
                <a:rPr lang="en-US" sz="3602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為什麼會需要 SOR？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391139" y="3095393"/>
            <a:ext cx="1776089" cy="911304"/>
            <a:chOff x="0" y="0"/>
            <a:chExt cx="2368118" cy="12150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68042" cy="1215009"/>
            </a:xfrm>
            <a:custGeom>
              <a:avLst/>
              <a:gdLst/>
              <a:ahLst/>
              <a:cxnLst/>
              <a:rect r="r" b="b" t="t" l="l"/>
              <a:pathLst>
                <a:path h="1215009" w="2368042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50165"/>
                    <a:pt x="2368042" y="112141"/>
                  </a:cubicBezTo>
                  <a:lnTo>
                    <a:pt x="2368042" y="1102868"/>
                  </a:lnTo>
                  <a:cubicBezTo>
                    <a:pt x="2368042" y="1164844"/>
                    <a:pt x="2317877" y="1215009"/>
                    <a:pt x="2255901" y="1215009"/>
                  </a:cubicBezTo>
                  <a:lnTo>
                    <a:pt x="112141" y="1215009"/>
                  </a:lnTo>
                  <a:cubicBezTo>
                    <a:pt x="50165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647752" y="3297104"/>
            <a:ext cx="1262863" cy="590245"/>
            <a:chOff x="0" y="0"/>
            <a:chExt cx="1683817" cy="786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683812" cy="786999"/>
            </a:xfrm>
            <a:custGeom>
              <a:avLst/>
              <a:gdLst/>
              <a:ahLst/>
              <a:cxnLst/>
              <a:rect r="r" b="b" t="t" l="l"/>
              <a:pathLst>
                <a:path h="786999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967" t="0" r="-9967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683817" cy="777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NYSE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367786" y="3095393"/>
            <a:ext cx="1776089" cy="911304"/>
            <a:chOff x="0" y="0"/>
            <a:chExt cx="2368118" cy="1215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68042" cy="1215009"/>
            </a:xfrm>
            <a:custGeom>
              <a:avLst/>
              <a:gdLst/>
              <a:ahLst/>
              <a:cxnLst/>
              <a:rect r="r" b="b" t="t" l="l"/>
              <a:pathLst>
                <a:path h="1215009" w="2368042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50165"/>
                    <a:pt x="2368042" y="112141"/>
                  </a:cubicBezTo>
                  <a:lnTo>
                    <a:pt x="2368042" y="1102868"/>
                  </a:lnTo>
                  <a:cubicBezTo>
                    <a:pt x="2368042" y="1164844"/>
                    <a:pt x="2317877" y="1215009"/>
                    <a:pt x="2255901" y="1215009"/>
                  </a:cubicBezTo>
                  <a:lnTo>
                    <a:pt x="112141" y="1215009"/>
                  </a:lnTo>
                  <a:cubicBezTo>
                    <a:pt x="50165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624399" y="3297104"/>
            <a:ext cx="1262863" cy="590245"/>
            <a:chOff x="0" y="0"/>
            <a:chExt cx="1683817" cy="78699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83812" cy="786999"/>
            </a:xfrm>
            <a:custGeom>
              <a:avLst/>
              <a:gdLst/>
              <a:ahLst/>
              <a:cxnLst/>
              <a:rect r="r" b="b" t="t" l="l"/>
              <a:pathLst>
                <a:path h="786999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967" t="0" r="-996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1683817" cy="777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NASDAQ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44443" y="3095393"/>
            <a:ext cx="1776089" cy="911304"/>
            <a:chOff x="0" y="0"/>
            <a:chExt cx="2368118" cy="12150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68042" cy="1215009"/>
            </a:xfrm>
            <a:custGeom>
              <a:avLst/>
              <a:gdLst/>
              <a:ahLst/>
              <a:cxnLst/>
              <a:rect r="r" b="b" t="t" l="l"/>
              <a:pathLst>
                <a:path h="1215009" w="2368042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50165"/>
                    <a:pt x="2368042" y="112141"/>
                  </a:cubicBezTo>
                  <a:lnTo>
                    <a:pt x="2368042" y="1102868"/>
                  </a:lnTo>
                  <a:cubicBezTo>
                    <a:pt x="2368042" y="1164844"/>
                    <a:pt x="2317877" y="1215009"/>
                    <a:pt x="2255901" y="1215009"/>
                  </a:cubicBezTo>
                  <a:lnTo>
                    <a:pt x="112141" y="1215009"/>
                  </a:lnTo>
                  <a:cubicBezTo>
                    <a:pt x="50165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601056" y="3297104"/>
            <a:ext cx="1262863" cy="590245"/>
            <a:chOff x="0" y="0"/>
            <a:chExt cx="1683817" cy="78699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83812" cy="786999"/>
            </a:xfrm>
            <a:custGeom>
              <a:avLst/>
              <a:gdLst/>
              <a:ahLst/>
              <a:cxnLst/>
              <a:rect r="r" b="b" t="t" l="l"/>
              <a:pathLst>
                <a:path h="786999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967" t="0" r="-9967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1683817" cy="777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ATS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321090" y="3095393"/>
            <a:ext cx="1776089" cy="911304"/>
            <a:chOff x="0" y="0"/>
            <a:chExt cx="2368118" cy="12150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368042" cy="1215009"/>
            </a:xfrm>
            <a:custGeom>
              <a:avLst/>
              <a:gdLst/>
              <a:ahLst/>
              <a:cxnLst/>
              <a:rect r="r" b="b" t="t" l="l"/>
              <a:pathLst>
                <a:path h="1215009" w="2368042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50165"/>
                    <a:pt x="2368042" y="112141"/>
                  </a:cubicBezTo>
                  <a:lnTo>
                    <a:pt x="2368042" y="1102868"/>
                  </a:lnTo>
                  <a:cubicBezTo>
                    <a:pt x="2368042" y="1164844"/>
                    <a:pt x="2317877" y="1215009"/>
                    <a:pt x="2255901" y="1215009"/>
                  </a:cubicBezTo>
                  <a:lnTo>
                    <a:pt x="112141" y="1215009"/>
                  </a:lnTo>
                  <a:cubicBezTo>
                    <a:pt x="50165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577703" y="3297104"/>
            <a:ext cx="1262863" cy="590245"/>
            <a:chOff x="0" y="0"/>
            <a:chExt cx="1683817" cy="78699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683812" cy="786999"/>
            </a:xfrm>
            <a:custGeom>
              <a:avLst/>
              <a:gdLst/>
              <a:ahLst/>
              <a:cxnLst/>
              <a:rect r="r" b="b" t="t" l="l"/>
              <a:pathLst>
                <a:path h="786999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967" t="0" r="-9967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9525"/>
              <a:ext cx="1683817" cy="777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Dark Pool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297737" y="3095393"/>
            <a:ext cx="1776089" cy="911304"/>
            <a:chOff x="0" y="0"/>
            <a:chExt cx="2368118" cy="12150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68042" cy="1215009"/>
            </a:xfrm>
            <a:custGeom>
              <a:avLst/>
              <a:gdLst/>
              <a:ahLst/>
              <a:cxnLst/>
              <a:rect r="r" b="b" t="t" l="l"/>
              <a:pathLst>
                <a:path h="1215009" w="2368042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50165"/>
                    <a:pt x="2368042" y="112141"/>
                  </a:cubicBezTo>
                  <a:lnTo>
                    <a:pt x="2368042" y="1102868"/>
                  </a:lnTo>
                  <a:cubicBezTo>
                    <a:pt x="2368042" y="1164844"/>
                    <a:pt x="2317877" y="1215009"/>
                    <a:pt x="2255901" y="1215009"/>
                  </a:cubicBezTo>
                  <a:lnTo>
                    <a:pt x="112141" y="1215009"/>
                  </a:lnTo>
                  <a:cubicBezTo>
                    <a:pt x="50165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6554350" y="3297104"/>
            <a:ext cx="1262863" cy="590249"/>
            <a:chOff x="0" y="0"/>
            <a:chExt cx="1683817" cy="78699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683812" cy="787004"/>
            </a:xfrm>
            <a:custGeom>
              <a:avLst/>
              <a:gdLst/>
              <a:ahLst/>
              <a:cxnLst/>
              <a:rect r="r" b="b" t="t" l="l"/>
              <a:pathLst>
                <a:path h="787004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787004"/>
                  </a:lnTo>
                  <a:lnTo>
                    <a:pt x="0" y="7870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967" t="0" r="-9967" b="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683817" cy="78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Internalizer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flipH="true">
            <a:off x="13230107" y="4062370"/>
            <a:ext cx="7142" cy="896828"/>
          </a:xfrm>
          <a:prstGeom prst="line">
            <a:avLst/>
          </a:prstGeom>
          <a:ln cap="rnd" w="9525">
            <a:solidFill>
              <a:srgbClr val="FFC8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9308459" y="4959198"/>
            <a:ext cx="7843295" cy="1062295"/>
            <a:chOff x="0" y="0"/>
            <a:chExt cx="10457726" cy="141639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457815" cy="1416558"/>
            </a:xfrm>
            <a:custGeom>
              <a:avLst/>
              <a:gdLst/>
              <a:ahLst/>
              <a:cxnLst/>
              <a:rect r="r" b="b" t="t" l="l"/>
              <a:pathLst>
                <a:path h="1416558" w="10457815">
                  <a:moveTo>
                    <a:pt x="0" y="111887"/>
                  </a:moveTo>
                  <a:cubicBezTo>
                    <a:pt x="0" y="50038"/>
                    <a:pt x="50038" y="0"/>
                    <a:pt x="111887" y="0"/>
                  </a:cubicBezTo>
                  <a:lnTo>
                    <a:pt x="10345928" y="0"/>
                  </a:lnTo>
                  <a:cubicBezTo>
                    <a:pt x="10407650" y="0"/>
                    <a:pt x="10457815" y="50038"/>
                    <a:pt x="10457815" y="111887"/>
                  </a:cubicBezTo>
                  <a:lnTo>
                    <a:pt x="10457815" y="1304671"/>
                  </a:lnTo>
                  <a:cubicBezTo>
                    <a:pt x="10457815" y="1366393"/>
                    <a:pt x="10407777" y="1416558"/>
                    <a:pt x="10345928" y="1416558"/>
                  </a:cubicBezTo>
                  <a:lnTo>
                    <a:pt x="111887" y="1416558"/>
                  </a:lnTo>
                  <a:cubicBezTo>
                    <a:pt x="50165" y="1416558"/>
                    <a:pt x="0" y="1366520"/>
                    <a:pt x="0" y="1304671"/>
                  </a:cubicBezTo>
                  <a:close/>
                </a:path>
              </a:pathLst>
            </a:custGeom>
            <a:solidFill>
              <a:srgbClr val="112E42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565072" y="5160899"/>
            <a:ext cx="7330069" cy="741245"/>
            <a:chOff x="0" y="0"/>
            <a:chExt cx="9773425" cy="98832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73427" cy="988324"/>
            </a:xfrm>
            <a:custGeom>
              <a:avLst/>
              <a:gdLst/>
              <a:ahLst/>
              <a:cxnLst/>
              <a:rect r="r" b="b" t="t" l="l"/>
              <a:pathLst>
                <a:path h="988324" w="9773427">
                  <a:moveTo>
                    <a:pt x="0" y="0"/>
                  </a:moveTo>
                  <a:lnTo>
                    <a:pt x="9773427" y="0"/>
                  </a:lnTo>
                  <a:lnTo>
                    <a:pt x="9773427" y="988324"/>
                  </a:lnTo>
                  <a:lnTo>
                    <a:pt x="0" y="9883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2685" r="0" b="-14268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9525"/>
              <a:ext cx="9773425" cy="978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同一張 Institutional Order 要即時比較價格、流動性、成交機率與成本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>
            <a:off x="13230107" y="6021492"/>
            <a:ext cx="4761" cy="900627"/>
          </a:xfrm>
          <a:prstGeom prst="line">
            <a:avLst/>
          </a:prstGeom>
          <a:ln cap="rnd" w="9525">
            <a:solidFill>
              <a:srgbClr val="FFC8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7" id="57"/>
          <p:cNvGrpSpPr/>
          <p:nvPr/>
        </p:nvGrpSpPr>
        <p:grpSpPr>
          <a:xfrm rot="0">
            <a:off x="9313220" y="6922119"/>
            <a:ext cx="7843295" cy="1144657"/>
            <a:chOff x="0" y="0"/>
            <a:chExt cx="10457726" cy="152621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457688" cy="1526159"/>
            </a:xfrm>
            <a:custGeom>
              <a:avLst/>
              <a:gdLst/>
              <a:ahLst/>
              <a:cxnLst/>
              <a:rect r="r" b="b" t="t" l="l"/>
              <a:pathLst>
                <a:path h="1526159" w="10457688">
                  <a:moveTo>
                    <a:pt x="0" y="111633"/>
                  </a:moveTo>
                  <a:cubicBezTo>
                    <a:pt x="0" y="50038"/>
                    <a:pt x="50038" y="0"/>
                    <a:pt x="111633" y="0"/>
                  </a:cubicBezTo>
                  <a:lnTo>
                    <a:pt x="10346055" y="0"/>
                  </a:lnTo>
                  <a:cubicBezTo>
                    <a:pt x="10407777" y="0"/>
                    <a:pt x="10457688" y="50038"/>
                    <a:pt x="10457688" y="111633"/>
                  </a:cubicBezTo>
                  <a:lnTo>
                    <a:pt x="10457688" y="1414526"/>
                  </a:lnTo>
                  <a:cubicBezTo>
                    <a:pt x="10457688" y="1476248"/>
                    <a:pt x="10407650" y="1526159"/>
                    <a:pt x="10346055" y="1526159"/>
                  </a:cubicBezTo>
                  <a:lnTo>
                    <a:pt x="111633" y="1526159"/>
                  </a:lnTo>
                  <a:cubicBezTo>
                    <a:pt x="49911" y="1526159"/>
                    <a:pt x="0" y="1476121"/>
                    <a:pt x="0" y="1414526"/>
                  </a:cubicBezTo>
                  <a:close/>
                </a:path>
              </a:pathLst>
            </a:custGeom>
            <a:solidFill>
              <a:srgbClr val="101F33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597284" y="7123821"/>
            <a:ext cx="7275166" cy="782422"/>
            <a:chOff x="0" y="0"/>
            <a:chExt cx="9700222" cy="104322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00218" cy="1043231"/>
            </a:xfrm>
            <a:custGeom>
              <a:avLst/>
              <a:gdLst/>
              <a:ahLst/>
              <a:cxnLst/>
              <a:rect r="r" b="b" t="t" l="l"/>
              <a:pathLst>
                <a:path h="1043231" w="9700218">
                  <a:moveTo>
                    <a:pt x="0" y="0"/>
                  </a:moveTo>
                  <a:lnTo>
                    <a:pt x="9700218" y="0"/>
                  </a:lnTo>
                  <a:lnTo>
                    <a:pt x="9700218" y="1043231"/>
                  </a:lnTo>
                  <a:lnTo>
                    <a:pt x="0" y="104323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1176" r="0" b="-13117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9700222" cy="1043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訂單該送去哪裡？</a:t>
              </a:r>
            </a:p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→ SOR / Automated Routing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13794" y="9896970"/>
            <a:ext cx="16746607" cy="205902"/>
            <a:chOff x="0" y="0"/>
            <a:chExt cx="22328810" cy="2745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328805" cy="274534"/>
            </a:xfrm>
            <a:custGeom>
              <a:avLst/>
              <a:gdLst/>
              <a:ahLst/>
              <a:cxnLst/>
              <a:rect r="r" b="b" t="t" l="l"/>
              <a:pathLst>
                <a:path h="274534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4783" r="0" b="-153478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22328810" cy="274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34"/>
                </a:lnSpc>
              </a:pPr>
              <a:r>
                <a:rPr lang="en-US" sz="945">
                  <a:solidFill>
                    <a:srgbClr val="7994AA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Source: SEC testimony, 2010, market fragmentation statistics.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120704" y="8640112"/>
            <a:ext cx="6205685" cy="493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  <a:spcBef>
                <a:spcPct val="0"/>
              </a:spcBef>
            </a:pPr>
            <a:r>
              <a:rPr lang="en-US" b="true" sz="165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Trading Centers and Estimated Percentage of Share Volume in NMS Stocks September 2009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794" y="466706"/>
            <a:ext cx="5627961" cy="595104"/>
            <a:chOff x="0" y="0"/>
            <a:chExt cx="7503947" cy="7934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 案例｜韓國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3794" y="933421"/>
            <a:ext cx="16609333" cy="713794"/>
            <a:chOff x="0" y="0"/>
            <a:chExt cx="22145777" cy="9517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45782" cy="951720"/>
            </a:xfrm>
            <a:custGeom>
              <a:avLst/>
              <a:gdLst/>
              <a:ahLst/>
              <a:cxnLst/>
              <a:rect r="r" b="b" t="t" l="l"/>
              <a:pathLst>
                <a:path h="951720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1" r="0" b="-40340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2145777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沒有多 Venue，跨商品策略也會創造 Algo Demand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066745" y="2200463"/>
            <a:ext cx="10569578" cy="549069"/>
            <a:chOff x="0" y="0"/>
            <a:chExt cx="14092771" cy="7320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092769" cy="732092"/>
            </a:xfrm>
            <a:custGeom>
              <a:avLst/>
              <a:gdLst/>
              <a:ahLst/>
              <a:cxnLst/>
              <a:rect r="r" b="b" t="t" l="l"/>
              <a:pathLst>
                <a:path h="732092" w="14092769">
                  <a:moveTo>
                    <a:pt x="0" y="0"/>
                  </a:moveTo>
                  <a:lnTo>
                    <a:pt x="14092769" y="0"/>
                  </a:lnTo>
                  <a:lnTo>
                    <a:pt x="1409276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087" r="0" b="-32508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4092771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3"/>
                </a:lnSpc>
              </a:pPr>
              <a:r>
                <a:rPr lang="en-US" sz="3452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為什麼會需要 Basket / Program Algo？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072897" y="3244832"/>
            <a:ext cx="4602449" cy="911304"/>
            <a:chOff x="0" y="0"/>
            <a:chExt cx="6136599" cy="12150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36637" cy="1215009"/>
            </a:xfrm>
            <a:custGeom>
              <a:avLst/>
              <a:gdLst/>
              <a:ahLst/>
              <a:cxnLst/>
              <a:rect r="r" b="b" t="t" l="l"/>
              <a:pathLst>
                <a:path h="1215009" w="6136637">
                  <a:moveTo>
                    <a:pt x="0" y="112141"/>
                  </a:moveTo>
                  <a:cubicBezTo>
                    <a:pt x="0" y="50165"/>
                    <a:pt x="101088" y="0"/>
                    <a:pt x="225976" y="0"/>
                  </a:cubicBezTo>
                  <a:lnTo>
                    <a:pt x="5910700" y="0"/>
                  </a:lnTo>
                  <a:cubicBezTo>
                    <a:pt x="6035588" y="0"/>
                    <a:pt x="6136637" y="50165"/>
                    <a:pt x="6136637" y="112141"/>
                  </a:cubicBezTo>
                  <a:lnTo>
                    <a:pt x="6136637" y="1102868"/>
                  </a:lnTo>
                  <a:cubicBezTo>
                    <a:pt x="6136637" y="1164844"/>
                    <a:pt x="6035588" y="1215009"/>
                    <a:pt x="5910700" y="1215009"/>
                  </a:cubicBezTo>
                  <a:lnTo>
                    <a:pt x="225976" y="1215009"/>
                  </a:lnTo>
                  <a:cubicBezTo>
                    <a:pt x="101088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D3444"/>
            </a:solidFill>
            <a:ln w="19065" cap="sq">
              <a:solidFill>
                <a:srgbClr val="69E5A3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273290" y="3405359"/>
            <a:ext cx="4167155" cy="680224"/>
            <a:chOff x="0" y="0"/>
            <a:chExt cx="5556207" cy="9069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56210" cy="906970"/>
            </a:xfrm>
            <a:custGeom>
              <a:avLst/>
              <a:gdLst/>
              <a:ahLst/>
              <a:cxnLst/>
              <a:rect r="r" b="b" t="t" l="l"/>
              <a:pathLst>
                <a:path h="906970" w="5556210">
                  <a:moveTo>
                    <a:pt x="0" y="0"/>
                  </a:moveTo>
                  <a:lnTo>
                    <a:pt x="5556210" y="0"/>
                  </a:lnTo>
                  <a:lnTo>
                    <a:pt x="5556210" y="906970"/>
                  </a:lnTo>
                  <a:lnTo>
                    <a:pt x="0" y="906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36" r="57507" b="589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556207" cy="91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Cash Basket, Futures, options等等跨商品的避險、投機、套利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3374121" y="4156089"/>
            <a:ext cx="0" cy="933498"/>
          </a:xfrm>
          <a:prstGeom prst="line">
            <a:avLst/>
          </a:prstGeom>
          <a:ln cap="rnd" w="9525">
            <a:solidFill>
              <a:srgbClr val="FFC8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0653562" y="5089586"/>
            <a:ext cx="5441118" cy="1007393"/>
            <a:chOff x="0" y="0"/>
            <a:chExt cx="7254824" cy="13431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54748" cy="1343152"/>
            </a:xfrm>
            <a:custGeom>
              <a:avLst/>
              <a:gdLst/>
              <a:ahLst/>
              <a:cxnLst/>
              <a:rect r="r" b="b" t="t" l="l"/>
              <a:pathLst>
                <a:path h="1343152" w="7254748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7142861" y="0"/>
                  </a:lnTo>
                  <a:cubicBezTo>
                    <a:pt x="7204710" y="0"/>
                    <a:pt x="7254748" y="50165"/>
                    <a:pt x="7254748" y="111887"/>
                  </a:cubicBezTo>
                  <a:lnTo>
                    <a:pt x="7254748" y="1231265"/>
                  </a:lnTo>
                  <a:cubicBezTo>
                    <a:pt x="7254748" y="1293114"/>
                    <a:pt x="7204583" y="1343152"/>
                    <a:pt x="7142861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51401A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967086" y="5268110"/>
            <a:ext cx="4927892" cy="686333"/>
            <a:chOff x="0" y="0"/>
            <a:chExt cx="6570523" cy="9151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70525" cy="915115"/>
            </a:xfrm>
            <a:custGeom>
              <a:avLst/>
              <a:gdLst/>
              <a:ahLst/>
              <a:cxnLst/>
              <a:rect r="r" b="b" t="t" l="l"/>
              <a:pathLst>
                <a:path h="915115" w="6570525">
                  <a:moveTo>
                    <a:pt x="0" y="0"/>
                  </a:moveTo>
                  <a:lnTo>
                    <a:pt x="6570525" y="0"/>
                  </a:lnTo>
                  <a:lnTo>
                    <a:pt x="657052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902" r="0" b="-8990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570523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同一個策略，多商品同步執行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3374121" y="6096950"/>
            <a:ext cx="0" cy="933479"/>
          </a:xfrm>
          <a:prstGeom prst="line">
            <a:avLst/>
          </a:prstGeom>
          <a:ln cap="rnd" w="9525">
            <a:solidFill>
              <a:srgbClr val="FFC8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7" id="27"/>
          <p:cNvGrpSpPr/>
          <p:nvPr/>
        </p:nvGrpSpPr>
        <p:grpSpPr>
          <a:xfrm rot="0">
            <a:off x="9246572" y="7030429"/>
            <a:ext cx="8255098" cy="1007393"/>
            <a:chOff x="0" y="0"/>
            <a:chExt cx="11006798" cy="13431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006709" cy="1343152"/>
            </a:xfrm>
            <a:custGeom>
              <a:avLst/>
              <a:gdLst/>
              <a:ahLst/>
              <a:cxnLst/>
              <a:rect r="r" b="b" t="t" l="l"/>
              <a:pathLst>
                <a:path h="1343152" w="11006709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10894822" y="0"/>
                  </a:lnTo>
                  <a:cubicBezTo>
                    <a:pt x="10956671" y="0"/>
                    <a:pt x="11006709" y="50165"/>
                    <a:pt x="11006709" y="111887"/>
                  </a:cubicBezTo>
                  <a:lnTo>
                    <a:pt x="11006709" y="1231265"/>
                  </a:lnTo>
                  <a:cubicBezTo>
                    <a:pt x="11006709" y="1293114"/>
                    <a:pt x="10956544" y="1343152"/>
                    <a:pt x="10894822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112E42"/>
            </a:solidFill>
            <a:ln w="19065" cap="sq">
              <a:solidFill>
                <a:srgbClr val="69E5A3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503185" y="7232140"/>
            <a:ext cx="7741872" cy="686333"/>
            <a:chOff x="0" y="0"/>
            <a:chExt cx="10322496" cy="9151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322496" cy="915115"/>
            </a:xfrm>
            <a:custGeom>
              <a:avLst/>
              <a:gdLst/>
              <a:ahLst/>
              <a:cxnLst/>
              <a:rect r="r" b="b" t="t" l="l"/>
              <a:pathLst>
                <a:path h="915115" w="10322496">
                  <a:moveTo>
                    <a:pt x="0" y="0"/>
                  </a:moveTo>
                  <a:lnTo>
                    <a:pt x="10322496" y="0"/>
                  </a:lnTo>
                  <a:lnTo>
                    <a:pt x="1032249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791" r="0" b="-16979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10322496" cy="905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Timing／避險誤差／Market Impact／Legging Risk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28138" y="8528506"/>
            <a:ext cx="6657461" cy="480431"/>
            <a:chOff x="0" y="0"/>
            <a:chExt cx="8876614" cy="6405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876615" cy="640580"/>
            </a:xfrm>
            <a:custGeom>
              <a:avLst/>
              <a:gdLst/>
              <a:ahLst/>
              <a:cxnLst/>
              <a:rect r="r" b="b" t="t" l="l"/>
              <a:pathLst>
                <a:path h="640580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007" r="0" b="-22000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8876614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69E5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訂單該如何執行？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3794" y="9896970"/>
            <a:ext cx="16746607" cy="205902"/>
            <a:chOff x="0" y="0"/>
            <a:chExt cx="22328810" cy="2745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328805" cy="274534"/>
            </a:xfrm>
            <a:custGeom>
              <a:avLst/>
              <a:gdLst/>
              <a:ahLst/>
              <a:cxnLst/>
              <a:rect r="r" b="b" t="t" l="l"/>
              <a:pathLst>
                <a:path h="274534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83" r="0" b="-153478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2328810" cy="274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34"/>
                </a:lnSpc>
              </a:pPr>
              <a:r>
                <a:rPr lang="en-US" sz="945">
                  <a:solidFill>
                    <a:srgbClr val="7994AA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Sources: KRX derivatives market history; KRX Program Trading definition.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5400000">
            <a:off x="2042229" y="1712215"/>
            <a:ext cx="4850336" cy="7928434"/>
          </a:xfrm>
          <a:custGeom>
            <a:avLst/>
            <a:gdLst/>
            <a:ahLst/>
            <a:cxnLst/>
            <a:rect r="r" b="b" t="t" l="l"/>
            <a:pathLst>
              <a:path h="7928434" w="4850336">
                <a:moveTo>
                  <a:pt x="0" y="0"/>
                </a:moveTo>
                <a:lnTo>
                  <a:pt x="4850336" y="0"/>
                </a:lnTo>
                <a:lnTo>
                  <a:pt x="4850336" y="7928435"/>
                </a:lnTo>
                <a:lnTo>
                  <a:pt x="0" y="7928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730596" y="2749532"/>
            <a:ext cx="7473601" cy="33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0"/>
              </a:lnSpc>
              <a:spcBef>
                <a:spcPct val="0"/>
              </a:spcBef>
            </a:pPr>
            <a:r>
              <a:rPr lang="en-US" b="true" sz="224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</a:t>
            </a:r>
            <a:r>
              <a:rPr lang="en-US" b="true" sz="2242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lobal Exchange-Based Trading of Equity Derivatives</a:t>
            </a:r>
          </a:p>
        </p:txBody>
      </p:sp>
      <p:sp>
        <p:nvSpPr>
          <p:cNvPr name="AutoShape 40" id="40"/>
          <p:cNvSpPr/>
          <p:nvPr/>
        </p:nvSpPr>
        <p:spPr>
          <a:xfrm>
            <a:off x="4006887" y="6236538"/>
            <a:ext cx="4370353" cy="0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H="true">
            <a:off x="4025937" y="5973493"/>
            <a:ext cx="0" cy="276648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4006887" y="5973493"/>
            <a:ext cx="4505684" cy="0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8431614" y="5973493"/>
            <a:ext cx="0" cy="263045"/>
          </a:xfrm>
          <a:prstGeom prst="line">
            <a:avLst/>
          </a:prstGeom>
          <a:ln cap="flat" w="38100">
            <a:solidFill>
              <a:srgbClr val="FFC8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4" id="44"/>
          <p:cNvSpPr txBox="true"/>
          <p:nvPr/>
        </p:nvSpPr>
        <p:spPr>
          <a:xfrm rot="0">
            <a:off x="1775716" y="8263526"/>
            <a:ext cx="5610394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2"/>
              </a:lnSpc>
              <a:spcBef>
                <a:spcPct val="0"/>
              </a:spcBef>
            </a:pPr>
            <a:r>
              <a:rPr lang="en-US" b="true" sz="3101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從2002年開始到2006</a:t>
            </a:r>
            <a:r>
              <a:rPr lang="en-US" b="true" sz="3101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是全球股權衍生性商品成交量最大的市場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3794" y="466706"/>
            <a:ext cx="5627961" cy="595104"/>
            <a:chOff x="0" y="0"/>
            <a:chExt cx="7503947" cy="793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Algo｜投入訊號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794" y="933421"/>
            <a:ext cx="16609333" cy="713794"/>
            <a:chOff x="0" y="0"/>
            <a:chExt cx="22145777" cy="951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45782" cy="951720"/>
            </a:xfrm>
            <a:custGeom>
              <a:avLst/>
              <a:gdLst/>
              <a:ahLst/>
              <a:cxnLst/>
              <a:rect r="r" b="b" t="t" l="l"/>
              <a:pathLst>
                <a:path h="951720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1" r="0" b="-40340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2145777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法人 Algo 值不值得做，取決於執行問題是否夠大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1245" y="1757020"/>
            <a:ext cx="16472068" cy="576520"/>
            <a:chOff x="0" y="0"/>
            <a:chExt cx="21962758" cy="7686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759" cy="768697"/>
            </a:xfrm>
            <a:custGeom>
              <a:avLst/>
              <a:gdLst/>
              <a:ahLst/>
              <a:cxnLst/>
              <a:rect r="r" b="b" t="t" l="l"/>
              <a:pathLst>
                <a:path h="768697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962758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海外案例提供的是兩種問題形態，不是一條固定發展路徑。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57240" y="2324014"/>
            <a:ext cx="7637393" cy="6289294"/>
            <a:chOff x="0" y="0"/>
            <a:chExt cx="10183190" cy="83857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83241" cy="8385739"/>
            </a:xfrm>
            <a:custGeom>
              <a:avLst/>
              <a:gdLst/>
              <a:ahLst/>
              <a:cxnLst/>
              <a:rect r="r" b="b" t="t" l="l"/>
              <a:pathLst>
                <a:path h="8385739" w="10183241">
                  <a:moveTo>
                    <a:pt x="0" y="132431"/>
                  </a:moveTo>
                  <a:cubicBezTo>
                    <a:pt x="0" y="59350"/>
                    <a:pt x="49403" y="0"/>
                    <a:pt x="110236" y="0"/>
                  </a:cubicBezTo>
                  <a:lnTo>
                    <a:pt x="10073005" y="0"/>
                  </a:lnTo>
                  <a:cubicBezTo>
                    <a:pt x="10133838" y="0"/>
                    <a:pt x="10183241" y="59350"/>
                    <a:pt x="10183241" y="132431"/>
                  </a:cubicBezTo>
                  <a:lnTo>
                    <a:pt x="10183241" y="8253309"/>
                  </a:lnTo>
                  <a:cubicBezTo>
                    <a:pt x="10183241" y="8326391"/>
                    <a:pt x="10133838" y="8385739"/>
                    <a:pt x="10073005" y="8385739"/>
                  </a:cubicBezTo>
                  <a:lnTo>
                    <a:pt x="110236" y="8385739"/>
                  </a:lnTo>
                  <a:cubicBezTo>
                    <a:pt x="49403" y="8385739"/>
                    <a:pt x="0" y="8326391"/>
                    <a:pt x="0" y="8253309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647206" y="2786529"/>
            <a:ext cx="6657461" cy="549069"/>
            <a:chOff x="0" y="0"/>
            <a:chExt cx="8876614" cy="7320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876615" cy="732092"/>
            </a:xfrm>
            <a:custGeom>
              <a:avLst/>
              <a:gdLst/>
              <a:ahLst/>
              <a:cxnLst/>
              <a:rect r="r" b="b" t="t" l="l"/>
              <a:pathLst>
                <a:path h="732092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8876614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3"/>
                </a:lnSpc>
              </a:pPr>
              <a:r>
                <a:rPr lang="en-US" sz="3903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WHERE 型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15843" y="3774853"/>
            <a:ext cx="6451559" cy="1578569"/>
            <a:chOff x="0" y="0"/>
            <a:chExt cx="8602078" cy="21047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02080" cy="2104764"/>
            </a:xfrm>
            <a:custGeom>
              <a:avLst/>
              <a:gdLst/>
              <a:ahLst/>
              <a:cxnLst/>
              <a:rect r="r" b="b" t="t" l="l"/>
              <a:pathLst>
                <a:path h="21047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2104764"/>
                  </a:lnTo>
                  <a:lnTo>
                    <a:pt x="0" y="2104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34" r="0" b="-2963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602078" cy="2104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同一商品 → 多個 Venue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需要自動比較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Price / Liquidity / Cost / Fill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47206" y="6245657"/>
            <a:ext cx="6657461" cy="466706"/>
            <a:chOff x="0" y="0"/>
            <a:chExt cx="8876614" cy="6222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876615" cy="622278"/>
            </a:xfrm>
            <a:custGeom>
              <a:avLst/>
              <a:gdLst/>
              <a:ahLst/>
              <a:cxnLst/>
              <a:rect r="r" b="b" t="t" l="l"/>
              <a:pathLst>
                <a:path h="622278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948" r="0" b="-22794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8876614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訊號：客戶開始需要 SOR / Venue Routing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30544" y="2324014"/>
            <a:ext cx="7637393" cy="6289294"/>
            <a:chOff x="0" y="0"/>
            <a:chExt cx="10183190" cy="838572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83241" cy="8385739"/>
            </a:xfrm>
            <a:custGeom>
              <a:avLst/>
              <a:gdLst/>
              <a:ahLst/>
              <a:cxnLst/>
              <a:rect r="r" b="b" t="t" l="l"/>
              <a:pathLst>
                <a:path h="8385739" w="10183241">
                  <a:moveTo>
                    <a:pt x="0" y="132431"/>
                  </a:moveTo>
                  <a:cubicBezTo>
                    <a:pt x="0" y="59350"/>
                    <a:pt x="49403" y="0"/>
                    <a:pt x="110236" y="0"/>
                  </a:cubicBezTo>
                  <a:lnTo>
                    <a:pt x="10073005" y="0"/>
                  </a:lnTo>
                  <a:cubicBezTo>
                    <a:pt x="10133838" y="0"/>
                    <a:pt x="10183241" y="59350"/>
                    <a:pt x="10183241" y="132431"/>
                  </a:cubicBezTo>
                  <a:lnTo>
                    <a:pt x="10183241" y="8253309"/>
                  </a:lnTo>
                  <a:cubicBezTo>
                    <a:pt x="10183241" y="8326391"/>
                    <a:pt x="10133838" y="8385739"/>
                    <a:pt x="10073005" y="8385739"/>
                  </a:cubicBezTo>
                  <a:lnTo>
                    <a:pt x="110236" y="8385739"/>
                  </a:lnTo>
                  <a:cubicBezTo>
                    <a:pt x="49403" y="8385739"/>
                    <a:pt x="0" y="8326391"/>
                    <a:pt x="0" y="8253309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69E5A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020510" y="2786529"/>
            <a:ext cx="6657461" cy="549069"/>
            <a:chOff x="0" y="0"/>
            <a:chExt cx="8876614" cy="7320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76615" cy="732092"/>
            </a:xfrm>
            <a:custGeom>
              <a:avLst/>
              <a:gdLst/>
              <a:ahLst/>
              <a:cxnLst/>
              <a:rect r="r" b="b" t="t" l="l"/>
              <a:pathLst>
                <a:path h="732092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876614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3"/>
                </a:lnSpc>
              </a:pPr>
              <a:r>
                <a:rPr lang="en-US" sz="3903" b="true">
                  <a:solidFill>
                    <a:srgbClr val="69E5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HOW 型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089147" y="3774853"/>
            <a:ext cx="6451559" cy="1578569"/>
            <a:chOff x="0" y="0"/>
            <a:chExt cx="8602078" cy="21047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602080" cy="2104764"/>
            </a:xfrm>
            <a:custGeom>
              <a:avLst/>
              <a:gdLst/>
              <a:ahLst/>
              <a:cxnLst/>
              <a:rect r="r" b="b" t="t" l="l"/>
              <a:pathLst>
                <a:path h="21047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2104764"/>
                  </a:lnTo>
                  <a:lnTo>
                    <a:pt x="0" y="2104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34" r="0" b="-2963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8602078" cy="2104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同一策略 → 多商品 / 多訂單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需要自動同步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Timing / Basket / Hedge / Impact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20510" y="6245657"/>
            <a:ext cx="6657461" cy="466706"/>
            <a:chOff x="0" y="0"/>
            <a:chExt cx="8876614" cy="6222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876615" cy="622278"/>
            </a:xfrm>
            <a:custGeom>
              <a:avLst/>
              <a:gdLst/>
              <a:ahLst/>
              <a:cxnLst/>
              <a:rect r="r" b="b" t="t" l="l"/>
              <a:pathLst>
                <a:path h="622278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948" r="0" b="-22794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8876614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訊號：客戶開始需要 Basket / Program Algo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97510"/>
            <a:chOff x="0" y="0"/>
            <a:chExt cx="24427878" cy="263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63398"/>
            </a:xfrm>
            <a:custGeom>
              <a:avLst/>
              <a:gdLst/>
              <a:ahLst/>
              <a:cxnLst/>
              <a:rect r="r" b="b" t="t" l="l"/>
              <a:pathLst>
                <a:path h="263398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63398"/>
                  </a:lnTo>
                  <a:lnTo>
                    <a:pt x="0" y="263398"/>
                  </a:lnTo>
                  <a:close/>
                </a:path>
              </a:pathLst>
            </a:custGeom>
            <a:solidFill>
              <a:srgbClr val="20D6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10230602"/>
            <a:ext cx="18320909" cy="73971"/>
            <a:chOff x="0" y="0"/>
            <a:chExt cx="24427878" cy="986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8679"/>
            </a:xfrm>
            <a:custGeom>
              <a:avLst/>
              <a:gdLst/>
              <a:ahLst/>
              <a:cxnLst/>
              <a:rect r="r" b="b" t="t" l="l"/>
              <a:pathLst>
                <a:path h="98679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8679"/>
                  </a:lnTo>
                  <a:lnTo>
                    <a:pt x="0" y="98679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794" y="521618"/>
            <a:ext cx="3431677" cy="696615"/>
            <a:chOff x="0" y="0"/>
            <a:chExt cx="4575569" cy="9288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75" cy="928821"/>
            </a:xfrm>
            <a:custGeom>
              <a:avLst/>
              <a:gdLst/>
              <a:ahLst/>
              <a:cxnLst/>
              <a:rect r="r" b="b" t="t" l="l"/>
              <a:pathLst>
                <a:path h="928821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928821"/>
                  </a:lnTo>
                  <a:lnTo>
                    <a:pt x="0" y="9288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59" r="0" b="-275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575569" cy="928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2"/>
                </a:lnSpc>
              </a:pPr>
              <a:r>
                <a:rPr lang="en-US" sz="3551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案例｜日本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71239" y="1738117"/>
            <a:ext cx="3729000" cy="5783547"/>
            <a:chOff x="0" y="0"/>
            <a:chExt cx="3153946" cy="48916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53925" cy="4891708"/>
            </a:xfrm>
            <a:custGeom>
              <a:avLst/>
              <a:gdLst/>
              <a:ahLst/>
              <a:cxnLst/>
              <a:rect r="r" b="b" t="t" l="l"/>
              <a:pathLst>
                <a:path h="4891708" w="3153925">
                  <a:moveTo>
                    <a:pt x="0" y="125031"/>
                  </a:moveTo>
                  <a:cubicBezTo>
                    <a:pt x="0" y="55984"/>
                    <a:pt x="41341" y="0"/>
                    <a:pt x="92329" y="0"/>
                  </a:cubicBezTo>
                  <a:lnTo>
                    <a:pt x="3061596" y="0"/>
                  </a:lnTo>
                  <a:cubicBezTo>
                    <a:pt x="3112583" y="0"/>
                    <a:pt x="3153925" y="55984"/>
                    <a:pt x="3153925" y="125031"/>
                  </a:cubicBezTo>
                  <a:lnTo>
                    <a:pt x="3153925" y="4766684"/>
                  </a:lnTo>
                  <a:cubicBezTo>
                    <a:pt x="3153925" y="4835731"/>
                    <a:pt x="3112583" y="4891708"/>
                    <a:pt x="3061596" y="4891708"/>
                  </a:cubicBezTo>
                  <a:lnTo>
                    <a:pt x="92329" y="4891708"/>
                  </a:lnTo>
                  <a:cubicBezTo>
                    <a:pt x="41341" y="4891708"/>
                    <a:pt x="0" y="4835731"/>
                    <a:pt x="0" y="4766684"/>
                  </a:cubicBezTo>
                  <a:close/>
                </a:path>
              </a:pathLst>
            </a:custGeom>
            <a:solidFill>
              <a:srgbClr val="0D3656"/>
            </a:solidFill>
            <a:ln w="20018" cap="sq">
              <a:solidFill>
                <a:srgbClr val="20D6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7947" y="2017915"/>
            <a:ext cx="393902" cy="393902"/>
            <a:chOff x="0" y="0"/>
            <a:chExt cx="464680" cy="464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20D6E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38538" y="2067480"/>
            <a:ext cx="139630" cy="155143"/>
            <a:chOff x="0" y="0"/>
            <a:chExt cx="164719" cy="1830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96215" y="1982141"/>
            <a:ext cx="2094466" cy="520765"/>
            <a:chOff x="0" y="0"/>
            <a:chExt cx="2470810" cy="6143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70810" cy="614335"/>
            </a:xfrm>
            <a:custGeom>
              <a:avLst/>
              <a:gdLst/>
              <a:ahLst/>
              <a:cxnLst/>
              <a:rect r="r" b="b" t="t" l="l"/>
              <a:pathLst>
                <a:path h="614335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614335"/>
                  </a:lnTo>
                  <a:lnTo>
                    <a:pt x="0" y="614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79" r="0" b="-230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470810" cy="614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背景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05519" y="1733920"/>
            <a:ext cx="3677315" cy="5783547"/>
            <a:chOff x="0" y="0"/>
            <a:chExt cx="4416729" cy="69464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16699" cy="6946519"/>
            </a:xfrm>
            <a:custGeom>
              <a:avLst/>
              <a:gdLst/>
              <a:ahLst/>
              <a:cxnLst/>
              <a:rect r="r" b="b" t="t" l="l"/>
              <a:pathLst>
                <a:path h="6946519" w="4416699">
                  <a:moveTo>
                    <a:pt x="0" y="177552"/>
                  </a:moveTo>
                  <a:cubicBezTo>
                    <a:pt x="0" y="79501"/>
                    <a:pt x="57894" y="0"/>
                    <a:pt x="129296" y="0"/>
                  </a:cubicBezTo>
                  <a:lnTo>
                    <a:pt x="4287403" y="0"/>
                  </a:lnTo>
                  <a:cubicBezTo>
                    <a:pt x="4358805" y="0"/>
                    <a:pt x="4416699" y="79501"/>
                    <a:pt x="4416699" y="177552"/>
                  </a:cubicBezTo>
                  <a:lnTo>
                    <a:pt x="4416699" y="6768998"/>
                  </a:lnTo>
                  <a:cubicBezTo>
                    <a:pt x="4416699" y="6867050"/>
                    <a:pt x="4358805" y="6946519"/>
                    <a:pt x="4287403" y="6946519"/>
                  </a:cubicBezTo>
                  <a:lnTo>
                    <a:pt x="129296" y="6946519"/>
                  </a:lnTo>
                  <a:cubicBezTo>
                    <a:pt x="57894" y="6946519"/>
                    <a:pt x="0" y="6867050"/>
                    <a:pt x="0" y="6768998"/>
                  </a:cubicBezTo>
                  <a:close/>
                </a:path>
              </a:pathLst>
            </a:custGeom>
            <a:solidFill>
              <a:srgbClr val="0D3851"/>
            </a:solidFill>
            <a:ln w="20018" cap="sq">
              <a:solidFill>
                <a:srgbClr val="66E3B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410097" y="2015611"/>
            <a:ext cx="424945" cy="476536"/>
            <a:chOff x="0" y="0"/>
            <a:chExt cx="283643" cy="318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3656" cy="318093"/>
            </a:xfrm>
            <a:custGeom>
              <a:avLst/>
              <a:gdLst/>
              <a:ahLst/>
              <a:cxnLst/>
              <a:rect r="r" b="b" t="t" l="l"/>
              <a:pathLst>
                <a:path h="318093" w="283656">
                  <a:moveTo>
                    <a:pt x="0" y="39729"/>
                  </a:moveTo>
                  <a:cubicBezTo>
                    <a:pt x="0" y="17821"/>
                    <a:pt x="15892" y="0"/>
                    <a:pt x="35427" y="0"/>
                  </a:cubicBezTo>
                  <a:lnTo>
                    <a:pt x="248224" y="0"/>
                  </a:lnTo>
                  <a:cubicBezTo>
                    <a:pt x="267837" y="0"/>
                    <a:pt x="283656" y="17821"/>
                    <a:pt x="283656" y="39729"/>
                  </a:cubicBezTo>
                  <a:lnTo>
                    <a:pt x="283656" y="278360"/>
                  </a:lnTo>
                  <a:cubicBezTo>
                    <a:pt x="283656" y="300354"/>
                    <a:pt x="267759" y="318093"/>
                    <a:pt x="248224" y="318093"/>
                  </a:cubicBezTo>
                  <a:lnTo>
                    <a:pt x="35427" y="318093"/>
                  </a:lnTo>
                  <a:cubicBezTo>
                    <a:pt x="15892" y="318093"/>
                    <a:pt x="0" y="300268"/>
                    <a:pt x="0" y="278360"/>
                  </a:cubicBezTo>
                  <a:close/>
                </a:path>
              </a:pathLst>
            </a:custGeom>
            <a:solidFill>
              <a:srgbClr val="F6C24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93812" y="2087208"/>
            <a:ext cx="162052" cy="249133"/>
            <a:chOff x="0" y="0"/>
            <a:chExt cx="191170" cy="2938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1172" cy="293902"/>
            </a:xfrm>
            <a:custGeom>
              <a:avLst/>
              <a:gdLst/>
              <a:ahLst/>
              <a:cxnLst/>
              <a:rect r="r" b="b" t="t" l="l"/>
              <a:pathLst>
                <a:path h="293902" w="191172">
                  <a:moveTo>
                    <a:pt x="0" y="0"/>
                  </a:moveTo>
                  <a:lnTo>
                    <a:pt x="191172" y="0"/>
                  </a:lnTo>
                  <a:lnTo>
                    <a:pt x="191172" y="293902"/>
                  </a:lnTo>
                  <a:lnTo>
                    <a:pt x="0" y="2939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751" t="0" r="-65913" b="3772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91170" cy="303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989171" y="1889261"/>
            <a:ext cx="2337429" cy="729237"/>
            <a:chOff x="0" y="0"/>
            <a:chExt cx="2757430" cy="8602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57430" cy="860266"/>
            </a:xfrm>
            <a:custGeom>
              <a:avLst/>
              <a:gdLst/>
              <a:ahLst/>
              <a:cxnLst/>
              <a:rect r="r" b="b" t="t" l="l"/>
              <a:pathLst>
                <a:path h="860266" w="2757430">
                  <a:moveTo>
                    <a:pt x="0" y="0"/>
                  </a:moveTo>
                  <a:lnTo>
                    <a:pt x="2757430" y="0"/>
                  </a:lnTo>
                  <a:lnTo>
                    <a:pt x="2757430" y="860266"/>
                  </a:lnTo>
                  <a:lnTo>
                    <a:pt x="0" y="8602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50" r="10394" b="1212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57430" cy="8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交易所回應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88113" y="1742315"/>
            <a:ext cx="3677315" cy="5779349"/>
            <a:chOff x="0" y="0"/>
            <a:chExt cx="4338073" cy="68178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38044" cy="6817861"/>
            </a:xfrm>
            <a:custGeom>
              <a:avLst/>
              <a:gdLst/>
              <a:ahLst/>
              <a:cxnLst/>
              <a:rect r="r" b="b" t="t" l="l"/>
              <a:pathLst>
                <a:path h="6817861" w="4338044">
                  <a:moveTo>
                    <a:pt x="0" y="174264"/>
                  </a:moveTo>
                  <a:cubicBezTo>
                    <a:pt x="0" y="78029"/>
                    <a:pt x="56863" y="0"/>
                    <a:pt x="126993" y="0"/>
                  </a:cubicBezTo>
                  <a:lnTo>
                    <a:pt x="4211051" y="0"/>
                  </a:lnTo>
                  <a:cubicBezTo>
                    <a:pt x="4281181" y="0"/>
                    <a:pt x="4338044" y="78029"/>
                    <a:pt x="4338044" y="174264"/>
                  </a:cubicBezTo>
                  <a:lnTo>
                    <a:pt x="4338044" y="6643627"/>
                  </a:lnTo>
                  <a:cubicBezTo>
                    <a:pt x="4338044" y="6739862"/>
                    <a:pt x="4281181" y="6817861"/>
                    <a:pt x="4211051" y="6817861"/>
                  </a:cubicBezTo>
                  <a:lnTo>
                    <a:pt x="126993" y="6817861"/>
                  </a:lnTo>
                  <a:cubicBezTo>
                    <a:pt x="56863" y="6817861"/>
                    <a:pt x="0" y="6739862"/>
                    <a:pt x="0" y="6643627"/>
                  </a:cubicBezTo>
                  <a:close/>
                </a:path>
              </a:pathLst>
            </a:custGeom>
            <a:solidFill>
              <a:srgbClr val="5D4311"/>
            </a:solidFill>
            <a:ln w="20018" cap="sq">
              <a:solidFill>
                <a:srgbClr val="F6C24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797234" y="2070726"/>
            <a:ext cx="393902" cy="393902"/>
            <a:chOff x="0" y="0"/>
            <a:chExt cx="464680" cy="464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66E3B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77825" y="2120291"/>
            <a:ext cx="139630" cy="155143"/>
            <a:chOff x="0" y="0"/>
            <a:chExt cx="164719" cy="1830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335502" y="2034952"/>
            <a:ext cx="2094466" cy="465439"/>
            <a:chOff x="0" y="0"/>
            <a:chExt cx="2470810" cy="5490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Flow 被使用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016334" y="1733920"/>
            <a:ext cx="3707074" cy="5779349"/>
            <a:chOff x="0" y="0"/>
            <a:chExt cx="4373179" cy="68178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73150" cy="6817861"/>
            </a:xfrm>
            <a:custGeom>
              <a:avLst/>
              <a:gdLst/>
              <a:ahLst/>
              <a:cxnLst/>
              <a:rect r="r" b="b" t="t" l="l"/>
              <a:pathLst>
                <a:path h="6817861" w="4373150">
                  <a:moveTo>
                    <a:pt x="0" y="174264"/>
                  </a:moveTo>
                  <a:cubicBezTo>
                    <a:pt x="0" y="78029"/>
                    <a:pt x="57323" y="0"/>
                    <a:pt x="128021" y="0"/>
                  </a:cubicBezTo>
                  <a:lnTo>
                    <a:pt x="4245129" y="0"/>
                  </a:lnTo>
                  <a:cubicBezTo>
                    <a:pt x="4315827" y="0"/>
                    <a:pt x="4373150" y="78029"/>
                    <a:pt x="4373150" y="174264"/>
                  </a:cubicBezTo>
                  <a:lnTo>
                    <a:pt x="4373150" y="6643627"/>
                  </a:lnTo>
                  <a:cubicBezTo>
                    <a:pt x="4373150" y="6739862"/>
                    <a:pt x="4315827" y="6817861"/>
                    <a:pt x="4245129" y="6817861"/>
                  </a:cubicBezTo>
                  <a:lnTo>
                    <a:pt x="128021" y="6817861"/>
                  </a:lnTo>
                  <a:cubicBezTo>
                    <a:pt x="57323" y="6817861"/>
                    <a:pt x="0" y="6739862"/>
                    <a:pt x="0" y="6643627"/>
                  </a:cubicBezTo>
                  <a:close/>
                </a:path>
              </a:pathLst>
            </a:custGeom>
            <a:solidFill>
              <a:srgbClr val="0A4338"/>
            </a:solidFill>
            <a:ln w="20018" cap="sq">
              <a:solidFill>
                <a:srgbClr val="66E3B4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227453" y="2103254"/>
            <a:ext cx="393902" cy="393902"/>
            <a:chOff x="0" y="0"/>
            <a:chExt cx="464680" cy="464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308033" y="2152818"/>
            <a:ext cx="139630" cy="155143"/>
            <a:chOff x="0" y="0"/>
            <a:chExt cx="164719" cy="1830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765721" y="2067480"/>
            <a:ext cx="2094466" cy="465439"/>
            <a:chOff x="0" y="0"/>
            <a:chExt cx="2470810" cy="5490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券商商品化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54971" y="9636157"/>
            <a:ext cx="8510568" cy="178451"/>
            <a:chOff x="0" y="0"/>
            <a:chExt cx="11347425" cy="23793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347425" cy="237930"/>
            </a:xfrm>
            <a:custGeom>
              <a:avLst/>
              <a:gdLst/>
              <a:ahLst/>
              <a:cxnLst/>
              <a:rect r="r" b="b" t="t" l="l"/>
              <a:pathLst>
                <a:path h="237930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9285" r="0" b="-87928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134742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"/>
                </a:lnSpc>
              </a:pPr>
              <a:r>
                <a:rPr lang="en-US" sz="840">
                  <a:solidFill>
                    <a:srgbClr val="7891A6"/>
                  </a:solidFill>
                  <a:latin typeface="Noto Sans"/>
                  <a:ea typeface="Noto Sans"/>
                  <a:cs typeface="Noto Sans"/>
                  <a:sym typeface="Noto Sans"/>
                </a:rPr>
                <a:t>註：Co-location 訂單不是 HFT 成交量本身，但可作為高速／自動化 Flow 的使用證據。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54971" y="9855784"/>
            <a:ext cx="10432313" cy="137265"/>
            <a:chOff x="0" y="0"/>
            <a:chExt cx="13909751" cy="1830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909746" cy="183023"/>
            </a:xfrm>
            <a:custGeom>
              <a:avLst/>
              <a:gdLst/>
              <a:ahLst/>
              <a:cxnLst/>
              <a:rect r="r" b="b" t="t" l="l"/>
              <a:pathLst>
                <a:path h="183023" w="13909746">
                  <a:moveTo>
                    <a:pt x="0" y="0"/>
                  </a:moveTo>
                  <a:lnTo>
                    <a:pt x="13909746" y="0"/>
                  </a:lnTo>
                  <a:lnTo>
                    <a:pt x="13909746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864" r="0" b="-143086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3909751" cy="183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"/>
                </a:lnSpc>
              </a:pPr>
              <a:r>
                <a:rPr lang="en-US" sz="750">
                  <a:solidFill>
                    <a:srgbClr val="7891A6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Sources: TSE/JPX Co-location materials 2009; TSE arrowhead 2010; BOJ speech 2010; The TRADE 2010/2011; FSA/Reuters 2016.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822744" y="3303006"/>
            <a:ext cx="3625991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2005/11-2006/1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系統發生嚴重故障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系統速度已經跟不上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海外市場的交易所以及交易者策略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原系統搓合速度約1~2秒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410097" y="3303006"/>
            <a:ext cx="3254091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在2008架設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Co-location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 1月推出</a:t>
            </a: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arrowhead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全新的交易系統使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搓合速度下降至1ms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648638" y="3245210"/>
            <a:ext cx="3468194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2010/11: </a:t>
            </a:r>
            <a:r>
              <a:rPr lang="en-US" b="true" sz="26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20–30%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訂單來自 CoLo 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2012/9: CoLo訂單</a:t>
            </a:r>
            <a:r>
              <a:rPr lang="en-US" b="true" sz="26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超過五成</a:t>
            </a: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2016: 達到了</a:t>
            </a:r>
            <a:r>
              <a:rPr lang="en-US" b="true" sz="26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70％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3970278" y="3245210"/>
            <a:ext cx="3574339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2010/2：Merrill low-latency DMA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2011/2：Nissan 鎖定 HFT</a:t>
            </a:r>
          </a:p>
          <a:p>
            <a:pPr algn="l" marL="567181" indent="-283591" lvl="1">
              <a:lnSpc>
                <a:spcPts val="3152"/>
              </a:lnSpc>
              <a:buFont typeface="Arial"/>
              <a:buChar char="•"/>
            </a:pPr>
            <a:r>
              <a:rPr lang="en-US" b="true" sz="26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提供服務：DMA / CoLo / LL-FIX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606012" y="8359864"/>
            <a:ext cx="1508981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交易所在舊系統速度</a:t>
            </a:r>
            <a:r>
              <a:rPr lang="en-US" b="true" sz="2627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與穩定性不足下先建置 Co-location 與 Arrowhead，低延遲基礎設施到位後，高頻訂單快速成長並進一步帶動券商商品化服務。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97510"/>
            <a:chOff x="0" y="0"/>
            <a:chExt cx="24427878" cy="263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63398"/>
            </a:xfrm>
            <a:custGeom>
              <a:avLst/>
              <a:gdLst/>
              <a:ahLst/>
              <a:cxnLst/>
              <a:rect r="r" b="b" t="t" l="l"/>
              <a:pathLst>
                <a:path h="263398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63398"/>
                  </a:lnTo>
                  <a:lnTo>
                    <a:pt x="0" y="263398"/>
                  </a:lnTo>
                  <a:close/>
                </a:path>
              </a:pathLst>
            </a:custGeom>
            <a:solidFill>
              <a:srgbClr val="20D6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10230602"/>
            <a:ext cx="18320909" cy="73971"/>
            <a:chOff x="0" y="0"/>
            <a:chExt cx="24427878" cy="986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8679"/>
            </a:xfrm>
            <a:custGeom>
              <a:avLst/>
              <a:gdLst/>
              <a:ahLst/>
              <a:cxnLst/>
              <a:rect r="r" b="b" t="t" l="l"/>
              <a:pathLst>
                <a:path h="98679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8679"/>
                  </a:lnTo>
                  <a:lnTo>
                    <a:pt x="0" y="98679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794" y="521618"/>
            <a:ext cx="3431677" cy="696615"/>
            <a:chOff x="0" y="0"/>
            <a:chExt cx="4575569" cy="9288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75" cy="928821"/>
            </a:xfrm>
            <a:custGeom>
              <a:avLst/>
              <a:gdLst/>
              <a:ahLst/>
              <a:cxnLst/>
              <a:rect r="r" b="b" t="t" l="l"/>
              <a:pathLst>
                <a:path h="928821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928821"/>
                  </a:lnTo>
                  <a:lnTo>
                    <a:pt x="0" y="9288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59" r="0" b="-275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575569" cy="928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2"/>
                </a:lnSpc>
              </a:pPr>
              <a:r>
                <a:rPr lang="en-US" sz="3551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案例｜韓國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71239" y="1738117"/>
            <a:ext cx="3729000" cy="5783547"/>
            <a:chOff x="0" y="0"/>
            <a:chExt cx="3153946" cy="48916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53925" cy="4891708"/>
            </a:xfrm>
            <a:custGeom>
              <a:avLst/>
              <a:gdLst/>
              <a:ahLst/>
              <a:cxnLst/>
              <a:rect r="r" b="b" t="t" l="l"/>
              <a:pathLst>
                <a:path h="4891708" w="3153925">
                  <a:moveTo>
                    <a:pt x="0" y="125031"/>
                  </a:moveTo>
                  <a:cubicBezTo>
                    <a:pt x="0" y="55984"/>
                    <a:pt x="41341" y="0"/>
                    <a:pt x="92329" y="0"/>
                  </a:cubicBezTo>
                  <a:lnTo>
                    <a:pt x="3061596" y="0"/>
                  </a:lnTo>
                  <a:cubicBezTo>
                    <a:pt x="3112583" y="0"/>
                    <a:pt x="3153925" y="55984"/>
                    <a:pt x="3153925" y="125031"/>
                  </a:cubicBezTo>
                  <a:lnTo>
                    <a:pt x="3153925" y="4766684"/>
                  </a:lnTo>
                  <a:cubicBezTo>
                    <a:pt x="3153925" y="4835731"/>
                    <a:pt x="3112583" y="4891708"/>
                    <a:pt x="3061596" y="4891708"/>
                  </a:cubicBezTo>
                  <a:lnTo>
                    <a:pt x="92329" y="4891708"/>
                  </a:lnTo>
                  <a:cubicBezTo>
                    <a:pt x="41341" y="4891708"/>
                    <a:pt x="0" y="4835731"/>
                    <a:pt x="0" y="4766684"/>
                  </a:cubicBezTo>
                  <a:close/>
                </a:path>
              </a:pathLst>
            </a:custGeom>
            <a:solidFill>
              <a:srgbClr val="0D3656"/>
            </a:solidFill>
            <a:ln w="20018" cap="sq">
              <a:solidFill>
                <a:srgbClr val="20D6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7947" y="2017915"/>
            <a:ext cx="393902" cy="393902"/>
            <a:chOff x="0" y="0"/>
            <a:chExt cx="464680" cy="464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20D6E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38538" y="2067480"/>
            <a:ext cx="139630" cy="155143"/>
            <a:chOff x="0" y="0"/>
            <a:chExt cx="164719" cy="1830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96215" y="1982141"/>
            <a:ext cx="2094466" cy="520765"/>
            <a:chOff x="0" y="0"/>
            <a:chExt cx="2470810" cy="6143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70810" cy="614335"/>
            </a:xfrm>
            <a:custGeom>
              <a:avLst/>
              <a:gdLst/>
              <a:ahLst/>
              <a:cxnLst/>
              <a:rect r="r" b="b" t="t" l="l"/>
              <a:pathLst>
                <a:path h="614335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614335"/>
                  </a:lnTo>
                  <a:lnTo>
                    <a:pt x="0" y="614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79" r="0" b="-230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470810" cy="614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背景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05519" y="1733920"/>
            <a:ext cx="3677315" cy="5783547"/>
            <a:chOff x="0" y="0"/>
            <a:chExt cx="4416729" cy="69464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16699" cy="6946519"/>
            </a:xfrm>
            <a:custGeom>
              <a:avLst/>
              <a:gdLst/>
              <a:ahLst/>
              <a:cxnLst/>
              <a:rect r="r" b="b" t="t" l="l"/>
              <a:pathLst>
                <a:path h="6946519" w="4416699">
                  <a:moveTo>
                    <a:pt x="0" y="177552"/>
                  </a:moveTo>
                  <a:cubicBezTo>
                    <a:pt x="0" y="79501"/>
                    <a:pt x="57894" y="0"/>
                    <a:pt x="129296" y="0"/>
                  </a:cubicBezTo>
                  <a:lnTo>
                    <a:pt x="4287403" y="0"/>
                  </a:lnTo>
                  <a:cubicBezTo>
                    <a:pt x="4358805" y="0"/>
                    <a:pt x="4416699" y="79501"/>
                    <a:pt x="4416699" y="177552"/>
                  </a:cubicBezTo>
                  <a:lnTo>
                    <a:pt x="4416699" y="6768998"/>
                  </a:lnTo>
                  <a:cubicBezTo>
                    <a:pt x="4416699" y="6867050"/>
                    <a:pt x="4358805" y="6946519"/>
                    <a:pt x="4287403" y="6946519"/>
                  </a:cubicBezTo>
                  <a:lnTo>
                    <a:pt x="129296" y="6946519"/>
                  </a:lnTo>
                  <a:cubicBezTo>
                    <a:pt x="57894" y="6946519"/>
                    <a:pt x="0" y="6867050"/>
                    <a:pt x="0" y="6768998"/>
                  </a:cubicBezTo>
                  <a:close/>
                </a:path>
              </a:pathLst>
            </a:custGeom>
            <a:solidFill>
              <a:srgbClr val="0D3851"/>
            </a:solidFill>
            <a:ln w="20018" cap="sq">
              <a:solidFill>
                <a:srgbClr val="66E3B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410097" y="2015611"/>
            <a:ext cx="424945" cy="476536"/>
            <a:chOff x="0" y="0"/>
            <a:chExt cx="283643" cy="318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3656" cy="318093"/>
            </a:xfrm>
            <a:custGeom>
              <a:avLst/>
              <a:gdLst/>
              <a:ahLst/>
              <a:cxnLst/>
              <a:rect r="r" b="b" t="t" l="l"/>
              <a:pathLst>
                <a:path h="318093" w="283656">
                  <a:moveTo>
                    <a:pt x="0" y="39729"/>
                  </a:moveTo>
                  <a:cubicBezTo>
                    <a:pt x="0" y="17821"/>
                    <a:pt x="15892" y="0"/>
                    <a:pt x="35427" y="0"/>
                  </a:cubicBezTo>
                  <a:lnTo>
                    <a:pt x="248224" y="0"/>
                  </a:lnTo>
                  <a:cubicBezTo>
                    <a:pt x="267837" y="0"/>
                    <a:pt x="283656" y="17821"/>
                    <a:pt x="283656" y="39729"/>
                  </a:cubicBezTo>
                  <a:lnTo>
                    <a:pt x="283656" y="278360"/>
                  </a:lnTo>
                  <a:cubicBezTo>
                    <a:pt x="283656" y="300354"/>
                    <a:pt x="267759" y="318093"/>
                    <a:pt x="248224" y="318093"/>
                  </a:cubicBezTo>
                  <a:lnTo>
                    <a:pt x="35427" y="318093"/>
                  </a:lnTo>
                  <a:cubicBezTo>
                    <a:pt x="15892" y="318093"/>
                    <a:pt x="0" y="300268"/>
                    <a:pt x="0" y="278360"/>
                  </a:cubicBezTo>
                  <a:close/>
                </a:path>
              </a:pathLst>
            </a:custGeom>
            <a:solidFill>
              <a:srgbClr val="F6C24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93812" y="2087208"/>
            <a:ext cx="162052" cy="249133"/>
            <a:chOff x="0" y="0"/>
            <a:chExt cx="191170" cy="2938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1172" cy="293902"/>
            </a:xfrm>
            <a:custGeom>
              <a:avLst/>
              <a:gdLst/>
              <a:ahLst/>
              <a:cxnLst/>
              <a:rect r="r" b="b" t="t" l="l"/>
              <a:pathLst>
                <a:path h="293902" w="191172">
                  <a:moveTo>
                    <a:pt x="0" y="0"/>
                  </a:moveTo>
                  <a:lnTo>
                    <a:pt x="191172" y="0"/>
                  </a:lnTo>
                  <a:lnTo>
                    <a:pt x="191172" y="293902"/>
                  </a:lnTo>
                  <a:lnTo>
                    <a:pt x="0" y="2939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751" t="0" r="-65913" b="3772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91170" cy="303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989171" y="1889261"/>
            <a:ext cx="2337429" cy="729237"/>
            <a:chOff x="0" y="0"/>
            <a:chExt cx="2757430" cy="8602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57430" cy="860266"/>
            </a:xfrm>
            <a:custGeom>
              <a:avLst/>
              <a:gdLst/>
              <a:ahLst/>
              <a:cxnLst/>
              <a:rect r="r" b="b" t="t" l="l"/>
              <a:pathLst>
                <a:path h="860266" w="2757430">
                  <a:moveTo>
                    <a:pt x="0" y="0"/>
                  </a:moveTo>
                  <a:lnTo>
                    <a:pt x="2757430" y="0"/>
                  </a:lnTo>
                  <a:lnTo>
                    <a:pt x="2757430" y="860266"/>
                  </a:lnTo>
                  <a:lnTo>
                    <a:pt x="0" y="8602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50" r="10394" b="1212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57430" cy="8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交易所回應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88113" y="1742315"/>
            <a:ext cx="3677315" cy="5779349"/>
            <a:chOff x="0" y="0"/>
            <a:chExt cx="4338073" cy="68178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38044" cy="6817861"/>
            </a:xfrm>
            <a:custGeom>
              <a:avLst/>
              <a:gdLst/>
              <a:ahLst/>
              <a:cxnLst/>
              <a:rect r="r" b="b" t="t" l="l"/>
              <a:pathLst>
                <a:path h="6817861" w="4338044">
                  <a:moveTo>
                    <a:pt x="0" y="174264"/>
                  </a:moveTo>
                  <a:cubicBezTo>
                    <a:pt x="0" y="78029"/>
                    <a:pt x="56863" y="0"/>
                    <a:pt x="126993" y="0"/>
                  </a:cubicBezTo>
                  <a:lnTo>
                    <a:pt x="4211051" y="0"/>
                  </a:lnTo>
                  <a:cubicBezTo>
                    <a:pt x="4281181" y="0"/>
                    <a:pt x="4338044" y="78029"/>
                    <a:pt x="4338044" y="174264"/>
                  </a:cubicBezTo>
                  <a:lnTo>
                    <a:pt x="4338044" y="6643627"/>
                  </a:lnTo>
                  <a:cubicBezTo>
                    <a:pt x="4338044" y="6739862"/>
                    <a:pt x="4281181" y="6817861"/>
                    <a:pt x="4211051" y="6817861"/>
                  </a:cubicBezTo>
                  <a:lnTo>
                    <a:pt x="126993" y="6817861"/>
                  </a:lnTo>
                  <a:cubicBezTo>
                    <a:pt x="56863" y="6817861"/>
                    <a:pt x="0" y="6739862"/>
                    <a:pt x="0" y="6643627"/>
                  </a:cubicBezTo>
                  <a:close/>
                </a:path>
              </a:pathLst>
            </a:custGeom>
            <a:solidFill>
              <a:srgbClr val="5D4311"/>
            </a:solidFill>
            <a:ln w="20018" cap="sq">
              <a:solidFill>
                <a:srgbClr val="F6C24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797234" y="2070726"/>
            <a:ext cx="393902" cy="393902"/>
            <a:chOff x="0" y="0"/>
            <a:chExt cx="464680" cy="464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66E3B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77825" y="2120291"/>
            <a:ext cx="139630" cy="155143"/>
            <a:chOff x="0" y="0"/>
            <a:chExt cx="164719" cy="1830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335502" y="2034952"/>
            <a:ext cx="2094466" cy="465439"/>
            <a:chOff x="0" y="0"/>
            <a:chExt cx="2470810" cy="5490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Flow 被使用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016334" y="1733920"/>
            <a:ext cx="3707074" cy="5779349"/>
            <a:chOff x="0" y="0"/>
            <a:chExt cx="4373179" cy="68178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73150" cy="6817861"/>
            </a:xfrm>
            <a:custGeom>
              <a:avLst/>
              <a:gdLst/>
              <a:ahLst/>
              <a:cxnLst/>
              <a:rect r="r" b="b" t="t" l="l"/>
              <a:pathLst>
                <a:path h="6817861" w="4373150">
                  <a:moveTo>
                    <a:pt x="0" y="174264"/>
                  </a:moveTo>
                  <a:cubicBezTo>
                    <a:pt x="0" y="78029"/>
                    <a:pt x="57323" y="0"/>
                    <a:pt x="128021" y="0"/>
                  </a:cubicBezTo>
                  <a:lnTo>
                    <a:pt x="4245129" y="0"/>
                  </a:lnTo>
                  <a:cubicBezTo>
                    <a:pt x="4315827" y="0"/>
                    <a:pt x="4373150" y="78029"/>
                    <a:pt x="4373150" y="174264"/>
                  </a:cubicBezTo>
                  <a:lnTo>
                    <a:pt x="4373150" y="6643627"/>
                  </a:lnTo>
                  <a:cubicBezTo>
                    <a:pt x="4373150" y="6739862"/>
                    <a:pt x="4315827" y="6817861"/>
                    <a:pt x="4245129" y="6817861"/>
                  </a:cubicBezTo>
                  <a:lnTo>
                    <a:pt x="128021" y="6817861"/>
                  </a:lnTo>
                  <a:cubicBezTo>
                    <a:pt x="57323" y="6817861"/>
                    <a:pt x="0" y="6739862"/>
                    <a:pt x="0" y="6643627"/>
                  </a:cubicBezTo>
                  <a:close/>
                </a:path>
              </a:pathLst>
            </a:custGeom>
            <a:solidFill>
              <a:srgbClr val="0A4338"/>
            </a:solidFill>
            <a:ln w="20018" cap="sq">
              <a:solidFill>
                <a:srgbClr val="66E3B4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227453" y="2103254"/>
            <a:ext cx="393902" cy="393902"/>
            <a:chOff x="0" y="0"/>
            <a:chExt cx="464680" cy="464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308033" y="2152818"/>
            <a:ext cx="139630" cy="155143"/>
            <a:chOff x="0" y="0"/>
            <a:chExt cx="164719" cy="1830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765721" y="2067480"/>
            <a:ext cx="2094466" cy="465439"/>
            <a:chOff x="0" y="0"/>
            <a:chExt cx="2470810" cy="5490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券商商品化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54971" y="9636157"/>
            <a:ext cx="8510568" cy="178451"/>
            <a:chOff x="0" y="0"/>
            <a:chExt cx="11347425" cy="23793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347425" cy="237930"/>
            </a:xfrm>
            <a:custGeom>
              <a:avLst/>
              <a:gdLst/>
              <a:ahLst/>
              <a:cxnLst/>
              <a:rect r="r" b="b" t="t" l="l"/>
              <a:pathLst>
                <a:path h="237930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9285" r="0" b="-87928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134742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"/>
                </a:lnSpc>
              </a:pPr>
              <a:r>
                <a:rPr lang="en-US" sz="840">
                  <a:solidFill>
                    <a:srgbClr val="7891A6"/>
                  </a:solidFill>
                  <a:latin typeface="Noto Sans"/>
                  <a:ea typeface="Noto Sans"/>
                  <a:cs typeface="Noto Sans"/>
                  <a:sym typeface="Noto Sans"/>
                </a:rPr>
                <a:t>註：Co-location 訂單不是 HFT 成交量本身，但可作為高速／自動化 Flow 的使用證據。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54971" y="9855784"/>
            <a:ext cx="10432313" cy="137265"/>
            <a:chOff x="0" y="0"/>
            <a:chExt cx="13909751" cy="1830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909746" cy="183023"/>
            </a:xfrm>
            <a:custGeom>
              <a:avLst/>
              <a:gdLst/>
              <a:ahLst/>
              <a:cxnLst/>
              <a:rect r="r" b="b" t="t" l="l"/>
              <a:pathLst>
                <a:path h="183023" w="13909746">
                  <a:moveTo>
                    <a:pt x="0" y="0"/>
                  </a:moveTo>
                  <a:lnTo>
                    <a:pt x="13909746" y="0"/>
                  </a:lnTo>
                  <a:lnTo>
                    <a:pt x="13909746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864" r="0" b="-143086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3909751" cy="183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"/>
                </a:lnSpc>
              </a:pPr>
              <a:r>
                <a:rPr lang="en-US" sz="750">
                  <a:solidFill>
                    <a:srgbClr val="7891A6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Sources: TSE/JPX Co-location materials 2009; TSE arrowhead 2010; BOJ speech 2010; The TRADE 2010/2011; FSA/Reuters 2016.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789451" y="2618498"/>
            <a:ext cx="3558818" cy="466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衍生品市場先形成龐大的短線交易 Flow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2006 年，KOSPI 200 Options 全年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成交約 24.1 億口</a:t>
            </a: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，全世界第一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早期市場又高度散戶化， 2002 年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個人投資人占 Options 成交量約 66%。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韓國衍生品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沒有股票交易稅</a:t>
            </a: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、交易成本低、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槓桿高且容易做空</a:t>
            </a: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，對短線、套利及 HFT 特別有吸引力。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692459" y="2745129"/>
            <a:ext cx="3468194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2"/>
              </a:lnSpc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2010/12 KOSPI 200 衍生品</a:t>
            </a: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高頻交易帳戶產生的 Orders 占比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Options 約 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55–90%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Futures 約 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60–64%</a:t>
            </a:r>
          </a:p>
          <a:p>
            <a:pPr algn="l">
              <a:lnSpc>
                <a:spcPts val="2672"/>
              </a:lnSpc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而在每天超過 2 萬筆訂單的高頻帳戶中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外資</a:t>
            </a: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占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Options 約 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75.6%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Futures 更達 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98%</a:t>
            </a:r>
          </a:p>
          <a:p>
            <a:pPr algn="l">
              <a:lnSpc>
                <a:spcPts val="2672"/>
              </a:lnSpc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2010-2014：HFT總市場參與占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49.4%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472123" y="8350339"/>
            <a:ext cx="11343754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高頻 Flow 已經出現後，券商</a:t>
            </a:r>
            <a:r>
              <a:rPr lang="en-US" b="true" sz="2627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開始競爭「誰能把海外 HFT 更快地接進 KRX」。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205519" y="2745129"/>
            <a:ext cx="3487244" cy="433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2009/3/23 推出新一代交易系統 EXTURE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整合原先三個市場的交易、結算與行情系統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每日報價處理能力提升到 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4,000 萬筆，約為舊系統兩倍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order execution 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latency 降到 0.08 秒以下。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同年 KOSPI 200 Futures 進入 CME Globex 夜盤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016334" y="2656598"/>
            <a:ext cx="3619488" cy="462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9234" indent="-229617" lvl="1">
              <a:lnSpc>
                <a:spcPts val="2552"/>
              </a:lnSpc>
              <a:buFont typeface="Arial"/>
              <a:buChar char="•"/>
            </a:pPr>
            <a:r>
              <a:rPr lang="en-US" b="true" sz="2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2006/8 Goodmorning Shinhan: Fidessa Low-Latency Network＋DMA,鎖定</a:t>
            </a:r>
            <a:r>
              <a:rPr lang="en-US" b="true" sz="21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海外 Buy-side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2011/8 Samsung Securities: Orc ExNet, 鎖定 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US / European HFT</a:t>
            </a: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，提供 KOSPI200 Futures / Options 高速接入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2012/4 Korea Investment Securities: Orc 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Low-Latency Connectivity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97510"/>
            <a:chOff x="0" y="0"/>
            <a:chExt cx="24427878" cy="263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63398"/>
            </a:xfrm>
            <a:custGeom>
              <a:avLst/>
              <a:gdLst/>
              <a:ahLst/>
              <a:cxnLst/>
              <a:rect r="r" b="b" t="t" l="l"/>
              <a:pathLst>
                <a:path h="263398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63398"/>
                  </a:lnTo>
                  <a:lnTo>
                    <a:pt x="0" y="263398"/>
                  </a:lnTo>
                  <a:close/>
                </a:path>
              </a:pathLst>
            </a:custGeom>
            <a:solidFill>
              <a:srgbClr val="20D6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10230602"/>
            <a:ext cx="18320909" cy="73971"/>
            <a:chOff x="0" y="0"/>
            <a:chExt cx="24427878" cy="986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8679"/>
            </a:xfrm>
            <a:custGeom>
              <a:avLst/>
              <a:gdLst/>
              <a:ahLst/>
              <a:cxnLst/>
              <a:rect r="r" b="b" t="t" l="l"/>
              <a:pathLst>
                <a:path h="98679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8679"/>
                  </a:lnTo>
                  <a:lnTo>
                    <a:pt x="0" y="98679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794" y="521618"/>
            <a:ext cx="3431677" cy="696615"/>
            <a:chOff x="0" y="0"/>
            <a:chExt cx="4575569" cy="9288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75" cy="928821"/>
            </a:xfrm>
            <a:custGeom>
              <a:avLst/>
              <a:gdLst/>
              <a:ahLst/>
              <a:cxnLst/>
              <a:rect r="r" b="b" t="t" l="l"/>
              <a:pathLst>
                <a:path h="928821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928821"/>
                  </a:lnTo>
                  <a:lnTo>
                    <a:pt x="0" y="9288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59" r="0" b="-275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575569" cy="9288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2"/>
                </a:lnSpc>
              </a:pPr>
              <a:r>
                <a:rPr lang="en-US" sz="3551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案例｜美國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71239" y="1738117"/>
            <a:ext cx="3729000" cy="5783547"/>
            <a:chOff x="0" y="0"/>
            <a:chExt cx="3153946" cy="48916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53925" cy="4891708"/>
            </a:xfrm>
            <a:custGeom>
              <a:avLst/>
              <a:gdLst/>
              <a:ahLst/>
              <a:cxnLst/>
              <a:rect r="r" b="b" t="t" l="l"/>
              <a:pathLst>
                <a:path h="4891708" w="3153925">
                  <a:moveTo>
                    <a:pt x="0" y="125031"/>
                  </a:moveTo>
                  <a:cubicBezTo>
                    <a:pt x="0" y="55984"/>
                    <a:pt x="41341" y="0"/>
                    <a:pt x="92329" y="0"/>
                  </a:cubicBezTo>
                  <a:lnTo>
                    <a:pt x="3061596" y="0"/>
                  </a:lnTo>
                  <a:cubicBezTo>
                    <a:pt x="3112583" y="0"/>
                    <a:pt x="3153925" y="55984"/>
                    <a:pt x="3153925" y="125031"/>
                  </a:cubicBezTo>
                  <a:lnTo>
                    <a:pt x="3153925" y="4766684"/>
                  </a:lnTo>
                  <a:cubicBezTo>
                    <a:pt x="3153925" y="4835731"/>
                    <a:pt x="3112583" y="4891708"/>
                    <a:pt x="3061596" y="4891708"/>
                  </a:cubicBezTo>
                  <a:lnTo>
                    <a:pt x="92329" y="4891708"/>
                  </a:lnTo>
                  <a:cubicBezTo>
                    <a:pt x="41341" y="4891708"/>
                    <a:pt x="0" y="4835731"/>
                    <a:pt x="0" y="4766684"/>
                  </a:cubicBezTo>
                  <a:close/>
                </a:path>
              </a:pathLst>
            </a:custGeom>
            <a:solidFill>
              <a:srgbClr val="0D3656"/>
            </a:solidFill>
            <a:ln w="20018" cap="sq">
              <a:solidFill>
                <a:srgbClr val="20D6E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7947" y="2017915"/>
            <a:ext cx="393902" cy="393902"/>
            <a:chOff x="0" y="0"/>
            <a:chExt cx="464680" cy="464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20D6E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38538" y="2067480"/>
            <a:ext cx="139630" cy="155143"/>
            <a:chOff x="0" y="0"/>
            <a:chExt cx="164719" cy="1830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96215" y="1982141"/>
            <a:ext cx="2094466" cy="520765"/>
            <a:chOff x="0" y="0"/>
            <a:chExt cx="2470810" cy="6143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70810" cy="614335"/>
            </a:xfrm>
            <a:custGeom>
              <a:avLst/>
              <a:gdLst/>
              <a:ahLst/>
              <a:cxnLst/>
              <a:rect r="r" b="b" t="t" l="l"/>
              <a:pathLst>
                <a:path h="614335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614335"/>
                  </a:lnTo>
                  <a:lnTo>
                    <a:pt x="0" y="6143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79" r="0" b="-2305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470810" cy="6143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背景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205519" y="1733920"/>
            <a:ext cx="3677315" cy="5783547"/>
            <a:chOff x="0" y="0"/>
            <a:chExt cx="4416729" cy="69464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16699" cy="6946519"/>
            </a:xfrm>
            <a:custGeom>
              <a:avLst/>
              <a:gdLst/>
              <a:ahLst/>
              <a:cxnLst/>
              <a:rect r="r" b="b" t="t" l="l"/>
              <a:pathLst>
                <a:path h="6946519" w="4416699">
                  <a:moveTo>
                    <a:pt x="0" y="177552"/>
                  </a:moveTo>
                  <a:cubicBezTo>
                    <a:pt x="0" y="79501"/>
                    <a:pt x="57894" y="0"/>
                    <a:pt x="129296" y="0"/>
                  </a:cubicBezTo>
                  <a:lnTo>
                    <a:pt x="4287403" y="0"/>
                  </a:lnTo>
                  <a:cubicBezTo>
                    <a:pt x="4358805" y="0"/>
                    <a:pt x="4416699" y="79501"/>
                    <a:pt x="4416699" y="177552"/>
                  </a:cubicBezTo>
                  <a:lnTo>
                    <a:pt x="4416699" y="6768998"/>
                  </a:lnTo>
                  <a:cubicBezTo>
                    <a:pt x="4416699" y="6867050"/>
                    <a:pt x="4358805" y="6946519"/>
                    <a:pt x="4287403" y="6946519"/>
                  </a:cubicBezTo>
                  <a:lnTo>
                    <a:pt x="129296" y="6946519"/>
                  </a:lnTo>
                  <a:cubicBezTo>
                    <a:pt x="57894" y="6946519"/>
                    <a:pt x="0" y="6867050"/>
                    <a:pt x="0" y="6768998"/>
                  </a:cubicBezTo>
                  <a:close/>
                </a:path>
              </a:pathLst>
            </a:custGeom>
            <a:solidFill>
              <a:srgbClr val="0D3851"/>
            </a:solidFill>
            <a:ln w="20018" cap="sq">
              <a:solidFill>
                <a:srgbClr val="66E3B4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5410097" y="2015611"/>
            <a:ext cx="424945" cy="476536"/>
            <a:chOff x="0" y="0"/>
            <a:chExt cx="283643" cy="318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3656" cy="318093"/>
            </a:xfrm>
            <a:custGeom>
              <a:avLst/>
              <a:gdLst/>
              <a:ahLst/>
              <a:cxnLst/>
              <a:rect r="r" b="b" t="t" l="l"/>
              <a:pathLst>
                <a:path h="318093" w="283656">
                  <a:moveTo>
                    <a:pt x="0" y="39729"/>
                  </a:moveTo>
                  <a:cubicBezTo>
                    <a:pt x="0" y="17821"/>
                    <a:pt x="15892" y="0"/>
                    <a:pt x="35427" y="0"/>
                  </a:cubicBezTo>
                  <a:lnTo>
                    <a:pt x="248224" y="0"/>
                  </a:lnTo>
                  <a:cubicBezTo>
                    <a:pt x="267837" y="0"/>
                    <a:pt x="283656" y="17821"/>
                    <a:pt x="283656" y="39729"/>
                  </a:cubicBezTo>
                  <a:lnTo>
                    <a:pt x="283656" y="278360"/>
                  </a:lnTo>
                  <a:cubicBezTo>
                    <a:pt x="283656" y="300354"/>
                    <a:pt x="267759" y="318093"/>
                    <a:pt x="248224" y="318093"/>
                  </a:cubicBezTo>
                  <a:lnTo>
                    <a:pt x="35427" y="318093"/>
                  </a:lnTo>
                  <a:cubicBezTo>
                    <a:pt x="15892" y="318093"/>
                    <a:pt x="0" y="300268"/>
                    <a:pt x="0" y="278360"/>
                  </a:cubicBezTo>
                  <a:close/>
                </a:path>
              </a:pathLst>
            </a:custGeom>
            <a:solidFill>
              <a:srgbClr val="F6C24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93812" y="2087208"/>
            <a:ext cx="162052" cy="249133"/>
            <a:chOff x="0" y="0"/>
            <a:chExt cx="191170" cy="2938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1172" cy="293902"/>
            </a:xfrm>
            <a:custGeom>
              <a:avLst/>
              <a:gdLst/>
              <a:ahLst/>
              <a:cxnLst/>
              <a:rect r="r" b="b" t="t" l="l"/>
              <a:pathLst>
                <a:path h="293902" w="191172">
                  <a:moveTo>
                    <a:pt x="0" y="0"/>
                  </a:moveTo>
                  <a:lnTo>
                    <a:pt x="191172" y="0"/>
                  </a:lnTo>
                  <a:lnTo>
                    <a:pt x="191172" y="293902"/>
                  </a:lnTo>
                  <a:lnTo>
                    <a:pt x="0" y="2939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9751" t="0" r="-65913" b="3772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91170" cy="3034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989171" y="1889261"/>
            <a:ext cx="2337429" cy="729237"/>
            <a:chOff x="0" y="0"/>
            <a:chExt cx="2757430" cy="8602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57430" cy="860266"/>
            </a:xfrm>
            <a:custGeom>
              <a:avLst/>
              <a:gdLst/>
              <a:ahLst/>
              <a:cxnLst/>
              <a:rect r="r" b="b" t="t" l="l"/>
              <a:pathLst>
                <a:path h="860266" w="2757430">
                  <a:moveTo>
                    <a:pt x="0" y="0"/>
                  </a:moveTo>
                  <a:lnTo>
                    <a:pt x="2757430" y="0"/>
                  </a:lnTo>
                  <a:lnTo>
                    <a:pt x="2757430" y="860266"/>
                  </a:lnTo>
                  <a:lnTo>
                    <a:pt x="0" y="8602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50" r="10394" b="1212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757430" cy="860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交易所回應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88113" y="1742315"/>
            <a:ext cx="3677315" cy="5779349"/>
            <a:chOff x="0" y="0"/>
            <a:chExt cx="4338073" cy="68178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38044" cy="6817861"/>
            </a:xfrm>
            <a:custGeom>
              <a:avLst/>
              <a:gdLst/>
              <a:ahLst/>
              <a:cxnLst/>
              <a:rect r="r" b="b" t="t" l="l"/>
              <a:pathLst>
                <a:path h="6817861" w="4338044">
                  <a:moveTo>
                    <a:pt x="0" y="174264"/>
                  </a:moveTo>
                  <a:cubicBezTo>
                    <a:pt x="0" y="78029"/>
                    <a:pt x="56863" y="0"/>
                    <a:pt x="126993" y="0"/>
                  </a:cubicBezTo>
                  <a:lnTo>
                    <a:pt x="4211051" y="0"/>
                  </a:lnTo>
                  <a:cubicBezTo>
                    <a:pt x="4281181" y="0"/>
                    <a:pt x="4338044" y="78029"/>
                    <a:pt x="4338044" y="174264"/>
                  </a:cubicBezTo>
                  <a:lnTo>
                    <a:pt x="4338044" y="6643627"/>
                  </a:lnTo>
                  <a:cubicBezTo>
                    <a:pt x="4338044" y="6739862"/>
                    <a:pt x="4281181" y="6817861"/>
                    <a:pt x="4211051" y="6817861"/>
                  </a:cubicBezTo>
                  <a:lnTo>
                    <a:pt x="126993" y="6817861"/>
                  </a:lnTo>
                  <a:cubicBezTo>
                    <a:pt x="56863" y="6817861"/>
                    <a:pt x="0" y="6739862"/>
                    <a:pt x="0" y="6643627"/>
                  </a:cubicBezTo>
                  <a:close/>
                </a:path>
              </a:pathLst>
            </a:custGeom>
            <a:solidFill>
              <a:srgbClr val="5D4311"/>
            </a:solidFill>
            <a:ln w="20018" cap="sq">
              <a:solidFill>
                <a:srgbClr val="F6C247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797234" y="2070726"/>
            <a:ext cx="393902" cy="393902"/>
            <a:chOff x="0" y="0"/>
            <a:chExt cx="464680" cy="464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66E3B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77825" y="2120291"/>
            <a:ext cx="139630" cy="155143"/>
            <a:chOff x="0" y="0"/>
            <a:chExt cx="164719" cy="1830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335502" y="2034952"/>
            <a:ext cx="2094466" cy="465439"/>
            <a:chOff x="0" y="0"/>
            <a:chExt cx="2470810" cy="5490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Flow 被使用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016334" y="1733920"/>
            <a:ext cx="3707074" cy="5779349"/>
            <a:chOff x="0" y="0"/>
            <a:chExt cx="4373179" cy="681781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73150" cy="6817861"/>
            </a:xfrm>
            <a:custGeom>
              <a:avLst/>
              <a:gdLst/>
              <a:ahLst/>
              <a:cxnLst/>
              <a:rect r="r" b="b" t="t" l="l"/>
              <a:pathLst>
                <a:path h="6817861" w="4373150">
                  <a:moveTo>
                    <a:pt x="0" y="174264"/>
                  </a:moveTo>
                  <a:cubicBezTo>
                    <a:pt x="0" y="78029"/>
                    <a:pt x="57323" y="0"/>
                    <a:pt x="128021" y="0"/>
                  </a:cubicBezTo>
                  <a:lnTo>
                    <a:pt x="4245129" y="0"/>
                  </a:lnTo>
                  <a:cubicBezTo>
                    <a:pt x="4315827" y="0"/>
                    <a:pt x="4373150" y="78029"/>
                    <a:pt x="4373150" y="174264"/>
                  </a:cubicBezTo>
                  <a:lnTo>
                    <a:pt x="4373150" y="6643627"/>
                  </a:lnTo>
                  <a:cubicBezTo>
                    <a:pt x="4373150" y="6739862"/>
                    <a:pt x="4315827" y="6817861"/>
                    <a:pt x="4245129" y="6817861"/>
                  </a:cubicBezTo>
                  <a:lnTo>
                    <a:pt x="128021" y="6817861"/>
                  </a:lnTo>
                  <a:cubicBezTo>
                    <a:pt x="57323" y="6817861"/>
                    <a:pt x="0" y="6739862"/>
                    <a:pt x="0" y="6643627"/>
                  </a:cubicBezTo>
                  <a:close/>
                </a:path>
              </a:pathLst>
            </a:custGeom>
            <a:solidFill>
              <a:srgbClr val="0A4338"/>
            </a:solidFill>
            <a:ln w="20018" cap="sq">
              <a:solidFill>
                <a:srgbClr val="66E3B4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227453" y="2103254"/>
            <a:ext cx="393902" cy="393902"/>
            <a:chOff x="0" y="0"/>
            <a:chExt cx="464680" cy="4646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4308033" y="2152818"/>
            <a:ext cx="139630" cy="155143"/>
            <a:chOff x="0" y="0"/>
            <a:chExt cx="164719" cy="1830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765721" y="2067480"/>
            <a:ext cx="2094466" cy="465439"/>
            <a:chOff x="0" y="0"/>
            <a:chExt cx="2470810" cy="54907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券商商品化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754971" y="9636157"/>
            <a:ext cx="8510568" cy="178451"/>
            <a:chOff x="0" y="0"/>
            <a:chExt cx="11347425" cy="23793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347425" cy="237930"/>
            </a:xfrm>
            <a:custGeom>
              <a:avLst/>
              <a:gdLst/>
              <a:ahLst/>
              <a:cxnLst/>
              <a:rect r="r" b="b" t="t" l="l"/>
              <a:pathLst>
                <a:path h="237930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9285" r="0" b="-87928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134742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"/>
                </a:lnSpc>
              </a:pPr>
              <a:r>
                <a:rPr lang="en-US" sz="840">
                  <a:solidFill>
                    <a:srgbClr val="7891A6"/>
                  </a:solidFill>
                  <a:latin typeface="Noto Sans"/>
                  <a:ea typeface="Noto Sans"/>
                  <a:cs typeface="Noto Sans"/>
                  <a:sym typeface="Noto Sans"/>
                </a:rPr>
                <a:t>註：Co-location 訂單不是 HFT 成交量本身，但可作為高速／自動化 Flow 的使用證據。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54971" y="9855784"/>
            <a:ext cx="10432313" cy="137265"/>
            <a:chOff x="0" y="0"/>
            <a:chExt cx="13909751" cy="1830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909746" cy="183023"/>
            </a:xfrm>
            <a:custGeom>
              <a:avLst/>
              <a:gdLst/>
              <a:ahLst/>
              <a:cxnLst/>
              <a:rect r="r" b="b" t="t" l="l"/>
              <a:pathLst>
                <a:path h="183023" w="13909746">
                  <a:moveTo>
                    <a:pt x="0" y="0"/>
                  </a:moveTo>
                  <a:lnTo>
                    <a:pt x="13909746" y="0"/>
                  </a:lnTo>
                  <a:lnTo>
                    <a:pt x="13909746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864" r="0" b="-143086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3909751" cy="183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"/>
                </a:lnSpc>
              </a:pPr>
              <a:r>
                <a:rPr lang="en-US" sz="750">
                  <a:solidFill>
                    <a:srgbClr val="7891A6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Sources: TSE/JPX Co-location materials 2009; TSE arrowhead 2010; BOJ speech 2010; The TRADE 2010/2011; FSA/Reuters 2016.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57947" y="2594758"/>
            <a:ext cx="3399847" cy="442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b="true" sz="198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2001 Decimalization  SEC要求把股票與選擇權報價從</a:t>
            </a:r>
            <a:r>
              <a:rPr lang="en-US" b="true" sz="198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分數制改成十進位，tick size最小1 cent</a:t>
            </a:r>
            <a:r>
              <a:rPr lang="en-US" b="true" sz="198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導致2001-2004</a:t>
            </a:r>
          </a:p>
          <a:p>
            <a:pPr algn="l" marL="428434" indent="-214217" lvl="1">
              <a:lnSpc>
                <a:spcPts val="2381"/>
              </a:lnSpc>
              <a:buFont typeface="Arial"/>
              <a:buChar char="•"/>
            </a:pPr>
            <a:r>
              <a:rPr lang="en-US" b="true" sz="198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spread 大幅壓縮：Nasdaq quoted spread下降了</a:t>
            </a:r>
            <a:r>
              <a:rPr lang="en-US" b="true" sz="198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50%</a:t>
            </a:r>
          </a:p>
          <a:p>
            <a:pPr algn="l" marL="428434" indent="-214217" lvl="1">
              <a:lnSpc>
                <a:spcPts val="2381"/>
              </a:lnSpc>
              <a:buFont typeface="Arial"/>
              <a:buChar char="•"/>
            </a:pPr>
            <a:r>
              <a:rPr lang="en-US" b="true" sz="198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Nasdaq做事商利潤從</a:t>
            </a:r>
            <a:r>
              <a:rPr lang="en-US" b="true" sz="198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9B下降至2.5B</a:t>
            </a:r>
            <a:r>
              <a:rPr lang="en-US" b="true" sz="198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，做市商數量從</a:t>
            </a:r>
            <a:r>
              <a:rPr lang="en-US" b="true" sz="198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接近 500 家下降至約 260 家</a:t>
            </a:r>
          </a:p>
          <a:p>
            <a:pPr algn="l">
              <a:lnSpc>
                <a:spcPts val="2381"/>
              </a:lnSpc>
            </a:pPr>
            <a:r>
              <a:rPr lang="en-US" b="true" sz="1984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spread變薄使得原本傳統人工做市傳統的商業模式不再適用，需要</a:t>
            </a:r>
            <a:r>
              <a:rPr lang="en-US" b="true" sz="1984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搶的更快以及更大量的下單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243619" y="2768970"/>
            <a:ext cx="3487244" cy="300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2006 年: 提供 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Co-location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 年:美國部分交易所平均 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response time 已經低於 1ms</a:t>
            </a: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，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許多交易所同時提供 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Co-location 與 direct proprietary data feeds。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016334" y="2656598"/>
            <a:ext cx="3619488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9234" indent="-229617" lvl="1">
              <a:lnSpc>
                <a:spcPts val="2552"/>
              </a:lnSpc>
              <a:buFont typeface="Arial"/>
              <a:buChar char="•"/>
            </a:pPr>
            <a:r>
              <a:rPr lang="en-US" b="true" sz="2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2008 Morgan Stanley: Speedwa(</a:t>
            </a:r>
            <a:r>
              <a:rPr lang="en-US" b="true" sz="21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Co-location DMA + Pre-trade Risk Check, 風控latency約為2us</a:t>
            </a:r>
            <a:r>
              <a:rPr lang="en-US" b="true" sz="2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)</a:t>
            </a:r>
          </a:p>
          <a:p>
            <a:pPr algn="l" marL="459234" indent="-229617" lvl="1">
              <a:lnSpc>
                <a:spcPts val="2552"/>
              </a:lnSpc>
              <a:buFont typeface="Arial"/>
              <a:buChar char="•"/>
            </a:pPr>
            <a:r>
              <a:rPr lang="en-US" b="true" sz="21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2009 Wedbush：</a:t>
            </a:r>
            <a:r>
              <a:rPr lang="en-US" b="true" sz="21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Sponsored Access 客戶於 Nasdaq 約 695M shares/day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 LimeInside：</a:t>
            </a:r>
            <a:r>
              <a:rPr lang="en-US" b="true" sz="2227">
                <a:solidFill>
                  <a:srgbClr val="FFC85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CoLo + Sponsored Access + C++ API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734537" y="2699607"/>
            <a:ext cx="3430094" cy="400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2"/>
              </a:lnSpc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NYSE-listed stocks從2005到2009：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平均執行速度： 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10.1 秒 → 0.7 秒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每日交易筆數：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2.9M → 22.1M，+662%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平均每筆交易：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724 股 → 268 股</a:t>
            </a:r>
          </a:p>
          <a:p>
            <a:pPr algn="l">
              <a:lnSpc>
                <a:spcPts val="2672"/>
              </a:lnSpc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2010年, SEC數據表示：</a:t>
            </a:r>
          </a:p>
          <a:p>
            <a:pPr algn="l" marL="480823" indent="-240412" lvl="1">
              <a:lnSpc>
                <a:spcPts val="2672"/>
              </a:lnSpc>
              <a:buFont typeface="Arial"/>
              <a:buChar char="•"/>
            </a:pPr>
            <a:r>
              <a:rPr lang="en-US" b="true" sz="2227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HFT 已占美股 </a:t>
            </a:r>
            <a:r>
              <a:rPr lang="en-US" b="true" sz="2227">
                <a:solidFill>
                  <a:srgbClr val="F6C247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&gt;50% 成交量</a:t>
            </a:r>
          </a:p>
          <a:p>
            <a:pPr algn="l">
              <a:lnSpc>
                <a:spcPts val="2672"/>
              </a:lnSpc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1606012" y="8359864"/>
            <a:ext cx="15089816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  <a:spcBef>
                <a:spcPct val="0"/>
              </a:spcBef>
            </a:pPr>
            <a:r>
              <a:rPr lang="en-US" b="true" sz="2627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美國 HFT </a:t>
            </a:r>
            <a:r>
              <a:rPr lang="en-US" b="true" sz="2627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的發展，是</a:t>
            </a:r>
            <a:r>
              <a:rPr lang="en-US" b="true" sz="2627">
                <a:solidFill>
                  <a:srgbClr val="FF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市場電子化與碎片化加上 Decimalization 壓縮價差，使「速度、規模與低成本」開始具備直接經濟價值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DAHSIRxGof4</dc:identifier>
  <dcterms:modified xsi:type="dcterms:W3CDTF">2011-08-01T06:04:30Z</dcterms:modified>
  <cp:revision>1</cp:revision>
  <dc:title>Blue Black Tech Programmer Presentation</dc:title>
</cp:coreProperties>
</file>