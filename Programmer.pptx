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HK Modular" charset="1" panose="00000800000000000000"/>
      <p:regular r:id="rId22"/>
    </p:embeddedFont>
    <p:embeddedFont>
      <p:font typeface="Tomorrow Bold" charset="1" panose="00000000000000000000"/>
      <p:regular r:id="rId23"/>
    </p:embeddedFont>
    <p:embeddedFont>
      <p:font typeface="Tomorrow" charset="1" panose="00000000000000000000"/>
      <p:regular r:id="rId24"/>
    </p:embeddedFont>
    <p:embeddedFont>
      <p:font typeface="Arimo" charset="1" panose="020B0604020202020204"/>
      <p:regular r:id="rId25"/>
    </p:embeddedFont>
    <p:embeddedFont>
      <p:font typeface="Arimo Bold" charset="1" panose="020B0704020202020204"/>
      <p:regular r:id="rId29"/>
    </p:embeddedFont>
    <p:embeddedFont>
      <p:font typeface="Aptos" charset="1" panose="020B0004020202020204"/>
      <p:regular r:id="rId30"/>
    </p:embeddedFont>
    <p:embeddedFont>
      <p:font typeface="Aptos Bold" charset="1" panose="020B0004020202020204"/>
      <p:regular r:id="rId31"/>
    </p:embeddedFont>
    <p:embeddedFont>
      <p:font typeface="Noto Sans Bold" charset="1" panose="020B0802040504020204"/>
      <p:regular r:id="rId33"/>
    </p:embeddedFont>
    <p:embeddedFont>
      <p:font typeface="Noto Sans" charset="1" panose="020B0502040504020204"/>
      <p:regular r:id="rId34"/>
    </p:embeddedFont>
    <p:embeddedFont>
      <p:font typeface="ほのかアンティーク丸" charset="1" panose="020006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Masters/notesMaster1.xml" Type="http://schemas.openxmlformats.org/officeDocument/2006/relationships/notesMaster"/><Relationship Id="rId27" Target="theme/theme2.xml" Type="http://schemas.openxmlformats.org/officeDocument/2006/relationships/theme"/><Relationship Id="rId28" Target="notesSlides/notesSlide1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Slides/notesSlide2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3.xml" Type="http://schemas.openxmlformats.org/officeDocument/2006/relationships/notesSlide"/><Relationship Id="rId36" Target="notesSlides/notesSlide4.xml" Type="http://schemas.openxmlformats.org/officeDocument/2006/relationships/notesSlide"/><Relationship Id="rId37" Target="notesSlides/notesSlide5.xml" Type="http://schemas.openxmlformats.org/officeDocument/2006/relationships/notesSlide"/><Relationship Id="rId38" Target="notesSlides/notesSlide6.xml" Type="http://schemas.openxmlformats.org/officeDocument/2006/relationships/notesSlide"/><Relationship Id="rId39" Target="notesSlides/notesSlide7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8.xml" Type="http://schemas.openxmlformats.org/officeDocument/2006/relationships/notesSlide"/><Relationship Id="rId41" Target="notesSlides/notesSlide9.xml" Type="http://schemas.openxmlformats.org/officeDocument/2006/relationships/notesSlide"/><Relationship Id="rId42" Target="notesSlides/notesSlide10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11.xml" Type="http://schemas.openxmlformats.org/officeDocument/2006/relationships/notesSlide"/><Relationship Id="rId45" Target="notesSlides/notesSlide12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程式交易市場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38326" y="5507232"/>
            <a:ext cx="11902421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的形成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程式交易市場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138326" y="5507232"/>
            <a:ext cx="11902421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的定義與服務分層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2597724" y="2069327"/>
          <a:ext cx="13728431" cy="7188973"/>
        </p:xfrm>
        <a:graphic>
          <a:graphicData uri="http://schemas.openxmlformats.org/drawingml/2006/table">
            <a:tbl>
              <a:tblPr/>
              <a:tblGrid>
                <a:gridCol w="3432108"/>
                <a:gridCol w="3432108"/>
                <a:gridCol w="3432108"/>
                <a:gridCol w="3432108"/>
              </a:tblGrid>
              <a:tr h="1353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比</a:t>
                      </a: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較面向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散戶Open API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HTF/Low Latency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法人Electronic trading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</a:tr>
              <a:tr h="1353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主要客群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個人程式交易者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小型量化團隊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HFT、做市商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自營、專業量化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外資、資產管理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量化基金、機構交易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客戶目標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自動化策略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自行串接交易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最小化延遲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提高執行確定性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提升執行效率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穩定處理大量交</a:t>
                      </a: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易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762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核心服務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API、SDK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行情／帳務／下單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Co-location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Cross-connect、低延遲行情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FIX、DMA, </a:t>
                      </a:r>
                      <a:r>
                        <a:rPr lang="en-US" sz="2099">
                          <a:solidFill>
                            <a:srgbClr val="1B027E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Broker Algo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5318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1B027E"/>
                          </a:solidFill>
                          <a:latin typeface="Tomorrow Bold"/>
                          <a:ea typeface="Tomorrow Bold"/>
                          <a:cs typeface="Tomorrow Bold"/>
                          <a:sym typeface="Tomorrow Bold"/>
                        </a:rPr>
                        <a:t>競爭核心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85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易用性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功能完整度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Latency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網路與交易基礎設施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Execution Quality</a:t>
                      </a:r>
                      <a:endParaRPr lang="en-US" sz="1100"/>
                    </a:p>
                    <a:p>
                      <a:pPr algn="ctr">
                        <a:lnSpc>
                          <a:spcPts val="2939"/>
                        </a:lnSpc>
                      </a:pPr>
                      <a:r>
                        <a:rPr lang="en-US" sz="2099">
                          <a:solidFill>
                            <a:srgbClr val="1B027E"/>
                          </a:solidFill>
                          <a:latin typeface="Tomorrow"/>
                          <a:ea typeface="Tomorrow"/>
                          <a:cs typeface="Tomorrow"/>
                          <a:sym typeface="Tomorrow"/>
                        </a:rPr>
                        <a:t>穩定性、風控與服務</a:t>
                      </a:r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BB99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406191"/>
            <a:ext cx="6223581" cy="1431196"/>
            <a:chOff x="0" y="0"/>
            <a:chExt cx="8298108" cy="190826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57150"/>
              <a:ext cx="6396281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市場定義和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018740"/>
              <a:ext cx="8298108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00BBDE"/>
                  </a:solidFill>
                  <a:latin typeface="HK Modular"/>
                  <a:ea typeface="HK Modular"/>
                  <a:cs typeface="HK Modular"/>
                  <a:sym typeface="HK Modular"/>
                </a:rPr>
                <a:t>服務分層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FFE24C"/>
            </a:solidFill>
            <a:ln w="19065" cap="sq">
              <a:solidFill>
                <a:srgbClr val="FFE24C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3840">
            <a:off x="745436" y="10084384"/>
            <a:ext cx="16971578" cy="0"/>
          </a:xfrm>
          <a:prstGeom prst="line">
            <a:avLst/>
          </a:prstGeom>
          <a:ln cap="rnd" w="9525">
            <a:solidFill>
              <a:srgbClr val="23424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44484" y="2078612"/>
            <a:ext cx="6863363" cy="555803"/>
            <a:chOff x="0" y="0"/>
            <a:chExt cx="9151150" cy="74107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151149" cy="741062"/>
            </a:xfrm>
            <a:custGeom>
              <a:avLst/>
              <a:gdLst/>
              <a:ahLst/>
              <a:cxnLst/>
              <a:rect r="r" b="b" t="t" l="l"/>
              <a:pathLst>
                <a:path h="741062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741062"/>
                  </a:lnTo>
                  <a:lnTo>
                    <a:pt x="0" y="7410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6038" r="0" b="-17519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9151150" cy="760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spc="3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客戶交易需求 × 券商服務深度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2700">
            <a:off x="2136124" y="4154434"/>
            <a:ext cx="13394045" cy="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2700">
            <a:off x="2136124" y="5746737"/>
            <a:ext cx="13394045" cy="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2700">
            <a:off x="2136124" y="7380218"/>
            <a:ext cx="13394045" cy="0"/>
          </a:xfrm>
          <a:prstGeom prst="line">
            <a:avLst/>
          </a:prstGeom>
          <a:ln cap="rnd" w="9525">
            <a:solidFill>
              <a:srgbClr val="18333C">
                <a:alpha val="91765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6780">
            <a:off x="2128009" y="7819473"/>
            <a:ext cx="13561266" cy="0"/>
          </a:xfrm>
          <a:prstGeom prst="line">
            <a:avLst/>
          </a:prstGeom>
          <a:ln cap="rnd" w="9525">
            <a:solidFill>
              <a:srgbClr val="86A0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12" id="12"/>
          <p:cNvGrpSpPr/>
          <p:nvPr/>
        </p:nvGrpSpPr>
        <p:grpSpPr>
          <a:xfrm rot="0">
            <a:off x="1462583" y="2948740"/>
            <a:ext cx="1575216" cy="346549"/>
            <a:chOff x="0" y="0"/>
            <a:chExt cx="1830235" cy="40265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30230" cy="402651"/>
            </a:xfrm>
            <a:custGeom>
              <a:avLst/>
              <a:gdLst/>
              <a:ahLst/>
              <a:cxnLst/>
              <a:rect r="r" b="b" t="t" l="l"/>
              <a:pathLst>
                <a:path h="402651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568" r="0" b="-385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830235" cy="4217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05"/>
                </a:lnSpc>
              </a:pPr>
              <a:r>
                <a:rPr lang="en-US" b="true" sz="1921" spc="2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券商服務深度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744549" y="7645432"/>
            <a:ext cx="2059010" cy="384353"/>
            <a:chOff x="0" y="0"/>
            <a:chExt cx="2745346" cy="5124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45345" cy="512464"/>
            </a:xfrm>
            <a:custGeom>
              <a:avLst/>
              <a:gdLst/>
              <a:ahLst/>
              <a:cxnLst/>
              <a:rect r="r" b="b" t="t" l="l"/>
              <a:pathLst>
                <a:path h="512464" w="2745345">
                  <a:moveTo>
                    <a:pt x="0" y="0"/>
                  </a:moveTo>
                  <a:lnTo>
                    <a:pt x="2745345" y="0"/>
                  </a:lnTo>
                  <a:lnTo>
                    <a:pt x="2745345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383" r="0" b="-5438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745346" cy="5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b="true" sz="2251" spc="3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客戶交易需求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86333" y="3514039"/>
            <a:ext cx="1276588" cy="247079"/>
            <a:chOff x="0" y="0"/>
            <a:chExt cx="1702118" cy="3294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2114" cy="329441"/>
            </a:xfrm>
            <a:custGeom>
              <a:avLst/>
              <a:gdLst/>
              <a:ahLst/>
              <a:cxnLst/>
              <a:rect r="r" b="b" t="t" l="l"/>
              <a:pathLst>
                <a:path h="329441" w="1702114">
                  <a:moveTo>
                    <a:pt x="0" y="0"/>
                  </a:moveTo>
                  <a:lnTo>
                    <a:pt x="1702114" y="0"/>
                  </a:lnTo>
                  <a:lnTo>
                    <a:pt x="1702114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3" r="0" b="-5067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702118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91"/>
                </a:lnSpc>
              </a:pPr>
              <a:r>
                <a:rPr lang="en-US" sz="1576">
                  <a:solidFill>
                    <a:srgbClr val="B7C8D0"/>
                  </a:solidFill>
                  <a:latin typeface="Aptos"/>
                  <a:ea typeface="Aptos"/>
                  <a:cs typeface="Aptos"/>
                  <a:sym typeface="Aptos"/>
                </a:rPr>
                <a:t>Infrastructure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86333" y="5147520"/>
            <a:ext cx="1276588" cy="247079"/>
            <a:chOff x="0" y="0"/>
            <a:chExt cx="1702118" cy="3294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02114" cy="329441"/>
            </a:xfrm>
            <a:custGeom>
              <a:avLst/>
              <a:gdLst/>
              <a:ahLst/>
              <a:cxnLst/>
              <a:rect r="r" b="b" t="t" l="l"/>
              <a:pathLst>
                <a:path h="329441" w="1702114">
                  <a:moveTo>
                    <a:pt x="0" y="0"/>
                  </a:moveTo>
                  <a:lnTo>
                    <a:pt x="1702114" y="0"/>
                  </a:lnTo>
                  <a:lnTo>
                    <a:pt x="1702114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3" r="0" b="-5067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702118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91"/>
                </a:lnSpc>
              </a:pPr>
              <a:r>
                <a:rPr lang="en-US" sz="1576">
                  <a:solidFill>
                    <a:srgbClr val="B7C8D0"/>
                  </a:solidFill>
                  <a:latin typeface="Aptos"/>
                  <a:ea typeface="Aptos"/>
                  <a:cs typeface="Aptos"/>
                  <a:sym typeface="Aptos"/>
                </a:rPr>
                <a:t>Execution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86333" y="6781000"/>
            <a:ext cx="1276588" cy="247079"/>
            <a:chOff x="0" y="0"/>
            <a:chExt cx="1702118" cy="32943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02114" cy="329441"/>
            </a:xfrm>
            <a:custGeom>
              <a:avLst/>
              <a:gdLst/>
              <a:ahLst/>
              <a:cxnLst/>
              <a:rect r="r" b="b" t="t" l="l"/>
              <a:pathLst>
                <a:path h="329441" w="1702114">
                  <a:moveTo>
                    <a:pt x="0" y="0"/>
                  </a:moveTo>
                  <a:lnTo>
                    <a:pt x="1702114" y="0"/>
                  </a:lnTo>
                  <a:lnTo>
                    <a:pt x="1702114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3" r="0" b="-5067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702118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91"/>
                </a:lnSpc>
              </a:pPr>
              <a:r>
                <a:rPr lang="en-US" sz="1576">
                  <a:solidFill>
                    <a:srgbClr val="B7C8D0"/>
                  </a:solidFill>
                  <a:latin typeface="Aptos"/>
                  <a:ea typeface="Aptos"/>
                  <a:cs typeface="Aptos"/>
                  <a:sym typeface="Aptos"/>
                </a:rPr>
                <a:t>Access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813980" y="8208578"/>
            <a:ext cx="1509941" cy="219627"/>
            <a:chOff x="0" y="0"/>
            <a:chExt cx="2013255" cy="2928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13253" cy="292837"/>
            </a:xfrm>
            <a:custGeom>
              <a:avLst/>
              <a:gdLst/>
              <a:ahLst/>
              <a:cxnLst/>
              <a:rect r="r" b="b" t="t" l="l"/>
              <a:pathLst>
                <a:path h="292837" w="2013253">
                  <a:moveTo>
                    <a:pt x="0" y="0"/>
                  </a:moveTo>
                  <a:lnTo>
                    <a:pt x="2013253" y="0"/>
                  </a:lnTo>
                  <a:lnTo>
                    <a:pt x="201325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013255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spc="2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自行程式下單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755598" y="8208578"/>
            <a:ext cx="1372676" cy="219627"/>
            <a:chOff x="0" y="0"/>
            <a:chExt cx="1830235" cy="2928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30230" cy="292837"/>
            </a:xfrm>
            <a:custGeom>
              <a:avLst/>
              <a:gdLst/>
              <a:ahLst/>
              <a:cxnLst/>
              <a:rect r="r" b="b" t="t" l="l"/>
              <a:pathLst>
                <a:path h="292837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830235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spc="2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專業執行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697216" y="8208578"/>
            <a:ext cx="1372676" cy="219627"/>
            <a:chOff x="0" y="0"/>
            <a:chExt cx="1830235" cy="29283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830230" cy="292837"/>
            </a:xfrm>
            <a:custGeom>
              <a:avLst/>
              <a:gdLst/>
              <a:ahLst/>
              <a:cxnLst/>
              <a:rect r="r" b="b" t="t" l="l"/>
              <a:pathLst>
                <a:path h="292837" w="1830230">
                  <a:moveTo>
                    <a:pt x="0" y="0"/>
                  </a:moveTo>
                  <a:lnTo>
                    <a:pt x="1830230" y="0"/>
                  </a:lnTo>
                  <a:lnTo>
                    <a:pt x="183023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1830235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spc="2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極致速度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037799" y="6744014"/>
            <a:ext cx="513226" cy="513226"/>
            <a:chOff x="0" y="0"/>
            <a:chExt cx="684301" cy="68430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2E8CFF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3843480" y="6561372"/>
            <a:ext cx="1990373" cy="329441"/>
            <a:chOff x="0" y="0"/>
            <a:chExt cx="2653830" cy="43925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53833" cy="439255"/>
            </a:xfrm>
            <a:custGeom>
              <a:avLst/>
              <a:gdLst/>
              <a:ahLst/>
              <a:cxnLst/>
              <a:rect r="r" b="b" t="t" l="l"/>
              <a:pathLst>
                <a:path h="439255" w="2653833">
                  <a:moveTo>
                    <a:pt x="0" y="0"/>
                  </a:moveTo>
                  <a:lnTo>
                    <a:pt x="2653833" y="0"/>
                  </a:lnTo>
                  <a:lnTo>
                    <a:pt x="2653833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7721" r="0" b="-6772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653830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2"/>
                </a:lnSpc>
              </a:pPr>
              <a:r>
                <a:rPr lang="en-US" sz="2176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OPEN API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843480" y="6945725"/>
            <a:ext cx="2264912" cy="247079"/>
            <a:chOff x="0" y="0"/>
            <a:chExt cx="3019882" cy="32943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19879" cy="329441"/>
            </a:xfrm>
            <a:custGeom>
              <a:avLst/>
              <a:gdLst/>
              <a:ahLst/>
              <a:cxnLst/>
              <a:rect r="r" b="b" t="t" l="l"/>
              <a:pathLst>
                <a:path h="329441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613" r="0" b="-12861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019882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7"/>
                </a:lnSpc>
              </a:pPr>
              <a:r>
                <a:rPr lang="en-US" sz="1606" b="true">
                  <a:solidFill>
                    <a:srgbClr val="3BD7E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Programmable Access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843480" y="7275166"/>
            <a:ext cx="2264912" cy="219627"/>
            <a:chOff x="0" y="0"/>
            <a:chExt cx="3019882" cy="29283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019879" cy="292837"/>
            </a:xfrm>
            <a:custGeom>
              <a:avLst/>
              <a:gdLst/>
              <a:ahLst/>
              <a:cxnLst/>
              <a:rect r="r" b="b" t="t" l="l"/>
              <a:pathLst>
                <a:path h="292837" w="3019879">
                  <a:moveTo>
                    <a:pt x="0" y="0"/>
                  </a:moveTo>
                  <a:lnTo>
                    <a:pt x="3019879" y="0"/>
                  </a:lnTo>
                  <a:lnTo>
                    <a:pt x="3019879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939" r="0" b="-15093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3019882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API、SDK、行情、文件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869603" y="5151720"/>
            <a:ext cx="513226" cy="513226"/>
            <a:chOff x="0" y="0"/>
            <a:chExt cx="684301" cy="68430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55D5AC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8551745" y="4941618"/>
            <a:ext cx="2813980" cy="356892"/>
            <a:chOff x="0" y="0"/>
            <a:chExt cx="3751974" cy="47585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751971" cy="475860"/>
            </a:xfrm>
            <a:custGeom>
              <a:avLst/>
              <a:gdLst/>
              <a:ahLst/>
              <a:cxnLst/>
              <a:rect r="r" b="b" t="t" l="l"/>
              <a:pathLst>
                <a:path h="475860" w="3751971">
                  <a:moveTo>
                    <a:pt x="0" y="0"/>
                  </a:moveTo>
                  <a:lnTo>
                    <a:pt x="3751971" y="0"/>
                  </a:lnTo>
                  <a:lnTo>
                    <a:pt x="3751971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3632" r="0" b="-10363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751974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0"/>
                </a:lnSpc>
              </a:pPr>
              <a:r>
                <a:rPr lang="en-US" sz="2191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INSTITUTIONAL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551745" y="5367147"/>
            <a:ext cx="2127647" cy="247079"/>
            <a:chOff x="0" y="0"/>
            <a:chExt cx="2836862" cy="32943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836856" cy="329441"/>
            </a:xfrm>
            <a:custGeom>
              <a:avLst/>
              <a:gdLst/>
              <a:ahLst/>
              <a:cxnLst/>
              <a:rect r="r" b="b" t="t" l="l"/>
              <a:pathLst>
                <a:path h="329441" w="2836856">
                  <a:moveTo>
                    <a:pt x="0" y="0"/>
                  </a:moveTo>
                  <a:lnTo>
                    <a:pt x="2836856" y="0"/>
                  </a:lnTo>
                  <a:lnTo>
                    <a:pt x="2836856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8" r="0" b="-11778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836862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27"/>
                </a:lnSpc>
              </a:pPr>
              <a:r>
                <a:rPr lang="en-US" sz="1606" b="true">
                  <a:solidFill>
                    <a:srgbClr val="55D5A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Execution Quality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551745" y="5696588"/>
            <a:ext cx="2882608" cy="219627"/>
            <a:chOff x="0" y="0"/>
            <a:chExt cx="3843477" cy="29283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843483" cy="292837"/>
            </a:xfrm>
            <a:custGeom>
              <a:avLst/>
              <a:gdLst/>
              <a:ahLst/>
              <a:cxnLst/>
              <a:rect r="r" b="b" t="t" l="l"/>
              <a:pathLst>
                <a:path h="292837" w="3843483">
                  <a:moveTo>
                    <a:pt x="0" y="0"/>
                  </a:moveTo>
                  <a:lnTo>
                    <a:pt x="3843483" y="0"/>
                  </a:lnTo>
                  <a:lnTo>
                    <a:pt x="384348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5740" r="0" b="-20574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3843477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FIX、DMA、Algo、OMS/EMS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811230" y="3490779"/>
            <a:ext cx="513226" cy="513226"/>
            <a:chOff x="0" y="0"/>
            <a:chExt cx="684301" cy="68430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84276" cy="684276"/>
            </a:xfrm>
            <a:custGeom>
              <a:avLst/>
              <a:gdLst/>
              <a:ahLst/>
              <a:cxnLst/>
              <a:rect r="r" b="b" t="t" l="l"/>
              <a:pathLst>
                <a:path h="684276" w="684276">
                  <a:moveTo>
                    <a:pt x="0" y="342138"/>
                  </a:moveTo>
                  <a:cubicBezTo>
                    <a:pt x="0" y="153162"/>
                    <a:pt x="153162" y="0"/>
                    <a:pt x="342138" y="0"/>
                  </a:cubicBezTo>
                  <a:cubicBezTo>
                    <a:pt x="531114" y="0"/>
                    <a:pt x="684276" y="153162"/>
                    <a:pt x="684276" y="342138"/>
                  </a:cubicBezTo>
                  <a:cubicBezTo>
                    <a:pt x="684276" y="531114"/>
                    <a:pt x="531114" y="684276"/>
                    <a:pt x="342138" y="684276"/>
                  </a:cubicBezTo>
                  <a:cubicBezTo>
                    <a:pt x="153162" y="684276"/>
                    <a:pt x="0" y="531114"/>
                    <a:pt x="0" y="342138"/>
                  </a:cubicBezTo>
                  <a:close/>
                </a:path>
              </a:pathLst>
            </a:custGeom>
            <a:solidFill>
              <a:srgbClr val="FF7545"/>
            </a:solidFill>
            <a:ln w="19065" cap="sq">
              <a:solidFill>
                <a:srgbClr val="EAF4F7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3562000" y="3335598"/>
            <a:ext cx="1166774" cy="356892"/>
            <a:chOff x="0" y="0"/>
            <a:chExt cx="1555699" cy="4758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55695" cy="475860"/>
            </a:xfrm>
            <a:custGeom>
              <a:avLst/>
              <a:gdLst/>
              <a:ahLst/>
              <a:cxnLst/>
              <a:rect r="r" b="b" t="t" l="l"/>
              <a:pathLst>
                <a:path h="475860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1" r="0" b="-1370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555699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EAF4F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HFT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562000" y="3761118"/>
            <a:ext cx="2402176" cy="233353"/>
            <a:chOff x="0" y="0"/>
            <a:chExt cx="3202902" cy="31113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202902" cy="311139"/>
            </a:xfrm>
            <a:custGeom>
              <a:avLst/>
              <a:gdLst/>
              <a:ahLst/>
              <a:cxnLst/>
              <a:rect r="r" b="b" t="t" l="l"/>
              <a:pathLst>
                <a:path h="311139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311139"/>
                  </a:lnTo>
                  <a:lnTo>
                    <a:pt x="0" y="3111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0581" r="0" b="-15058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3202902" cy="3111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FF754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Latency / Infrastructure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562000" y="4172922"/>
            <a:ext cx="2539441" cy="219627"/>
            <a:chOff x="0" y="0"/>
            <a:chExt cx="3385922" cy="29283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385925" cy="292837"/>
            </a:xfrm>
            <a:custGeom>
              <a:avLst/>
              <a:gdLst/>
              <a:ahLst/>
              <a:cxnLst/>
              <a:rect r="r" b="b" t="t" l="l"/>
              <a:pathLst>
                <a:path h="292837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295" r="0" b="-17529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3385922" cy="3118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5"/>
                </a:lnSpc>
              </a:pPr>
              <a:r>
                <a:rPr lang="en-US" sz="1321" spc="1">
                  <a:solidFill>
                    <a:srgbClr val="B7C8D0"/>
                  </a:solidFill>
                  <a:latin typeface="Arimo"/>
                  <a:ea typeface="Arimo"/>
                  <a:cs typeface="Arimo"/>
                  <a:sym typeface="Arimo"/>
                </a:rPr>
                <a:t>CoLo、Cross-connect、低延遲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962922" y="9020760"/>
            <a:ext cx="9216945" cy="461591"/>
            <a:chOff x="0" y="0"/>
            <a:chExt cx="12289260" cy="61545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289266" cy="615444"/>
            </a:xfrm>
            <a:custGeom>
              <a:avLst/>
              <a:gdLst/>
              <a:ahLst/>
              <a:cxnLst/>
              <a:rect r="r" b="b" t="t" l="l"/>
              <a:pathLst>
                <a:path h="615444" w="12289266">
                  <a:moveTo>
                    <a:pt x="0" y="0"/>
                  </a:moveTo>
                  <a:lnTo>
                    <a:pt x="12289266" y="0"/>
                  </a:lnTo>
                  <a:lnTo>
                    <a:pt x="12289266" y="615444"/>
                  </a:lnTo>
                  <a:lnTo>
                    <a:pt x="0" y="6154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4754" r="16599" b="-25423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19050"/>
              <a:ext cx="12289260" cy="6345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7"/>
                </a:lnSpc>
              </a:pPr>
              <a:r>
                <a:rPr lang="en-US" b="true" sz="2281" spc="3">
                  <a:solidFill>
                    <a:srgbClr val="EAF4F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三種服務不是單純高低差異，而是對應不同客戶需求與不同服務深度。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1882697" y="9020760"/>
            <a:ext cx="5376603" cy="379252"/>
            <a:chOff x="0" y="0"/>
            <a:chExt cx="7168804" cy="50567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168805" cy="505673"/>
            </a:xfrm>
            <a:custGeom>
              <a:avLst/>
              <a:gdLst/>
              <a:ahLst/>
              <a:cxnLst/>
              <a:rect r="r" b="b" t="t" l="l"/>
              <a:pathLst>
                <a:path h="505673" w="7168805">
                  <a:moveTo>
                    <a:pt x="0" y="0"/>
                  </a:moveTo>
                  <a:lnTo>
                    <a:pt x="7168805" y="0"/>
                  </a:lnTo>
                  <a:lnTo>
                    <a:pt x="7168805" y="505673"/>
                  </a:lnTo>
                  <a:lnTo>
                    <a:pt x="0" y="5056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261" r="34897" b="-11241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7168804" cy="5151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13"/>
                </a:lnSpc>
              </a:pPr>
              <a:r>
                <a:rPr lang="en-US" sz="2011" b="true">
                  <a:solidFill>
                    <a:srgbClr val="FFE24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Access  →  Execution  →  Infrastructure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7748656" y="9814608"/>
            <a:ext cx="137265" cy="137265"/>
            <a:chOff x="0" y="0"/>
            <a:chExt cx="183020" cy="1830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83023" cy="183023"/>
            </a:xfrm>
            <a:custGeom>
              <a:avLst/>
              <a:gdLst/>
              <a:ahLst/>
              <a:cxnLst/>
              <a:rect r="r" b="b" t="t" l="l"/>
              <a:pathLst>
                <a:path h="183023" w="183023">
                  <a:moveTo>
                    <a:pt x="0" y="0"/>
                  </a:moveTo>
                  <a:lnTo>
                    <a:pt x="183023" y="0"/>
                  </a:lnTo>
                  <a:lnTo>
                    <a:pt x="183023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2" t="0" r="-78300" b="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183020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60"/>
                </a:lnSpc>
              </a:pPr>
              <a:r>
                <a:rPr lang="en-US" sz="1050">
                  <a:solidFill>
                    <a:srgbClr val="7E99A3"/>
                  </a:solidFill>
                  <a:latin typeface="Aptos"/>
                  <a:ea typeface="Aptos"/>
                  <a:cs typeface="Aptos"/>
                  <a:sym typeface="Aptos"/>
                </a:rPr>
                <a:t>1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 flipV="true">
            <a:off x="2132785" y="3335598"/>
            <a:ext cx="3342" cy="4475264"/>
          </a:xfrm>
          <a:prstGeom prst="line">
            <a:avLst/>
          </a:prstGeom>
          <a:ln cap="rnd" w="9525">
            <a:solidFill>
              <a:srgbClr val="86A0A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9" id="79"/>
          <p:cNvGrpSpPr/>
          <p:nvPr/>
        </p:nvGrpSpPr>
        <p:grpSpPr>
          <a:xfrm rot="0">
            <a:off x="686333" y="437866"/>
            <a:ext cx="6223581" cy="1431196"/>
            <a:chOff x="0" y="0"/>
            <a:chExt cx="8298108" cy="1908261"/>
          </a:xfrm>
        </p:grpSpPr>
        <p:sp>
          <p:nvSpPr>
            <p:cNvPr name="TextBox 80" id="80"/>
            <p:cNvSpPr txBox="true"/>
            <p:nvPr/>
          </p:nvSpPr>
          <p:spPr>
            <a:xfrm rot="0">
              <a:off x="0" y="57150"/>
              <a:ext cx="6396281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FFFF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程式交易服務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0" y="1018740"/>
              <a:ext cx="8298108" cy="889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79"/>
                </a:lnSpc>
                <a:spcBef>
                  <a:spcPct val="0"/>
                </a:spcBef>
              </a:pPr>
              <a:r>
                <a:rPr lang="en-US" sz="4697">
                  <a:solidFill>
                    <a:srgbClr val="00BBDE"/>
                  </a:solidFill>
                  <a:latin typeface="HK Modular"/>
                  <a:ea typeface="HK Modular"/>
                  <a:cs typeface="HK Modular"/>
                  <a:sym typeface="HK Modular"/>
                </a:rPr>
                <a:t>三個層級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881113" y="733563"/>
            <a:ext cx="14719524" cy="8819874"/>
            <a:chOff x="0" y="0"/>
            <a:chExt cx="3876747" cy="23229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76747" cy="2322930"/>
            </a:xfrm>
            <a:custGeom>
              <a:avLst/>
              <a:gdLst/>
              <a:ahLst/>
              <a:cxnLst/>
              <a:rect r="r" b="b" t="t" l="l"/>
              <a:pathLst>
                <a:path h="2322930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322930"/>
                  </a:lnTo>
                  <a:lnTo>
                    <a:pt x="0" y="2322930"/>
                  </a:lnTo>
                  <a:close/>
                </a:path>
              </a:pathLst>
            </a:custGeom>
            <a:gradFill rotWithShape="true">
              <a:gsLst>
                <a:gs pos="0">
                  <a:srgbClr val="515269">
                    <a:alpha val="100000"/>
                  </a:srgbClr>
                </a:gs>
                <a:gs pos="100000">
                  <a:srgbClr val="00012E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3876747" cy="22943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881113" y="733563"/>
            <a:ext cx="14719524" cy="1028129"/>
            <a:chOff x="0" y="0"/>
            <a:chExt cx="3876747" cy="2707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76747" cy="270783"/>
            </a:xfrm>
            <a:custGeom>
              <a:avLst/>
              <a:gdLst/>
              <a:ahLst/>
              <a:cxnLst/>
              <a:rect r="r" b="b" t="t" l="l"/>
              <a:pathLst>
                <a:path h="270783" w="3876747">
                  <a:moveTo>
                    <a:pt x="0" y="0"/>
                  </a:moveTo>
                  <a:lnTo>
                    <a:pt x="3876747" y="0"/>
                  </a:lnTo>
                  <a:lnTo>
                    <a:pt x="3876747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74000"/>
                  </a:srgbClr>
                </a:gs>
                <a:gs pos="100000">
                  <a:srgbClr val="150082">
                    <a:alpha val="74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3876747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881113" y="733563"/>
            <a:ext cx="1438140" cy="1028129"/>
            <a:chOff x="0" y="0"/>
            <a:chExt cx="378769" cy="2707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78769" cy="270783"/>
            </a:xfrm>
            <a:custGeom>
              <a:avLst/>
              <a:gdLst/>
              <a:ahLst/>
              <a:cxnLst/>
              <a:rect r="r" b="b" t="t" l="l"/>
              <a:pathLst>
                <a:path h="270783" w="378769">
                  <a:moveTo>
                    <a:pt x="0" y="0"/>
                  </a:moveTo>
                  <a:lnTo>
                    <a:pt x="378769" y="0"/>
                  </a:lnTo>
                  <a:lnTo>
                    <a:pt x="378769" y="270783"/>
                  </a:lnTo>
                  <a:lnTo>
                    <a:pt x="0" y="270783"/>
                  </a:lnTo>
                  <a:close/>
                </a:path>
              </a:pathLst>
            </a:custGeom>
            <a:gradFill rotWithShape="true">
              <a:gsLst>
                <a:gs pos="0">
                  <a:srgbClr val="00012E">
                    <a:alpha val="100000"/>
                  </a:srgbClr>
                </a:gs>
                <a:gs pos="100000">
                  <a:srgbClr val="150082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378769" cy="2422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3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2388763" y="1103477"/>
            <a:ext cx="422840" cy="288300"/>
          </a:xfrm>
          <a:custGeom>
            <a:avLst/>
            <a:gdLst/>
            <a:ahLst/>
            <a:cxnLst/>
            <a:rect r="r" b="b" t="t" l="l"/>
            <a:pathLst>
              <a:path h="288300" w="422840">
                <a:moveTo>
                  <a:pt x="422840" y="0"/>
                </a:moveTo>
                <a:lnTo>
                  <a:pt x="0" y="0"/>
                </a:lnTo>
                <a:lnTo>
                  <a:pt x="0" y="288300"/>
                </a:lnTo>
                <a:lnTo>
                  <a:pt x="422840" y="288300"/>
                </a:lnTo>
                <a:lnTo>
                  <a:pt x="42284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01100" y="2414749"/>
            <a:ext cx="1976873" cy="1362005"/>
          </a:xfrm>
          <a:custGeom>
            <a:avLst/>
            <a:gdLst/>
            <a:ahLst/>
            <a:cxnLst/>
            <a:rect r="r" b="b" t="t" l="l"/>
            <a:pathLst>
              <a:path h="1362005" w="1976873">
                <a:moveTo>
                  <a:pt x="0" y="0"/>
                </a:moveTo>
                <a:lnTo>
                  <a:pt x="1976873" y="0"/>
                </a:lnTo>
                <a:lnTo>
                  <a:pt x="1976873" y="1362005"/>
                </a:lnTo>
                <a:lnTo>
                  <a:pt x="0" y="13620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263917" y="4043538"/>
            <a:ext cx="12079506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海外程式交易服務的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74527" y="5507232"/>
            <a:ext cx="12058285" cy="145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41"/>
              </a:lnSpc>
              <a:spcBef>
                <a:spcPct val="0"/>
              </a:spcBef>
            </a:pPr>
            <a:r>
              <a:rPr lang="en-US" sz="10416">
                <a:solidFill>
                  <a:srgbClr val="00BBDE"/>
                </a:solidFill>
                <a:latin typeface="HK Modular"/>
                <a:ea typeface="HK Modular"/>
                <a:cs typeface="HK Modular"/>
                <a:sym typeface="HK Modular"/>
              </a:rPr>
              <a:t>形成轉折與投入訊號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23319" y="442610"/>
            <a:ext cx="5627961" cy="595104"/>
            <a:chOff x="0" y="0"/>
            <a:chExt cx="7503947" cy="793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 案例 1｜Monex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933421"/>
            <a:ext cx="16609333" cy="795846"/>
            <a:chOff x="0" y="0"/>
            <a:chExt cx="22145777" cy="1061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82" cy="1061121"/>
            </a:xfrm>
            <a:custGeom>
              <a:avLst/>
              <a:gdLst/>
              <a:ahLst/>
              <a:cxnLst/>
              <a:rect r="r" b="b" t="t" l="l"/>
              <a:pathLst>
                <a:path h="1061121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1061121"/>
                  </a:lnTo>
                  <a:lnTo>
                    <a:pt x="0" y="10611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810" r="0" b="-3515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145777" cy="1061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當「沒有 API」開始造成 商業損失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1245" y="1757020"/>
            <a:ext cx="16472068" cy="576520"/>
            <a:chOff x="0" y="0"/>
            <a:chExt cx="21962758" cy="768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59" cy="768697"/>
            </a:xfrm>
            <a:custGeom>
              <a:avLst/>
              <a:gdLst/>
              <a:ahLst/>
              <a:cxnLst/>
              <a:rect r="r" b="b" t="t" l="l"/>
              <a:pathLst>
                <a:path h="76869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62758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Monex 的重點不是 API 功能，而是公司已經看到不做 API 的可觀察成本。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2701" y="2529916"/>
            <a:ext cx="3752736" cy="5029324"/>
            <a:chOff x="0" y="0"/>
            <a:chExt cx="5003648" cy="67057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03673" cy="6705727"/>
            </a:xfrm>
            <a:custGeom>
              <a:avLst/>
              <a:gdLst/>
              <a:ahLst/>
              <a:cxnLst/>
              <a:rect r="r" b="b" t="t" l="l"/>
              <a:pathLst>
                <a:path h="6705727" w="5003673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4893310" y="0"/>
                  </a:lnTo>
                  <a:cubicBezTo>
                    <a:pt x="4954270" y="0"/>
                    <a:pt x="5003673" y="49403"/>
                    <a:pt x="5003673" y="110363"/>
                  </a:cubicBezTo>
                  <a:lnTo>
                    <a:pt x="5003673" y="6595364"/>
                  </a:lnTo>
                  <a:cubicBezTo>
                    <a:pt x="5003673" y="6656324"/>
                    <a:pt x="4954270" y="6705727"/>
                    <a:pt x="4893310" y="6705727"/>
                  </a:cubicBezTo>
                  <a:lnTo>
                    <a:pt x="110363" y="6705727"/>
                  </a:lnTo>
                  <a:cubicBezTo>
                    <a:pt x="49403" y="6705727"/>
                    <a:pt x="0" y="6656324"/>
                    <a:pt x="0" y="6595364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184691" y="2859357"/>
            <a:ext cx="1364285" cy="485775"/>
            <a:chOff x="0" y="0"/>
            <a:chExt cx="1819046" cy="6477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19021" cy="647700"/>
            </a:xfrm>
            <a:custGeom>
              <a:avLst/>
              <a:gdLst/>
              <a:ahLst/>
              <a:cxnLst/>
              <a:rect r="r" b="b" t="t" l="l"/>
              <a:pathLst>
                <a:path h="647700" w="1819021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704721" y="0"/>
                  </a:lnTo>
                  <a:cubicBezTo>
                    <a:pt x="1767840" y="0"/>
                    <a:pt x="1819021" y="51181"/>
                    <a:pt x="1819021" y="114300"/>
                  </a:cubicBezTo>
                  <a:lnTo>
                    <a:pt x="1819021" y="533400"/>
                  </a:lnTo>
                  <a:cubicBezTo>
                    <a:pt x="1819021" y="596519"/>
                    <a:pt x="1767840" y="647700"/>
                    <a:pt x="1704721" y="647700"/>
                  </a:cubicBezTo>
                  <a:lnTo>
                    <a:pt x="114300" y="647700"/>
                  </a:lnTo>
                  <a:cubicBezTo>
                    <a:pt x="51181" y="647700"/>
                    <a:pt x="0" y="596519"/>
                    <a:pt x="0" y="533400"/>
                  </a:cubicBezTo>
                  <a:close/>
                </a:path>
              </a:pathLst>
            </a:custGeom>
            <a:solidFill>
              <a:srgbClr val="36D7E8">
                <a:alpha val="90196"/>
              </a:srgbClr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304039" y="2964971"/>
            <a:ext cx="1125588" cy="247079"/>
            <a:chOff x="0" y="0"/>
            <a:chExt cx="1500784" cy="32943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00789" cy="329441"/>
            </a:xfrm>
            <a:custGeom>
              <a:avLst/>
              <a:gdLst/>
              <a:ahLst/>
              <a:cxnLst/>
              <a:rect r="r" b="b" t="t" l="l"/>
              <a:pathLst>
                <a:path h="329441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500784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5"/>
                </a:lnSpc>
              </a:pPr>
              <a:r>
                <a:rPr lang="en-US" sz="1321" b="true">
                  <a:solidFill>
                    <a:srgbClr val="06172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投入前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94225" y="3665039"/>
            <a:ext cx="3129696" cy="658882"/>
            <a:chOff x="0" y="0"/>
            <a:chExt cx="4172928" cy="8785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72924" cy="878510"/>
            </a:xfrm>
            <a:custGeom>
              <a:avLst/>
              <a:gdLst/>
              <a:ahLst/>
              <a:cxnLst/>
              <a:rect r="r" b="b" t="t" l="l"/>
              <a:pathLst>
                <a:path h="878510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4" r="0" b="-4255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4172928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核心系統完成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35402" y="4667088"/>
            <a:ext cx="3047333" cy="1509941"/>
            <a:chOff x="0" y="0"/>
            <a:chExt cx="4063111" cy="201325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63110" cy="2013253"/>
            </a:xfrm>
            <a:custGeom>
              <a:avLst/>
              <a:gdLst/>
              <a:ahLst/>
              <a:cxnLst/>
              <a:rect r="r" b="b" t="t" l="l"/>
              <a:pathLst>
                <a:path h="2013253" w="4063110">
                  <a:moveTo>
                    <a:pt x="0" y="0"/>
                  </a:moveTo>
                  <a:lnTo>
                    <a:pt x="4063110" y="0"/>
                  </a:lnTo>
                  <a:lnTo>
                    <a:pt x="4063110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3" t="0" r="-1357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063111" cy="2013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2017 年核心證券系統遷移大致完成。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96808" y="2529916"/>
            <a:ext cx="3752736" cy="5029324"/>
            <a:chOff x="0" y="0"/>
            <a:chExt cx="5003648" cy="67057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003673" cy="6705727"/>
            </a:xfrm>
            <a:custGeom>
              <a:avLst/>
              <a:gdLst/>
              <a:ahLst/>
              <a:cxnLst/>
              <a:rect r="r" b="b" t="t" l="l"/>
              <a:pathLst>
                <a:path h="6705727" w="5003673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4893310" y="0"/>
                  </a:lnTo>
                  <a:cubicBezTo>
                    <a:pt x="4954270" y="0"/>
                    <a:pt x="5003673" y="49403"/>
                    <a:pt x="5003673" y="110363"/>
                  </a:cubicBezTo>
                  <a:lnTo>
                    <a:pt x="5003673" y="6595364"/>
                  </a:lnTo>
                  <a:cubicBezTo>
                    <a:pt x="5003673" y="6656324"/>
                    <a:pt x="4954270" y="6705727"/>
                    <a:pt x="4893310" y="6705727"/>
                  </a:cubicBezTo>
                  <a:lnTo>
                    <a:pt x="110363" y="6705727"/>
                  </a:lnTo>
                  <a:cubicBezTo>
                    <a:pt x="49403" y="6705727"/>
                    <a:pt x="0" y="6656324"/>
                    <a:pt x="0" y="6595364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398799" y="2859357"/>
            <a:ext cx="1364285" cy="485775"/>
            <a:chOff x="0" y="0"/>
            <a:chExt cx="1819046" cy="6477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19021" cy="647700"/>
            </a:xfrm>
            <a:custGeom>
              <a:avLst/>
              <a:gdLst/>
              <a:ahLst/>
              <a:cxnLst/>
              <a:rect r="r" b="b" t="t" l="l"/>
              <a:pathLst>
                <a:path h="647700" w="1819021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704721" y="0"/>
                  </a:lnTo>
                  <a:cubicBezTo>
                    <a:pt x="1767840" y="0"/>
                    <a:pt x="1819021" y="51181"/>
                    <a:pt x="1819021" y="114300"/>
                  </a:cubicBezTo>
                  <a:lnTo>
                    <a:pt x="1819021" y="533400"/>
                  </a:lnTo>
                  <a:cubicBezTo>
                    <a:pt x="1819021" y="596519"/>
                    <a:pt x="1767840" y="647700"/>
                    <a:pt x="1704721" y="647700"/>
                  </a:cubicBezTo>
                  <a:lnTo>
                    <a:pt x="114300" y="647700"/>
                  </a:lnTo>
                  <a:cubicBezTo>
                    <a:pt x="51181" y="647700"/>
                    <a:pt x="0" y="596519"/>
                    <a:pt x="0" y="533400"/>
                  </a:cubicBezTo>
                  <a:close/>
                </a:path>
              </a:pathLst>
            </a:custGeom>
            <a:solidFill>
              <a:srgbClr val="36D7E8">
                <a:alpha val="90196"/>
              </a:srgbClr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5518147" y="2964971"/>
            <a:ext cx="1125588" cy="247079"/>
            <a:chOff x="0" y="0"/>
            <a:chExt cx="1500784" cy="32943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500789" cy="329441"/>
            </a:xfrm>
            <a:custGeom>
              <a:avLst/>
              <a:gdLst/>
              <a:ahLst/>
              <a:cxnLst/>
              <a:rect r="r" b="b" t="t" l="l"/>
              <a:pathLst>
                <a:path h="329441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1500784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5"/>
                </a:lnSpc>
              </a:pPr>
              <a:r>
                <a:rPr lang="en-US" sz="1321" b="true">
                  <a:solidFill>
                    <a:srgbClr val="06172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問題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408333" y="3665039"/>
            <a:ext cx="3129696" cy="658882"/>
            <a:chOff x="0" y="0"/>
            <a:chExt cx="4172928" cy="8785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172924" cy="878510"/>
            </a:xfrm>
            <a:custGeom>
              <a:avLst/>
              <a:gdLst/>
              <a:ahLst/>
              <a:cxnLst/>
              <a:rect r="r" b="b" t="t" l="l"/>
              <a:pathLst>
                <a:path h="878510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4" r="0" b="-4255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4172928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重複開發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5449510" y="4667088"/>
            <a:ext cx="3047333" cy="1509941"/>
            <a:chOff x="0" y="0"/>
            <a:chExt cx="4063111" cy="20132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063110" cy="2013253"/>
            </a:xfrm>
            <a:custGeom>
              <a:avLst/>
              <a:gdLst/>
              <a:ahLst/>
              <a:cxnLst/>
              <a:rect r="r" b="b" t="t" l="l"/>
              <a:pathLst>
                <a:path h="2013253" w="4063110">
                  <a:moveTo>
                    <a:pt x="0" y="0"/>
                  </a:moveTo>
                  <a:lnTo>
                    <a:pt x="4063110" y="0"/>
                  </a:lnTo>
                  <a:lnTo>
                    <a:pt x="4063110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3" t="0" r="-1357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063111" cy="2013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新服務需要的下單、交易等共同功能反覆開發，創新速度變慢。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310916" y="2529916"/>
            <a:ext cx="3752736" cy="5029324"/>
            <a:chOff x="0" y="0"/>
            <a:chExt cx="5003648" cy="670576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003673" cy="6705727"/>
            </a:xfrm>
            <a:custGeom>
              <a:avLst/>
              <a:gdLst/>
              <a:ahLst/>
              <a:cxnLst/>
              <a:rect r="r" b="b" t="t" l="l"/>
              <a:pathLst>
                <a:path h="6705727" w="5003673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4893310" y="0"/>
                  </a:lnTo>
                  <a:cubicBezTo>
                    <a:pt x="4954270" y="0"/>
                    <a:pt x="5003673" y="49403"/>
                    <a:pt x="5003673" y="110363"/>
                  </a:cubicBezTo>
                  <a:lnTo>
                    <a:pt x="5003673" y="6595364"/>
                  </a:lnTo>
                  <a:cubicBezTo>
                    <a:pt x="5003673" y="6656324"/>
                    <a:pt x="4954270" y="6705727"/>
                    <a:pt x="4893310" y="6705727"/>
                  </a:cubicBezTo>
                  <a:lnTo>
                    <a:pt x="110363" y="6705727"/>
                  </a:lnTo>
                  <a:cubicBezTo>
                    <a:pt x="49403" y="6705727"/>
                    <a:pt x="0" y="6656324"/>
                    <a:pt x="0" y="6595364"/>
                  </a:cubicBezTo>
                  <a:close/>
                </a:path>
              </a:pathLst>
            </a:custGeom>
            <a:solidFill>
              <a:srgbClr val="3E2534"/>
            </a:solidFill>
            <a:ln w="19065" cap="sq">
              <a:solidFill>
                <a:srgbClr val="FF9B54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612897" y="2859357"/>
            <a:ext cx="1364285" cy="485775"/>
            <a:chOff x="0" y="0"/>
            <a:chExt cx="1819046" cy="6477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819021" cy="647700"/>
            </a:xfrm>
            <a:custGeom>
              <a:avLst/>
              <a:gdLst/>
              <a:ahLst/>
              <a:cxnLst/>
              <a:rect r="r" b="b" t="t" l="l"/>
              <a:pathLst>
                <a:path h="647700" w="1819021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704721" y="0"/>
                  </a:lnTo>
                  <a:cubicBezTo>
                    <a:pt x="1767840" y="0"/>
                    <a:pt x="1819021" y="51181"/>
                    <a:pt x="1819021" y="114300"/>
                  </a:cubicBezTo>
                  <a:lnTo>
                    <a:pt x="1819021" y="533400"/>
                  </a:lnTo>
                  <a:cubicBezTo>
                    <a:pt x="1819021" y="596519"/>
                    <a:pt x="1767840" y="647700"/>
                    <a:pt x="1704721" y="647700"/>
                  </a:cubicBezTo>
                  <a:lnTo>
                    <a:pt x="114300" y="647700"/>
                  </a:lnTo>
                  <a:cubicBezTo>
                    <a:pt x="51181" y="647700"/>
                    <a:pt x="0" y="596519"/>
                    <a:pt x="0" y="533400"/>
                  </a:cubicBezTo>
                  <a:close/>
                </a:path>
              </a:pathLst>
            </a:custGeom>
            <a:solidFill>
              <a:srgbClr val="FF9B54">
                <a:alpha val="90196"/>
              </a:srgbClr>
            </a:solidFill>
            <a:ln w="19065" cap="sq">
              <a:solidFill>
                <a:srgbClr val="FF9B54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732245" y="2964971"/>
            <a:ext cx="1125588" cy="247079"/>
            <a:chOff x="0" y="0"/>
            <a:chExt cx="1500784" cy="32943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00789" cy="329441"/>
            </a:xfrm>
            <a:custGeom>
              <a:avLst/>
              <a:gdLst/>
              <a:ahLst/>
              <a:cxnLst/>
              <a:rect r="r" b="b" t="t" l="l"/>
              <a:pathLst>
                <a:path h="329441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500784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5"/>
                </a:lnSpc>
              </a:pPr>
              <a:r>
                <a:rPr lang="en-US" sz="1321" b="true">
                  <a:solidFill>
                    <a:srgbClr val="06172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觸發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22431" y="3665039"/>
            <a:ext cx="3129696" cy="658882"/>
            <a:chOff x="0" y="0"/>
            <a:chExt cx="4172928" cy="87851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172924" cy="878510"/>
            </a:xfrm>
            <a:custGeom>
              <a:avLst/>
              <a:gdLst/>
              <a:ahLst/>
              <a:cxnLst/>
              <a:rect r="r" b="b" t="t" l="l"/>
              <a:pathLst>
                <a:path h="878510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4" r="0" b="-4255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4172928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錯失合作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663617" y="4667088"/>
            <a:ext cx="3047333" cy="1509941"/>
            <a:chOff x="0" y="0"/>
            <a:chExt cx="4063111" cy="201325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063110" cy="2013253"/>
            </a:xfrm>
            <a:custGeom>
              <a:avLst/>
              <a:gdLst/>
              <a:ahLst/>
              <a:cxnLst/>
              <a:rect r="r" b="b" t="t" l="l"/>
              <a:pathLst>
                <a:path h="2013253" w="4063110">
                  <a:moveTo>
                    <a:pt x="0" y="0"/>
                  </a:moveTo>
                  <a:lnTo>
                    <a:pt x="4063110" y="0"/>
                  </a:lnTo>
                  <a:lnTo>
                    <a:pt x="4063110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3" t="0" r="-1357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4063111" cy="2013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因 Open API 能力不足，曾錯失潛在業務合作機會。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3525014" y="2529916"/>
            <a:ext cx="3752736" cy="5029324"/>
            <a:chOff x="0" y="0"/>
            <a:chExt cx="5003648" cy="670576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003673" cy="6705727"/>
            </a:xfrm>
            <a:custGeom>
              <a:avLst/>
              <a:gdLst/>
              <a:ahLst/>
              <a:cxnLst/>
              <a:rect r="r" b="b" t="t" l="l"/>
              <a:pathLst>
                <a:path h="6705727" w="5003673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4893310" y="0"/>
                  </a:lnTo>
                  <a:cubicBezTo>
                    <a:pt x="4954270" y="0"/>
                    <a:pt x="5003673" y="49403"/>
                    <a:pt x="5003673" y="110363"/>
                  </a:cubicBezTo>
                  <a:lnTo>
                    <a:pt x="5003673" y="6595364"/>
                  </a:lnTo>
                  <a:cubicBezTo>
                    <a:pt x="5003673" y="6656324"/>
                    <a:pt x="4954270" y="6705727"/>
                    <a:pt x="4893310" y="6705727"/>
                  </a:cubicBezTo>
                  <a:lnTo>
                    <a:pt x="110363" y="6705727"/>
                  </a:lnTo>
                  <a:cubicBezTo>
                    <a:pt x="49403" y="6705727"/>
                    <a:pt x="0" y="6656324"/>
                    <a:pt x="0" y="6595364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3827004" y="2859357"/>
            <a:ext cx="1364285" cy="485775"/>
            <a:chOff x="0" y="0"/>
            <a:chExt cx="1819046" cy="6477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819021" cy="647700"/>
            </a:xfrm>
            <a:custGeom>
              <a:avLst/>
              <a:gdLst/>
              <a:ahLst/>
              <a:cxnLst/>
              <a:rect r="r" b="b" t="t" l="l"/>
              <a:pathLst>
                <a:path h="647700" w="1819021">
                  <a:moveTo>
                    <a:pt x="0" y="114300"/>
                  </a:moveTo>
                  <a:cubicBezTo>
                    <a:pt x="0" y="51181"/>
                    <a:pt x="51181" y="0"/>
                    <a:pt x="114300" y="0"/>
                  </a:cubicBezTo>
                  <a:lnTo>
                    <a:pt x="1704721" y="0"/>
                  </a:lnTo>
                  <a:cubicBezTo>
                    <a:pt x="1767840" y="0"/>
                    <a:pt x="1819021" y="51181"/>
                    <a:pt x="1819021" y="114300"/>
                  </a:cubicBezTo>
                  <a:lnTo>
                    <a:pt x="1819021" y="533400"/>
                  </a:lnTo>
                  <a:cubicBezTo>
                    <a:pt x="1819021" y="596519"/>
                    <a:pt x="1767840" y="647700"/>
                    <a:pt x="1704721" y="647700"/>
                  </a:cubicBezTo>
                  <a:lnTo>
                    <a:pt x="114300" y="647700"/>
                  </a:lnTo>
                  <a:cubicBezTo>
                    <a:pt x="51181" y="647700"/>
                    <a:pt x="0" y="596519"/>
                    <a:pt x="0" y="533400"/>
                  </a:cubicBezTo>
                  <a:close/>
                </a:path>
              </a:pathLst>
            </a:custGeom>
            <a:solidFill>
              <a:srgbClr val="FFC857">
                <a:alpha val="90196"/>
              </a:srgbClr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3946353" y="2964971"/>
            <a:ext cx="1125588" cy="247079"/>
            <a:chOff x="0" y="0"/>
            <a:chExt cx="1500784" cy="32943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500789" cy="329441"/>
            </a:xfrm>
            <a:custGeom>
              <a:avLst/>
              <a:gdLst/>
              <a:ahLst/>
              <a:cxnLst/>
              <a:rect r="r" b="b" t="t" l="l"/>
              <a:pathLst>
                <a:path h="329441" w="1500789">
                  <a:moveTo>
                    <a:pt x="0" y="0"/>
                  </a:moveTo>
                  <a:lnTo>
                    <a:pt x="1500789" y="0"/>
                  </a:lnTo>
                  <a:lnTo>
                    <a:pt x="1500789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765" r="0" b="-38764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500784" cy="329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85"/>
                </a:lnSpc>
              </a:pPr>
              <a:r>
                <a:rPr lang="en-US" sz="1321" b="true">
                  <a:solidFill>
                    <a:srgbClr val="06172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決策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3836539" y="3665039"/>
            <a:ext cx="3129696" cy="658882"/>
            <a:chOff x="0" y="0"/>
            <a:chExt cx="4172928" cy="87851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172924" cy="878510"/>
            </a:xfrm>
            <a:custGeom>
              <a:avLst/>
              <a:gdLst/>
              <a:ahLst/>
              <a:cxnLst/>
              <a:rect r="r" b="b" t="t" l="l"/>
              <a:pathLst>
                <a:path h="878510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4" r="0" b="-4255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4172928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建立平台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877715" y="4667088"/>
            <a:ext cx="3047333" cy="1509941"/>
            <a:chOff x="0" y="0"/>
            <a:chExt cx="4063111" cy="2013255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063110" cy="2013253"/>
            </a:xfrm>
            <a:custGeom>
              <a:avLst/>
              <a:gdLst/>
              <a:ahLst/>
              <a:cxnLst/>
              <a:rect r="r" b="b" t="t" l="l"/>
              <a:pathLst>
                <a:path h="2013253" w="4063110">
                  <a:moveTo>
                    <a:pt x="0" y="0"/>
                  </a:moveTo>
                  <a:lnTo>
                    <a:pt x="4063110" y="0"/>
                  </a:lnTo>
                  <a:lnTo>
                    <a:pt x="4063110" y="2013253"/>
                  </a:lnTo>
                  <a:lnTo>
                    <a:pt x="0" y="201325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73" t="0" r="-1357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4063111" cy="2013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2017/4 提出 Common API Platform，經討論後取得預算。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63142" y="8295132"/>
            <a:ext cx="15530265" cy="870118"/>
            <a:chOff x="0" y="0"/>
            <a:chExt cx="20707020" cy="116015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706969" cy="1160145"/>
            </a:xfrm>
            <a:custGeom>
              <a:avLst/>
              <a:gdLst/>
              <a:ahLst/>
              <a:cxnLst/>
              <a:rect r="r" b="b" t="t" l="l"/>
              <a:pathLst>
                <a:path h="1160145" w="20706969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20594701" y="0"/>
                  </a:lnTo>
                  <a:cubicBezTo>
                    <a:pt x="20656677" y="0"/>
                    <a:pt x="20706969" y="50292"/>
                    <a:pt x="20706969" y="112268"/>
                  </a:cubicBezTo>
                  <a:lnTo>
                    <a:pt x="20706969" y="1047877"/>
                  </a:lnTo>
                  <a:cubicBezTo>
                    <a:pt x="20706969" y="1109853"/>
                    <a:pt x="20656677" y="1160145"/>
                    <a:pt x="20594701" y="1160145"/>
                  </a:cubicBezTo>
                  <a:lnTo>
                    <a:pt x="112268" y="1160145"/>
                  </a:lnTo>
                  <a:cubicBezTo>
                    <a:pt x="50292" y="1160145"/>
                    <a:pt x="0" y="1109853"/>
                    <a:pt x="0" y="1047877"/>
                  </a:cubicBezTo>
                  <a:close/>
                </a:path>
              </a:pathLst>
            </a:custGeom>
            <a:solidFill>
              <a:srgbClr val="101F33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647206" y="8496843"/>
            <a:ext cx="14962127" cy="507892"/>
            <a:chOff x="0" y="0"/>
            <a:chExt cx="19949503" cy="67718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9949506" cy="677185"/>
            </a:xfrm>
            <a:custGeom>
              <a:avLst/>
              <a:gdLst/>
              <a:ahLst/>
              <a:cxnLst/>
              <a:rect r="r" b="b" t="t" l="l"/>
              <a:pathLst>
                <a:path h="677185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77185"/>
                  </a:lnTo>
                  <a:lnTo>
                    <a:pt x="0" y="6771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4018" r="0" b="-52401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19949503" cy="686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觸發訊號 1｜缺乏 API → 不做的機會成本開始可觀察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13794" y="9896970"/>
            <a:ext cx="16746607" cy="205902"/>
            <a:chOff x="0" y="0"/>
            <a:chExt cx="22328810" cy="27453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328805" cy="274534"/>
            </a:xfrm>
            <a:custGeom>
              <a:avLst/>
              <a:gdLst/>
              <a:ahLst/>
              <a:cxnLst/>
              <a:rect r="r" b="b" t="t" l="l"/>
              <a:pathLst>
                <a:path h="274534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83" r="0" b="-153478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22328810" cy="274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34"/>
                </a:lnSpc>
              </a:pPr>
              <a:r>
                <a:rPr lang="en-US" sz="945">
                  <a:solidFill>
                    <a:srgbClr val="7994AA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Source: Monex Group Value Creation Story, Value Creation Talk Vol.2.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41245" y="399968"/>
            <a:ext cx="6973167" cy="595052"/>
            <a:chOff x="0" y="0"/>
            <a:chExt cx="9297556" cy="7934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297550" cy="793400"/>
            </a:xfrm>
            <a:custGeom>
              <a:avLst/>
              <a:gdLst/>
              <a:ahLst/>
              <a:cxnLst/>
              <a:rect r="r" b="b" t="t" l="l"/>
              <a:pathLst>
                <a:path h="793400" w="9297550">
                  <a:moveTo>
                    <a:pt x="0" y="0"/>
                  </a:moveTo>
                  <a:lnTo>
                    <a:pt x="9297550" y="0"/>
                  </a:lnTo>
                  <a:lnTo>
                    <a:pt x="9297550" y="793400"/>
                  </a:lnTo>
                  <a:lnTo>
                    <a:pt x="0" y="793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60" r="19291" b="-11081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297556" cy="7934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 案例 2｜au Kabucom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933421"/>
            <a:ext cx="16609333" cy="713794"/>
            <a:chOff x="0" y="0"/>
            <a:chExt cx="22145777" cy="951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82" cy="951720"/>
            </a:xfrm>
            <a:custGeom>
              <a:avLst/>
              <a:gdLst/>
              <a:ahLst/>
              <a:cxnLst/>
              <a:rect r="r" b="b" t="t" l="l"/>
              <a:pathLst>
                <a:path h="951720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1" r="0" b="-4034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145777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先驗證需求，再把 API 直接開給散戶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1245" y="1757020"/>
            <a:ext cx="16472068" cy="789270"/>
            <a:chOff x="0" y="0"/>
            <a:chExt cx="21962758" cy="1052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59" cy="1052364"/>
            </a:xfrm>
            <a:custGeom>
              <a:avLst/>
              <a:gdLst/>
              <a:ahLst/>
              <a:cxnLst/>
              <a:rect r="r" b="b" t="t" l="l"/>
              <a:pathLst>
                <a:path h="1052364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1052364"/>
                  </a:lnTo>
                  <a:lnTo>
                    <a:pt x="0" y="10523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0129" r="0" b="-34317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62758" cy="1052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au Kabucom 不是從零直接開放，而是讓外部工具商在 Kabucom 交易基礎設施上服務散戶，第三方模式累積實際應用後，Kabucom 判斷直接使用 API 的散戶需求提高，於是於2020年開始將Open API 擴大至 Retail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rot="4380">
            <a:off x="1569034" y="4360335"/>
            <a:ext cx="14981206" cy="0"/>
          </a:xfrm>
          <a:prstGeom prst="line">
            <a:avLst/>
          </a:prstGeom>
          <a:ln cap="rnd" w="9525">
            <a:solidFill>
              <a:srgbClr val="36D7E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2282828" y="4135936"/>
            <a:ext cx="458324" cy="458324"/>
            <a:chOff x="0" y="0"/>
            <a:chExt cx="611099" cy="6110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11124" cy="611124"/>
            </a:xfrm>
            <a:custGeom>
              <a:avLst/>
              <a:gdLst/>
              <a:ahLst/>
              <a:cxnLst/>
              <a:rect r="r" b="b" t="t" l="l"/>
              <a:pathLst>
                <a:path h="611124" w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F6FA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647206" y="3404225"/>
            <a:ext cx="1647206" cy="384353"/>
            <a:chOff x="0" y="0"/>
            <a:chExt cx="2196274" cy="5124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6276" cy="512464"/>
            </a:xfrm>
            <a:custGeom>
              <a:avLst/>
              <a:gdLst/>
              <a:ahLst/>
              <a:cxnLst/>
              <a:rect r="r" b="b" t="t" l="l"/>
              <a:pathLst>
                <a:path h="512464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6" r="0" b="-3350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96274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2009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57240" y="5137985"/>
            <a:ext cx="2764412" cy="2489873"/>
            <a:chOff x="0" y="0"/>
            <a:chExt cx="3685883" cy="33198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85794" cy="3319780"/>
            </a:xfrm>
            <a:custGeom>
              <a:avLst/>
              <a:gdLst/>
              <a:ahLst/>
              <a:cxnLst/>
              <a:rect r="r" b="b" t="t" l="l"/>
              <a:pathLst>
                <a:path h="3319780" w="3685794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575177" y="0"/>
                  </a:lnTo>
                  <a:cubicBezTo>
                    <a:pt x="3636264" y="0"/>
                    <a:pt x="3685794" y="49530"/>
                    <a:pt x="3685794" y="110617"/>
                  </a:cubicBezTo>
                  <a:lnTo>
                    <a:pt x="3685794" y="3209163"/>
                  </a:lnTo>
                  <a:cubicBezTo>
                    <a:pt x="3685794" y="3270250"/>
                    <a:pt x="3636264" y="3319780"/>
                    <a:pt x="3575177" y="3319780"/>
                  </a:cubicBezTo>
                  <a:lnTo>
                    <a:pt x="110617" y="3319780"/>
                  </a:lnTo>
                  <a:cubicBezTo>
                    <a:pt x="49530" y="3319780"/>
                    <a:pt x="0" y="3270250"/>
                    <a:pt x="0" y="3209163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72676" y="5518147"/>
            <a:ext cx="2333539" cy="411804"/>
            <a:chOff x="0" y="0"/>
            <a:chExt cx="3111386" cy="5490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11391" cy="549069"/>
            </a:xfrm>
            <a:custGeom>
              <a:avLst/>
              <a:gdLst/>
              <a:ahLst/>
              <a:cxnLst/>
              <a:rect r="r" b="b" t="t" l="l"/>
              <a:pathLst>
                <a:path h="549069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" r="0" b="-6041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3111386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市場高速化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13853" y="6108392"/>
            <a:ext cx="2251186" cy="1070686"/>
            <a:chOff x="0" y="0"/>
            <a:chExt cx="3001582" cy="142758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01577" cy="1427579"/>
            </a:xfrm>
            <a:custGeom>
              <a:avLst/>
              <a:gdLst/>
              <a:ahLst/>
              <a:cxnLst/>
              <a:rect r="r" b="b" t="t" l="l"/>
              <a:pathLst>
                <a:path h="1427579" w="3001577">
                  <a:moveTo>
                    <a:pt x="0" y="0"/>
                  </a:moveTo>
                  <a:lnTo>
                    <a:pt x="3001577" y="0"/>
                  </a:lnTo>
                  <a:lnTo>
                    <a:pt x="3001577" y="1427579"/>
                  </a:lnTo>
                  <a:lnTo>
                    <a:pt x="0" y="1427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22" t="0" r="-11022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001582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5"/>
                </a:lnSpc>
              </a:pPr>
              <a:r>
                <a:rPr lang="en-US" sz="162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公司認為市場高速化後，基礎設施落差可能反映在投資績效。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263583" y="4135936"/>
            <a:ext cx="458324" cy="458324"/>
            <a:chOff x="0" y="0"/>
            <a:chExt cx="611099" cy="61109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11124" cy="611124"/>
            </a:xfrm>
            <a:custGeom>
              <a:avLst/>
              <a:gdLst/>
              <a:ahLst/>
              <a:cxnLst/>
              <a:rect r="r" b="b" t="t" l="l"/>
              <a:pathLst>
                <a:path h="611124" w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F6FAF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5627961" y="3404225"/>
            <a:ext cx="1647206" cy="384353"/>
            <a:chOff x="0" y="0"/>
            <a:chExt cx="2196274" cy="5124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6276" cy="512464"/>
            </a:xfrm>
            <a:custGeom>
              <a:avLst/>
              <a:gdLst/>
              <a:ahLst/>
              <a:cxnLst/>
              <a:rect r="r" b="b" t="t" l="l"/>
              <a:pathLst>
                <a:path h="512464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6" r="0" b="-33507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196274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2012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137985" y="5137985"/>
            <a:ext cx="2764412" cy="2489873"/>
            <a:chOff x="0" y="0"/>
            <a:chExt cx="3685883" cy="331983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685794" cy="3319780"/>
            </a:xfrm>
            <a:custGeom>
              <a:avLst/>
              <a:gdLst/>
              <a:ahLst/>
              <a:cxnLst/>
              <a:rect r="r" b="b" t="t" l="l"/>
              <a:pathLst>
                <a:path h="3319780" w="3685794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575177" y="0"/>
                  </a:lnTo>
                  <a:cubicBezTo>
                    <a:pt x="3636264" y="0"/>
                    <a:pt x="3685794" y="49530"/>
                    <a:pt x="3685794" y="110617"/>
                  </a:cubicBezTo>
                  <a:lnTo>
                    <a:pt x="3685794" y="3209163"/>
                  </a:lnTo>
                  <a:cubicBezTo>
                    <a:pt x="3685794" y="3270250"/>
                    <a:pt x="3636264" y="3319780"/>
                    <a:pt x="3575177" y="3319780"/>
                  </a:cubicBezTo>
                  <a:lnTo>
                    <a:pt x="110617" y="3319780"/>
                  </a:lnTo>
                  <a:cubicBezTo>
                    <a:pt x="49530" y="3319780"/>
                    <a:pt x="0" y="3270250"/>
                    <a:pt x="0" y="3209163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5353421" y="5518147"/>
            <a:ext cx="2333539" cy="411804"/>
            <a:chOff x="0" y="0"/>
            <a:chExt cx="3111386" cy="549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11391" cy="549069"/>
            </a:xfrm>
            <a:custGeom>
              <a:avLst/>
              <a:gdLst/>
              <a:ahLst/>
              <a:cxnLst/>
              <a:rect r="r" b="b" t="t" l="l"/>
              <a:pathLst>
                <a:path h="549069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" r="0" b="-6041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3111386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B2B2C API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5394598" y="6108392"/>
            <a:ext cx="2251186" cy="1070686"/>
            <a:chOff x="0" y="0"/>
            <a:chExt cx="3001582" cy="142758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01577" cy="1427579"/>
            </a:xfrm>
            <a:custGeom>
              <a:avLst/>
              <a:gdLst/>
              <a:ahLst/>
              <a:cxnLst/>
              <a:rect r="r" b="b" t="t" l="l"/>
              <a:pathLst>
                <a:path h="1427579" w="3001577">
                  <a:moveTo>
                    <a:pt x="0" y="0"/>
                  </a:moveTo>
                  <a:lnTo>
                    <a:pt x="3001577" y="0"/>
                  </a:lnTo>
                  <a:lnTo>
                    <a:pt x="3001577" y="1427579"/>
                  </a:lnTo>
                  <a:lnTo>
                    <a:pt x="0" y="1427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22" t="0" r="-11022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001582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5"/>
                </a:lnSpc>
              </a:pPr>
              <a:r>
                <a:rPr lang="en-US" sz="162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kabu.com API 先開給第三方工具、投顧、Prop、Robo-advisers。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44328" y="4135936"/>
            <a:ext cx="458324" cy="458324"/>
            <a:chOff x="0" y="0"/>
            <a:chExt cx="611099" cy="61109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11124" cy="611124"/>
            </a:xfrm>
            <a:custGeom>
              <a:avLst/>
              <a:gdLst/>
              <a:ahLst/>
              <a:cxnLst/>
              <a:rect r="r" b="b" t="t" l="l"/>
              <a:pathLst>
                <a:path h="611124" w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FF9B54"/>
            </a:solidFill>
            <a:ln w="19065" cap="sq">
              <a:solidFill>
                <a:srgbClr val="F6FAF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608706" y="3404225"/>
            <a:ext cx="1647206" cy="384353"/>
            <a:chOff x="0" y="0"/>
            <a:chExt cx="2196274" cy="51247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96276" cy="512464"/>
            </a:xfrm>
            <a:custGeom>
              <a:avLst/>
              <a:gdLst/>
              <a:ahLst/>
              <a:cxnLst/>
              <a:rect r="r" b="b" t="t" l="l"/>
              <a:pathLst>
                <a:path h="512464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6" r="0" b="-3350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196274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9B5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2020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18740" y="5137985"/>
            <a:ext cx="2764412" cy="2489873"/>
            <a:chOff x="0" y="0"/>
            <a:chExt cx="3685883" cy="33198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85794" cy="3319780"/>
            </a:xfrm>
            <a:custGeom>
              <a:avLst/>
              <a:gdLst/>
              <a:ahLst/>
              <a:cxnLst/>
              <a:rect r="r" b="b" t="t" l="l"/>
              <a:pathLst>
                <a:path h="3319780" w="3685794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575177" y="0"/>
                  </a:lnTo>
                  <a:cubicBezTo>
                    <a:pt x="3636264" y="0"/>
                    <a:pt x="3685794" y="49530"/>
                    <a:pt x="3685794" y="110617"/>
                  </a:cubicBezTo>
                  <a:lnTo>
                    <a:pt x="3685794" y="3209163"/>
                  </a:lnTo>
                  <a:cubicBezTo>
                    <a:pt x="3685794" y="3270250"/>
                    <a:pt x="3636264" y="3319780"/>
                    <a:pt x="3575177" y="3319780"/>
                  </a:cubicBezTo>
                  <a:lnTo>
                    <a:pt x="110617" y="3319780"/>
                  </a:lnTo>
                  <a:cubicBezTo>
                    <a:pt x="49530" y="3319780"/>
                    <a:pt x="0" y="3270250"/>
                    <a:pt x="0" y="3209163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FF9B54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334176" y="5518147"/>
            <a:ext cx="2333539" cy="411804"/>
            <a:chOff x="0" y="0"/>
            <a:chExt cx="3111386" cy="5490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111391" cy="549069"/>
            </a:xfrm>
            <a:custGeom>
              <a:avLst/>
              <a:gdLst/>
              <a:ahLst/>
              <a:cxnLst/>
              <a:rect r="r" b="b" t="t" l="l"/>
              <a:pathLst>
                <a:path h="549069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" r="0" b="-6041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111386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需求擴張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375353" y="6108392"/>
            <a:ext cx="2251186" cy="1070686"/>
            <a:chOff x="0" y="0"/>
            <a:chExt cx="3001582" cy="142758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01577" cy="1427579"/>
            </a:xfrm>
            <a:custGeom>
              <a:avLst/>
              <a:gdLst/>
              <a:ahLst/>
              <a:cxnLst/>
              <a:rect r="r" b="b" t="t" l="l"/>
              <a:pathLst>
                <a:path h="1427579" w="3001577">
                  <a:moveTo>
                    <a:pt x="0" y="0"/>
                  </a:moveTo>
                  <a:lnTo>
                    <a:pt x="3001577" y="0"/>
                  </a:lnTo>
                  <a:lnTo>
                    <a:pt x="3001577" y="1427579"/>
                  </a:lnTo>
                  <a:lnTo>
                    <a:pt x="0" y="1427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22" t="0" r="-11022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001582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5"/>
                </a:lnSpc>
              </a:pPr>
              <a:r>
                <a:rPr lang="en-US" sz="162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公司判斷更自由地直接開放給個人投資人的需求提高。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225083" y="4135936"/>
            <a:ext cx="458324" cy="458324"/>
            <a:chOff x="0" y="0"/>
            <a:chExt cx="611099" cy="61109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1124" cy="611124"/>
            </a:xfrm>
            <a:custGeom>
              <a:avLst/>
              <a:gdLst/>
              <a:ahLst/>
              <a:cxnLst/>
              <a:rect r="r" b="b" t="t" l="l"/>
              <a:pathLst>
                <a:path h="611124" w="611124">
                  <a:moveTo>
                    <a:pt x="0" y="305562"/>
                  </a:moveTo>
                  <a:cubicBezTo>
                    <a:pt x="0" y="136779"/>
                    <a:pt x="136779" y="0"/>
                    <a:pt x="305562" y="0"/>
                  </a:cubicBezTo>
                  <a:cubicBezTo>
                    <a:pt x="474345" y="0"/>
                    <a:pt x="611124" y="136779"/>
                    <a:pt x="611124" y="305562"/>
                  </a:cubicBezTo>
                  <a:cubicBezTo>
                    <a:pt x="611124" y="474345"/>
                    <a:pt x="474345" y="611124"/>
                    <a:pt x="305562" y="611124"/>
                  </a:cubicBezTo>
                  <a:cubicBezTo>
                    <a:pt x="136779" y="611124"/>
                    <a:pt x="0" y="474345"/>
                    <a:pt x="0" y="305562"/>
                  </a:cubicBezTo>
                  <a:close/>
                </a:path>
              </a:pathLst>
            </a:custGeom>
            <a:solidFill>
              <a:srgbClr val="69E5A3"/>
            </a:solidFill>
            <a:ln w="19065" cap="sq">
              <a:solidFill>
                <a:srgbClr val="F6FAFF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3589460" y="3404225"/>
            <a:ext cx="1647206" cy="384353"/>
            <a:chOff x="0" y="0"/>
            <a:chExt cx="2196274" cy="51247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196276" cy="512464"/>
            </a:xfrm>
            <a:custGeom>
              <a:avLst/>
              <a:gdLst/>
              <a:ahLst/>
              <a:cxnLst/>
              <a:rect r="r" b="b" t="t" l="l"/>
              <a:pathLst>
                <a:path h="512464" w="2196276">
                  <a:moveTo>
                    <a:pt x="0" y="0"/>
                  </a:moveTo>
                  <a:lnTo>
                    <a:pt x="2196276" y="0"/>
                  </a:lnTo>
                  <a:lnTo>
                    <a:pt x="2196276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506" r="0" b="-33507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196274" cy="512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69E5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2020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099485" y="5137985"/>
            <a:ext cx="2764412" cy="2489873"/>
            <a:chOff x="0" y="0"/>
            <a:chExt cx="3685883" cy="33198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85794" cy="3319780"/>
            </a:xfrm>
            <a:custGeom>
              <a:avLst/>
              <a:gdLst/>
              <a:ahLst/>
              <a:cxnLst/>
              <a:rect r="r" b="b" t="t" l="l"/>
              <a:pathLst>
                <a:path h="3319780" w="3685794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575177" y="0"/>
                  </a:lnTo>
                  <a:cubicBezTo>
                    <a:pt x="3636264" y="0"/>
                    <a:pt x="3685794" y="49530"/>
                    <a:pt x="3685794" y="110617"/>
                  </a:cubicBezTo>
                  <a:lnTo>
                    <a:pt x="3685794" y="3209163"/>
                  </a:lnTo>
                  <a:cubicBezTo>
                    <a:pt x="3685794" y="3270250"/>
                    <a:pt x="3636264" y="3319780"/>
                    <a:pt x="3575177" y="3319780"/>
                  </a:cubicBezTo>
                  <a:lnTo>
                    <a:pt x="110617" y="3319780"/>
                  </a:lnTo>
                  <a:cubicBezTo>
                    <a:pt x="49530" y="3319780"/>
                    <a:pt x="0" y="3270250"/>
                    <a:pt x="0" y="3209163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3314921" y="5518147"/>
            <a:ext cx="2333539" cy="411804"/>
            <a:chOff x="0" y="0"/>
            <a:chExt cx="3111386" cy="54907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11391" cy="549069"/>
            </a:xfrm>
            <a:custGeom>
              <a:avLst/>
              <a:gdLst/>
              <a:ahLst/>
              <a:cxnLst/>
              <a:rect r="r" b="b" t="t" l="l"/>
              <a:pathLst>
                <a:path h="549069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4" r="0" b="-6041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111386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2"/>
                </a:lnSpc>
              </a:pPr>
              <a:r>
                <a:rPr lang="en-US" sz="23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散戶 REST API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356098" y="6108392"/>
            <a:ext cx="2251186" cy="1070686"/>
            <a:chOff x="0" y="0"/>
            <a:chExt cx="3001582" cy="142758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001577" cy="1427579"/>
            </a:xfrm>
            <a:custGeom>
              <a:avLst/>
              <a:gdLst/>
              <a:ahLst/>
              <a:cxnLst/>
              <a:rect r="r" b="b" t="t" l="l"/>
              <a:pathLst>
                <a:path h="1427579" w="3001577">
                  <a:moveTo>
                    <a:pt x="0" y="0"/>
                  </a:moveTo>
                  <a:lnTo>
                    <a:pt x="3001577" y="0"/>
                  </a:lnTo>
                  <a:lnTo>
                    <a:pt x="3001577" y="1427579"/>
                  </a:lnTo>
                  <a:lnTo>
                    <a:pt x="0" y="14275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22" t="0" r="-11022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3001582" cy="142758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45"/>
                </a:lnSpc>
              </a:pPr>
              <a:r>
                <a:rPr lang="en-US" sz="162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kabu Station API 免費提供資料、下單、查詢，並支援多語言與 GitHub 社群。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63142" y="8363769"/>
            <a:ext cx="15530265" cy="870118"/>
            <a:chOff x="0" y="0"/>
            <a:chExt cx="20707020" cy="116015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706969" cy="1160145"/>
            </a:xfrm>
            <a:custGeom>
              <a:avLst/>
              <a:gdLst/>
              <a:ahLst/>
              <a:cxnLst/>
              <a:rect r="r" b="b" t="t" l="l"/>
              <a:pathLst>
                <a:path h="1160145" w="20706969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20594701" y="0"/>
                  </a:lnTo>
                  <a:cubicBezTo>
                    <a:pt x="20656677" y="0"/>
                    <a:pt x="20706969" y="50292"/>
                    <a:pt x="20706969" y="112268"/>
                  </a:cubicBezTo>
                  <a:lnTo>
                    <a:pt x="20706969" y="1047877"/>
                  </a:lnTo>
                  <a:cubicBezTo>
                    <a:pt x="20706969" y="1109853"/>
                    <a:pt x="20656677" y="1160145"/>
                    <a:pt x="20594701" y="1160145"/>
                  </a:cubicBezTo>
                  <a:lnTo>
                    <a:pt x="112268" y="1160145"/>
                  </a:lnTo>
                  <a:cubicBezTo>
                    <a:pt x="50292" y="1160145"/>
                    <a:pt x="0" y="1109853"/>
                    <a:pt x="0" y="1047877"/>
                  </a:cubicBezTo>
                  <a:close/>
                </a:path>
              </a:pathLst>
            </a:custGeom>
            <a:solidFill>
              <a:srgbClr val="101F33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647206" y="8565480"/>
            <a:ext cx="14962127" cy="507892"/>
            <a:chOff x="0" y="0"/>
            <a:chExt cx="19949503" cy="67718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9949506" cy="677185"/>
            </a:xfrm>
            <a:custGeom>
              <a:avLst/>
              <a:gdLst/>
              <a:ahLst/>
              <a:cxnLst/>
              <a:rect r="r" b="b" t="t" l="l"/>
              <a:pathLst>
                <a:path h="677185" w="19949506">
                  <a:moveTo>
                    <a:pt x="0" y="0"/>
                  </a:moveTo>
                  <a:lnTo>
                    <a:pt x="19949506" y="0"/>
                  </a:lnTo>
                  <a:lnTo>
                    <a:pt x="19949506" y="677185"/>
                  </a:lnTo>
                  <a:lnTo>
                    <a:pt x="0" y="6771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4018" r="0" b="-52401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19949503" cy="6867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69E5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觸發訊號 2｜已驗證需求 → 從 B2B2C 擴大為直接散戶 Open API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13794" y="9896970"/>
            <a:ext cx="16746607" cy="205902"/>
            <a:chOff x="0" y="0"/>
            <a:chExt cx="22328810" cy="27453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328805" cy="274534"/>
            </a:xfrm>
            <a:custGeom>
              <a:avLst/>
              <a:gdLst/>
              <a:ahLst/>
              <a:cxnLst/>
              <a:rect r="r" b="b" t="t" l="l"/>
              <a:pathLst>
                <a:path h="274534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83" r="0" b="-153478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22328810" cy="274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34"/>
                </a:lnSpc>
              </a:pPr>
              <a:r>
                <a:rPr lang="en-US" sz="945">
                  <a:solidFill>
                    <a:srgbClr val="7994AA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Sources: au Kabucom press release 2020/08/19; kabu Station API materials.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3794" y="466706"/>
            <a:ext cx="5627961" cy="595104"/>
            <a:chOff x="0" y="0"/>
            <a:chExt cx="7503947" cy="793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Open API｜投入訊號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933421"/>
            <a:ext cx="16609333" cy="795846"/>
            <a:chOff x="0" y="0"/>
            <a:chExt cx="22145777" cy="1061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82" cy="1061121"/>
            </a:xfrm>
            <a:custGeom>
              <a:avLst/>
              <a:gdLst/>
              <a:ahLst/>
              <a:cxnLst/>
              <a:rect r="r" b="b" t="t" l="l"/>
              <a:pathLst>
                <a:path h="1061121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1061121"/>
                  </a:lnTo>
                  <a:lnTo>
                    <a:pt x="0" y="10611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810" r="0" b="-35150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145777" cy="10611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案例整理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1245" y="1757020"/>
            <a:ext cx="16472068" cy="576520"/>
            <a:chOff x="0" y="0"/>
            <a:chExt cx="21962758" cy="768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59" cy="768697"/>
            </a:xfrm>
            <a:custGeom>
              <a:avLst/>
              <a:gdLst/>
              <a:ahLst/>
              <a:cxnLst/>
              <a:rect r="r" b="b" t="t" l="l"/>
              <a:pathLst>
                <a:path h="76869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62758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投入時機的共同點不是「國外有 API」，而是 API 的商業必要性開始有可觀察證據。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9975" y="2392642"/>
            <a:ext cx="8049196" cy="5509755"/>
            <a:chOff x="0" y="0"/>
            <a:chExt cx="10732262" cy="73463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732262" cy="7346442"/>
            </a:xfrm>
            <a:custGeom>
              <a:avLst/>
              <a:gdLst/>
              <a:ahLst/>
              <a:cxnLst/>
              <a:rect r="r" b="b" t="t" l="l"/>
              <a:pathLst>
                <a:path h="7346442" w="10732262">
                  <a:moveTo>
                    <a:pt x="0" y="110236"/>
                  </a:moveTo>
                  <a:cubicBezTo>
                    <a:pt x="0" y="49276"/>
                    <a:pt x="49276" y="0"/>
                    <a:pt x="110236" y="0"/>
                  </a:cubicBezTo>
                  <a:lnTo>
                    <a:pt x="10622026" y="0"/>
                  </a:lnTo>
                  <a:cubicBezTo>
                    <a:pt x="10682859" y="0"/>
                    <a:pt x="10732262" y="49276"/>
                    <a:pt x="10732262" y="110236"/>
                  </a:cubicBezTo>
                  <a:lnTo>
                    <a:pt x="10732262" y="7236206"/>
                  </a:lnTo>
                  <a:cubicBezTo>
                    <a:pt x="10732262" y="7297038"/>
                    <a:pt x="10682986" y="7346442"/>
                    <a:pt x="10622026" y="7346442"/>
                  </a:cubicBezTo>
                  <a:lnTo>
                    <a:pt x="110236" y="7346442"/>
                  </a:lnTo>
                  <a:cubicBezTo>
                    <a:pt x="49403" y="7346442"/>
                    <a:pt x="0" y="7297165"/>
                    <a:pt x="0" y="7236206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FF9B54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41304" y="2813980"/>
            <a:ext cx="7206529" cy="521618"/>
            <a:chOff x="0" y="0"/>
            <a:chExt cx="9608706" cy="69549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608707" cy="695487"/>
            </a:xfrm>
            <a:custGeom>
              <a:avLst/>
              <a:gdLst/>
              <a:ahLst/>
              <a:cxnLst/>
              <a:rect r="r" b="b" t="t" l="l"/>
              <a:pathLst>
                <a:path h="695487" w="9608707">
                  <a:moveTo>
                    <a:pt x="0" y="0"/>
                  </a:moveTo>
                  <a:lnTo>
                    <a:pt x="9608707" y="0"/>
                  </a:lnTo>
                  <a:lnTo>
                    <a:pt x="960870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00" r="0" b="-21920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9608706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2" b="true">
                  <a:solidFill>
                    <a:srgbClr val="FF9B5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Monex 型訊號：不做開始有成本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118112" y="3724132"/>
            <a:ext cx="5784285" cy="650491"/>
            <a:chOff x="0" y="0"/>
            <a:chExt cx="7712380" cy="8673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712456" cy="867410"/>
            </a:xfrm>
            <a:custGeom>
              <a:avLst/>
              <a:gdLst/>
              <a:ahLst/>
              <a:cxnLst/>
              <a:rect r="r" b="b" t="t" l="l"/>
              <a:pathLst>
                <a:path h="867410" w="7712456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7561580" y="0"/>
                  </a:lnTo>
                  <a:cubicBezTo>
                    <a:pt x="7644892" y="0"/>
                    <a:pt x="7712456" y="67564"/>
                    <a:pt x="7712456" y="150876"/>
                  </a:cubicBezTo>
                  <a:lnTo>
                    <a:pt x="7712456" y="716534"/>
                  </a:lnTo>
                  <a:cubicBezTo>
                    <a:pt x="7712456" y="799846"/>
                    <a:pt x="7644892" y="867410"/>
                    <a:pt x="7561580" y="867410"/>
                  </a:cubicBezTo>
                  <a:lnTo>
                    <a:pt x="150876" y="867410"/>
                  </a:lnTo>
                  <a:cubicBezTo>
                    <a:pt x="67564" y="867283"/>
                    <a:pt x="0" y="799846"/>
                    <a:pt x="0" y="716534"/>
                  </a:cubicBezTo>
                  <a:close/>
                </a:path>
              </a:pathLst>
            </a:custGeom>
            <a:solidFill>
              <a:srgbClr val="263852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2264912" y="3877799"/>
            <a:ext cx="5490686" cy="288265"/>
            <a:chOff x="0" y="0"/>
            <a:chExt cx="7320915" cy="38435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20920" cy="384348"/>
            </a:xfrm>
            <a:custGeom>
              <a:avLst/>
              <a:gdLst/>
              <a:ahLst/>
              <a:cxnLst/>
              <a:rect r="r" b="b" t="t" l="l"/>
              <a:pathLst>
                <a:path h="384348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384348"/>
                  </a:lnTo>
                  <a:lnTo>
                    <a:pt x="0" y="384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42" r="0" b="-32114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7320915" cy="384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缺乏 API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18112" y="4506563"/>
            <a:ext cx="5784285" cy="650491"/>
            <a:chOff x="0" y="0"/>
            <a:chExt cx="7712380" cy="8673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12456" cy="867410"/>
            </a:xfrm>
            <a:custGeom>
              <a:avLst/>
              <a:gdLst/>
              <a:ahLst/>
              <a:cxnLst/>
              <a:rect r="r" b="b" t="t" l="l"/>
              <a:pathLst>
                <a:path h="867410" w="7712456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7561580" y="0"/>
                  </a:lnTo>
                  <a:cubicBezTo>
                    <a:pt x="7644892" y="0"/>
                    <a:pt x="7712456" y="67564"/>
                    <a:pt x="7712456" y="150876"/>
                  </a:cubicBezTo>
                  <a:lnTo>
                    <a:pt x="7712456" y="716534"/>
                  </a:lnTo>
                  <a:cubicBezTo>
                    <a:pt x="7712456" y="799846"/>
                    <a:pt x="7644892" y="867410"/>
                    <a:pt x="7561580" y="867410"/>
                  </a:cubicBezTo>
                  <a:lnTo>
                    <a:pt x="150876" y="867410"/>
                  </a:lnTo>
                  <a:cubicBezTo>
                    <a:pt x="67564" y="867283"/>
                    <a:pt x="0" y="799846"/>
                    <a:pt x="0" y="716534"/>
                  </a:cubicBezTo>
                  <a:close/>
                </a:path>
              </a:pathLst>
            </a:custGeom>
            <a:solidFill>
              <a:srgbClr val="263852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2264912" y="4660221"/>
            <a:ext cx="5490686" cy="288265"/>
            <a:chOff x="0" y="0"/>
            <a:chExt cx="7320915" cy="38435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20920" cy="384348"/>
            </a:xfrm>
            <a:custGeom>
              <a:avLst/>
              <a:gdLst/>
              <a:ahLst/>
              <a:cxnLst/>
              <a:rect r="r" b="b" t="t" l="l"/>
              <a:pathLst>
                <a:path h="384348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384348"/>
                  </a:lnTo>
                  <a:lnTo>
                    <a:pt x="0" y="384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42" r="0" b="-32114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7320915" cy="384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重複開發 / 整合慢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118112" y="5288985"/>
            <a:ext cx="5784285" cy="650491"/>
            <a:chOff x="0" y="0"/>
            <a:chExt cx="7712380" cy="86732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712456" cy="867410"/>
            </a:xfrm>
            <a:custGeom>
              <a:avLst/>
              <a:gdLst/>
              <a:ahLst/>
              <a:cxnLst/>
              <a:rect r="r" b="b" t="t" l="l"/>
              <a:pathLst>
                <a:path h="867410" w="7712456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7561580" y="0"/>
                  </a:lnTo>
                  <a:cubicBezTo>
                    <a:pt x="7644892" y="0"/>
                    <a:pt x="7712456" y="67564"/>
                    <a:pt x="7712456" y="150876"/>
                  </a:cubicBezTo>
                  <a:lnTo>
                    <a:pt x="7712456" y="716534"/>
                  </a:lnTo>
                  <a:cubicBezTo>
                    <a:pt x="7712456" y="799846"/>
                    <a:pt x="7644892" y="867410"/>
                    <a:pt x="7561580" y="867410"/>
                  </a:cubicBezTo>
                  <a:lnTo>
                    <a:pt x="150876" y="867410"/>
                  </a:lnTo>
                  <a:cubicBezTo>
                    <a:pt x="67564" y="867283"/>
                    <a:pt x="0" y="799846"/>
                    <a:pt x="0" y="716534"/>
                  </a:cubicBezTo>
                  <a:close/>
                </a:path>
              </a:pathLst>
            </a:custGeom>
            <a:solidFill>
              <a:srgbClr val="263852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2264912" y="5442642"/>
            <a:ext cx="5490686" cy="288265"/>
            <a:chOff x="0" y="0"/>
            <a:chExt cx="7320915" cy="38435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20920" cy="384348"/>
            </a:xfrm>
            <a:custGeom>
              <a:avLst/>
              <a:gdLst/>
              <a:ahLst/>
              <a:cxnLst/>
              <a:rect r="r" b="b" t="t" l="l"/>
              <a:pathLst>
                <a:path h="384348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384348"/>
                  </a:lnTo>
                  <a:lnTo>
                    <a:pt x="0" y="384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42" r="0" b="-32114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7320915" cy="384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錯失合作機會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118112" y="6071406"/>
            <a:ext cx="5784285" cy="650491"/>
            <a:chOff x="0" y="0"/>
            <a:chExt cx="7712380" cy="86732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712456" cy="867410"/>
            </a:xfrm>
            <a:custGeom>
              <a:avLst/>
              <a:gdLst/>
              <a:ahLst/>
              <a:cxnLst/>
              <a:rect r="r" b="b" t="t" l="l"/>
              <a:pathLst>
                <a:path h="867410" w="7712456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7561580" y="0"/>
                  </a:lnTo>
                  <a:cubicBezTo>
                    <a:pt x="7644892" y="0"/>
                    <a:pt x="7712456" y="67564"/>
                    <a:pt x="7712456" y="150876"/>
                  </a:cubicBezTo>
                  <a:lnTo>
                    <a:pt x="7712456" y="716534"/>
                  </a:lnTo>
                  <a:cubicBezTo>
                    <a:pt x="7712456" y="799846"/>
                    <a:pt x="7644892" y="867410"/>
                    <a:pt x="7561580" y="867410"/>
                  </a:cubicBezTo>
                  <a:lnTo>
                    <a:pt x="150876" y="867410"/>
                  </a:lnTo>
                  <a:cubicBezTo>
                    <a:pt x="67564" y="867283"/>
                    <a:pt x="0" y="799846"/>
                    <a:pt x="0" y="716534"/>
                  </a:cubicBezTo>
                  <a:close/>
                </a:path>
              </a:pathLst>
            </a:custGeom>
            <a:solidFill>
              <a:srgbClr val="54401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2264912" y="6225073"/>
            <a:ext cx="5490686" cy="288265"/>
            <a:chOff x="0" y="0"/>
            <a:chExt cx="7320915" cy="38435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20920" cy="384348"/>
            </a:xfrm>
            <a:custGeom>
              <a:avLst/>
              <a:gdLst/>
              <a:ahLst/>
              <a:cxnLst/>
              <a:rect r="r" b="b" t="t" l="l"/>
              <a:pathLst>
                <a:path h="384348" w="7320920">
                  <a:moveTo>
                    <a:pt x="0" y="0"/>
                  </a:moveTo>
                  <a:lnTo>
                    <a:pt x="7320920" y="0"/>
                  </a:lnTo>
                  <a:lnTo>
                    <a:pt x="7320920" y="384348"/>
                  </a:lnTo>
                  <a:lnTo>
                    <a:pt x="0" y="384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1142" r="0" b="-32114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7320915" cy="384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建立 Common API Platform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530544" y="2392642"/>
            <a:ext cx="7774667" cy="5509755"/>
            <a:chOff x="0" y="0"/>
            <a:chExt cx="10366223" cy="73463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366248" cy="7346442"/>
            </a:xfrm>
            <a:custGeom>
              <a:avLst/>
              <a:gdLst/>
              <a:ahLst/>
              <a:cxnLst/>
              <a:rect r="r" b="b" t="t" l="l"/>
              <a:pathLst>
                <a:path h="7346442" w="10366248">
                  <a:moveTo>
                    <a:pt x="0" y="110236"/>
                  </a:moveTo>
                  <a:cubicBezTo>
                    <a:pt x="0" y="49276"/>
                    <a:pt x="49276" y="0"/>
                    <a:pt x="110236" y="0"/>
                  </a:cubicBezTo>
                  <a:lnTo>
                    <a:pt x="10256012" y="0"/>
                  </a:lnTo>
                  <a:cubicBezTo>
                    <a:pt x="10316845" y="0"/>
                    <a:pt x="10366248" y="49276"/>
                    <a:pt x="10366248" y="110236"/>
                  </a:cubicBezTo>
                  <a:lnTo>
                    <a:pt x="10366248" y="7236206"/>
                  </a:lnTo>
                  <a:cubicBezTo>
                    <a:pt x="10366248" y="7297038"/>
                    <a:pt x="10316972" y="7346442"/>
                    <a:pt x="10256012" y="7346442"/>
                  </a:cubicBezTo>
                  <a:lnTo>
                    <a:pt x="110236" y="7346442"/>
                  </a:lnTo>
                  <a:cubicBezTo>
                    <a:pt x="49403" y="7346442"/>
                    <a:pt x="0" y="7297165"/>
                    <a:pt x="0" y="7236206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9951872" y="2813980"/>
            <a:ext cx="6932000" cy="521618"/>
            <a:chOff x="0" y="0"/>
            <a:chExt cx="9242666" cy="6954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242661" cy="695487"/>
            </a:xfrm>
            <a:custGeom>
              <a:avLst/>
              <a:gdLst/>
              <a:ahLst/>
              <a:cxnLst/>
              <a:rect r="r" b="b" t="t" l="l"/>
              <a:pathLst>
                <a:path h="695487" w="9242661">
                  <a:moveTo>
                    <a:pt x="0" y="0"/>
                  </a:moveTo>
                  <a:lnTo>
                    <a:pt x="9242661" y="0"/>
                  </a:lnTo>
                  <a:lnTo>
                    <a:pt x="9242661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8945" r="0" b="-20894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9242666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82"/>
                </a:lnSpc>
              </a:pPr>
              <a:r>
                <a:rPr lang="en-US" sz="3152" b="true">
                  <a:solidFill>
                    <a:srgbClr val="69E5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Kabucom 型訊號：需求已可擴張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0422779" y="3724132"/>
            <a:ext cx="5715657" cy="650491"/>
            <a:chOff x="0" y="0"/>
            <a:chExt cx="7620876" cy="86732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20889" cy="867410"/>
            </a:xfrm>
            <a:custGeom>
              <a:avLst/>
              <a:gdLst/>
              <a:ahLst/>
              <a:cxnLst/>
              <a:rect r="r" b="b" t="t" l="l"/>
              <a:pathLst>
                <a:path h="867410" w="7620889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7470013" y="0"/>
                  </a:lnTo>
                  <a:cubicBezTo>
                    <a:pt x="7553325" y="0"/>
                    <a:pt x="7620889" y="67564"/>
                    <a:pt x="7620889" y="150876"/>
                  </a:cubicBezTo>
                  <a:lnTo>
                    <a:pt x="7620889" y="716534"/>
                  </a:lnTo>
                  <a:cubicBezTo>
                    <a:pt x="7620889" y="799846"/>
                    <a:pt x="7553325" y="867410"/>
                    <a:pt x="7470013" y="867410"/>
                  </a:cubicBezTo>
                  <a:lnTo>
                    <a:pt x="150876" y="867410"/>
                  </a:lnTo>
                  <a:cubicBezTo>
                    <a:pt x="67564" y="867283"/>
                    <a:pt x="0" y="799846"/>
                    <a:pt x="0" y="716534"/>
                  </a:cubicBezTo>
                  <a:close/>
                </a:path>
              </a:pathLst>
            </a:custGeom>
            <a:solidFill>
              <a:srgbClr val="203E45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569578" y="3877799"/>
            <a:ext cx="5422059" cy="288265"/>
            <a:chOff x="0" y="0"/>
            <a:chExt cx="7229412" cy="38435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29408" cy="384348"/>
            </a:xfrm>
            <a:custGeom>
              <a:avLst/>
              <a:gdLst/>
              <a:ahLst/>
              <a:cxnLst/>
              <a:rect r="r" b="b" t="t" l="l"/>
              <a:pathLst>
                <a:path h="384348" w="7229408">
                  <a:moveTo>
                    <a:pt x="0" y="0"/>
                  </a:moveTo>
                  <a:lnTo>
                    <a:pt x="7229408" y="0"/>
                  </a:lnTo>
                  <a:lnTo>
                    <a:pt x="7229408" y="384348"/>
                  </a:lnTo>
                  <a:lnTo>
                    <a:pt x="0" y="384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503" r="0" b="-316505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7229412" cy="384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既有 B2B2C API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422779" y="4506563"/>
            <a:ext cx="5715657" cy="650491"/>
            <a:chOff x="0" y="0"/>
            <a:chExt cx="7620876" cy="86732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889" cy="867410"/>
            </a:xfrm>
            <a:custGeom>
              <a:avLst/>
              <a:gdLst/>
              <a:ahLst/>
              <a:cxnLst/>
              <a:rect r="r" b="b" t="t" l="l"/>
              <a:pathLst>
                <a:path h="867410" w="7620889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7470013" y="0"/>
                  </a:lnTo>
                  <a:cubicBezTo>
                    <a:pt x="7553325" y="0"/>
                    <a:pt x="7620889" y="67564"/>
                    <a:pt x="7620889" y="150876"/>
                  </a:cubicBezTo>
                  <a:lnTo>
                    <a:pt x="7620889" y="716534"/>
                  </a:lnTo>
                  <a:cubicBezTo>
                    <a:pt x="7620889" y="799846"/>
                    <a:pt x="7553325" y="867410"/>
                    <a:pt x="7470013" y="867410"/>
                  </a:cubicBezTo>
                  <a:lnTo>
                    <a:pt x="150876" y="867410"/>
                  </a:lnTo>
                  <a:cubicBezTo>
                    <a:pt x="67564" y="867283"/>
                    <a:pt x="0" y="799846"/>
                    <a:pt x="0" y="716534"/>
                  </a:cubicBezTo>
                  <a:close/>
                </a:path>
              </a:pathLst>
            </a:custGeom>
            <a:solidFill>
              <a:srgbClr val="203E45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569578" y="4660221"/>
            <a:ext cx="5422059" cy="288265"/>
            <a:chOff x="0" y="0"/>
            <a:chExt cx="7229412" cy="38435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29408" cy="384348"/>
            </a:xfrm>
            <a:custGeom>
              <a:avLst/>
              <a:gdLst/>
              <a:ahLst/>
              <a:cxnLst/>
              <a:rect r="r" b="b" t="t" l="l"/>
              <a:pathLst>
                <a:path h="384348" w="7229408">
                  <a:moveTo>
                    <a:pt x="0" y="0"/>
                  </a:moveTo>
                  <a:lnTo>
                    <a:pt x="7229408" y="0"/>
                  </a:lnTo>
                  <a:lnTo>
                    <a:pt x="7229408" y="384348"/>
                  </a:lnTo>
                  <a:lnTo>
                    <a:pt x="0" y="384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503" r="0" b="-31650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7229412" cy="384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Programmable usage 已存在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422779" y="5288985"/>
            <a:ext cx="5715657" cy="650491"/>
            <a:chOff x="0" y="0"/>
            <a:chExt cx="7620876" cy="867321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620889" cy="867410"/>
            </a:xfrm>
            <a:custGeom>
              <a:avLst/>
              <a:gdLst/>
              <a:ahLst/>
              <a:cxnLst/>
              <a:rect r="r" b="b" t="t" l="l"/>
              <a:pathLst>
                <a:path h="867410" w="7620889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7470013" y="0"/>
                  </a:lnTo>
                  <a:cubicBezTo>
                    <a:pt x="7553325" y="0"/>
                    <a:pt x="7620889" y="67564"/>
                    <a:pt x="7620889" y="150876"/>
                  </a:cubicBezTo>
                  <a:lnTo>
                    <a:pt x="7620889" y="716534"/>
                  </a:lnTo>
                  <a:cubicBezTo>
                    <a:pt x="7620889" y="799846"/>
                    <a:pt x="7553325" y="867410"/>
                    <a:pt x="7470013" y="867410"/>
                  </a:cubicBezTo>
                  <a:lnTo>
                    <a:pt x="150876" y="867410"/>
                  </a:lnTo>
                  <a:cubicBezTo>
                    <a:pt x="67564" y="867283"/>
                    <a:pt x="0" y="799846"/>
                    <a:pt x="0" y="716534"/>
                  </a:cubicBezTo>
                  <a:close/>
                </a:path>
              </a:pathLst>
            </a:custGeom>
            <a:solidFill>
              <a:srgbClr val="203E45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0569578" y="5442642"/>
            <a:ext cx="5422059" cy="288265"/>
            <a:chOff x="0" y="0"/>
            <a:chExt cx="7229412" cy="38435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229408" cy="384348"/>
            </a:xfrm>
            <a:custGeom>
              <a:avLst/>
              <a:gdLst/>
              <a:ahLst/>
              <a:cxnLst/>
              <a:rect r="r" b="b" t="t" l="l"/>
              <a:pathLst>
                <a:path h="384348" w="7229408">
                  <a:moveTo>
                    <a:pt x="0" y="0"/>
                  </a:moveTo>
                  <a:lnTo>
                    <a:pt x="7229408" y="0"/>
                  </a:lnTo>
                  <a:lnTo>
                    <a:pt x="7229408" y="384348"/>
                  </a:lnTo>
                  <a:lnTo>
                    <a:pt x="0" y="384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503" r="0" b="-31650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7229412" cy="384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更廣 散戶 需求提高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422779" y="6071406"/>
            <a:ext cx="5715657" cy="650491"/>
            <a:chOff x="0" y="0"/>
            <a:chExt cx="7620876" cy="86732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620889" cy="867410"/>
            </a:xfrm>
            <a:custGeom>
              <a:avLst/>
              <a:gdLst/>
              <a:ahLst/>
              <a:cxnLst/>
              <a:rect r="r" b="b" t="t" l="l"/>
              <a:pathLst>
                <a:path h="867410" w="7620889">
                  <a:moveTo>
                    <a:pt x="0" y="150876"/>
                  </a:moveTo>
                  <a:cubicBezTo>
                    <a:pt x="0" y="67564"/>
                    <a:pt x="67564" y="0"/>
                    <a:pt x="150876" y="0"/>
                  </a:cubicBezTo>
                  <a:lnTo>
                    <a:pt x="7470013" y="0"/>
                  </a:lnTo>
                  <a:cubicBezTo>
                    <a:pt x="7553325" y="0"/>
                    <a:pt x="7620889" y="67564"/>
                    <a:pt x="7620889" y="150876"/>
                  </a:cubicBezTo>
                  <a:lnTo>
                    <a:pt x="7620889" y="716534"/>
                  </a:lnTo>
                  <a:cubicBezTo>
                    <a:pt x="7620889" y="799846"/>
                    <a:pt x="7553325" y="867410"/>
                    <a:pt x="7470013" y="867410"/>
                  </a:cubicBezTo>
                  <a:lnTo>
                    <a:pt x="150876" y="867410"/>
                  </a:lnTo>
                  <a:cubicBezTo>
                    <a:pt x="67564" y="867283"/>
                    <a:pt x="0" y="799846"/>
                    <a:pt x="0" y="716534"/>
                  </a:cubicBezTo>
                  <a:close/>
                </a:path>
              </a:pathLst>
            </a:custGeom>
            <a:solidFill>
              <a:srgbClr val="164B37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569578" y="6225073"/>
            <a:ext cx="5422059" cy="288265"/>
            <a:chOff x="0" y="0"/>
            <a:chExt cx="7229412" cy="38435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229408" cy="384348"/>
            </a:xfrm>
            <a:custGeom>
              <a:avLst/>
              <a:gdLst/>
              <a:ahLst/>
              <a:cxnLst/>
              <a:rect r="r" b="b" t="t" l="l"/>
              <a:pathLst>
                <a:path h="384348" w="7229408">
                  <a:moveTo>
                    <a:pt x="0" y="0"/>
                  </a:moveTo>
                  <a:lnTo>
                    <a:pt x="7229408" y="0"/>
                  </a:lnTo>
                  <a:lnTo>
                    <a:pt x="7229408" y="384348"/>
                  </a:lnTo>
                  <a:lnTo>
                    <a:pt x="0" y="3843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6503" r="0" b="-31650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7229412" cy="384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直接開放散戶 REST API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72676" y="8579206"/>
            <a:ext cx="15511196" cy="795801"/>
            <a:chOff x="0" y="0"/>
            <a:chExt cx="20681594" cy="10610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681598" cy="1061069"/>
            </a:xfrm>
            <a:custGeom>
              <a:avLst/>
              <a:gdLst/>
              <a:ahLst/>
              <a:cxnLst/>
              <a:rect r="r" b="b" t="t" l="l"/>
              <a:pathLst>
                <a:path h="1061069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061069"/>
                  </a:lnTo>
                  <a:lnTo>
                    <a:pt x="0" y="1061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5290" r="0" b="-31428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20681594" cy="10610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62"/>
                </a:lnSpc>
              </a:pPr>
              <a:r>
                <a:rPr lang="en-US" sz="4052" b="true">
                  <a:solidFill>
                    <a:srgbClr val="FF3131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是否已有「不做的成本」？或是否已有「可擴張的需求」？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3794" y="466706"/>
            <a:ext cx="5627961" cy="595104"/>
            <a:chOff x="0" y="0"/>
            <a:chExt cx="7503947" cy="793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Algo｜核心問題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933421"/>
            <a:ext cx="16609333" cy="713794"/>
            <a:chOff x="0" y="0"/>
            <a:chExt cx="22145777" cy="951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82" cy="951720"/>
            </a:xfrm>
            <a:custGeom>
              <a:avLst/>
              <a:gdLst/>
              <a:ahLst/>
              <a:cxnLst/>
              <a:rect r="r" b="b" t="t" l="l"/>
              <a:pathLst>
                <a:path h="951720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1" r="0" b="-4034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145777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法人自動化交易，源頭是執行問題而不是 API 本身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1245" y="1757020"/>
            <a:ext cx="16472068" cy="576520"/>
            <a:chOff x="0" y="0"/>
            <a:chExt cx="21962758" cy="768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59" cy="768697"/>
            </a:xfrm>
            <a:custGeom>
              <a:avLst/>
              <a:gdLst/>
              <a:ahLst/>
              <a:cxnLst/>
              <a:rect r="r" b="b" t="t" l="l"/>
              <a:pathLst>
                <a:path h="76869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62758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海外案例提供兩種可被台灣檢驗的執行問題：WHERE 與 HOW。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7240" y="2873083"/>
            <a:ext cx="7637393" cy="4137079"/>
            <a:chOff x="0" y="0"/>
            <a:chExt cx="10183190" cy="551610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83241" cy="5516118"/>
            </a:xfrm>
            <a:custGeom>
              <a:avLst/>
              <a:gdLst/>
              <a:ahLst/>
              <a:cxnLst/>
              <a:rect r="r" b="b" t="t" l="l"/>
              <a:pathLst>
                <a:path h="5516118" w="10183241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10072878" y="0"/>
                  </a:lnTo>
                  <a:cubicBezTo>
                    <a:pt x="10133838" y="0"/>
                    <a:pt x="10183241" y="49403"/>
                    <a:pt x="10183241" y="110363"/>
                  </a:cubicBezTo>
                  <a:lnTo>
                    <a:pt x="10183241" y="5405755"/>
                  </a:lnTo>
                  <a:cubicBezTo>
                    <a:pt x="10183241" y="5466715"/>
                    <a:pt x="10133838" y="5516118"/>
                    <a:pt x="10072878" y="5516118"/>
                  </a:cubicBezTo>
                  <a:lnTo>
                    <a:pt x="110363" y="5516118"/>
                  </a:lnTo>
                  <a:cubicBezTo>
                    <a:pt x="49403" y="5516118"/>
                    <a:pt x="0" y="5466715"/>
                    <a:pt x="0" y="5405755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578569" y="3363049"/>
            <a:ext cx="6863363" cy="576520"/>
            <a:chOff x="0" y="0"/>
            <a:chExt cx="9151150" cy="76869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151149" cy="768697"/>
            </a:xfrm>
            <a:custGeom>
              <a:avLst/>
              <a:gdLst/>
              <a:ahLst/>
              <a:cxnLst/>
              <a:rect r="r" b="b" t="t" l="l"/>
              <a:pathLst>
                <a:path h="768697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9151150" cy="778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3"/>
                </a:lnSpc>
              </a:pPr>
              <a:r>
                <a:rPr lang="en-US" sz="3752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美國｜WHERE 問題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853108" y="4255284"/>
            <a:ext cx="6314294" cy="1098137"/>
            <a:chOff x="0" y="0"/>
            <a:chExt cx="8419059" cy="146418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9057" cy="1464184"/>
            </a:xfrm>
            <a:custGeom>
              <a:avLst/>
              <a:gdLst/>
              <a:ahLst/>
              <a:cxnLst/>
              <a:rect r="r" b="b" t="t" l="l"/>
              <a:pathLst>
                <a:path h="1464184" w="8419057">
                  <a:moveTo>
                    <a:pt x="0" y="0"/>
                  </a:moveTo>
                  <a:lnTo>
                    <a:pt x="8419057" y="0"/>
                  </a:lnTo>
                  <a:lnTo>
                    <a:pt x="8419057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9" r="0" b="-6203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8419059" cy="1473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同一證券分散在多個 Venue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→ 訂單應該送去哪裡？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53108" y="5833853"/>
            <a:ext cx="6314294" cy="411804"/>
            <a:chOff x="0" y="0"/>
            <a:chExt cx="8419059" cy="5490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19057" cy="549069"/>
            </a:xfrm>
            <a:custGeom>
              <a:avLst/>
              <a:gdLst/>
              <a:ahLst/>
              <a:cxnLst/>
              <a:rect r="r" b="b" t="t" l="l"/>
              <a:pathLst>
                <a:path h="549069" w="8419057">
                  <a:moveTo>
                    <a:pt x="0" y="0"/>
                  </a:moveTo>
                  <a:lnTo>
                    <a:pt x="8419057" y="0"/>
                  </a:lnTo>
                  <a:lnTo>
                    <a:pt x="841905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8419059" cy="5395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對應能力：SOR / Automated Routing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30544" y="2873083"/>
            <a:ext cx="7637393" cy="4137079"/>
            <a:chOff x="0" y="0"/>
            <a:chExt cx="10183190" cy="551610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83241" cy="5516118"/>
            </a:xfrm>
            <a:custGeom>
              <a:avLst/>
              <a:gdLst/>
              <a:ahLst/>
              <a:cxnLst/>
              <a:rect r="r" b="b" t="t" l="l"/>
              <a:pathLst>
                <a:path h="5516118" w="10183241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10072878" y="0"/>
                  </a:lnTo>
                  <a:cubicBezTo>
                    <a:pt x="10133838" y="0"/>
                    <a:pt x="10183241" y="49403"/>
                    <a:pt x="10183241" y="110363"/>
                  </a:cubicBezTo>
                  <a:lnTo>
                    <a:pt x="10183241" y="5405755"/>
                  </a:lnTo>
                  <a:cubicBezTo>
                    <a:pt x="10183241" y="5466715"/>
                    <a:pt x="10133838" y="5516118"/>
                    <a:pt x="10072878" y="5516118"/>
                  </a:cubicBezTo>
                  <a:lnTo>
                    <a:pt x="110363" y="5516118"/>
                  </a:lnTo>
                  <a:cubicBezTo>
                    <a:pt x="49403" y="5516118"/>
                    <a:pt x="0" y="5466715"/>
                    <a:pt x="0" y="5405755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951872" y="3363049"/>
            <a:ext cx="6863363" cy="576520"/>
            <a:chOff x="0" y="0"/>
            <a:chExt cx="9151150" cy="76869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51149" cy="768697"/>
            </a:xfrm>
            <a:custGeom>
              <a:avLst/>
              <a:gdLst/>
              <a:ahLst/>
              <a:cxnLst/>
              <a:rect r="r" b="b" t="t" l="l"/>
              <a:pathLst>
                <a:path h="768697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1964" r="0" b="-18196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9151150" cy="7782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3"/>
                </a:lnSpc>
              </a:pPr>
              <a:r>
                <a:rPr lang="en-US" sz="3752" b="true">
                  <a:solidFill>
                    <a:srgbClr val="69E5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韓國｜HOW 問題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26411" y="4255284"/>
            <a:ext cx="6314294" cy="1098137"/>
            <a:chOff x="0" y="0"/>
            <a:chExt cx="8419059" cy="146418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19057" cy="1464184"/>
            </a:xfrm>
            <a:custGeom>
              <a:avLst/>
              <a:gdLst/>
              <a:ahLst/>
              <a:cxnLst/>
              <a:rect r="r" b="b" t="t" l="l"/>
              <a:pathLst>
                <a:path h="1464184" w="8419057">
                  <a:moveTo>
                    <a:pt x="0" y="0"/>
                  </a:moveTo>
                  <a:lnTo>
                    <a:pt x="8419057" y="0"/>
                  </a:lnTo>
                  <a:lnTo>
                    <a:pt x="8419057" y="1464184"/>
                  </a:lnTo>
                  <a:lnTo>
                    <a:pt x="0" y="1464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039" r="0" b="-6203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8419059" cy="14737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同一策略牽涉多商品 / 多訂單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→ 訂單應該如何同步執行？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226411" y="5833853"/>
            <a:ext cx="6314294" cy="411804"/>
            <a:chOff x="0" y="0"/>
            <a:chExt cx="8419059" cy="54907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419057" cy="549069"/>
            </a:xfrm>
            <a:custGeom>
              <a:avLst/>
              <a:gdLst/>
              <a:ahLst/>
              <a:cxnLst/>
              <a:rect r="r" b="b" t="t" l="l"/>
              <a:pathLst>
                <a:path h="549069" w="8419057">
                  <a:moveTo>
                    <a:pt x="0" y="0"/>
                  </a:moveTo>
                  <a:lnTo>
                    <a:pt x="8419057" y="0"/>
                  </a:lnTo>
                  <a:lnTo>
                    <a:pt x="8419057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770" r="0" b="-24877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8419059" cy="5395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對應能力：Program / Basket Algo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72676" y="8373304"/>
            <a:ext cx="15373931" cy="549069"/>
            <a:chOff x="0" y="0"/>
            <a:chExt cx="20498575" cy="7320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98575" cy="732092"/>
            </a:xfrm>
            <a:custGeom>
              <a:avLst/>
              <a:gdLst/>
              <a:ahLst/>
              <a:cxnLst/>
              <a:rect r="r" b="b" t="t" l="l"/>
              <a:pathLst>
                <a:path h="732092" w="20498575">
                  <a:moveTo>
                    <a:pt x="0" y="0"/>
                  </a:moveTo>
                  <a:lnTo>
                    <a:pt x="20498575" y="0"/>
                  </a:lnTo>
                  <a:lnTo>
                    <a:pt x="2049857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5581" r="0" b="-49558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0498575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22"/>
                </a:lnSpc>
              </a:pPr>
              <a:r>
                <a:rPr lang="en-US" sz="2852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台灣不能只問「有沒有多交易所」；也要問是否存在 HOW 型的執行複雜度。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3794" y="466706"/>
            <a:ext cx="5627961" cy="595104"/>
            <a:chOff x="0" y="0"/>
            <a:chExt cx="7503947" cy="793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案例｜美國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933421"/>
            <a:ext cx="16609333" cy="713794"/>
            <a:chOff x="0" y="0"/>
            <a:chExt cx="22145777" cy="951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82" cy="951720"/>
            </a:xfrm>
            <a:custGeom>
              <a:avLst/>
              <a:gdLst/>
              <a:ahLst/>
              <a:cxnLst/>
              <a:rect r="r" b="b" t="t" l="l"/>
              <a:pathLst>
                <a:path h="951720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1" r="0" b="-4034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145777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流動性被切散後，「去哪裡成交」變成系統問題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1245" y="1757020"/>
            <a:ext cx="16472068" cy="576520"/>
            <a:chOff x="0" y="0"/>
            <a:chExt cx="21962758" cy="768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59" cy="768697"/>
            </a:xfrm>
            <a:custGeom>
              <a:avLst/>
              <a:gdLst/>
              <a:ahLst/>
              <a:cxnLst/>
              <a:rect r="r" b="b" t="t" l="l"/>
              <a:pathLst>
                <a:path h="76869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62758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這頁只證明 SOR / Venue-routing 的需求，不把它延伸成所有 Broker Algo。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2701" y="2392642"/>
            <a:ext cx="5578392" cy="6539255"/>
            <a:chOff x="0" y="0"/>
            <a:chExt cx="7437857" cy="87190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37755" cy="8718931"/>
            </a:xfrm>
            <a:custGeom>
              <a:avLst/>
              <a:gdLst/>
              <a:ahLst/>
              <a:cxnLst/>
              <a:rect r="r" b="b" t="t" l="l"/>
              <a:pathLst>
                <a:path h="8718931" w="7437755">
                  <a:moveTo>
                    <a:pt x="0" y="110109"/>
                  </a:moveTo>
                  <a:cubicBezTo>
                    <a:pt x="0" y="49276"/>
                    <a:pt x="49276" y="0"/>
                    <a:pt x="110109" y="0"/>
                  </a:cubicBezTo>
                  <a:lnTo>
                    <a:pt x="7327646" y="0"/>
                  </a:lnTo>
                  <a:cubicBezTo>
                    <a:pt x="7388478" y="0"/>
                    <a:pt x="7437755" y="49276"/>
                    <a:pt x="7437755" y="110109"/>
                  </a:cubicBezTo>
                  <a:lnTo>
                    <a:pt x="7437755" y="8608822"/>
                  </a:lnTo>
                  <a:cubicBezTo>
                    <a:pt x="7437755" y="8669655"/>
                    <a:pt x="7388478" y="8718931"/>
                    <a:pt x="7327646" y="8718931"/>
                  </a:cubicBezTo>
                  <a:lnTo>
                    <a:pt x="110109" y="8718931"/>
                  </a:lnTo>
                  <a:cubicBezTo>
                    <a:pt x="49276" y="8718931"/>
                    <a:pt x="0" y="8669655"/>
                    <a:pt x="0" y="8608822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2676" y="2855157"/>
            <a:ext cx="4598451" cy="480431"/>
            <a:chOff x="0" y="0"/>
            <a:chExt cx="6131268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31270" cy="640580"/>
            </a:xfrm>
            <a:custGeom>
              <a:avLst/>
              <a:gdLst/>
              <a:ahLst/>
              <a:cxnLst/>
              <a:rect r="r" b="b" t="t" l="l"/>
              <a:pathLst>
                <a:path h="640580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499" r="0" b="-13649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131268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市場變化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87363" y="3630863"/>
            <a:ext cx="4969078" cy="919653"/>
            <a:chOff x="0" y="0"/>
            <a:chExt cx="6131268" cy="11347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31270" cy="1134743"/>
            </a:xfrm>
            <a:custGeom>
              <a:avLst/>
              <a:gdLst/>
              <a:ahLst/>
              <a:cxnLst/>
              <a:rect r="r" b="b" t="t" l="l"/>
              <a:pathLst>
                <a:path h="1134743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81" r="0" b="-5528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131268" cy="1134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04"/>
                </a:lnSpc>
              </a:pPr>
              <a:r>
                <a:rPr lang="en-US" sz="5254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79.1% → 25.1%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2676" y="4763176"/>
            <a:ext cx="4598451" cy="576520"/>
            <a:chOff x="0" y="0"/>
            <a:chExt cx="6131268" cy="7686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31270" cy="768697"/>
            </a:xfrm>
            <a:custGeom>
              <a:avLst/>
              <a:gdLst/>
              <a:ahLst/>
              <a:cxnLst/>
              <a:rect r="r" b="b" t="t" l="l"/>
              <a:pathLst>
                <a:path h="768697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416" r="0" b="-10541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6131268" cy="759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7"/>
                </a:lnSpc>
              </a:pPr>
              <a:r>
                <a:rPr lang="en-US" sz="18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NYSE 掛牌股在 NYSE 成交占比</a:t>
              </a:r>
            </a:p>
            <a:p>
              <a:pPr algn="ctr">
                <a:lnSpc>
                  <a:spcPts val="2197"/>
                </a:lnSpc>
              </a:pPr>
              <a:r>
                <a:rPr lang="en-US" sz="18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2005 → 2009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14400">
            <a:off x="1431750" y="5691826"/>
            <a:ext cx="4548921" cy="0"/>
          </a:xfrm>
          <a:prstGeom prst="line">
            <a:avLst/>
          </a:prstGeom>
          <a:ln cap="rnd" w="9525">
            <a:solidFill>
              <a:srgbClr val="FFC857">
                <a:alpha val="8470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372676" y="6108392"/>
            <a:ext cx="4598451" cy="356892"/>
            <a:chOff x="0" y="0"/>
            <a:chExt cx="6131268" cy="475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31270" cy="475860"/>
            </a:xfrm>
            <a:custGeom>
              <a:avLst/>
              <a:gdLst/>
              <a:ahLst/>
              <a:cxnLst/>
              <a:rect r="r" b="b" t="t" l="l"/>
              <a:pathLst>
                <a:path h="475860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057" r="0" b="-20105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131268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同時市場出現：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2676" y="6726098"/>
            <a:ext cx="4598451" cy="851059"/>
            <a:chOff x="0" y="0"/>
            <a:chExt cx="6131268" cy="113474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131270" cy="1134743"/>
            </a:xfrm>
            <a:custGeom>
              <a:avLst/>
              <a:gdLst/>
              <a:ahLst/>
              <a:cxnLst/>
              <a:rect r="r" b="b" t="t" l="l"/>
              <a:pathLst>
                <a:path h="1134743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81" r="0" b="-5528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131268" cy="11442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32 Dark Pool</a:t>
              </a:r>
            </a:p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200+ Internalizer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069264" y="2580627"/>
            <a:ext cx="10157774" cy="549069"/>
            <a:chOff x="0" y="0"/>
            <a:chExt cx="13543699" cy="7320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543700" cy="732092"/>
            </a:xfrm>
            <a:custGeom>
              <a:avLst/>
              <a:gdLst/>
              <a:ahLst/>
              <a:cxnLst/>
              <a:rect r="r" b="b" t="t" l="l"/>
              <a:pathLst>
                <a:path h="732092" w="13543700">
                  <a:moveTo>
                    <a:pt x="0" y="0"/>
                  </a:moveTo>
                  <a:lnTo>
                    <a:pt x="13543700" y="0"/>
                  </a:lnTo>
                  <a:lnTo>
                    <a:pt x="1354370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0473" r="0" b="-31047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3543699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3"/>
                </a:lnSpc>
              </a:pPr>
              <a:r>
                <a:rPr lang="en-US" sz="3602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為什麼會需要 SOR？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196995" y="3586867"/>
            <a:ext cx="1776089" cy="911304"/>
            <a:chOff x="0" y="0"/>
            <a:chExt cx="2368118" cy="1215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7453608" y="3788578"/>
            <a:ext cx="1262863" cy="590245"/>
            <a:chOff x="0" y="0"/>
            <a:chExt cx="1683817" cy="78699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83812" cy="786999"/>
            </a:xfrm>
            <a:custGeom>
              <a:avLst/>
              <a:gdLst/>
              <a:ahLst/>
              <a:cxnLst/>
              <a:rect r="r" b="b" t="t" l="l"/>
              <a:pathLst>
                <a:path h="786999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7" t="0" r="-996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9525"/>
              <a:ext cx="1683817" cy="77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NYSE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173642" y="3586867"/>
            <a:ext cx="1776089" cy="911304"/>
            <a:chOff x="0" y="0"/>
            <a:chExt cx="2368118" cy="121507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430255" y="3788578"/>
            <a:ext cx="1262863" cy="590245"/>
            <a:chOff x="0" y="0"/>
            <a:chExt cx="1683817" cy="78699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83812" cy="786999"/>
            </a:xfrm>
            <a:custGeom>
              <a:avLst/>
              <a:gdLst/>
              <a:ahLst/>
              <a:cxnLst/>
              <a:rect r="r" b="b" t="t" l="l"/>
              <a:pathLst>
                <a:path h="786999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7" t="0" r="-996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1683817" cy="77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NASDAQ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150298" y="3586867"/>
            <a:ext cx="1776089" cy="911304"/>
            <a:chOff x="0" y="0"/>
            <a:chExt cx="2368118" cy="12150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406911" y="3788578"/>
            <a:ext cx="1262863" cy="590245"/>
            <a:chOff x="0" y="0"/>
            <a:chExt cx="1683817" cy="78699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683812" cy="786999"/>
            </a:xfrm>
            <a:custGeom>
              <a:avLst/>
              <a:gdLst/>
              <a:ahLst/>
              <a:cxnLst/>
              <a:rect r="r" b="b" t="t" l="l"/>
              <a:pathLst>
                <a:path h="786999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7" t="0" r="-9967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9525"/>
              <a:ext cx="1683817" cy="77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ATS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126945" y="3586867"/>
            <a:ext cx="1776089" cy="911304"/>
            <a:chOff x="0" y="0"/>
            <a:chExt cx="2368118" cy="12150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13383558" y="3788578"/>
            <a:ext cx="1262863" cy="590245"/>
            <a:chOff x="0" y="0"/>
            <a:chExt cx="1683817" cy="78699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683812" cy="786999"/>
            </a:xfrm>
            <a:custGeom>
              <a:avLst/>
              <a:gdLst/>
              <a:ahLst/>
              <a:cxnLst/>
              <a:rect r="r" b="b" t="t" l="l"/>
              <a:pathLst>
                <a:path h="786999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7" t="0" r="-9967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9525"/>
              <a:ext cx="1683817" cy="777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71"/>
                </a:lnSpc>
              </a:pPr>
              <a:r>
                <a:rPr lang="en-US" sz="1726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Dark Pool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103592" y="3586867"/>
            <a:ext cx="1776089" cy="911304"/>
            <a:chOff x="0" y="0"/>
            <a:chExt cx="2368118" cy="1215072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368042" cy="1215009"/>
            </a:xfrm>
            <a:custGeom>
              <a:avLst/>
              <a:gdLst/>
              <a:ahLst/>
              <a:cxnLst/>
              <a:rect r="r" b="b" t="t" l="l"/>
              <a:pathLst>
                <a:path h="1215009" w="2368042">
                  <a:moveTo>
                    <a:pt x="0" y="112141"/>
                  </a:moveTo>
                  <a:cubicBezTo>
                    <a:pt x="0" y="50165"/>
                    <a:pt x="50165" y="0"/>
                    <a:pt x="112141" y="0"/>
                  </a:cubicBezTo>
                  <a:lnTo>
                    <a:pt x="2255901" y="0"/>
                  </a:lnTo>
                  <a:cubicBezTo>
                    <a:pt x="2317877" y="0"/>
                    <a:pt x="2368042" y="50165"/>
                    <a:pt x="2368042" y="112141"/>
                  </a:cubicBezTo>
                  <a:lnTo>
                    <a:pt x="2368042" y="1102868"/>
                  </a:lnTo>
                  <a:cubicBezTo>
                    <a:pt x="2368042" y="1164844"/>
                    <a:pt x="2317877" y="1215009"/>
                    <a:pt x="2255901" y="1215009"/>
                  </a:cubicBezTo>
                  <a:lnTo>
                    <a:pt x="112141" y="1215009"/>
                  </a:lnTo>
                  <a:cubicBezTo>
                    <a:pt x="50165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E314F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5360205" y="3788578"/>
            <a:ext cx="1262863" cy="590249"/>
            <a:chOff x="0" y="0"/>
            <a:chExt cx="1683817" cy="78699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683812" cy="787004"/>
            </a:xfrm>
            <a:custGeom>
              <a:avLst/>
              <a:gdLst/>
              <a:ahLst/>
              <a:cxnLst/>
              <a:rect r="r" b="b" t="t" l="l"/>
              <a:pathLst>
                <a:path h="787004" w="1683812">
                  <a:moveTo>
                    <a:pt x="0" y="0"/>
                  </a:moveTo>
                  <a:lnTo>
                    <a:pt x="1683812" y="0"/>
                  </a:lnTo>
                  <a:lnTo>
                    <a:pt x="1683812" y="787004"/>
                  </a:lnTo>
                  <a:lnTo>
                    <a:pt x="0" y="787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67" t="0" r="-9967" b="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1683817" cy="7869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Internalizer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5315340">
            <a:off x="11417846" y="5039811"/>
            <a:ext cx="774268" cy="0"/>
          </a:xfrm>
          <a:prstGeom prst="line">
            <a:avLst/>
          </a:prstGeom>
          <a:ln cap="rnd" w="9525">
            <a:solidFill>
              <a:srgbClr val="FFC8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64" id="64"/>
          <p:cNvGrpSpPr/>
          <p:nvPr/>
        </p:nvGrpSpPr>
        <p:grpSpPr>
          <a:xfrm rot="0">
            <a:off x="7883338" y="5508612"/>
            <a:ext cx="7843295" cy="1062295"/>
            <a:chOff x="0" y="0"/>
            <a:chExt cx="10457726" cy="141639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457815" cy="1416558"/>
            </a:xfrm>
            <a:custGeom>
              <a:avLst/>
              <a:gdLst/>
              <a:ahLst/>
              <a:cxnLst/>
              <a:rect r="r" b="b" t="t" l="l"/>
              <a:pathLst>
                <a:path h="1416558" w="10457815">
                  <a:moveTo>
                    <a:pt x="0" y="111887"/>
                  </a:moveTo>
                  <a:cubicBezTo>
                    <a:pt x="0" y="50038"/>
                    <a:pt x="50038" y="0"/>
                    <a:pt x="111887" y="0"/>
                  </a:cubicBezTo>
                  <a:lnTo>
                    <a:pt x="10345928" y="0"/>
                  </a:lnTo>
                  <a:cubicBezTo>
                    <a:pt x="10407650" y="0"/>
                    <a:pt x="10457815" y="50038"/>
                    <a:pt x="10457815" y="111887"/>
                  </a:cubicBezTo>
                  <a:lnTo>
                    <a:pt x="10457815" y="1304671"/>
                  </a:lnTo>
                  <a:cubicBezTo>
                    <a:pt x="10457815" y="1366393"/>
                    <a:pt x="10407777" y="1416558"/>
                    <a:pt x="10345928" y="1416558"/>
                  </a:cubicBezTo>
                  <a:lnTo>
                    <a:pt x="111887" y="1416558"/>
                  </a:lnTo>
                  <a:cubicBezTo>
                    <a:pt x="50165" y="1416558"/>
                    <a:pt x="0" y="1366520"/>
                    <a:pt x="0" y="1304671"/>
                  </a:cubicBezTo>
                  <a:close/>
                </a:path>
              </a:pathLst>
            </a:custGeom>
            <a:solidFill>
              <a:srgbClr val="112E42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8139951" y="5710314"/>
            <a:ext cx="7330069" cy="741245"/>
            <a:chOff x="0" y="0"/>
            <a:chExt cx="9773425" cy="98832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773427" cy="988324"/>
            </a:xfrm>
            <a:custGeom>
              <a:avLst/>
              <a:gdLst/>
              <a:ahLst/>
              <a:cxnLst/>
              <a:rect r="r" b="b" t="t" l="l"/>
              <a:pathLst>
                <a:path h="988324" w="9773427">
                  <a:moveTo>
                    <a:pt x="0" y="0"/>
                  </a:moveTo>
                  <a:lnTo>
                    <a:pt x="9773427" y="0"/>
                  </a:lnTo>
                  <a:lnTo>
                    <a:pt x="9773427" y="988324"/>
                  </a:lnTo>
                  <a:lnTo>
                    <a:pt x="0" y="9883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2685" r="0" b="-14268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9525"/>
              <a:ext cx="9773425" cy="9788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同一張 Institutional Order 要即時比較價格、流動性、成交機率與成本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 rot="5310600">
            <a:off x="11438430" y="7009590"/>
            <a:ext cx="733101" cy="0"/>
          </a:xfrm>
          <a:prstGeom prst="line">
            <a:avLst/>
          </a:prstGeom>
          <a:ln cap="rnd" w="9525">
            <a:solidFill>
              <a:srgbClr val="FFC8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0" id="70"/>
          <p:cNvGrpSpPr/>
          <p:nvPr/>
        </p:nvGrpSpPr>
        <p:grpSpPr>
          <a:xfrm rot="0">
            <a:off x="7883338" y="7471534"/>
            <a:ext cx="7843295" cy="1144657"/>
            <a:chOff x="0" y="0"/>
            <a:chExt cx="10457726" cy="152621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457688" cy="1526159"/>
            </a:xfrm>
            <a:custGeom>
              <a:avLst/>
              <a:gdLst/>
              <a:ahLst/>
              <a:cxnLst/>
              <a:rect r="r" b="b" t="t" l="l"/>
              <a:pathLst>
                <a:path h="1526159" w="10457688">
                  <a:moveTo>
                    <a:pt x="0" y="111633"/>
                  </a:moveTo>
                  <a:cubicBezTo>
                    <a:pt x="0" y="50038"/>
                    <a:pt x="50038" y="0"/>
                    <a:pt x="111633" y="0"/>
                  </a:cubicBezTo>
                  <a:lnTo>
                    <a:pt x="10346055" y="0"/>
                  </a:lnTo>
                  <a:cubicBezTo>
                    <a:pt x="10407777" y="0"/>
                    <a:pt x="10457688" y="50038"/>
                    <a:pt x="10457688" y="111633"/>
                  </a:cubicBezTo>
                  <a:lnTo>
                    <a:pt x="10457688" y="1414526"/>
                  </a:lnTo>
                  <a:cubicBezTo>
                    <a:pt x="10457688" y="1476248"/>
                    <a:pt x="10407650" y="1526159"/>
                    <a:pt x="10346055" y="1526159"/>
                  </a:cubicBezTo>
                  <a:lnTo>
                    <a:pt x="111633" y="1526159"/>
                  </a:lnTo>
                  <a:cubicBezTo>
                    <a:pt x="49911" y="1526159"/>
                    <a:pt x="0" y="1476121"/>
                    <a:pt x="0" y="1414526"/>
                  </a:cubicBezTo>
                  <a:close/>
                </a:path>
              </a:pathLst>
            </a:custGeom>
            <a:solidFill>
              <a:srgbClr val="101F33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8167402" y="7673235"/>
            <a:ext cx="7275166" cy="782422"/>
            <a:chOff x="0" y="0"/>
            <a:chExt cx="9700222" cy="104322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00218" cy="1043231"/>
            </a:xfrm>
            <a:custGeom>
              <a:avLst/>
              <a:gdLst/>
              <a:ahLst/>
              <a:cxnLst/>
              <a:rect r="r" b="b" t="t" l="l"/>
              <a:pathLst>
                <a:path h="1043231" w="9700218">
                  <a:moveTo>
                    <a:pt x="0" y="0"/>
                  </a:moveTo>
                  <a:lnTo>
                    <a:pt x="9700218" y="0"/>
                  </a:lnTo>
                  <a:lnTo>
                    <a:pt x="9700218" y="1043231"/>
                  </a:lnTo>
                  <a:lnTo>
                    <a:pt x="0" y="10432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176" r="0" b="-13117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9700222" cy="1043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訂單該送去哪裡？</a:t>
              </a:r>
            </a:p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→ SOR / Automated Routing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13794" y="9896970"/>
            <a:ext cx="16746607" cy="205902"/>
            <a:chOff x="0" y="0"/>
            <a:chExt cx="22328810" cy="27453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328805" cy="274534"/>
            </a:xfrm>
            <a:custGeom>
              <a:avLst/>
              <a:gdLst/>
              <a:ahLst/>
              <a:cxnLst/>
              <a:rect r="r" b="b" t="t" l="l"/>
              <a:pathLst>
                <a:path h="274534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83" r="0" b="-1534783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22328810" cy="274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34"/>
                </a:lnSpc>
              </a:pPr>
              <a:r>
                <a:rPr lang="en-US" sz="945">
                  <a:solidFill>
                    <a:srgbClr val="7994AA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Source: SEC testimony, 2010, market fragmentation statistics.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3794" y="466706"/>
            <a:ext cx="5627961" cy="595104"/>
            <a:chOff x="0" y="0"/>
            <a:chExt cx="7503947" cy="793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 案例｜韓國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933421"/>
            <a:ext cx="16609333" cy="713794"/>
            <a:chOff x="0" y="0"/>
            <a:chExt cx="22145777" cy="951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82" cy="951720"/>
            </a:xfrm>
            <a:custGeom>
              <a:avLst/>
              <a:gdLst/>
              <a:ahLst/>
              <a:cxnLst/>
              <a:rect r="r" b="b" t="t" l="l"/>
              <a:pathLst>
                <a:path h="951720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1" r="0" b="-4034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145777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沒有多 Venue，跨商品策略也會創造 Algo Demand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1245" y="1757020"/>
            <a:ext cx="16472068" cy="576520"/>
            <a:chOff x="0" y="0"/>
            <a:chExt cx="21962758" cy="768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59" cy="768697"/>
            </a:xfrm>
            <a:custGeom>
              <a:avLst/>
              <a:gdLst/>
              <a:ahLst/>
              <a:cxnLst/>
              <a:rect r="r" b="b" t="t" l="l"/>
              <a:pathLst>
                <a:path h="76869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62758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韓國案例說明：Broker Algo 的理由不只來自 WHERE，也可以來自 HOW。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82701" y="2392642"/>
            <a:ext cx="5578392" cy="6539255"/>
            <a:chOff x="0" y="0"/>
            <a:chExt cx="7437857" cy="87190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437755" cy="8718931"/>
            </a:xfrm>
            <a:custGeom>
              <a:avLst/>
              <a:gdLst/>
              <a:ahLst/>
              <a:cxnLst/>
              <a:rect r="r" b="b" t="t" l="l"/>
              <a:pathLst>
                <a:path h="8718931" w="7437755">
                  <a:moveTo>
                    <a:pt x="0" y="110109"/>
                  </a:moveTo>
                  <a:cubicBezTo>
                    <a:pt x="0" y="49276"/>
                    <a:pt x="49276" y="0"/>
                    <a:pt x="110109" y="0"/>
                  </a:cubicBezTo>
                  <a:lnTo>
                    <a:pt x="7327646" y="0"/>
                  </a:lnTo>
                  <a:cubicBezTo>
                    <a:pt x="7388478" y="0"/>
                    <a:pt x="7437755" y="49276"/>
                    <a:pt x="7437755" y="110109"/>
                  </a:cubicBezTo>
                  <a:lnTo>
                    <a:pt x="7437755" y="8608822"/>
                  </a:lnTo>
                  <a:cubicBezTo>
                    <a:pt x="7437755" y="8669655"/>
                    <a:pt x="7388478" y="8718931"/>
                    <a:pt x="7327646" y="8718931"/>
                  </a:cubicBezTo>
                  <a:lnTo>
                    <a:pt x="110109" y="8718931"/>
                  </a:lnTo>
                  <a:cubicBezTo>
                    <a:pt x="49276" y="8718931"/>
                    <a:pt x="0" y="8669655"/>
                    <a:pt x="0" y="8608822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372676" y="2855157"/>
            <a:ext cx="4598451" cy="480431"/>
            <a:chOff x="0" y="0"/>
            <a:chExt cx="6131268" cy="6405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31270" cy="640580"/>
            </a:xfrm>
            <a:custGeom>
              <a:avLst/>
              <a:gdLst/>
              <a:ahLst/>
              <a:cxnLst/>
              <a:rect r="r" b="b" t="t" l="l"/>
              <a:pathLst>
                <a:path h="640580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499" r="0" b="-13649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131268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69E5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市場變化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72676" y="3733667"/>
            <a:ext cx="4598451" cy="851059"/>
            <a:chOff x="0" y="0"/>
            <a:chExt cx="6131268" cy="113474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131270" cy="1134743"/>
            </a:xfrm>
            <a:custGeom>
              <a:avLst/>
              <a:gdLst/>
              <a:ahLst/>
              <a:cxnLst/>
              <a:rect r="r" b="b" t="t" l="l"/>
              <a:pathLst>
                <a:path h="1134743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1134743"/>
                  </a:lnTo>
                  <a:lnTo>
                    <a:pt x="0" y="113474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281" r="0" b="-5528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131268" cy="11347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304"/>
                </a:lnSpc>
              </a:pPr>
              <a:r>
                <a:rPr lang="en-US" sz="5254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KRW 18兆 / 日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2676" y="4721990"/>
            <a:ext cx="4598451" cy="576520"/>
            <a:chOff x="0" y="0"/>
            <a:chExt cx="6131268" cy="7686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131270" cy="768697"/>
            </a:xfrm>
            <a:custGeom>
              <a:avLst/>
              <a:gdLst/>
              <a:ahLst/>
              <a:cxnLst/>
              <a:rect r="r" b="b" t="t" l="l"/>
              <a:pathLst>
                <a:path h="768697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416" r="0" b="-10541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6131268" cy="7591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97"/>
                </a:lnSpc>
              </a:pPr>
              <a:r>
                <a:rPr lang="en-US" sz="18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KRX 衍生品日均交易值</a:t>
              </a:r>
            </a:p>
            <a:p>
              <a:pPr algn="ctr">
                <a:lnSpc>
                  <a:spcPts val="2197"/>
                </a:lnSpc>
              </a:pPr>
              <a:r>
                <a:rPr lang="en-US" sz="183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2005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14400">
            <a:off x="1431750" y="5623198"/>
            <a:ext cx="4548921" cy="0"/>
          </a:xfrm>
          <a:prstGeom prst="line">
            <a:avLst/>
          </a:prstGeom>
          <a:ln cap="rnd" w="9525">
            <a:solidFill>
              <a:srgbClr val="69E5A3">
                <a:alpha val="84706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372676" y="6012304"/>
            <a:ext cx="4598451" cy="356892"/>
            <a:chOff x="0" y="0"/>
            <a:chExt cx="6131268" cy="47585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31270" cy="475860"/>
            </a:xfrm>
            <a:custGeom>
              <a:avLst/>
              <a:gdLst/>
              <a:ahLst/>
              <a:cxnLst/>
              <a:rect r="r" b="b" t="t" l="l"/>
              <a:pathLst>
                <a:path h="475860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057" r="0" b="-20105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6131268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2"/>
                </a:lnSpc>
              </a:pPr>
              <a:r>
                <a:rPr lang="en-US" sz="225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KRX 官方定義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72676" y="6561372"/>
            <a:ext cx="4598451" cy="1139314"/>
            <a:chOff x="0" y="0"/>
            <a:chExt cx="6131268" cy="151908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131270" cy="1519091"/>
            </a:xfrm>
            <a:custGeom>
              <a:avLst/>
              <a:gdLst/>
              <a:ahLst/>
              <a:cxnLst/>
              <a:rect r="r" b="b" t="t" l="l"/>
              <a:pathLst>
                <a:path h="1519091" w="6131270">
                  <a:moveTo>
                    <a:pt x="0" y="0"/>
                  </a:moveTo>
                  <a:lnTo>
                    <a:pt x="6131270" y="0"/>
                  </a:lnTo>
                  <a:lnTo>
                    <a:pt x="6131270" y="1519091"/>
                  </a:lnTo>
                  <a:lnTo>
                    <a:pt x="0" y="15190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644" r="0" b="-2864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131268" cy="1528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Program Trading 包含</a:t>
              </a:r>
            </a:p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KOSPI200 股票 Basket</a:t>
              </a:r>
            </a:p>
            <a:p>
              <a:pPr algn="ctr">
                <a:lnSpc>
                  <a:spcPts val="2431"/>
                </a:lnSpc>
              </a:pPr>
              <a:r>
                <a:rPr lang="en-US" sz="2026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與 Futures / Options 的套利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6890823" y="2608066"/>
            <a:ext cx="10569578" cy="549069"/>
            <a:chOff x="0" y="0"/>
            <a:chExt cx="14092771" cy="73209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4092769" cy="732092"/>
            </a:xfrm>
            <a:custGeom>
              <a:avLst/>
              <a:gdLst/>
              <a:ahLst/>
              <a:cxnLst/>
              <a:rect r="r" b="b" t="t" l="l"/>
              <a:pathLst>
                <a:path h="732092" w="14092769">
                  <a:moveTo>
                    <a:pt x="0" y="0"/>
                  </a:moveTo>
                  <a:lnTo>
                    <a:pt x="14092769" y="0"/>
                  </a:lnTo>
                  <a:lnTo>
                    <a:pt x="1409276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5087" r="0" b="-32508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14092771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3"/>
                </a:lnSpc>
              </a:pPr>
              <a:r>
                <a:rPr lang="en-US" sz="3452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為什麼會需要 Basket / Program Algo？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896975" y="3652435"/>
            <a:ext cx="4602449" cy="911304"/>
            <a:chOff x="0" y="0"/>
            <a:chExt cx="6136599" cy="12150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136637" cy="1215009"/>
            </a:xfrm>
            <a:custGeom>
              <a:avLst/>
              <a:gdLst/>
              <a:ahLst/>
              <a:cxnLst/>
              <a:rect r="r" b="b" t="t" l="l"/>
              <a:pathLst>
                <a:path h="1215009" w="6136637">
                  <a:moveTo>
                    <a:pt x="0" y="112141"/>
                  </a:moveTo>
                  <a:cubicBezTo>
                    <a:pt x="0" y="50165"/>
                    <a:pt x="101088" y="0"/>
                    <a:pt x="225976" y="0"/>
                  </a:cubicBezTo>
                  <a:lnTo>
                    <a:pt x="5910700" y="0"/>
                  </a:lnTo>
                  <a:cubicBezTo>
                    <a:pt x="6035588" y="0"/>
                    <a:pt x="6136637" y="50165"/>
                    <a:pt x="6136637" y="112141"/>
                  </a:cubicBezTo>
                  <a:lnTo>
                    <a:pt x="6136637" y="1102868"/>
                  </a:lnTo>
                  <a:cubicBezTo>
                    <a:pt x="6136637" y="1164844"/>
                    <a:pt x="6035588" y="1215009"/>
                    <a:pt x="5910700" y="1215009"/>
                  </a:cubicBezTo>
                  <a:lnTo>
                    <a:pt x="225976" y="1215009"/>
                  </a:lnTo>
                  <a:cubicBezTo>
                    <a:pt x="101088" y="1215009"/>
                    <a:pt x="0" y="1164844"/>
                    <a:pt x="0" y="1102868"/>
                  </a:cubicBezTo>
                  <a:close/>
                </a:path>
              </a:pathLst>
            </a:custGeom>
            <a:solidFill>
              <a:srgbClr val="0D3444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097369" y="3812963"/>
            <a:ext cx="4167155" cy="590249"/>
            <a:chOff x="0" y="0"/>
            <a:chExt cx="5556207" cy="78699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556210" cy="787004"/>
            </a:xfrm>
            <a:custGeom>
              <a:avLst/>
              <a:gdLst/>
              <a:ahLst/>
              <a:cxnLst/>
              <a:rect r="r" b="b" t="t" l="l"/>
              <a:pathLst>
                <a:path h="787004" w="5556210">
                  <a:moveTo>
                    <a:pt x="0" y="0"/>
                  </a:moveTo>
                  <a:lnTo>
                    <a:pt x="5556210" y="0"/>
                  </a:lnTo>
                  <a:lnTo>
                    <a:pt x="5556210" y="787004"/>
                  </a:lnTo>
                  <a:lnTo>
                    <a:pt x="0" y="7870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57507" b="-845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5556207" cy="7965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Cash Basket, Futures, options</a:t>
              </a:r>
            </a:p>
          </p:txBody>
        </p:sp>
      </p:grpSp>
      <p:sp>
        <p:nvSpPr>
          <p:cNvPr name="AutoShape 43" id="43"/>
          <p:cNvSpPr/>
          <p:nvPr/>
        </p:nvSpPr>
        <p:spPr>
          <a:xfrm>
            <a:off x="12198200" y="4563692"/>
            <a:ext cx="86735" cy="933498"/>
          </a:xfrm>
          <a:prstGeom prst="line">
            <a:avLst/>
          </a:prstGeom>
          <a:ln cap="rnd" w="9525">
            <a:solidFill>
              <a:srgbClr val="FFC8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4" id="44"/>
          <p:cNvGrpSpPr/>
          <p:nvPr/>
        </p:nvGrpSpPr>
        <p:grpSpPr>
          <a:xfrm rot="0">
            <a:off x="9477641" y="5497189"/>
            <a:ext cx="5441118" cy="1007393"/>
            <a:chOff x="0" y="0"/>
            <a:chExt cx="7254824" cy="134319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54748" cy="1343152"/>
            </a:xfrm>
            <a:custGeom>
              <a:avLst/>
              <a:gdLst/>
              <a:ahLst/>
              <a:cxnLst/>
              <a:rect r="r" b="b" t="t" l="l"/>
              <a:pathLst>
                <a:path h="1343152" w="7254748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7142861" y="0"/>
                  </a:lnTo>
                  <a:cubicBezTo>
                    <a:pt x="7204710" y="0"/>
                    <a:pt x="7254748" y="50165"/>
                    <a:pt x="7254748" y="111887"/>
                  </a:cubicBezTo>
                  <a:lnTo>
                    <a:pt x="7254748" y="1231265"/>
                  </a:lnTo>
                  <a:cubicBezTo>
                    <a:pt x="7254748" y="1293114"/>
                    <a:pt x="7204583" y="1343152"/>
                    <a:pt x="7142861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51401A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9791164" y="5675713"/>
            <a:ext cx="4927892" cy="686333"/>
            <a:chOff x="0" y="0"/>
            <a:chExt cx="6570523" cy="91511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570525" cy="915115"/>
            </a:xfrm>
            <a:custGeom>
              <a:avLst/>
              <a:gdLst/>
              <a:ahLst/>
              <a:cxnLst/>
              <a:rect r="r" b="b" t="t" l="l"/>
              <a:pathLst>
                <a:path h="915115" w="6570525">
                  <a:moveTo>
                    <a:pt x="0" y="0"/>
                  </a:moveTo>
                  <a:lnTo>
                    <a:pt x="6570525" y="0"/>
                  </a:lnTo>
                  <a:lnTo>
                    <a:pt x="657052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9902" r="0" b="-8990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570523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同一個策略，多商品同步執行</a:t>
              </a:r>
            </a:p>
          </p:txBody>
        </p:sp>
      </p:grpSp>
      <p:sp>
        <p:nvSpPr>
          <p:cNvPr name="AutoShape 49" id="49"/>
          <p:cNvSpPr/>
          <p:nvPr/>
        </p:nvSpPr>
        <p:spPr>
          <a:xfrm>
            <a:off x="12198200" y="6504553"/>
            <a:ext cx="0" cy="933479"/>
          </a:xfrm>
          <a:prstGeom prst="line">
            <a:avLst/>
          </a:prstGeom>
          <a:ln cap="rnd" w="9525">
            <a:solidFill>
              <a:srgbClr val="FFC857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0" id="50"/>
          <p:cNvGrpSpPr/>
          <p:nvPr/>
        </p:nvGrpSpPr>
        <p:grpSpPr>
          <a:xfrm rot="0">
            <a:off x="8070650" y="7438032"/>
            <a:ext cx="8255098" cy="1007393"/>
            <a:chOff x="0" y="0"/>
            <a:chExt cx="11006798" cy="134319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1006709" cy="1343152"/>
            </a:xfrm>
            <a:custGeom>
              <a:avLst/>
              <a:gdLst/>
              <a:ahLst/>
              <a:cxnLst/>
              <a:rect r="r" b="b" t="t" l="l"/>
              <a:pathLst>
                <a:path h="1343152" w="11006709">
                  <a:moveTo>
                    <a:pt x="0" y="111887"/>
                  </a:moveTo>
                  <a:cubicBezTo>
                    <a:pt x="0" y="50165"/>
                    <a:pt x="50165" y="0"/>
                    <a:pt x="111887" y="0"/>
                  </a:cubicBezTo>
                  <a:lnTo>
                    <a:pt x="10894822" y="0"/>
                  </a:lnTo>
                  <a:cubicBezTo>
                    <a:pt x="10956671" y="0"/>
                    <a:pt x="11006709" y="50165"/>
                    <a:pt x="11006709" y="111887"/>
                  </a:cubicBezTo>
                  <a:lnTo>
                    <a:pt x="11006709" y="1231265"/>
                  </a:lnTo>
                  <a:cubicBezTo>
                    <a:pt x="11006709" y="1293114"/>
                    <a:pt x="10956544" y="1343152"/>
                    <a:pt x="10894822" y="1343152"/>
                  </a:cubicBezTo>
                  <a:lnTo>
                    <a:pt x="111887" y="1343152"/>
                  </a:lnTo>
                  <a:cubicBezTo>
                    <a:pt x="50038" y="1343152"/>
                    <a:pt x="0" y="1292987"/>
                    <a:pt x="0" y="1231265"/>
                  </a:cubicBezTo>
                  <a:close/>
                </a:path>
              </a:pathLst>
            </a:custGeom>
            <a:solidFill>
              <a:srgbClr val="112E42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8327263" y="7639743"/>
            <a:ext cx="7741872" cy="686333"/>
            <a:chOff x="0" y="0"/>
            <a:chExt cx="10322496" cy="9151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322496" cy="915115"/>
            </a:xfrm>
            <a:custGeom>
              <a:avLst/>
              <a:gdLst/>
              <a:ahLst/>
              <a:cxnLst/>
              <a:rect r="r" b="b" t="t" l="l"/>
              <a:pathLst>
                <a:path h="915115" w="10322496">
                  <a:moveTo>
                    <a:pt x="0" y="0"/>
                  </a:moveTo>
                  <a:lnTo>
                    <a:pt x="10322496" y="0"/>
                  </a:lnTo>
                  <a:lnTo>
                    <a:pt x="10322496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791" r="0" b="-16979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9525"/>
              <a:ext cx="10322496" cy="9055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Timing／避險誤差／Market Impact／Legging Risk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8852216" y="8936110"/>
            <a:ext cx="6657461" cy="480431"/>
            <a:chOff x="0" y="0"/>
            <a:chExt cx="8876614" cy="640575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876615" cy="640580"/>
            </a:xfrm>
            <a:custGeom>
              <a:avLst/>
              <a:gdLst/>
              <a:ahLst/>
              <a:cxnLst/>
              <a:rect r="r" b="b" t="t" l="l"/>
              <a:pathLst>
                <a:path h="640580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007" r="0" b="-220006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8876614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3"/>
                </a:lnSpc>
              </a:pPr>
              <a:r>
                <a:rPr lang="en-US" sz="3302" b="true">
                  <a:solidFill>
                    <a:srgbClr val="69E5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訂單該如何執行？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13794" y="9896970"/>
            <a:ext cx="16746607" cy="205902"/>
            <a:chOff x="0" y="0"/>
            <a:chExt cx="22328810" cy="2745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2328805" cy="274534"/>
            </a:xfrm>
            <a:custGeom>
              <a:avLst/>
              <a:gdLst/>
              <a:ahLst/>
              <a:cxnLst/>
              <a:rect r="r" b="b" t="t" l="l"/>
              <a:pathLst>
                <a:path h="274534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274534"/>
                  </a:lnTo>
                  <a:lnTo>
                    <a:pt x="0" y="274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4783" r="0" b="-153478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22328810" cy="274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34"/>
                </a:lnSpc>
              </a:pPr>
              <a:r>
                <a:rPr lang="en-US" sz="945">
                  <a:solidFill>
                    <a:srgbClr val="7994AA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Sources: KRX derivatives market history; KRX Program Trading definition.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3794" y="466706"/>
            <a:ext cx="5627961" cy="595104"/>
            <a:chOff x="0" y="0"/>
            <a:chExt cx="7503947" cy="793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Broker Algo｜投入訊號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933421"/>
            <a:ext cx="16609333" cy="713794"/>
            <a:chOff x="0" y="0"/>
            <a:chExt cx="22145777" cy="951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82" cy="951720"/>
            </a:xfrm>
            <a:custGeom>
              <a:avLst/>
              <a:gdLst/>
              <a:ahLst/>
              <a:cxnLst/>
              <a:rect r="r" b="b" t="t" l="l"/>
              <a:pathLst>
                <a:path h="951720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1" r="0" b="-4034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145777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法人 Algo 值不值得做，取決於執行問題是否夠大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1245" y="1757020"/>
            <a:ext cx="16472068" cy="576520"/>
            <a:chOff x="0" y="0"/>
            <a:chExt cx="21962758" cy="768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59" cy="768697"/>
            </a:xfrm>
            <a:custGeom>
              <a:avLst/>
              <a:gdLst/>
              <a:ahLst/>
              <a:cxnLst/>
              <a:rect r="r" b="b" t="t" l="l"/>
              <a:pathLst>
                <a:path h="76869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62758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海外案例提供的是兩種問題形態，不是一條固定發展路徑。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7240" y="2324014"/>
            <a:ext cx="7637393" cy="5235216"/>
            <a:chOff x="0" y="0"/>
            <a:chExt cx="10183190" cy="69802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83241" cy="6980301"/>
            </a:xfrm>
            <a:custGeom>
              <a:avLst/>
              <a:gdLst/>
              <a:ahLst/>
              <a:cxnLst/>
              <a:rect r="r" b="b" t="t" l="l"/>
              <a:pathLst>
                <a:path h="6980301" w="10183241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0073005" y="0"/>
                  </a:lnTo>
                  <a:cubicBezTo>
                    <a:pt x="10133838" y="0"/>
                    <a:pt x="10183241" y="49403"/>
                    <a:pt x="10183241" y="110236"/>
                  </a:cubicBezTo>
                  <a:lnTo>
                    <a:pt x="10183241" y="6870065"/>
                  </a:lnTo>
                  <a:cubicBezTo>
                    <a:pt x="10183241" y="6930898"/>
                    <a:pt x="10133838" y="6980301"/>
                    <a:pt x="10073005" y="6980301"/>
                  </a:cubicBezTo>
                  <a:lnTo>
                    <a:pt x="110236" y="6980301"/>
                  </a:lnTo>
                  <a:cubicBezTo>
                    <a:pt x="49403" y="6980301"/>
                    <a:pt x="0" y="6930898"/>
                    <a:pt x="0" y="6870065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647206" y="2786529"/>
            <a:ext cx="6657461" cy="549069"/>
            <a:chOff x="0" y="0"/>
            <a:chExt cx="8876614" cy="7320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876615" cy="732092"/>
            </a:xfrm>
            <a:custGeom>
              <a:avLst/>
              <a:gdLst/>
              <a:ahLst/>
              <a:cxnLst/>
              <a:rect r="r" b="b" t="t" l="l"/>
              <a:pathLst>
                <a:path h="732092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876614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3"/>
                </a:lnSpc>
              </a:pPr>
              <a:r>
                <a:rPr lang="en-US" sz="3903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WHERE 型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715843" y="3774853"/>
            <a:ext cx="6451559" cy="1578569"/>
            <a:chOff x="0" y="0"/>
            <a:chExt cx="8602078" cy="210475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02080" cy="2104764"/>
            </a:xfrm>
            <a:custGeom>
              <a:avLst/>
              <a:gdLst/>
              <a:ahLst/>
              <a:cxnLst/>
              <a:rect r="r" b="b" t="t" l="l"/>
              <a:pathLst>
                <a:path h="21047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34" r="0" b="-2963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602078" cy="2104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同一商品 → 多個 Venue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需要自動比較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Price / Liquidity / Cost / Fill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47206" y="6245657"/>
            <a:ext cx="6657461" cy="466706"/>
            <a:chOff x="0" y="0"/>
            <a:chExt cx="8876614" cy="6222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876615" cy="622278"/>
            </a:xfrm>
            <a:custGeom>
              <a:avLst/>
              <a:gdLst/>
              <a:ahLst/>
              <a:cxnLst/>
              <a:rect r="r" b="b" t="t" l="l"/>
              <a:pathLst>
                <a:path h="622278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948" r="0" b="-227948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8876614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訊號：客戶開始需要 SOR / Venue Routing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530544" y="2324014"/>
            <a:ext cx="7637393" cy="5235216"/>
            <a:chOff x="0" y="0"/>
            <a:chExt cx="10183190" cy="6980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183241" cy="6980301"/>
            </a:xfrm>
            <a:custGeom>
              <a:avLst/>
              <a:gdLst/>
              <a:ahLst/>
              <a:cxnLst/>
              <a:rect r="r" b="b" t="t" l="l"/>
              <a:pathLst>
                <a:path h="6980301" w="10183241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10073005" y="0"/>
                  </a:lnTo>
                  <a:cubicBezTo>
                    <a:pt x="10133838" y="0"/>
                    <a:pt x="10183241" y="49403"/>
                    <a:pt x="10183241" y="110236"/>
                  </a:cubicBezTo>
                  <a:lnTo>
                    <a:pt x="10183241" y="6870065"/>
                  </a:lnTo>
                  <a:cubicBezTo>
                    <a:pt x="10183241" y="6930898"/>
                    <a:pt x="10133838" y="6980301"/>
                    <a:pt x="10073005" y="6980301"/>
                  </a:cubicBezTo>
                  <a:lnTo>
                    <a:pt x="110236" y="6980301"/>
                  </a:lnTo>
                  <a:cubicBezTo>
                    <a:pt x="49403" y="6980301"/>
                    <a:pt x="0" y="6930898"/>
                    <a:pt x="0" y="6870065"/>
                  </a:cubicBezTo>
                  <a:close/>
                </a:path>
              </a:pathLst>
            </a:custGeom>
            <a:solidFill>
              <a:srgbClr val="0F2E4C"/>
            </a:solidFill>
            <a:ln w="19065" cap="sq">
              <a:solidFill>
                <a:srgbClr val="69E5A3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0020510" y="2786529"/>
            <a:ext cx="6657461" cy="549069"/>
            <a:chOff x="0" y="0"/>
            <a:chExt cx="8876614" cy="7320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876615" cy="732092"/>
            </a:xfrm>
            <a:custGeom>
              <a:avLst/>
              <a:gdLst/>
              <a:ahLst/>
              <a:cxnLst/>
              <a:rect r="r" b="b" t="t" l="l"/>
              <a:pathLst>
                <a:path h="732092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256" r="0" b="-18625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876614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3"/>
                </a:lnSpc>
              </a:pPr>
              <a:r>
                <a:rPr lang="en-US" sz="3903" b="true">
                  <a:solidFill>
                    <a:srgbClr val="69E5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HOW 型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089147" y="3774853"/>
            <a:ext cx="6451559" cy="1578569"/>
            <a:chOff x="0" y="0"/>
            <a:chExt cx="8602078" cy="210475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602080" cy="2104764"/>
            </a:xfrm>
            <a:custGeom>
              <a:avLst/>
              <a:gdLst/>
              <a:ahLst/>
              <a:cxnLst/>
              <a:rect r="r" b="b" t="t" l="l"/>
              <a:pathLst>
                <a:path h="2104764" w="8602080">
                  <a:moveTo>
                    <a:pt x="0" y="0"/>
                  </a:moveTo>
                  <a:lnTo>
                    <a:pt x="8602080" y="0"/>
                  </a:lnTo>
                  <a:lnTo>
                    <a:pt x="8602080" y="2104764"/>
                  </a:lnTo>
                  <a:lnTo>
                    <a:pt x="0" y="21047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34" r="0" b="-2963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8602078" cy="210475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同一策略 → 多商品 / 多訂單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需要自動同步</a:t>
              </a:r>
            </a:p>
            <a:p>
              <a:pPr algn="ctr">
                <a:lnSpc>
                  <a:spcPts val="3062"/>
                </a:lnSpc>
              </a:pPr>
              <a:r>
                <a:rPr lang="en-US" sz="2551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Timing / Basket / Hedge / Impact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20510" y="6245657"/>
            <a:ext cx="6657461" cy="466706"/>
            <a:chOff x="0" y="0"/>
            <a:chExt cx="8876614" cy="62227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876615" cy="622278"/>
            </a:xfrm>
            <a:custGeom>
              <a:avLst/>
              <a:gdLst/>
              <a:ahLst/>
              <a:cxnLst/>
              <a:rect r="r" b="b" t="t" l="l"/>
              <a:pathLst>
                <a:path h="622278" w="8876615">
                  <a:moveTo>
                    <a:pt x="0" y="0"/>
                  </a:moveTo>
                  <a:lnTo>
                    <a:pt x="8876615" y="0"/>
                  </a:lnTo>
                  <a:lnTo>
                    <a:pt x="887661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948" r="0" b="-22794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8876614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12"/>
                </a:lnSpc>
              </a:pPr>
              <a:r>
                <a:rPr lang="en-US" sz="2176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訊號：客戶開始需要 Basket / Program Algo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94505" y="8363769"/>
            <a:ext cx="15736167" cy="870118"/>
            <a:chOff x="0" y="0"/>
            <a:chExt cx="20981556" cy="11601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981543" cy="1160145"/>
            </a:xfrm>
            <a:custGeom>
              <a:avLst/>
              <a:gdLst/>
              <a:ahLst/>
              <a:cxnLst/>
              <a:rect r="r" b="b" t="t" l="l"/>
              <a:pathLst>
                <a:path h="1160145" w="20981543">
                  <a:moveTo>
                    <a:pt x="0" y="112268"/>
                  </a:moveTo>
                  <a:cubicBezTo>
                    <a:pt x="0" y="50292"/>
                    <a:pt x="50292" y="0"/>
                    <a:pt x="112268" y="0"/>
                  </a:cubicBezTo>
                  <a:lnTo>
                    <a:pt x="20869275" y="0"/>
                  </a:lnTo>
                  <a:cubicBezTo>
                    <a:pt x="20931251" y="0"/>
                    <a:pt x="20981543" y="50292"/>
                    <a:pt x="20981543" y="112268"/>
                  </a:cubicBezTo>
                  <a:lnTo>
                    <a:pt x="20981543" y="1047877"/>
                  </a:lnTo>
                  <a:cubicBezTo>
                    <a:pt x="20981543" y="1109853"/>
                    <a:pt x="20931251" y="1160145"/>
                    <a:pt x="20869275" y="1160145"/>
                  </a:cubicBezTo>
                  <a:lnTo>
                    <a:pt x="112268" y="1160145"/>
                  </a:lnTo>
                  <a:cubicBezTo>
                    <a:pt x="50292" y="1160145"/>
                    <a:pt x="0" y="1109853"/>
                    <a:pt x="0" y="1047877"/>
                  </a:cubicBezTo>
                  <a:close/>
                </a:path>
              </a:pathLst>
            </a:custGeom>
            <a:solidFill>
              <a:srgbClr val="101F33"/>
            </a:solidFill>
            <a:ln w="19065" cap="sq">
              <a:solidFill>
                <a:srgbClr val="FFC857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578569" y="8565480"/>
            <a:ext cx="15168029" cy="507892"/>
            <a:chOff x="0" y="0"/>
            <a:chExt cx="20224039" cy="6771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224040" cy="677185"/>
            </a:xfrm>
            <a:custGeom>
              <a:avLst/>
              <a:gdLst/>
              <a:ahLst/>
              <a:cxnLst/>
              <a:rect r="r" b="b" t="t" l="l"/>
              <a:pathLst>
                <a:path h="677185" w="20224040">
                  <a:moveTo>
                    <a:pt x="0" y="0"/>
                  </a:moveTo>
                  <a:lnTo>
                    <a:pt x="20224040" y="0"/>
                  </a:lnTo>
                  <a:lnTo>
                    <a:pt x="20224040" y="677185"/>
                  </a:lnTo>
                  <a:lnTo>
                    <a:pt x="0" y="6771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917" r="0" b="-53191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20224039" cy="6771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72"/>
                </a:lnSpc>
              </a:pPr>
              <a:r>
                <a:rPr lang="en-US" sz="2476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台灣檢驗：SOR 需求可能弱，但仍要驗證大單、Basket、避險與現期套利是否已產生 HOW 型需求。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97510"/>
            <a:chOff x="0" y="0"/>
            <a:chExt cx="24427878" cy="2633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63398"/>
            </a:xfrm>
            <a:custGeom>
              <a:avLst/>
              <a:gdLst/>
              <a:ahLst/>
              <a:cxnLst/>
              <a:rect r="r" b="b" t="t" l="l"/>
              <a:pathLst>
                <a:path h="263398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63398"/>
                  </a:lnTo>
                  <a:lnTo>
                    <a:pt x="0" y="263398"/>
                  </a:ln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10230602"/>
            <a:ext cx="18320909" cy="73971"/>
            <a:chOff x="0" y="0"/>
            <a:chExt cx="24427878" cy="986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98679"/>
            </a:xfrm>
            <a:custGeom>
              <a:avLst/>
              <a:gdLst/>
              <a:ahLst/>
              <a:cxnLst/>
              <a:rect r="r" b="b" t="t" l="l"/>
              <a:pathLst>
                <a:path h="98679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98679"/>
                  </a:lnTo>
                  <a:lnTo>
                    <a:pt x="0" y="98679"/>
                  </a:ln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13794" y="521618"/>
            <a:ext cx="3431677" cy="439255"/>
            <a:chOff x="0" y="0"/>
            <a:chExt cx="4575569" cy="5856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75575" cy="585674"/>
            </a:xfrm>
            <a:custGeom>
              <a:avLst/>
              <a:gdLst/>
              <a:ahLst/>
              <a:cxnLst/>
              <a:rect r="r" b="b" t="t" l="l"/>
              <a:pathLst>
                <a:path h="585674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4575569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案例｜日本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13794" y="1002049"/>
            <a:ext cx="16197539" cy="658882"/>
            <a:chOff x="0" y="0"/>
            <a:chExt cx="21596718" cy="87851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96713" cy="878510"/>
            </a:xfrm>
            <a:custGeom>
              <a:avLst/>
              <a:gdLst/>
              <a:ahLst/>
              <a:cxnLst/>
              <a:rect r="r" b="b" t="t" l="l"/>
              <a:pathLst>
                <a:path h="878510" w="21596713">
                  <a:moveTo>
                    <a:pt x="0" y="0"/>
                  </a:moveTo>
                  <a:lnTo>
                    <a:pt x="21596713" y="0"/>
                  </a:lnTo>
                  <a:lnTo>
                    <a:pt x="21596713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9007" r="0" b="-429007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1596718" cy="888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4"/>
                </a:lnSpc>
              </a:pPr>
              <a:r>
                <a:rPr lang="en-US" sz="4353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先有速度需求，交易所提速後，券商才把低延遲接入服務化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54971" y="1688382"/>
            <a:ext cx="16746607" cy="439255"/>
            <a:chOff x="0" y="0"/>
            <a:chExt cx="22328810" cy="5856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28805" cy="585674"/>
            </a:xfrm>
            <a:custGeom>
              <a:avLst/>
              <a:gdLst/>
              <a:ahLst/>
              <a:cxnLst/>
              <a:rect r="r" b="b" t="t" l="l"/>
              <a:pathLst>
                <a:path h="585674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2867" r="0" b="-69286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2328810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日本案例不是「系統變快就自然出現 HFT」，而是：Demand → Infrastructure → Usage → Broker Response。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48294" y="2368048"/>
            <a:ext cx="16759952" cy="960491"/>
            <a:chOff x="0" y="0"/>
            <a:chExt cx="22346602" cy="128065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346667" cy="1280668"/>
            </a:xfrm>
            <a:custGeom>
              <a:avLst/>
              <a:gdLst/>
              <a:ahLst/>
              <a:cxnLst/>
              <a:rect r="r" b="b" t="t" l="l"/>
              <a:pathLst>
                <a:path h="1280668" w="22346667">
                  <a:moveTo>
                    <a:pt x="0" y="111379"/>
                  </a:moveTo>
                  <a:cubicBezTo>
                    <a:pt x="0" y="49911"/>
                    <a:pt x="49911" y="0"/>
                    <a:pt x="111379" y="0"/>
                  </a:cubicBezTo>
                  <a:lnTo>
                    <a:pt x="22235288" y="0"/>
                  </a:lnTo>
                  <a:cubicBezTo>
                    <a:pt x="22296755" y="0"/>
                    <a:pt x="22346667" y="49911"/>
                    <a:pt x="22346667" y="111379"/>
                  </a:cubicBezTo>
                  <a:lnTo>
                    <a:pt x="22346667" y="1169289"/>
                  </a:lnTo>
                  <a:cubicBezTo>
                    <a:pt x="22346667" y="1230757"/>
                    <a:pt x="22296755" y="1280668"/>
                    <a:pt x="22235288" y="1280668"/>
                  </a:cubicBezTo>
                  <a:lnTo>
                    <a:pt x="111379" y="1280668"/>
                  </a:lnTo>
                  <a:cubicBezTo>
                    <a:pt x="49911" y="1280668"/>
                    <a:pt x="0" y="1230757"/>
                    <a:pt x="0" y="1169289"/>
                  </a:cubicBezTo>
                  <a:close/>
                </a:path>
              </a:pathLst>
            </a:custGeom>
            <a:solidFill>
              <a:srgbClr val="0A2A3A"/>
            </a:solidFill>
            <a:ln w="13345" cap="sq">
              <a:solidFill>
                <a:srgbClr val="1F5264"/>
              </a:solidFill>
              <a:prstDash val="solid"/>
              <a:miter/>
            </a:ln>
          </p:spPr>
        </p:sp>
      </p:grpSp>
      <p:sp>
        <p:nvSpPr>
          <p:cNvPr name="AutoShape 17" id="17"/>
          <p:cNvSpPr/>
          <p:nvPr/>
        </p:nvSpPr>
        <p:spPr>
          <a:xfrm rot="5335680">
            <a:off x="4722124" y="2843536"/>
            <a:ext cx="713537" cy="0"/>
          </a:xfrm>
          <a:prstGeom prst="line">
            <a:avLst/>
          </a:prstGeom>
          <a:ln cap="rnd" w="9525">
            <a:solidFill>
              <a:srgbClr val="1D526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5335680">
            <a:off x="9430388" y="2843536"/>
            <a:ext cx="713537" cy="0"/>
          </a:xfrm>
          <a:prstGeom prst="line">
            <a:avLst/>
          </a:prstGeom>
          <a:ln cap="rnd" w="9525">
            <a:solidFill>
              <a:srgbClr val="1D526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rot="5335680">
            <a:off x="13919025" y="2843536"/>
            <a:ext cx="713537" cy="0"/>
          </a:xfrm>
          <a:prstGeom prst="line">
            <a:avLst/>
          </a:prstGeom>
          <a:ln cap="rnd" w="9525">
            <a:solidFill>
              <a:srgbClr val="1D526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125588" y="2525716"/>
            <a:ext cx="1166774" cy="286664"/>
            <a:chOff x="0" y="0"/>
            <a:chExt cx="1555699" cy="3822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55695" cy="382217"/>
            </a:xfrm>
            <a:custGeom>
              <a:avLst/>
              <a:gdLst/>
              <a:ahLst/>
              <a:cxnLst/>
              <a:rect r="r" b="b" t="t" l="l"/>
              <a:pathLst>
                <a:path h="382217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382217"/>
                  </a:lnTo>
                  <a:lnTo>
                    <a:pt x="0" y="382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94" r="0" b="-1522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1555699" cy="382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5"/>
                </a:lnSpc>
              </a:pPr>
              <a:r>
                <a:rPr lang="en-US" sz="1470" b="true">
                  <a:solidFill>
                    <a:srgbClr val="B6CAD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需求證據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333539" y="2415902"/>
            <a:ext cx="2333539" cy="329441"/>
            <a:chOff x="0" y="0"/>
            <a:chExt cx="3111386" cy="43925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11391" cy="439255"/>
            </a:xfrm>
            <a:custGeom>
              <a:avLst/>
              <a:gdLst/>
              <a:ahLst/>
              <a:cxnLst/>
              <a:rect r="r" b="b" t="t" l="l"/>
              <a:pathLst>
                <a:path h="43925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8" r="0" b="-8801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3111386" cy="42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2008–09 CoLo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25588" y="2827706"/>
            <a:ext cx="3637578" cy="506429"/>
            <a:chOff x="0" y="0"/>
            <a:chExt cx="4850105" cy="67523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50109" cy="675242"/>
            </a:xfrm>
            <a:custGeom>
              <a:avLst/>
              <a:gdLst/>
              <a:ahLst/>
              <a:cxnLst/>
              <a:rect r="r" b="b" t="t" l="l"/>
              <a:pathLst>
                <a:path h="675242" w="4850109">
                  <a:moveTo>
                    <a:pt x="0" y="0"/>
                  </a:moveTo>
                  <a:lnTo>
                    <a:pt x="4850109" y="0"/>
                  </a:lnTo>
                  <a:lnTo>
                    <a:pt x="4850109" y="675242"/>
                  </a:lnTo>
                  <a:lnTo>
                    <a:pt x="0" y="675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562" r="0" b="-6435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850105" cy="675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3"/>
                </a:lnSpc>
              </a:pPr>
              <a:r>
                <a:rPr lang="en-US" sz="1485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TSE 明示因自動發注程式普及，速度需求上升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463235" y="2525716"/>
            <a:ext cx="1166774" cy="286664"/>
            <a:chOff x="0" y="0"/>
            <a:chExt cx="1555699" cy="38221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55695" cy="382217"/>
            </a:xfrm>
            <a:custGeom>
              <a:avLst/>
              <a:gdLst/>
              <a:ahLst/>
              <a:cxnLst/>
              <a:rect r="r" b="b" t="t" l="l"/>
              <a:pathLst>
                <a:path h="382217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382217"/>
                  </a:lnTo>
                  <a:lnTo>
                    <a:pt x="0" y="382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94" r="0" b="-15221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555699" cy="382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5"/>
                </a:lnSpc>
              </a:pPr>
              <a:r>
                <a:rPr lang="en-US" sz="1470" b="true">
                  <a:solidFill>
                    <a:srgbClr val="B6CAD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速度轉折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767274" y="2415902"/>
            <a:ext cx="2333539" cy="329441"/>
            <a:chOff x="0" y="0"/>
            <a:chExt cx="3111386" cy="43925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111391" cy="439255"/>
            </a:xfrm>
            <a:custGeom>
              <a:avLst/>
              <a:gdLst/>
              <a:ahLst/>
              <a:cxnLst/>
              <a:rect r="r" b="b" t="t" l="l"/>
              <a:pathLst>
                <a:path h="43925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8" r="0" b="-8801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111386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20D6E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1–2s → 2ms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463235" y="2827706"/>
            <a:ext cx="3774853" cy="287354"/>
            <a:chOff x="0" y="0"/>
            <a:chExt cx="5033137" cy="38313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033132" cy="383142"/>
            </a:xfrm>
            <a:custGeom>
              <a:avLst/>
              <a:gdLst/>
              <a:ahLst/>
              <a:cxnLst/>
              <a:rect r="r" b="b" t="t" l="l"/>
              <a:pathLst>
                <a:path h="38314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383142"/>
                  </a:lnTo>
                  <a:lnTo>
                    <a:pt x="0" y="38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73" r="0" b="-19895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5033137" cy="383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3"/>
                </a:lnSpc>
              </a:pPr>
              <a:r>
                <a:rPr lang="en-US" sz="1485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arrowhead 將 order response 降到毫秒級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198960" y="2525716"/>
            <a:ext cx="1166774" cy="286664"/>
            <a:chOff x="0" y="0"/>
            <a:chExt cx="1555699" cy="38221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555695" cy="382217"/>
            </a:xfrm>
            <a:custGeom>
              <a:avLst/>
              <a:gdLst/>
              <a:ahLst/>
              <a:cxnLst/>
              <a:rect r="r" b="b" t="t" l="l"/>
              <a:pathLst>
                <a:path h="382217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382217"/>
                  </a:lnTo>
                  <a:lnTo>
                    <a:pt x="0" y="382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94" r="0" b="-1522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1555699" cy="382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5"/>
                </a:lnSpc>
              </a:pPr>
              <a:r>
                <a:rPr lang="en-US" sz="1470" b="true">
                  <a:solidFill>
                    <a:srgbClr val="B6CAD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使用證據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1461813" y="2415902"/>
            <a:ext cx="2333539" cy="329441"/>
            <a:chOff x="0" y="0"/>
            <a:chExt cx="3111386" cy="43925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11391" cy="439255"/>
            </a:xfrm>
            <a:custGeom>
              <a:avLst/>
              <a:gdLst/>
              <a:ahLst/>
              <a:cxnLst/>
              <a:rect r="r" b="b" t="t" l="l"/>
              <a:pathLst>
                <a:path h="439255" w="3111391">
                  <a:moveTo>
                    <a:pt x="0" y="0"/>
                  </a:moveTo>
                  <a:lnTo>
                    <a:pt x="3111391" y="0"/>
                  </a:lnTo>
                  <a:lnTo>
                    <a:pt x="3111391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8018" r="0" b="-8801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111386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72"/>
                </a:lnSpc>
              </a:pPr>
              <a:r>
                <a:rPr lang="en-US" sz="2476" b="true">
                  <a:solidFill>
                    <a:srgbClr val="66E3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20–30% orders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198960" y="2827706"/>
            <a:ext cx="3774853" cy="287354"/>
            <a:chOff x="0" y="0"/>
            <a:chExt cx="5033137" cy="3831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33132" cy="383142"/>
            </a:xfrm>
            <a:custGeom>
              <a:avLst/>
              <a:gdLst/>
              <a:ahLst/>
              <a:cxnLst/>
              <a:rect r="r" b="b" t="t" l="l"/>
              <a:pathLst>
                <a:path h="383142" w="5033132">
                  <a:moveTo>
                    <a:pt x="0" y="0"/>
                  </a:moveTo>
                  <a:lnTo>
                    <a:pt x="5033132" y="0"/>
                  </a:lnTo>
                  <a:lnTo>
                    <a:pt x="5033132" y="383142"/>
                  </a:lnTo>
                  <a:lnTo>
                    <a:pt x="0" y="3831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2973" r="0" b="-19895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5033137" cy="3831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3"/>
                </a:lnSpc>
              </a:pPr>
              <a:r>
                <a:rPr lang="en-US" sz="1485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2010/11 TSE 訂單來自 Co-location site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687598" y="2525716"/>
            <a:ext cx="1166774" cy="286664"/>
            <a:chOff x="0" y="0"/>
            <a:chExt cx="1555699" cy="38221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555695" cy="382217"/>
            </a:xfrm>
            <a:custGeom>
              <a:avLst/>
              <a:gdLst/>
              <a:ahLst/>
              <a:cxnLst/>
              <a:rect r="r" b="b" t="t" l="l"/>
              <a:pathLst>
                <a:path h="382217" w="1555695">
                  <a:moveTo>
                    <a:pt x="0" y="0"/>
                  </a:moveTo>
                  <a:lnTo>
                    <a:pt x="1555695" y="0"/>
                  </a:lnTo>
                  <a:lnTo>
                    <a:pt x="1555695" y="382217"/>
                  </a:lnTo>
                  <a:lnTo>
                    <a:pt x="0" y="3822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394" r="0" b="-1522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555699" cy="382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5"/>
                </a:lnSpc>
              </a:pPr>
              <a:r>
                <a:rPr lang="en-US" sz="1470" b="true">
                  <a:solidFill>
                    <a:srgbClr val="B6CAD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後續驗證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445139" y="2415902"/>
            <a:ext cx="1891714" cy="432392"/>
            <a:chOff x="0" y="0"/>
            <a:chExt cx="1921739" cy="439255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921741" cy="439255"/>
            </a:xfrm>
            <a:custGeom>
              <a:avLst/>
              <a:gdLst/>
              <a:ahLst/>
              <a:cxnLst/>
              <a:rect r="r" b="b" t="t" l="l"/>
              <a:pathLst>
                <a:path h="439255" w="1921741">
                  <a:moveTo>
                    <a:pt x="0" y="0"/>
                  </a:moveTo>
                  <a:lnTo>
                    <a:pt x="1921741" y="0"/>
                  </a:lnTo>
                  <a:lnTo>
                    <a:pt x="1921741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246" r="0" b="-3524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1921739" cy="439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2"/>
                </a:lnSpc>
              </a:pPr>
              <a:r>
                <a:rPr lang="en-US" sz="2551" b="true">
                  <a:solidFill>
                    <a:srgbClr val="FF8A5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2016 約 70%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4687598" y="2827706"/>
            <a:ext cx="2498265" cy="506429"/>
            <a:chOff x="0" y="0"/>
            <a:chExt cx="3331020" cy="67523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331018" cy="675242"/>
            </a:xfrm>
            <a:custGeom>
              <a:avLst/>
              <a:gdLst/>
              <a:ahLst/>
              <a:cxnLst/>
              <a:rect r="r" b="b" t="t" l="l"/>
              <a:pathLst>
                <a:path h="675242" w="3331018">
                  <a:moveTo>
                    <a:pt x="0" y="0"/>
                  </a:moveTo>
                  <a:lnTo>
                    <a:pt x="3331018" y="0"/>
                  </a:lnTo>
                  <a:lnTo>
                    <a:pt x="3331018" y="675242"/>
                  </a:lnTo>
                  <a:lnTo>
                    <a:pt x="0" y="6752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27" r="0" b="-2051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3331020" cy="6752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83"/>
                </a:lnSpc>
              </a:pPr>
              <a:r>
                <a:rPr lang="en-US" sz="1485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HFT 約占 TSE 訂單 70%，成交值近半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15587" y="3751116"/>
            <a:ext cx="2833992" cy="3245796"/>
            <a:chOff x="0" y="0"/>
            <a:chExt cx="3778656" cy="43277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778631" cy="4327779"/>
            </a:xfrm>
            <a:custGeom>
              <a:avLst/>
              <a:gdLst/>
              <a:ahLst/>
              <a:cxnLst/>
              <a:rect r="r" b="b" t="t" l="l"/>
              <a:pathLst>
                <a:path h="4327779" w="3778631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668014" y="0"/>
                  </a:lnTo>
                  <a:cubicBezTo>
                    <a:pt x="3729101" y="0"/>
                    <a:pt x="3778631" y="49530"/>
                    <a:pt x="3778631" y="110617"/>
                  </a:cubicBezTo>
                  <a:lnTo>
                    <a:pt x="3778631" y="4217162"/>
                  </a:lnTo>
                  <a:cubicBezTo>
                    <a:pt x="3778631" y="4278249"/>
                    <a:pt x="3729101" y="4327779"/>
                    <a:pt x="3668014" y="4327779"/>
                  </a:cubicBezTo>
                  <a:lnTo>
                    <a:pt x="110617" y="4327779"/>
                  </a:lnTo>
                  <a:cubicBezTo>
                    <a:pt x="49530" y="4327779"/>
                    <a:pt x="0" y="4278249"/>
                    <a:pt x="0" y="4217162"/>
                  </a:cubicBezTo>
                  <a:close/>
                </a:path>
              </a:pathLst>
            </a:custGeom>
            <a:solidFill>
              <a:srgbClr val="0D3656"/>
            </a:solidFill>
            <a:ln w="20018" cap="sq">
              <a:solidFill>
                <a:srgbClr val="20D6EB"/>
              </a:solidFill>
              <a:prstDash val="solid"/>
              <a:miter/>
            </a:ln>
          </p:spPr>
        </p:sp>
      </p:grpSp>
      <p:grpSp>
        <p:nvGrpSpPr>
          <p:cNvPr name="Group 58" id="58"/>
          <p:cNvGrpSpPr/>
          <p:nvPr/>
        </p:nvGrpSpPr>
        <p:grpSpPr>
          <a:xfrm rot="0">
            <a:off x="1280779" y="3998671"/>
            <a:ext cx="348510" cy="348510"/>
            <a:chOff x="0" y="0"/>
            <a:chExt cx="464680" cy="4646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20D6E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352083" y="4042524"/>
            <a:ext cx="123539" cy="137265"/>
            <a:chOff x="0" y="0"/>
            <a:chExt cx="164719" cy="1830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757020" y="3967020"/>
            <a:ext cx="1853108" cy="411804"/>
            <a:chOff x="0" y="0"/>
            <a:chExt cx="2470810" cy="54907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既有需求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427578" y="4628164"/>
            <a:ext cx="2210000" cy="637284"/>
            <a:chOff x="0" y="0"/>
            <a:chExt cx="2946667" cy="84971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946670" cy="849716"/>
            </a:xfrm>
            <a:custGeom>
              <a:avLst/>
              <a:gdLst/>
              <a:ahLst/>
              <a:cxnLst/>
              <a:rect r="r" b="b" t="t" l="l"/>
              <a:pathLst>
                <a:path h="849716" w="2946670">
                  <a:moveTo>
                    <a:pt x="0" y="0"/>
                  </a:moveTo>
                  <a:lnTo>
                    <a:pt x="2946670" y="0"/>
                  </a:lnTo>
                  <a:lnTo>
                    <a:pt x="2946670" y="849716"/>
                  </a:lnTo>
                  <a:lnTo>
                    <a:pt x="0" y="849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69" r="0" b="442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2946667" cy="849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5"/>
                </a:lnSpc>
              </a:pPr>
              <a:r>
                <a:rPr lang="en-US" sz="1846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2008–09：自動發注程式普及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427578" y="5218419"/>
            <a:ext cx="2210000" cy="637284"/>
            <a:chOff x="0" y="0"/>
            <a:chExt cx="2946667" cy="84971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946670" cy="849716"/>
            </a:xfrm>
            <a:custGeom>
              <a:avLst/>
              <a:gdLst/>
              <a:ahLst/>
              <a:cxnLst/>
              <a:rect r="r" b="b" t="t" l="l"/>
              <a:pathLst>
                <a:path h="849716" w="2946670">
                  <a:moveTo>
                    <a:pt x="0" y="0"/>
                  </a:moveTo>
                  <a:lnTo>
                    <a:pt x="2946670" y="0"/>
                  </a:lnTo>
                  <a:lnTo>
                    <a:pt x="2946670" y="849716"/>
                  </a:lnTo>
                  <a:lnTo>
                    <a:pt x="0" y="849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69" r="0" b="442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2946667" cy="849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5"/>
                </a:lnSpc>
              </a:pPr>
              <a:r>
                <a:rPr lang="en-US" sz="1846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市場要求更快取得行情、送出委託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27578" y="5998578"/>
            <a:ext cx="2210000" cy="356892"/>
            <a:chOff x="0" y="0"/>
            <a:chExt cx="2946667" cy="4758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946670" cy="475860"/>
            </a:xfrm>
            <a:custGeom>
              <a:avLst/>
              <a:gdLst/>
              <a:ahLst/>
              <a:cxnLst/>
              <a:rect r="r" b="b" t="t" l="l"/>
              <a:pathLst>
                <a:path h="475860" w="2946670">
                  <a:moveTo>
                    <a:pt x="0" y="0"/>
                  </a:moveTo>
                  <a:lnTo>
                    <a:pt x="2946670" y="0"/>
                  </a:lnTo>
                  <a:lnTo>
                    <a:pt x="294667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57" r="0" b="-70656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2946667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5"/>
                </a:lnSpc>
              </a:pPr>
              <a:r>
                <a:rPr lang="en-US" sz="1546" b="true">
                  <a:solidFill>
                    <a:srgbClr val="20D6E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→ Co-location 需求增加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5178695" y="3751116"/>
            <a:ext cx="2833992" cy="3245796"/>
            <a:chOff x="0" y="0"/>
            <a:chExt cx="3778656" cy="432772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778631" cy="4327779"/>
            </a:xfrm>
            <a:custGeom>
              <a:avLst/>
              <a:gdLst/>
              <a:ahLst/>
              <a:cxnLst/>
              <a:rect r="r" b="b" t="t" l="l"/>
              <a:pathLst>
                <a:path h="4327779" w="3778631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668014" y="0"/>
                  </a:lnTo>
                  <a:cubicBezTo>
                    <a:pt x="3729101" y="0"/>
                    <a:pt x="3778631" y="49530"/>
                    <a:pt x="3778631" y="110617"/>
                  </a:cubicBezTo>
                  <a:lnTo>
                    <a:pt x="3778631" y="4217162"/>
                  </a:lnTo>
                  <a:cubicBezTo>
                    <a:pt x="3778631" y="4278249"/>
                    <a:pt x="3729101" y="4327779"/>
                    <a:pt x="3668014" y="4327779"/>
                  </a:cubicBezTo>
                  <a:lnTo>
                    <a:pt x="110617" y="4327779"/>
                  </a:lnTo>
                  <a:cubicBezTo>
                    <a:pt x="49530" y="4327779"/>
                    <a:pt x="0" y="4278249"/>
                    <a:pt x="0" y="4217162"/>
                  </a:cubicBezTo>
                  <a:close/>
                </a:path>
              </a:pathLst>
            </a:custGeom>
            <a:solidFill>
              <a:srgbClr val="0D3851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5343887" y="3998671"/>
            <a:ext cx="348510" cy="348510"/>
            <a:chOff x="0" y="0"/>
            <a:chExt cx="464680" cy="464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F6C247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5415191" y="4042524"/>
            <a:ext cx="123539" cy="137265"/>
            <a:chOff x="0" y="0"/>
            <a:chExt cx="164719" cy="18302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5820127" y="3967020"/>
            <a:ext cx="1853108" cy="411804"/>
            <a:chOff x="0" y="0"/>
            <a:chExt cx="2470810" cy="54907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交易所回應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5490686" y="4628164"/>
            <a:ext cx="2210000" cy="637284"/>
            <a:chOff x="0" y="0"/>
            <a:chExt cx="2946667" cy="849712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946670" cy="849716"/>
            </a:xfrm>
            <a:custGeom>
              <a:avLst/>
              <a:gdLst/>
              <a:ahLst/>
              <a:cxnLst/>
              <a:rect r="r" b="b" t="t" l="l"/>
              <a:pathLst>
                <a:path h="849716" w="2946670">
                  <a:moveTo>
                    <a:pt x="0" y="0"/>
                  </a:moveTo>
                  <a:lnTo>
                    <a:pt x="2946670" y="0"/>
                  </a:lnTo>
                  <a:lnTo>
                    <a:pt x="2946670" y="849716"/>
                  </a:lnTo>
                  <a:lnTo>
                    <a:pt x="0" y="849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69" r="0" b="4428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2946667" cy="849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5"/>
                </a:lnSpc>
              </a:pPr>
              <a:r>
                <a:rPr lang="en-US" sz="1846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2010/1：arrowhead 上線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5490686" y="5218419"/>
            <a:ext cx="2210000" cy="637284"/>
            <a:chOff x="0" y="0"/>
            <a:chExt cx="2946667" cy="84971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946670" cy="849716"/>
            </a:xfrm>
            <a:custGeom>
              <a:avLst/>
              <a:gdLst/>
              <a:ahLst/>
              <a:cxnLst/>
              <a:rect r="r" b="b" t="t" l="l"/>
              <a:pathLst>
                <a:path h="849716" w="2946670">
                  <a:moveTo>
                    <a:pt x="0" y="0"/>
                  </a:moveTo>
                  <a:lnTo>
                    <a:pt x="2946670" y="0"/>
                  </a:lnTo>
                  <a:lnTo>
                    <a:pt x="2946670" y="849716"/>
                  </a:lnTo>
                  <a:lnTo>
                    <a:pt x="0" y="849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69" r="0" b="4428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2946667" cy="849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5"/>
                </a:lnSpc>
              </a:pPr>
              <a:r>
                <a:rPr lang="en-US" sz="1846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Order response 約 2ms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5490686" y="5998578"/>
            <a:ext cx="2210000" cy="356892"/>
            <a:chOff x="0" y="0"/>
            <a:chExt cx="2946667" cy="47585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946670" cy="475860"/>
            </a:xfrm>
            <a:custGeom>
              <a:avLst/>
              <a:gdLst/>
              <a:ahLst/>
              <a:cxnLst/>
              <a:rect r="r" b="b" t="t" l="l"/>
              <a:pathLst>
                <a:path h="475860" w="2946670">
                  <a:moveTo>
                    <a:pt x="0" y="0"/>
                  </a:moveTo>
                  <a:lnTo>
                    <a:pt x="2946670" y="0"/>
                  </a:lnTo>
                  <a:lnTo>
                    <a:pt x="294667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57" r="0" b="-70656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2946667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5"/>
                </a:lnSpc>
              </a:pPr>
              <a:r>
                <a:rPr lang="en-US" sz="1546" b="true">
                  <a:solidFill>
                    <a:srgbClr val="66E3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日均訂單 6M → 7M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214352" y="3751116"/>
            <a:ext cx="2833992" cy="3245796"/>
            <a:chOff x="0" y="0"/>
            <a:chExt cx="3778656" cy="4327728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778631" cy="4327779"/>
            </a:xfrm>
            <a:custGeom>
              <a:avLst/>
              <a:gdLst/>
              <a:ahLst/>
              <a:cxnLst/>
              <a:rect r="r" b="b" t="t" l="l"/>
              <a:pathLst>
                <a:path h="4327779" w="3778631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668014" y="0"/>
                  </a:lnTo>
                  <a:cubicBezTo>
                    <a:pt x="3729101" y="0"/>
                    <a:pt x="3778631" y="49530"/>
                    <a:pt x="3778631" y="110617"/>
                  </a:cubicBezTo>
                  <a:lnTo>
                    <a:pt x="3778631" y="4217162"/>
                  </a:lnTo>
                  <a:cubicBezTo>
                    <a:pt x="3778631" y="4278249"/>
                    <a:pt x="3729101" y="4327779"/>
                    <a:pt x="3668014" y="4327779"/>
                  </a:cubicBezTo>
                  <a:lnTo>
                    <a:pt x="110617" y="4327779"/>
                  </a:lnTo>
                  <a:cubicBezTo>
                    <a:pt x="49530" y="4327779"/>
                    <a:pt x="0" y="4278249"/>
                    <a:pt x="0" y="4217162"/>
                  </a:cubicBezTo>
                  <a:close/>
                </a:path>
              </a:pathLst>
            </a:custGeom>
            <a:solidFill>
              <a:srgbClr val="5D4311"/>
            </a:solidFill>
            <a:ln w="20018" cap="sq">
              <a:solidFill>
                <a:srgbClr val="F6C247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9379544" y="3998671"/>
            <a:ext cx="348510" cy="348510"/>
            <a:chOff x="0" y="0"/>
            <a:chExt cx="464680" cy="4646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66E3B4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9450848" y="4042524"/>
            <a:ext cx="123539" cy="137265"/>
            <a:chOff x="0" y="0"/>
            <a:chExt cx="164719" cy="18302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9855784" y="3967020"/>
            <a:ext cx="1853108" cy="411804"/>
            <a:chOff x="0" y="0"/>
            <a:chExt cx="2470810" cy="54907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Flow 被使用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9526343" y="4628164"/>
            <a:ext cx="2210000" cy="637284"/>
            <a:chOff x="0" y="0"/>
            <a:chExt cx="2946667" cy="84971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946670" cy="849716"/>
            </a:xfrm>
            <a:custGeom>
              <a:avLst/>
              <a:gdLst/>
              <a:ahLst/>
              <a:cxnLst/>
              <a:rect r="r" b="b" t="t" l="l"/>
              <a:pathLst>
                <a:path h="849716" w="2946670">
                  <a:moveTo>
                    <a:pt x="0" y="0"/>
                  </a:moveTo>
                  <a:lnTo>
                    <a:pt x="2946670" y="0"/>
                  </a:lnTo>
                  <a:lnTo>
                    <a:pt x="2946670" y="849716"/>
                  </a:lnTo>
                  <a:lnTo>
                    <a:pt x="0" y="849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69" r="0" b="4428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0"/>
              <a:ext cx="2946667" cy="849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5"/>
                </a:lnSpc>
              </a:pPr>
              <a:r>
                <a:rPr lang="en-US" sz="1846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2010/11：20–30% 訂單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9526343" y="5218419"/>
            <a:ext cx="2210000" cy="637284"/>
            <a:chOff x="0" y="0"/>
            <a:chExt cx="2946667" cy="84971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946670" cy="849716"/>
            </a:xfrm>
            <a:custGeom>
              <a:avLst/>
              <a:gdLst/>
              <a:ahLst/>
              <a:cxnLst/>
              <a:rect r="r" b="b" t="t" l="l"/>
              <a:pathLst>
                <a:path h="849716" w="2946670">
                  <a:moveTo>
                    <a:pt x="0" y="0"/>
                  </a:moveTo>
                  <a:lnTo>
                    <a:pt x="2946670" y="0"/>
                  </a:lnTo>
                  <a:lnTo>
                    <a:pt x="2946670" y="849716"/>
                  </a:lnTo>
                  <a:lnTo>
                    <a:pt x="0" y="849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69" r="0" b="4428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2946667" cy="849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5"/>
                </a:lnSpc>
              </a:pPr>
              <a:r>
                <a:rPr lang="en-US" sz="1846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來自 Co-location site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526343" y="5998578"/>
            <a:ext cx="2210000" cy="580111"/>
            <a:chOff x="0" y="0"/>
            <a:chExt cx="2946667" cy="77348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946670" cy="773484"/>
            </a:xfrm>
            <a:custGeom>
              <a:avLst/>
              <a:gdLst/>
              <a:ahLst/>
              <a:cxnLst/>
              <a:rect r="r" b="b" t="t" l="l"/>
              <a:pathLst>
                <a:path h="773484" w="2946670">
                  <a:moveTo>
                    <a:pt x="0" y="0"/>
                  </a:moveTo>
                  <a:lnTo>
                    <a:pt x="2946670" y="0"/>
                  </a:lnTo>
                  <a:lnTo>
                    <a:pt x="2946670" y="773484"/>
                  </a:lnTo>
                  <a:lnTo>
                    <a:pt x="0" y="7734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469" r="0" b="-4990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0"/>
              <a:ext cx="2946667" cy="7734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5"/>
                </a:lnSpc>
              </a:pPr>
              <a:r>
                <a:rPr lang="en-US" sz="1546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2012/9：CoLo 訂單 &gt;50%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3277459" y="3751116"/>
            <a:ext cx="2833992" cy="3245796"/>
            <a:chOff x="0" y="0"/>
            <a:chExt cx="3778656" cy="4327728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778631" cy="4327779"/>
            </a:xfrm>
            <a:custGeom>
              <a:avLst/>
              <a:gdLst/>
              <a:ahLst/>
              <a:cxnLst/>
              <a:rect r="r" b="b" t="t" l="l"/>
              <a:pathLst>
                <a:path h="4327779" w="3778631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3668014" y="0"/>
                  </a:lnTo>
                  <a:cubicBezTo>
                    <a:pt x="3729101" y="0"/>
                    <a:pt x="3778631" y="49530"/>
                    <a:pt x="3778631" y="110617"/>
                  </a:cubicBezTo>
                  <a:lnTo>
                    <a:pt x="3778631" y="4217162"/>
                  </a:lnTo>
                  <a:cubicBezTo>
                    <a:pt x="3778631" y="4278249"/>
                    <a:pt x="3729101" y="4327779"/>
                    <a:pt x="3668014" y="4327779"/>
                  </a:cubicBezTo>
                  <a:lnTo>
                    <a:pt x="110617" y="4327779"/>
                  </a:lnTo>
                  <a:cubicBezTo>
                    <a:pt x="49530" y="4327779"/>
                    <a:pt x="0" y="4278249"/>
                    <a:pt x="0" y="4217162"/>
                  </a:cubicBezTo>
                  <a:close/>
                </a:path>
              </a:pathLst>
            </a:custGeom>
            <a:solidFill>
              <a:srgbClr val="0A4338"/>
            </a:solidFill>
            <a:ln w="20018" cap="sq">
              <a:solidFill>
                <a:srgbClr val="66E3B4"/>
              </a:solidFill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3442661" y="3998671"/>
            <a:ext cx="348510" cy="348510"/>
            <a:chOff x="0" y="0"/>
            <a:chExt cx="464680" cy="46468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64693" cy="464693"/>
            </a:xfrm>
            <a:custGeom>
              <a:avLst/>
              <a:gdLst/>
              <a:ahLst/>
              <a:cxnLst/>
              <a:rect r="r" b="b" t="t" l="l"/>
              <a:pathLst>
                <a:path h="464693" w="464693">
                  <a:moveTo>
                    <a:pt x="0" y="58039"/>
                  </a:moveTo>
                  <a:cubicBezTo>
                    <a:pt x="0" y="26035"/>
                    <a:pt x="26035" y="0"/>
                    <a:pt x="58039" y="0"/>
                  </a:cubicBezTo>
                  <a:lnTo>
                    <a:pt x="406654" y="0"/>
                  </a:lnTo>
                  <a:cubicBezTo>
                    <a:pt x="438785" y="0"/>
                    <a:pt x="464693" y="26035"/>
                    <a:pt x="464693" y="58039"/>
                  </a:cubicBezTo>
                  <a:lnTo>
                    <a:pt x="464693" y="406654"/>
                  </a:lnTo>
                  <a:cubicBezTo>
                    <a:pt x="464693" y="438785"/>
                    <a:pt x="438658" y="464693"/>
                    <a:pt x="406654" y="464693"/>
                  </a:cubicBezTo>
                  <a:lnTo>
                    <a:pt x="58039" y="464693"/>
                  </a:lnTo>
                  <a:cubicBezTo>
                    <a:pt x="26035" y="464693"/>
                    <a:pt x="0" y="438658"/>
                    <a:pt x="0" y="406654"/>
                  </a:cubicBezTo>
                  <a:close/>
                </a:path>
              </a:pathLst>
            </a:custGeom>
            <a:solidFill>
              <a:srgbClr val="FF6B6B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3513956" y="4042524"/>
            <a:ext cx="123539" cy="137265"/>
            <a:chOff x="0" y="0"/>
            <a:chExt cx="164719" cy="18302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64721" cy="183023"/>
            </a:xfrm>
            <a:custGeom>
              <a:avLst/>
              <a:gdLst/>
              <a:ahLst/>
              <a:cxnLst/>
              <a:rect r="r" b="b" t="t" l="l"/>
              <a:pathLst>
                <a:path h="183023" w="164721">
                  <a:moveTo>
                    <a:pt x="0" y="0"/>
                  </a:moveTo>
                  <a:lnTo>
                    <a:pt x="164721" y="0"/>
                  </a:lnTo>
                  <a:lnTo>
                    <a:pt x="164721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2557" t="0" r="-92556" b="1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9525"/>
              <a:ext cx="164719" cy="1925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1"/>
                </a:lnSpc>
              </a:pPr>
              <a:r>
                <a:rPr lang="en-US" sz="1275" b="true">
                  <a:solidFill>
                    <a:srgbClr val="08233A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4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3918902" y="3967020"/>
            <a:ext cx="1853108" cy="411804"/>
            <a:chOff x="0" y="0"/>
            <a:chExt cx="2470810" cy="54907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470810" cy="549069"/>
            </a:xfrm>
            <a:custGeom>
              <a:avLst/>
              <a:gdLst/>
              <a:ahLst/>
              <a:cxnLst/>
              <a:rect r="r" b="b" t="t" l="l"/>
              <a:pathLst>
                <a:path h="549069" w="2470810">
                  <a:moveTo>
                    <a:pt x="0" y="0"/>
                  </a:moveTo>
                  <a:lnTo>
                    <a:pt x="2470810" y="0"/>
                  </a:lnTo>
                  <a:lnTo>
                    <a:pt x="247081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682" r="0" b="-37682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2470810" cy="5490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券商商品化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3589460" y="4628164"/>
            <a:ext cx="2210000" cy="637284"/>
            <a:chOff x="0" y="0"/>
            <a:chExt cx="2946667" cy="84971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946670" cy="849716"/>
            </a:xfrm>
            <a:custGeom>
              <a:avLst/>
              <a:gdLst/>
              <a:ahLst/>
              <a:cxnLst/>
              <a:rect r="r" b="b" t="t" l="l"/>
              <a:pathLst>
                <a:path h="849716" w="2946670">
                  <a:moveTo>
                    <a:pt x="0" y="0"/>
                  </a:moveTo>
                  <a:lnTo>
                    <a:pt x="2946670" y="0"/>
                  </a:lnTo>
                  <a:lnTo>
                    <a:pt x="2946670" y="849716"/>
                  </a:lnTo>
                  <a:lnTo>
                    <a:pt x="0" y="849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69" r="0" b="4428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0"/>
              <a:ext cx="2946667" cy="849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5"/>
                </a:lnSpc>
              </a:pPr>
              <a:r>
                <a:rPr lang="en-US" sz="1846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2010/2：Merrill low-latency DMA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3589460" y="5218419"/>
            <a:ext cx="2210000" cy="637284"/>
            <a:chOff x="0" y="0"/>
            <a:chExt cx="2946667" cy="84971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946670" cy="849716"/>
            </a:xfrm>
            <a:custGeom>
              <a:avLst/>
              <a:gdLst/>
              <a:ahLst/>
              <a:cxnLst/>
              <a:rect r="r" b="b" t="t" l="l"/>
              <a:pathLst>
                <a:path h="849716" w="2946670">
                  <a:moveTo>
                    <a:pt x="0" y="0"/>
                  </a:moveTo>
                  <a:lnTo>
                    <a:pt x="2946670" y="0"/>
                  </a:lnTo>
                  <a:lnTo>
                    <a:pt x="2946670" y="849716"/>
                  </a:lnTo>
                  <a:lnTo>
                    <a:pt x="0" y="8497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69" r="0" b="4428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0"/>
              <a:ext cx="2946667" cy="849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15"/>
                </a:lnSpc>
              </a:pPr>
              <a:r>
                <a:rPr lang="en-US" sz="1846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2011/2：Nissan 鎖定 HFT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13589460" y="5998578"/>
            <a:ext cx="2210000" cy="356892"/>
            <a:chOff x="0" y="0"/>
            <a:chExt cx="2946667" cy="475856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946670" cy="475860"/>
            </a:xfrm>
            <a:custGeom>
              <a:avLst/>
              <a:gdLst/>
              <a:ahLst/>
              <a:cxnLst/>
              <a:rect r="r" b="b" t="t" l="l"/>
              <a:pathLst>
                <a:path h="475860" w="2946670">
                  <a:moveTo>
                    <a:pt x="0" y="0"/>
                  </a:moveTo>
                  <a:lnTo>
                    <a:pt x="2946670" y="0"/>
                  </a:lnTo>
                  <a:lnTo>
                    <a:pt x="2946670" y="475860"/>
                  </a:lnTo>
                  <a:lnTo>
                    <a:pt x="0" y="475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0657" r="0" b="-70656"/>
              </a:stretch>
            </a:blip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0"/>
              <a:ext cx="2946667" cy="475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5"/>
                </a:lnSpc>
              </a:pPr>
              <a:r>
                <a:rPr lang="en-US" sz="1546" b="true">
                  <a:solidFill>
                    <a:srgbClr val="66E3B4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服務：DMA / CoLo / LL-FIX</a:t>
              </a:r>
            </a:p>
          </p:txBody>
        </p:sp>
      </p:grpSp>
      <p:grpSp>
        <p:nvGrpSpPr>
          <p:cNvPr name="Group 132" id="132"/>
          <p:cNvGrpSpPr/>
          <p:nvPr/>
        </p:nvGrpSpPr>
        <p:grpSpPr>
          <a:xfrm rot="0">
            <a:off x="745436" y="7759789"/>
            <a:ext cx="16765667" cy="1460373"/>
            <a:chOff x="0" y="0"/>
            <a:chExt cx="22354222" cy="1947164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2354160" cy="1947164"/>
            </a:xfrm>
            <a:custGeom>
              <a:avLst/>
              <a:gdLst/>
              <a:ahLst/>
              <a:cxnLst/>
              <a:rect r="r" b="b" t="t" l="l"/>
              <a:pathLst>
                <a:path h="1947164" w="22354160">
                  <a:moveTo>
                    <a:pt x="0" y="111252"/>
                  </a:moveTo>
                  <a:cubicBezTo>
                    <a:pt x="0" y="49784"/>
                    <a:pt x="49784" y="0"/>
                    <a:pt x="111252" y="0"/>
                  </a:cubicBezTo>
                  <a:lnTo>
                    <a:pt x="22242907" y="0"/>
                  </a:lnTo>
                  <a:cubicBezTo>
                    <a:pt x="22304375" y="0"/>
                    <a:pt x="22354160" y="49784"/>
                    <a:pt x="22354160" y="111252"/>
                  </a:cubicBezTo>
                  <a:lnTo>
                    <a:pt x="22354160" y="1835912"/>
                  </a:lnTo>
                  <a:cubicBezTo>
                    <a:pt x="22354160" y="1897380"/>
                    <a:pt x="22304375" y="1947164"/>
                    <a:pt x="22242907" y="1947164"/>
                  </a:cubicBezTo>
                  <a:lnTo>
                    <a:pt x="111252" y="1947164"/>
                  </a:lnTo>
                  <a:cubicBezTo>
                    <a:pt x="49784" y="1947164"/>
                    <a:pt x="0" y="1897380"/>
                    <a:pt x="0" y="1835912"/>
                  </a:cubicBezTo>
                  <a:close/>
                </a:path>
              </a:pathLst>
            </a:custGeom>
            <a:solidFill>
              <a:srgbClr val="0A2A3A"/>
            </a:solidFill>
            <a:ln w="19065" cap="sq">
              <a:solidFill>
                <a:srgbClr val="20D6EB"/>
              </a:solidFill>
              <a:prstDash val="solid"/>
              <a:miter/>
            </a:ln>
          </p:spPr>
        </p:sp>
      </p:grpSp>
      <p:grpSp>
        <p:nvGrpSpPr>
          <p:cNvPr name="Group 134" id="134"/>
          <p:cNvGrpSpPr/>
          <p:nvPr/>
        </p:nvGrpSpPr>
        <p:grpSpPr>
          <a:xfrm rot="0">
            <a:off x="1125588" y="8043862"/>
            <a:ext cx="2745343" cy="301990"/>
            <a:chOff x="0" y="0"/>
            <a:chExt cx="3660458" cy="40265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3660460" cy="402651"/>
            </a:xfrm>
            <a:custGeom>
              <a:avLst/>
              <a:gdLst/>
              <a:ahLst/>
              <a:cxnLst/>
              <a:rect r="r" b="b" t="t" l="l"/>
              <a:pathLst>
                <a:path h="402651" w="3660460">
                  <a:moveTo>
                    <a:pt x="0" y="0"/>
                  </a:moveTo>
                  <a:lnTo>
                    <a:pt x="3660460" y="0"/>
                  </a:lnTo>
                  <a:lnTo>
                    <a:pt x="3660460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136" r="0" b="-127136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0"/>
              <a:ext cx="3660458" cy="4026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91"/>
                </a:lnSpc>
              </a:pPr>
              <a:r>
                <a:rPr lang="en-US" sz="1576" b="true">
                  <a:solidFill>
                    <a:srgbClr val="B6CAD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券商為什麼願意提供？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125588" y="8428637"/>
            <a:ext cx="5198587" cy="520765"/>
            <a:chOff x="0" y="0"/>
            <a:chExt cx="6931449" cy="694353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6931447" cy="694350"/>
            </a:xfrm>
            <a:custGeom>
              <a:avLst/>
              <a:gdLst/>
              <a:ahLst/>
              <a:cxnLst/>
              <a:rect r="r" b="b" t="t" l="l"/>
              <a:pathLst>
                <a:path h="694350" w="6931447">
                  <a:moveTo>
                    <a:pt x="0" y="0"/>
                  </a:moveTo>
                  <a:lnTo>
                    <a:pt x="6931447" y="0"/>
                  </a:lnTo>
                  <a:lnTo>
                    <a:pt x="6931447" y="694350"/>
                  </a:lnTo>
                  <a:lnTo>
                    <a:pt x="0" y="694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5086" r="10223" b="-114164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0"/>
              <a:ext cx="6931449" cy="6943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2"/>
                </a:lnSpc>
              </a:pPr>
              <a:r>
                <a:rPr lang="en-US" sz="2627" b="true">
                  <a:solidFill>
                    <a:srgbClr val="F7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可爭取的高速專業 Flow 已被證明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6430966" y="8153676"/>
            <a:ext cx="10610755" cy="521618"/>
            <a:chOff x="0" y="0"/>
            <a:chExt cx="14147673" cy="69549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4147678" cy="695487"/>
            </a:xfrm>
            <a:custGeom>
              <a:avLst/>
              <a:gdLst/>
              <a:ahLst/>
              <a:cxnLst/>
              <a:rect r="r" b="b" t="t" l="l"/>
              <a:pathLst>
                <a:path h="695487" w="14147678">
                  <a:moveTo>
                    <a:pt x="0" y="0"/>
                  </a:moveTo>
                  <a:lnTo>
                    <a:pt x="14147678" y="0"/>
                  </a:lnTo>
                  <a:lnTo>
                    <a:pt x="14147678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366" r="0" b="-346366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9525"/>
              <a:ext cx="14147673" cy="705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33"/>
                </a:lnSpc>
              </a:pPr>
              <a:r>
                <a:rPr lang="en-US" sz="1861">
                  <a:solidFill>
                    <a:srgbClr val="B6CADB"/>
                  </a:solidFill>
                  <a:latin typeface="Noto Sans"/>
                  <a:ea typeface="Noto Sans"/>
                  <a:cs typeface="Noto Sans"/>
                  <a:sym typeface="Noto Sans"/>
                </a:rPr>
                <a:t>低延遲不再只是交易所設備，而是客戶實際使用的交易入口；券商用 DMA / Co-location / Low-Latency FIX 留住這批 Flow。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6430966" y="8702745"/>
            <a:ext cx="6314294" cy="372197"/>
            <a:chOff x="0" y="0"/>
            <a:chExt cx="8419059" cy="496263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8419057" cy="496267"/>
            </a:xfrm>
            <a:custGeom>
              <a:avLst/>
              <a:gdLst/>
              <a:ahLst/>
              <a:cxnLst/>
              <a:rect r="r" b="b" t="t" l="l"/>
              <a:pathLst>
                <a:path h="496267" w="8419057">
                  <a:moveTo>
                    <a:pt x="0" y="0"/>
                  </a:moveTo>
                  <a:lnTo>
                    <a:pt x="8419057" y="0"/>
                  </a:lnTo>
                  <a:lnTo>
                    <a:pt x="8419057" y="496267"/>
                  </a:lnTo>
                  <a:lnTo>
                    <a:pt x="0" y="4962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367" r="0" b="-263751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0"/>
              <a:ext cx="8419059" cy="4962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7"/>
                </a:lnSpc>
              </a:pPr>
              <a:r>
                <a:rPr lang="en-US" sz="1881" b="true">
                  <a:solidFill>
                    <a:srgbClr val="F6C24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結論｜日本的起點是速度需求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754971" y="9636157"/>
            <a:ext cx="8510568" cy="178451"/>
            <a:chOff x="0" y="0"/>
            <a:chExt cx="11347425" cy="237934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11347425" cy="237930"/>
            </a:xfrm>
            <a:custGeom>
              <a:avLst/>
              <a:gdLst/>
              <a:ahLst/>
              <a:cxnLst/>
              <a:rect r="r" b="b" t="t" l="l"/>
              <a:pathLst>
                <a:path h="237930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79285" r="0" b="-879287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9525"/>
              <a:ext cx="11347425" cy="2474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"/>
                </a:lnSpc>
              </a:pPr>
              <a:r>
                <a:rPr lang="en-US" sz="84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註：Co-location 訂單不是 HFT 成交量本身，但可作為高速／自動化 Flow 的使用證據。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754971" y="9855784"/>
            <a:ext cx="10432313" cy="137265"/>
            <a:chOff x="0" y="0"/>
            <a:chExt cx="13909751" cy="18302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3909746" cy="183023"/>
            </a:xfrm>
            <a:custGeom>
              <a:avLst/>
              <a:gdLst/>
              <a:ahLst/>
              <a:cxnLst/>
              <a:rect r="r" b="b" t="t" l="l"/>
              <a:pathLst>
                <a:path h="183023" w="13909746">
                  <a:moveTo>
                    <a:pt x="0" y="0"/>
                  </a:moveTo>
                  <a:lnTo>
                    <a:pt x="13909746" y="0"/>
                  </a:lnTo>
                  <a:lnTo>
                    <a:pt x="13909746" y="183023"/>
                  </a:lnTo>
                  <a:lnTo>
                    <a:pt x="0" y="1830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30864" r="0" b="-1430862"/>
              </a:stretch>
            </a:blipFill>
          </p:spPr>
        </p:sp>
        <p:sp>
          <p:nvSpPr>
            <p:cNvPr name="TextBox 151" id="151"/>
            <p:cNvSpPr txBox="true"/>
            <p:nvPr/>
          </p:nvSpPr>
          <p:spPr>
            <a:xfrm>
              <a:off x="0" y="0"/>
              <a:ext cx="13909751" cy="183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00"/>
                </a:lnSpc>
              </a:pPr>
              <a:r>
                <a:rPr lang="en-US" sz="750">
                  <a:solidFill>
                    <a:srgbClr val="7891A6"/>
                  </a:solidFill>
                  <a:latin typeface="Noto Sans"/>
                  <a:ea typeface="Noto Sans"/>
                  <a:cs typeface="Noto Sans"/>
                  <a:sym typeface="Noto Sans"/>
                </a:rPr>
                <a:t>Sources: TSE/JPX Co-location materials 2009; TSE arrowhead 2010; BOJ speech 2010; The TRADE 2010/2011; FSA/Reuters 2016.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E4C83B"/>
            </a:solidFill>
            <a:ln w="19065" cap="sq">
              <a:solidFill>
                <a:srgbClr val="E4C83B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2760">
            <a:off x="748294" y="9851022"/>
            <a:ext cx="16759952" cy="0"/>
          </a:xfrm>
          <a:prstGeom prst="line">
            <a:avLst/>
          </a:prstGeom>
          <a:ln cap="rnd" w="9525">
            <a:solidFill>
              <a:srgbClr val="24495A">
                <a:alpha val="8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42579" y="608875"/>
            <a:ext cx="3431677" cy="568263"/>
            <a:chOff x="0" y="0"/>
            <a:chExt cx="4575569" cy="7576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5575" cy="757671"/>
            </a:xfrm>
            <a:custGeom>
              <a:avLst/>
              <a:gdLst/>
              <a:ahLst/>
              <a:cxnLst/>
              <a:rect r="r" b="b" t="t" l="l"/>
              <a:pathLst>
                <a:path h="757671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757671"/>
                  </a:lnTo>
                  <a:lnTo>
                    <a:pt x="0" y="7576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13" r="0" b="-418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4575569" cy="757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4D8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HFT 案例｜</a:t>
              </a:r>
              <a:r>
                <a:rPr lang="en-US" sz="3000" b="true">
                  <a:solidFill>
                    <a:srgbClr val="F4D8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KOREA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71" y="1262863"/>
            <a:ext cx="16746607" cy="686333"/>
            <a:chOff x="0" y="0"/>
            <a:chExt cx="22328810" cy="9151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915115"/>
            </a:xfrm>
            <a:custGeom>
              <a:avLst/>
              <a:gdLst/>
              <a:ahLst/>
              <a:cxnLst/>
              <a:rect r="r" b="b" t="t" l="l"/>
              <a:pathLst>
                <a:path h="915115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435" r="0" b="-42543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328810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spc="6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韓國：大型衍生品先產生高速客戶需求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4971" y="2127647"/>
            <a:ext cx="16609333" cy="411804"/>
            <a:chOff x="0" y="0"/>
            <a:chExt cx="22145777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82" cy="549069"/>
            </a:xfrm>
            <a:custGeom>
              <a:avLst/>
              <a:gdLst/>
              <a:ahLst/>
              <a:cxnLst/>
              <a:rect r="r" b="b" t="t" l="l"/>
              <a:pathLst>
                <a:path h="549069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5896" r="0" b="-73589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145777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spc="3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不是「先有 HFT 才做服務」；而是券商已觀察到高量、高速的專業衍生品 Flow。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5436" y="2804446"/>
            <a:ext cx="16834304" cy="952481"/>
            <a:chOff x="0" y="0"/>
            <a:chExt cx="22445739" cy="12699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45726" cy="1269873"/>
            </a:xfrm>
            <a:custGeom>
              <a:avLst/>
              <a:gdLst/>
              <a:ahLst/>
              <a:cxnLst/>
              <a:rect r="r" b="b" t="t" l="l"/>
              <a:pathLst>
                <a:path h="1269873" w="22445726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22333713" y="0"/>
                  </a:lnTo>
                  <a:cubicBezTo>
                    <a:pt x="22395562" y="0"/>
                    <a:pt x="22445726" y="50165"/>
                    <a:pt x="22445726" y="112014"/>
                  </a:cubicBezTo>
                  <a:lnTo>
                    <a:pt x="22445726" y="1157859"/>
                  </a:lnTo>
                  <a:cubicBezTo>
                    <a:pt x="22445726" y="1219708"/>
                    <a:pt x="22395562" y="1269873"/>
                    <a:pt x="22333713" y="1269873"/>
                  </a:cubicBezTo>
                  <a:lnTo>
                    <a:pt x="112014" y="1269873"/>
                  </a:lnTo>
                  <a:cubicBezTo>
                    <a:pt x="50165" y="1270000"/>
                    <a:pt x="0" y="1219835"/>
                    <a:pt x="0" y="1157859"/>
                  </a:cubicBezTo>
                  <a:close/>
                </a:path>
              </a:pathLst>
            </a:custGeom>
            <a:solidFill>
              <a:srgbClr val="0C2533"/>
            </a:solidFill>
            <a:ln w="19065" cap="sq">
              <a:solidFill>
                <a:srgbClr val="315A6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41230" y="2856287"/>
            <a:ext cx="5627961" cy="418343"/>
            <a:chOff x="0" y="0"/>
            <a:chExt cx="7503947" cy="557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03943" cy="557794"/>
            </a:xfrm>
            <a:custGeom>
              <a:avLst/>
              <a:gdLst/>
              <a:ahLst/>
              <a:cxnLst/>
              <a:rect r="r" b="b" t="t" l="l"/>
              <a:pathLst>
                <a:path h="557794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557794"/>
                  </a:lnTo>
                  <a:lnTo>
                    <a:pt x="0" y="5577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99" r="0" b="-1916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503947" cy="557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1"/>
                </a:lnSpc>
              </a:pPr>
              <a:r>
                <a:rPr lang="en-US" sz="2075" spc="3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市場規模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67423" y="3211961"/>
            <a:ext cx="6247117" cy="544965"/>
            <a:chOff x="0" y="0"/>
            <a:chExt cx="7503947" cy="6546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03943" cy="654605"/>
            </a:xfrm>
            <a:custGeom>
              <a:avLst/>
              <a:gdLst/>
              <a:ahLst/>
              <a:cxnLst/>
              <a:rect r="r" b="b" t="t" l="l"/>
              <a:pathLst>
                <a:path h="654605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654605"/>
                  </a:lnTo>
                  <a:lnTo>
                    <a:pt x="0" y="6546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9812" r="0" b="-15691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7503947" cy="664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spc="4">
                  <a:solidFill>
                    <a:srgbClr val="F4D84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KRW 18兆/日(2005)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51553" y="2856287"/>
            <a:ext cx="4804353" cy="418343"/>
            <a:chOff x="0" y="0"/>
            <a:chExt cx="6405804" cy="5577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05805" cy="557794"/>
            </a:xfrm>
            <a:custGeom>
              <a:avLst/>
              <a:gdLst/>
              <a:ahLst/>
              <a:cxnLst/>
              <a:rect r="r" b="b" t="t" l="l"/>
              <a:pathLst>
                <a:path h="557794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557794"/>
                  </a:lnTo>
                  <a:lnTo>
                    <a:pt x="0" y="5577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239" r="0" b="-1533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405804" cy="557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1"/>
                </a:lnSpc>
              </a:pPr>
              <a:r>
                <a:rPr lang="en-US" sz="2075" spc="3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客戶需求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064021" y="3274630"/>
            <a:ext cx="4804353" cy="329441"/>
            <a:chOff x="0" y="0"/>
            <a:chExt cx="6405804" cy="439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05805" cy="439255"/>
            </a:xfrm>
            <a:custGeom>
              <a:avLst/>
              <a:gdLst/>
              <a:ahLst/>
              <a:cxnLst/>
              <a:rect r="r" b="b" t="t" l="l"/>
              <a:pathLst>
                <a:path h="439255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156" r="0" b="-2341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405804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spc="4">
                  <a:solidFill>
                    <a:srgbClr val="68E8F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高量＋高速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651994" y="2856287"/>
            <a:ext cx="5422059" cy="418343"/>
            <a:chOff x="0" y="0"/>
            <a:chExt cx="7229412" cy="5577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29408" cy="557794"/>
            </a:xfrm>
            <a:custGeom>
              <a:avLst/>
              <a:gdLst/>
              <a:ahLst/>
              <a:cxnLst/>
              <a:rect r="r" b="b" t="t" l="l"/>
              <a:pathLst>
                <a:path h="557794" w="7229408">
                  <a:moveTo>
                    <a:pt x="0" y="0"/>
                  </a:moveTo>
                  <a:lnTo>
                    <a:pt x="7229408" y="0"/>
                  </a:lnTo>
                  <a:lnTo>
                    <a:pt x="7229408" y="557794"/>
                  </a:lnTo>
                  <a:lnTo>
                    <a:pt x="0" y="5577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009" r="0" b="-18207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229412" cy="557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1"/>
                </a:lnSpc>
              </a:pPr>
              <a:r>
                <a:rPr lang="en-US" sz="2075" spc="3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結果證據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964462" y="3274630"/>
            <a:ext cx="5422059" cy="482297"/>
            <a:chOff x="0" y="0"/>
            <a:chExt cx="7229412" cy="64306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29408" cy="643063"/>
            </a:xfrm>
            <a:custGeom>
              <a:avLst/>
              <a:gdLst/>
              <a:ahLst/>
              <a:cxnLst/>
              <a:rect r="r" b="b" t="t" l="l"/>
              <a:pathLst>
                <a:path h="643063" w="7229408">
                  <a:moveTo>
                    <a:pt x="0" y="0"/>
                  </a:moveTo>
                  <a:lnTo>
                    <a:pt x="7229408" y="0"/>
                  </a:lnTo>
                  <a:lnTo>
                    <a:pt x="7229408" y="643063"/>
                  </a:lnTo>
                  <a:lnTo>
                    <a:pt x="0" y="6430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4900" r="0" b="-15320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229412" cy="652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 spc="4">
                  <a:solidFill>
                    <a:srgbClr val="63DBA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49.4% HFT參與(2010-2014)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3121" y="4217346"/>
            <a:ext cx="3617376" cy="1915258"/>
            <a:chOff x="0" y="0"/>
            <a:chExt cx="4823168" cy="25536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23206" cy="2553716"/>
            </a:xfrm>
            <a:custGeom>
              <a:avLst/>
              <a:gdLst/>
              <a:ahLst/>
              <a:cxnLst/>
              <a:rect r="r" b="b" t="t" l="l"/>
              <a:pathLst>
                <a:path h="2553716" w="4823206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4675124" y="0"/>
                  </a:lnTo>
                  <a:cubicBezTo>
                    <a:pt x="4756912" y="0"/>
                    <a:pt x="4823206" y="66294"/>
                    <a:pt x="4823206" y="148082"/>
                  </a:cubicBezTo>
                  <a:lnTo>
                    <a:pt x="4823206" y="2405634"/>
                  </a:lnTo>
                  <a:cubicBezTo>
                    <a:pt x="4823206" y="2487422"/>
                    <a:pt x="4756912" y="2553716"/>
                    <a:pt x="4675124" y="2553716"/>
                  </a:cubicBezTo>
                  <a:lnTo>
                    <a:pt x="148082" y="2553716"/>
                  </a:lnTo>
                  <a:cubicBezTo>
                    <a:pt x="66294" y="2553716"/>
                    <a:pt x="0" y="2487422"/>
                    <a:pt x="0" y="2405634"/>
                  </a:cubicBezTo>
                  <a:close/>
                </a:path>
              </a:pathLst>
            </a:custGeom>
            <a:solidFill>
              <a:srgbClr val="112E3D"/>
            </a:solidFill>
            <a:ln w="20971" cap="sq">
              <a:solidFill>
                <a:srgbClr val="315A6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78789" y="4410475"/>
            <a:ext cx="499501" cy="403412"/>
            <a:chOff x="0" y="0"/>
            <a:chExt cx="666001" cy="5378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5988" cy="537845"/>
            </a:xfrm>
            <a:custGeom>
              <a:avLst/>
              <a:gdLst/>
              <a:ahLst/>
              <a:cxnLst/>
              <a:rect r="r" b="b" t="t" l="l"/>
              <a:pathLst>
                <a:path h="537845" w="665988">
                  <a:moveTo>
                    <a:pt x="0" y="96012"/>
                  </a:moveTo>
                  <a:cubicBezTo>
                    <a:pt x="0" y="43053"/>
                    <a:pt x="43053" y="0"/>
                    <a:pt x="96012" y="0"/>
                  </a:cubicBezTo>
                  <a:lnTo>
                    <a:pt x="569976" y="0"/>
                  </a:lnTo>
                  <a:cubicBezTo>
                    <a:pt x="623062" y="0"/>
                    <a:pt x="665988" y="43053"/>
                    <a:pt x="665988" y="96012"/>
                  </a:cubicBezTo>
                  <a:lnTo>
                    <a:pt x="665988" y="441833"/>
                  </a:lnTo>
                  <a:cubicBezTo>
                    <a:pt x="665988" y="494919"/>
                    <a:pt x="622935" y="537845"/>
                    <a:pt x="569976" y="537845"/>
                  </a:cubicBezTo>
                  <a:lnTo>
                    <a:pt x="96012" y="537845"/>
                  </a:lnTo>
                  <a:cubicBezTo>
                    <a:pt x="43053" y="537845"/>
                    <a:pt x="0" y="494919"/>
                    <a:pt x="0" y="441833"/>
                  </a:cubicBezTo>
                  <a:close/>
                </a:path>
              </a:pathLst>
            </a:custGeom>
            <a:solidFill>
              <a:srgbClr val="68E8F5"/>
            </a:solidFill>
            <a:ln w="19065" cap="sq">
              <a:solidFill>
                <a:srgbClr val="68E8F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88324" y="4461186"/>
            <a:ext cx="480431" cy="219627"/>
            <a:chOff x="0" y="0"/>
            <a:chExt cx="640575" cy="29283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0580" cy="292837"/>
            </a:xfrm>
            <a:custGeom>
              <a:avLst/>
              <a:gdLst/>
              <a:ahLst/>
              <a:cxnLst/>
              <a:rect r="r" b="b" t="t" l="l"/>
              <a:pathLst>
                <a:path h="292837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40575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5121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92304" y="4433735"/>
            <a:ext cx="2635529" cy="494167"/>
            <a:chOff x="0" y="0"/>
            <a:chExt cx="3514039" cy="6588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14041" cy="658883"/>
            </a:xfrm>
            <a:custGeom>
              <a:avLst/>
              <a:gdLst/>
              <a:ahLst/>
              <a:cxnLst/>
              <a:rect r="r" b="b" t="t" l="l"/>
              <a:pathLst>
                <a:path h="658883" w="3514041">
                  <a:moveTo>
                    <a:pt x="0" y="0"/>
                  </a:moveTo>
                  <a:lnTo>
                    <a:pt x="3514041" y="0"/>
                  </a:lnTo>
                  <a:lnTo>
                    <a:pt x="3514041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19" r="0" b="-539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514039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spc="3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市場夠深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70686" y="5216157"/>
            <a:ext cx="3129696" cy="617706"/>
            <a:chOff x="0" y="0"/>
            <a:chExt cx="4172928" cy="8236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72924" cy="823603"/>
            </a:xfrm>
            <a:custGeom>
              <a:avLst/>
              <a:gdLst/>
              <a:ahLst/>
              <a:cxnLst/>
              <a:rect r="r" b="b" t="t" l="l"/>
              <a:pathLst>
                <a:path h="823603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17292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spc="2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KOSPI200 Futures / Options 形成大型專業衍生品市場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13493" y="4217346"/>
            <a:ext cx="3617376" cy="1915258"/>
            <a:chOff x="0" y="0"/>
            <a:chExt cx="4823168" cy="255367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23206" cy="2553716"/>
            </a:xfrm>
            <a:custGeom>
              <a:avLst/>
              <a:gdLst/>
              <a:ahLst/>
              <a:cxnLst/>
              <a:rect r="r" b="b" t="t" l="l"/>
              <a:pathLst>
                <a:path h="2553716" w="4823206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4675124" y="0"/>
                  </a:lnTo>
                  <a:cubicBezTo>
                    <a:pt x="4756912" y="0"/>
                    <a:pt x="4823206" y="66294"/>
                    <a:pt x="4823206" y="148082"/>
                  </a:cubicBezTo>
                  <a:lnTo>
                    <a:pt x="4823206" y="2405634"/>
                  </a:lnTo>
                  <a:cubicBezTo>
                    <a:pt x="4823206" y="2487422"/>
                    <a:pt x="4756912" y="2553716"/>
                    <a:pt x="4675124" y="2553716"/>
                  </a:cubicBezTo>
                  <a:lnTo>
                    <a:pt x="148082" y="2553716"/>
                  </a:lnTo>
                  <a:cubicBezTo>
                    <a:pt x="66294" y="2553716"/>
                    <a:pt x="0" y="2487422"/>
                    <a:pt x="0" y="2405634"/>
                  </a:cubicBezTo>
                  <a:close/>
                </a:path>
              </a:pathLst>
            </a:custGeom>
            <a:solidFill>
              <a:srgbClr val="112E3D"/>
            </a:solidFill>
            <a:ln w="20971" cap="sq">
              <a:solidFill>
                <a:srgbClr val="315A6B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179171" y="4410475"/>
            <a:ext cx="499501" cy="403412"/>
            <a:chOff x="0" y="0"/>
            <a:chExt cx="666001" cy="5378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5988" cy="537845"/>
            </a:xfrm>
            <a:custGeom>
              <a:avLst/>
              <a:gdLst/>
              <a:ahLst/>
              <a:cxnLst/>
              <a:rect r="r" b="b" t="t" l="l"/>
              <a:pathLst>
                <a:path h="537845" w="665988">
                  <a:moveTo>
                    <a:pt x="0" y="96012"/>
                  </a:moveTo>
                  <a:cubicBezTo>
                    <a:pt x="0" y="43053"/>
                    <a:pt x="43053" y="0"/>
                    <a:pt x="96012" y="0"/>
                  </a:cubicBezTo>
                  <a:lnTo>
                    <a:pt x="569976" y="0"/>
                  </a:lnTo>
                  <a:cubicBezTo>
                    <a:pt x="623062" y="0"/>
                    <a:pt x="665988" y="43053"/>
                    <a:pt x="665988" y="96012"/>
                  </a:cubicBezTo>
                  <a:lnTo>
                    <a:pt x="665988" y="441833"/>
                  </a:lnTo>
                  <a:cubicBezTo>
                    <a:pt x="665988" y="494919"/>
                    <a:pt x="622935" y="537845"/>
                    <a:pt x="569976" y="537845"/>
                  </a:cubicBezTo>
                  <a:lnTo>
                    <a:pt x="96012" y="537845"/>
                  </a:lnTo>
                  <a:cubicBezTo>
                    <a:pt x="43053" y="537845"/>
                    <a:pt x="0" y="494919"/>
                    <a:pt x="0" y="441833"/>
                  </a:cubicBezTo>
                  <a:close/>
                </a:path>
              </a:pathLst>
            </a:custGeom>
            <a:solidFill>
              <a:srgbClr val="F4D84B"/>
            </a:solidFill>
            <a:ln w="19065" cap="sq">
              <a:solidFill>
                <a:srgbClr val="F4D84B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5188706" y="4461186"/>
            <a:ext cx="480431" cy="219627"/>
            <a:chOff x="0" y="0"/>
            <a:chExt cx="640575" cy="29283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0580" cy="292837"/>
            </a:xfrm>
            <a:custGeom>
              <a:avLst/>
              <a:gdLst/>
              <a:ahLst/>
              <a:cxnLst/>
              <a:rect r="r" b="b" t="t" l="l"/>
              <a:pathLst>
                <a:path h="292837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40575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5121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792676" y="4433735"/>
            <a:ext cx="2635529" cy="494167"/>
            <a:chOff x="0" y="0"/>
            <a:chExt cx="3514039" cy="65888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14041" cy="658883"/>
            </a:xfrm>
            <a:custGeom>
              <a:avLst/>
              <a:gdLst/>
              <a:ahLst/>
              <a:cxnLst/>
              <a:rect r="r" b="b" t="t" l="l"/>
              <a:pathLst>
                <a:path h="658883" w="3514041">
                  <a:moveTo>
                    <a:pt x="0" y="0"/>
                  </a:moveTo>
                  <a:lnTo>
                    <a:pt x="3514041" y="0"/>
                  </a:lnTo>
                  <a:lnTo>
                    <a:pt x="3514041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19" r="0" b="-5392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3514039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spc="3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客戶要速度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271059" y="5216157"/>
            <a:ext cx="3129696" cy="617706"/>
            <a:chOff x="0" y="0"/>
            <a:chExt cx="4172928" cy="82360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72924" cy="823603"/>
            </a:xfrm>
            <a:custGeom>
              <a:avLst/>
              <a:gdLst/>
              <a:ahLst/>
              <a:cxnLst/>
              <a:rect r="r" b="b" t="t" l="l"/>
              <a:pathLst>
                <a:path h="823603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17292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spc="2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套利、避險、短線策略需要高速、高量執行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213875" y="4217346"/>
            <a:ext cx="3617376" cy="1915258"/>
            <a:chOff x="0" y="0"/>
            <a:chExt cx="4823168" cy="255367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23206" cy="2553716"/>
            </a:xfrm>
            <a:custGeom>
              <a:avLst/>
              <a:gdLst/>
              <a:ahLst/>
              <a:cxnLst/>
              <a:rect r="r" b="b" t="t" l="l"/>
              <a:pathLst>
                <a:path h="2553716" w="4823206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4675124" y="0"/>
                  </a:lnTo>
                  <a:cubicBezTo>
                    <a:pt x="4756912" y="0"/>
                    <a:pt x="4823206" y="66294"/>
                    <a:pt x="4823206" y="148082"/>
                  </a:cubicBezTo>
                  <a:lnTo>
                    <a:pt x="4823206" y="2405634"/>
                  </a:lnTo>
                  <a:cubicBezTo>
                    <a:pt x="4823206" y="2487422"/>
                    <a:pt x="4756912" y="2553716"/>
                    <a:pt x="4675124" y="2553716"/>
                  </a:cubicBezTo>
                  <a:lnTo>
                    <a:pt x="148082" y="2553716"/>
                  </a:lnTo>
                  <a:cubicBezTo>
                    <a:pt x="66294" y="2553716"/>
                    <a:pt x="0" y="2487422"/>
                    <a:pt x="0" y="2405634"/>
                  </a:cubicBezTo>
                  <a:close/>
                </a:path>
              </a:pathLst>
            </a:custGeom>
            <a:solidFill>
              <a:srgbClr val="112E3D"/>
            </a:solidFill>
            <a:ln w="20971" cap="sq">
              <a:solidFill>
                <a:srgbClr val="315A6B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379544" y="4410475"/>
            <a:ext cx="499501" cy="403412"/>
            <a:chOff x="0" y="0"/>
            <a:chExt cx="666001" cy="53788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65988" cy="537845"/>
            </a:xfrm>
            <a:custGeom>
              <a:avLst/>
              <a:gdLst/>
              <a:ahLst/>
              <a:cxnLst/>
              <a:rect r="r" b="b" t="t" l="l"/>
              <a:pathLst>
                <a:path h="537845" w="665988">
                  <a:moveTo>
                    <a:pt x="0" y="96012"/>
                  </a:moveTo>
                  <a:cubicBezTo>
                    <a:pt x="0" y="43053"/>
                    <a:pt x="43053" y="0"/>
                    <a:pt x="96012" y="0"/>
                  </a:cubicBezTo>
                  <a:lnTo>
                    <a:pt x="569976" y="0"/>
                  </a:lnTo>
                  <a:cubicBezTo>
                    <a:pt x="623062" y="0"/>
                    <a:pt x="665988" y="43053"/>
                    <a:pt x="665988" y="96012"/>
                  </a:cubicBezTo>
                  <a:lnTo>
                    <a:pt x="665988" y="441833"/>
                  </a:lnTo>
                  <a:cubicBezTo>
                    <a:pt x="665988" y="494919"/>
                    <a:pt x="622935" y="537845"/>
                    <a:pt x="569976" y="537845"/>
                  </a:cubicBezTo>
                  <a:lnTo>
                    <a:pt x="96012" y="537845"/>
                  </a:lnTo>
                  <a:cubicBezTo>
                    <a:pt x="43053" y="537845"/>
                    <a:pt x="0" y="494919"/>
                    <a:pt x="0" y="441833"/>
                  </a:cubicBezTo>
                  <a:close/>
                </a:path>
              </a:pathLst>
            </a:custGeom>
            <a:solidFill>
              <a:srgbClr val="63DBA1"/>
            </a:solidFill>
            <a:ln w="19065" cap="sq">
              <a:solidFill>
                <a:srgbClr val="63DBA1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389078" y="4461186"/>
            <a:ext cx="480431" cy="219627"/>
            <a:chOff x="0" y="0"/>
            <a:chExt cx="640575" cy="29283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40580" cy="292837"/>
            </a:xfrm>
            <a:custGeom>
              <a:avLst/>
              <a:gdLst/>
              <a:ahLst/>
              <a:cxnLst/>
              <a:rect r="r" b="b" t="t" l="l"/>
              <a:pathLst>
                <a:path h="292837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2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640575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5121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993058" y="4433735"/>
            <a:ext cx="2635529" cy="494167"/>
            <a:chOff x="0" y="0"/>
            <a:chExt cx="3514039" cy="65888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514041" cy="658883"/>
            </a:xfrm>
            <a:custGeom>
              <a:avLst/>
              <a:gdLst/>
              <a:ahLst/>
              <a:cxnLst/>
              <a:rect r="r" b="b" t="t" l="l"/>
              <a:pathLst>
                <a:path h="658883" w="3514041">
                  <a:moveTo>
                    <a:pt x="0" y="0"/>
                  </a:moveTo>
                  <a:lnTo>
                    <a:pt x="3514041" y="0"/>
                  </a:lnTo>
                  <a:lnTo>
                    <a:pt x="3514041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19" r="0" b="-5392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3514039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spc="3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券商回應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471441" y="5216157"/>
            <a:ext cx="3129696" cy="617706"/>
            <a:chOff x="0" y="0"/>
            <a:chExt cx="4172928" cy="82360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172924" cy="823603"/>
            </a:xfrm>
            <a:custGeom>
              <a:avLst/>
              <a:gdLst/>
              <a:ahLst/>
              <a:cxnLst/>
              <a:rect r="r" b="b" t="t" l="l"/>
              <a:pathLst>
                <a:path h="823603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417292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spc="2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2008 起導入 DMA / Low-Latency connectivity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414248" y="4217346"/>
            <a:ext cx="3617376" cy="1915258"/>
            <a:chOff x="0" y="0"/>
            <a:chExt cx="4823168" cy="255367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823206" cy="2553716"/>
            </a:xfrm>
            <a:custGeom>
              <a:avLst/>
              <a:gdLst/>
              <a:ahLst/>
              <a:cxnLst/>
              <a:rect r="r" b="b" t="t" l="l"/>
              <a:pathLst>
                <a:path h="2553716" w="4823206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4675124" y="0"/>
                  </a:lnTo>
                  <a:cubicBezTo>
                    <a:pt x="4756912" y="0"/>
                    <a:pt x="4823206" y="66294"/>
                    <a:pt x="4823206" y="148082"/>
                  </a:cubicBezTo>
                  <a:lnTo>
                    <a:pt x="4823206" y="2405634"/>
                  </a:lnTo>
                  <a:cubicBezTo>
                    <a:pt x="4823206" y="2487422"/>
                    <a:pt x="4756912" y="2553716"/>
                    <a:pt x="4675124" y="2553716"/>
                  </a:cubicBezTo>
                  <a:lnTo>
                    <a:pt x="148082" y="2553716"/>
                  </a:lnTo>
                  <a:cubicBezTo>
                    <a:pt x="66294" y="2553716"/>
                    <a:pt x="0" y="2487422"/>
                    <a:pt x="0" y="2405634"/>
                  </a:cubicBezTo>
                  <a:close/>
                </a:path>
              </a:pathLst>
            </a:custGeom>
            <a:solidFill>
              <a:srgbClr val="112E3D"/>
            </a:solidFill>
            <a:ln w="20971" cap="sq">
              <a:solidFill>
                <a:srgbClr val="315A6B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3579926" y="4410475"/>
            <a:ext cx="499501" cy="403412"/>
            <a:chOff x="0" y="0"/>
            <a:chExt cx="666001" cy="53788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65988" cy="537845"/>
            </a:xfrm>
            <a:custGeom>
              <a:avLst/>
              <a:gdLst/>
              <a:ahLst/>
              <a:cxnLst/>
              <a:rect r="r" b="b" t="t" l="l"/>
              <a:pathLst>
                <a:path h="537845" w="665988">
                  <a:moveTo>
                    <a:pt x="0" y="96012"/>
                  </a:moveTo>
                  <a:cubicBezTo>
                    <a:pt x="0" y="43053"/>
                    <a:pt x="43053" y="0"/>
                    <a:pt x="96012" y="0"/>
                  </a:cubicBezTo>
                  <a:lnTo>
                    <a:pt x="569976" y="0"/>
                  </a:lnTo>
                  <a:cubicBezTo>
                    <a:pt x="623062" y="0"/>
                    <a:pt x="665988" y="43053"/>
                    <a:pt x="665988" y="96012"/>
                  </a:cubicBezTo>
                  <a:lnTo>
                    <a:pt x="665988" y="441833"/>
                  </a:lnTo>
                  <a:cubicBezTo>
                    <a:pt x="665988" y="494919"/>
                    <a:pt x="622935" y="537845"/>
                    <a:pt x="569976" y="537845"/>
                  </a:cubicBezTo>
                  <a:lnTo>
                    <a:pt x="96012" y="537845"/>
                  </a:lnTo>
                  <a:cubicBezTo>
                    <a:pt x="43053" y="537845"/>
                    <a:pt x="0" y="494919"/>
                    <a:pt x="0" y="441833"/>
                  </a:cubicBezTo>
                  <a:close/>
                </a:path>
              </a:pathLst>
            </a:custGeom>
            <a:solidFill>
              <a:srgbClr val="F17677"/>
            </a:solidFill>
            <a:ln w="19065" cap="sq">
              <a:solidFill>
                <a:srgbClr val="F17677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3589460" y="4461186"/>
            <a:ext cx="480431" cy="219627"/>
            <a:chOff x="0" y="0"/>
            <a:chExt cx="640575" cy="29283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40580" cy="292837"/>
            </a:xfrm>
            <a:custGeom>
              <a:avLst/>
              <a:gdLst/>
              <a:ahLst/>
              <a:cxnLst/>
              <a:rect r="r" b="b" t="t" l="l"/>
              <a:pathLst>
                <a:path h="292837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2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640575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5121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193431" y="4433735"/>
            <a:ext cx="2635529" cy="494167"/>
            <a:chOff x="0" y="0"/>
            <a:chExt cx="3514039" cy="65888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14041" cy="658883"/>
            </a:xfrm>
            <a:custGeom>
              <a:avLst/>
              <a:gdLst/>
              <a:ahLst/>
              <a:cxnLst/>
              <a:rect r="r" b="b" t="t" l="l"/>
              <a:pathLst>
                <a:path h="658883" w="3514041">
                  <a:moveTo>
                    <a:pt x="0" y="0"/>
                  </a:moveTo>
                  <a:lnTo>
                    <a:pt x="3514041" y="0"/>
                  </a:lnTo>
                  <a:lnTo>
                    <a:pt x="3514041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19" r="0" b="-5392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3514039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spc="3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Flow 被證明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671814" y="5216157"/>
            <a:ext cx="3129696" cy="617706"/>
            <a:chOff x="0" y="0"/>
            <a:chExt cx="4172928" cy="82360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172924" cy="823603"/>
            </a:xfrm>
            <a:custGeom>
              <a:avLst/>
              <a:gdLst/>
              <a:ahLst/>
              <a:cxnLst/>
              <a:rect r="r" b="b" t="t" l="l"/>
              <a:pathLst>
                <a:path h="823603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417292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spc="2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後續研究顯示高速交易已是重要市場流量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42579" y="6878422"/>
            <a:ext cx="16840019" cy="1630813"/>
            <a:chOff x="0" y="0"/>
            <a:chExt cx="22453359" cy="217441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453346" cy="2174367"/>
            </a:xfrm>
            <a:custGeom>
              <a:avLst/>
              <a:gdLst/>
              <a:ahLst/>
              <a:cxnLst/>
              <a:rect r="r" b="b" t="t" l="l"/>
              <a:pathLst>
                <a:path h="2174367" w="22453346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22341839" y="0"/>
                  </a:lnTo>
                  <a:cubicBezTo>
                    <a:pt x="22403434" y="0"/>
                    <a:pt x="22453346" y="49911"/>
                    <a:pt x="22453346" y="111506"/>
                  </a:cubicBezTo>
                  <a:lnTo>
                    <a:pt x="22453346" y="2062861"/>
                  </a:lnTo>
                  <a:cubicBezTo>
                    <a:pt x="22453346" y="2124456"/>
                    <a:pt x="22403434" y="2174367"/>
                    <a:pt x="22341839" y="2174367"/>
                  </a:cubicBezTo>
                  <a:lnTo>
                    <a:pt x="111506" y="2174367"/>
                  </a:lnTo>
                  <a:cubicBezTo>
                    <a:pt x="49911" y="2174367"/>
                    <a:pt x="0" y="2124456"/>
                    <a:pt x="0" y="2062861"/>
                  </a:cubicBezTo>
                  <a:close/>
                </a:path>
              </a:pathLst>
            </a:custGeom>
            <a:solidFill>
              <a:srgbClr val="0B2432"/>
            </a:solidFill>
            <a:ln w="24784" cap="sq">
              <a:solidFill>
                <a:srgbClr val="68E8F5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139314" y="7165353"/>
            <a:ext cx="5078892" cy="329441"/>
            <a:chOff x="0" y="0"/>
            <a:chExt cx="6771856" cy="43925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771850" cy="439255"/>
            </a:xfrm>
            <a:custGeom>
              <a:avLst/>
              <a:gdLst/>
              <a:ahLst/>
              <a:cxnLst/>
              <a:rect r="r" b="b" t="t" l="l"/>
              <a:pathLst>
                <a:path h="439255" w="6771850">
                  <a:moveTo>
                    <a:pt x="0" y="0"/>
                  </a:moveTo>
                  <a:lnTo>
                    <a:pt x="6771850" y="0"/>
                  </a:lnTo>
                  <a:lnTo>
                    <a:pt x="677185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94" r="0" b="-250394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6771856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spc="3">
                  <a:solidFill>
                    <a:srgbClr val="68E8F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券商為什麼願意提供？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39314" y="7577147"/>
            <a:ext cx="7137892" cy="480431"/>
            <a:chOff x="0" y="0"/>
            <a:chExt cx="9517190" cy="64057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517195" cy="640580"/>
            </a:xfrm>
            <a:custGeom>
              <a:avLst/>
              <a:gdLst/>
              <a:ahLst/>
              <a:cxnLst/>
              <a:rect r="r" b="b" t="t" l="l"/>
              <a:pathLst>
                <a:path h="640580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2" r="0" b="-23949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9517190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spc="4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可爭取的高價值訂單流已出現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304667" y="7165353"/>
            <a:ext cx="8647833" cy="384353"/>
            <a:chOff x="0" y="0"/>
            <a:chExt cx="11530444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530448" cy="512464"/>
            </a:xfrm>
            <a:custGeom>
              <a:avLst/>
              <a:gdLst/>
              <a:ahLst/>
              <a:cxnLst/>
              <a:rect r="r" b="b" t="t" l="l"/>
              <a:pathLst>
                <a:path h="512464" w="11530448">
                  <a:moveTo>
                    <a:pt x="0" y="0"/>
                  </a:moveTo>
                  <a:lnTo>
                    <a:pt x="11530448" y="0"/>
                  </a:lnTo>
                  <a:lnTo>
                    <a:pt x="1153044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2" r="0" b="-38841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11530444" cy="5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spc="3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專業客戶已明確需要 high-volume / high-performance market access。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304667" y="7659510"/>
            <a:ext cx="8716470" cy="439255"/>
            <a:chOff x="0" y="0"/>
            <a:chExt cx="11621960" cy="58567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621960" cy="585674"/>
            </a:xfrm>
            <a:custGeom>
              <a:avLst/>
              <a:gdLst/>
              <a:ahLst/>
              <a:cxnLst/>
              <a:rect r="r" b="b" t="t" l="l"/>
              <a:pathLst>
                <a:path h="585674" w="11621960">
                  <a:moveTo>
                    <a:pt x="0" y="0"/>
                  </a:moveTo>
                  <a:lnTo>
                    <a:pt x="11621960" y="0"/>
                  </a:lnTo>
                  <a:lnTo>
                    <a:pt x="1162196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656" r="0" b="-33665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1162196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spc="3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不提供低延遲接入，券商可能失去這群衍生品與 Algo 客戶。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754971" y="9498892"/>
            <a:ext cx="16334804" cy="247079"/>
            <a:chOff x="0" y="0"/>
            <a:chExt cx="21779738" cy="32943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1779736" cy="329441"/>
            </a:xfrm>
            <a:custGeom>
              <a:avLst/>
              <a:gdLst/>
              <a:ahLst/>
              <a:cxnLst/>
              <a:rect r="r" b="b" t="t" l="l"/>
              <a:pathLst>
                <a:path h="329441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8178" r="0" b="-123817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21779738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24"/>
                </a:lnSpc>
              </a:pPr>
              <a:r>
                <a:rPr lang="en-US" sz="1020" spc="1">
                  <a:solidFill>
                    <a:srgbClr val="6F8390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資料來源：KRX Derivatives Market；Orc / Good Morning Shinhan (2008)；PB Futures / Orc (2008)；Kang et al. (2022)。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7524381" y="9915239"/>
            <a:ext cx="1018061" cy="35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spc="1">
                <a:solidFill>
                  <a:srgbClr val="738896"/>
                </a:solidFill>
                <a:latin typeface="ほのかアンティーク丸"/>
                <a:ea typeface="ほのかアンティーク丸"/>
                <a:cs typeface="ほのかアンティーク丸"/>
                <a:sym typeface="ほのかアンティーク丸"/>
              </a:rPr>
              <a:t>1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70059"/>
            <a:chOff x="0" y="0"/>
            <a:chExt cx="24427878" cy="22674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226695"/>
            </a:xfrm>
            <a:custGeom>
              <a:avLst/>
              <a:gdLst/>
              <a:ahLst/>
              <a:cxnLst/>
              <a:rect r="r" b="b" t="t" l="l"/>
              <a:pathLst>
                <a:path h="2266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26695"/>
                  </a:lnTo>
                  <a:lnTo>
                    <a:pt x="0" y="226695"/>
                  </a:lnTo>
                  <a:close/>
                </a:path>
              </a:pathLst>
            </a:custGeom>
            <a:solidFill>
              <a:srgbClr val="E4C83B"/>
            </a:solidFill>
            <a:ln w="19065" cap="sq">
              <a:solidFill>
                <a:srgbClr val="E4C83B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 rot="2760">
            <a:off x="748294" y="9851022"/>
            <a:ext cx="16759952" cy="0"/>
          </a:xfrm>
          <a:prstGeom prst="line">
            <a:avLst/>
          </a:prstGeom>
          <a:ln cap="rnd" w="9525">
            <a:solidFill>
              <a:srgbClr val="24495A">
                <a:alpha val="89804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742579" y="599350"/>
            <a:ext cx="4923701" cy="568263"/>
            <a:chOff x="0" y="0"/>
            <a:chExt cx="6564935" cy="75768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564940" cy="757671"/>
            </a:xfrm>
            <a:custGeom>
              <a:avLst/>
              <a:gdLst/>
              <a:ahLst/>
              <a:cxnLst/>
              <a:rect r="r" b="b" t="t" l="l"/>
              <a:pathLst>
                <a:path h="757671" w="6564940">
                  <a:moveTo>
                    <a:pt x="0" y="0"/>
                  </a:moveTo>
                  <a:lnTo>
                    <a:pt x="6564940" y="0"/>
                  </a:lnTo>
                  <a:lnTo>
                    <a:pt x="6564940" y="757671"/>
                  </a:lnTo>
                  <a:lnTo>
                    <a:pt x="0" y="7576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13" r="30302" b="-4182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6564935" cy="7576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4D8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HFT 案例｜</a:t>
              </a:r>
              <a:r>
                <a:rPr lang="en-US" sz="3000" b="true">
                  <a:solidFill>
                    <a:srgbClr val="F4D84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UNITED STATES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71" y="1262863"/>
            <a:ext cx="16746607" cy="686333"/>
            <a:chOff x="0" y="0"/>
            <a:chExt cx="22328810" cy="9151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328805" cy="915115"/>
            </a:xfrm>
            <a:custGeom>
              <a:avLst/>
              <a:gdLst/>
              <a:ahLst/>
              <a:cxnLst/>
              <a:rect r="r" b="b" t="t" l="l"/>
              <a:pathLst>
                <a:path h="915115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435" r="0" b="-42543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2328810" cy="9246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spc="6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美國：市場自動化後，直接高速接入成為券商服務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4971" y="2127647"/>
            <a:ext cx="16609333" cy="411804"/>
            <a:chOff x="0" y="0"/>
            <a:chExt cx="22145777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82" cy="549069"/>
            </a:xfrm>
            <a:custGeom>
              <a:avLst/>
              <a:gdLst/>
              <a:ahLst/>
              <a:cxnLst/>
              <a:rect r="r" b="b" t="t" l="l"/>
              <a:pathLst>
                <a:path h="549069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5896" r="0" b="-73589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22145777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1"/>
                </a:lnSpc>
              </a:pPr>
              <a:r>
                <a:rPr lang="en-US" sz="2026" spc="3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Fragmentation 不是直接原因；真正轉折是市場進入 machine-driven，速度成為競爭邊際。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5436" y="2804446"/>
            <a:ext cx="16834304" cy="952481"/>
            <a:chOff x="0" y="0"/>
            <a:chExt cx="22445739" cy="12699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45726" cy="1269873"/>
            </a:xfrm>
            <a:custGeom>
              <a:avLst/>
              <a:gdLst/>
              <a:ahLst/>
              <a:cxnLst/>
              <a:rect r="r" b="b" t="t" l="l"/>
              <a:pathLst>
                <a:path h="1269873" w="22445726">
                  <a:moveTo>
                    <a:pt x="0" y="112014"/>
                  </a:moveTo>
                  <a:cubicBezTo>
                    <a:pt x="0" y="50165"/>
                    <a:pt x="50165" y="0"/>
                    <a:pt x="112014" y="0"/>
                  </a:cubicBezTo>
                  <a:lnTo>
                    <a:pt x="22333713" y="0"/>
                  </a:lnTo>
                  <a:cubicBezTo>
                    <a:pt x="22395562" y="0"/>
                    <a:pt x="22445726" y="50165"/>
                    <a:pt x="22445726" y="112014"/>
                  </a:cubicBezTo>
                  <a:lnTo>
                    <a:pt x="22445726" y="1157859"/>
                  </a:lnTo>
                  <a:cubicBezTo>
                    <a:pt x="22445726" y="1219708"/>
                    <a:pt x="22395562" y="1269873"/>
                    <a:pt x="22333713" y="1269873"/>
                  </a:cubicBezTo>
                  <a:lnTo>
                    <a:pt x="112014" y="1269873"/>
                  </a:lnTo>
                  <a:cubicBezTo>
                    <a:pt x="50165" y="1270000"/>
                    <a:pt x="0" y="1219835"/>
                    <a:pt x="0" y="1157859"/>
                  </a:cubicBezTo>
                  <a:close/>
                </a:path>
              </a:pathLst>
            </a:custGeom>
            <a:solidFill>
              <a:srgbClr val="0C2533"/>
            </a:solidFill>
            <a:ln w="19065" cap="sq">
              <a:solidFill>
                <a:srgbClr val="315A6B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05961" y="2874100"/>
            <a:ext cx="5627961" cy="418343"/>
            <a:chOff x="0" y="0"/>
            <a:chExt cx="7503947" cy="557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03943" cy="557794"/>
            </a:xfrm>
            <a:custGeom>
              <a:avLst/>
              <a:gdLst/>
              <a:ahLst/>
              <a:cxnLst/>
              <a:rect r="r" b="b" t="t" l="l"/>
              <a:pathLst>
                <a:path h="557794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557794"/>
                  </a:lnTo>
                  <a:lnTo>
                    <a:pt x="0" y="5577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99" r="0" b="-19166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7503947" cy="557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1"/>
                </a:lnSpc>
              </a:pPr>
              <a:r>
                <a:rPr lang="en-US" sz="2075" spc="3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市場流量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39314" y="3156514"/>
            <a:ext cx="5627961" cy="550335"/>
            <a:chOff x="0" y="0"/>
            <a:chExt cx="7503947" cy="73378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503943" cy="733781"/>
            </a:xfrm>
            <a:custGeom>
              <a:avLst/>
              <a:gdLst/>
              <a:ahLst/>
              <a:cxnLst/>
              <a:rect r="r" b="b" t="t" l="l"/>
              <a:pathLst>
                <a:path h="733781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33781"/>
                  </a:lnTo>
                  <a:lnTo>
                    <a:pt x="0" y="7337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331" r="0" b="-12919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7503947" cy="7433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spc="4">
                  <a:solidFill>
                    <a:srgbClr val="F4D84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&gt;50% HFT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616284" y="2874100"/>
            <a:ext cx="4804353" cy="418343"/>
            <a:chOff x="0" y="0"/>
            <a:chExt cx="6405804" cy="5577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405805" cy="557794"/>
            </a:xfrm>
            <a:custGeom>
              <a:avLst/>
              <a:gdLst/>
              <a:ahLst/>
              <a:cxnLst/>
              <a:rect r="r" b="b" t="t" l="l"/>
              <a:pathLst>
                <a:path h="557794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557794"/>
                  </a:lnTo>
                  <a:lnTo>
                    <a:pt x="0" y="5577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4239" r="0" b="-15330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405804" cy="557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1"/>
                </a:lnSpc>
              </a:pPr>
              <a:r>
                <a:rPr lang="en-US" sz="2075" spc="3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交易速度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835912" y="3266961"/>
            <a:ext cx="4804353" cy="329441"/>
            <a:chOff x="0" y="0"/>
            <a:chExt cx="6405804" cy="43925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05805" cy="439255"/>
            </a:xfrm>
            <a:custGeom>
              <a:avLst/>
              <a:gdLst/>
              <a:ahLst/>
              <a:cxnLst/>
              <a:rect r="r" b="b" t="t" l="l"/>
              <a:pathLst>
                <a:path h="439255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4156" r="0" b="-23415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6405804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spc="4">
                  <a:solidFill>
                    <a:srgbClr val="68E8F5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&lt;1ms回應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516725" y="2874100"/>
            <a:ext cx="5422059" cy="418343"/>
            <a:chOff x="0" y="0"/>
            <a:chExt cx="7229412" cy="5577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29408" cy="557794"/>
            </a:xfrm>
            <a:custGeom>
              <a:avLst/>
              <a:gdLst/>
              <a:ahLst/>
              <a:cxnLst/>
              <a:rect r="r" b="b" t="t" l="l"/>
              <a:pathLst>
                <a:path h="557794" w="7229408">
                  <a:moveTo>
                    <a:pt x="0" y="0"/>
                  </a:moveTo>
                  <a:lnTo>
                    <a:pt x="7229408" y="0"/>
                  </a:lnTo>
                  <a:lnTo>
                    <a:pt x="7229408" y="557794"/>
                  </a:lnTo>
                  <a:lnTo>
                    <a:pt x="0" y="5577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3009" r="0" b="-18207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7229412" cy="5577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91"/>
                </a:lnSpc>
              </a:pPr>
              <a:r>
                <a:rPr lang="en-US" sz="2075" spc="3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券商服務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736353" y="3266961"/>
            <a:ext cx="5422059" cy="329441"/>
            <a:chOff x="0" y="0"/>
            <a:chExt cx="7229412" cy="43925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229408" cy="439255"/>
            </a:xfrm>
            <a:custGeom>
              <a:avLst/>
              <a:gdLst/>
              <a:ahLst/>
              <a:cxnLst/>
              <a:rect r="r" b="b" t="t" l="l"/>
              <a:pathLst>
                <a:path h="439255" w="7229408">
                  <a:moveTo>
                    <a:pt x="0" y="0"/>
                  </a:moveTo>
                  <a:lnTo>
                    <a:pt x="7229408" y="0"/>
                  </a:lnTo>
                  <a:lnTo>
                    <a:pt x="7229408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0691" r="0" b="-270691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7229412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 spc="3">
                  <a:solidFill>
                    <a:srgbClr val="63DBA1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DMA/Sponsored Access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3121" y="4217346"/>
            <a:ext cx="3617376" cy="1915258"/>
            <a:chOff x="0" y="0"/>
            <a:chExt cx="4823168" cy="255367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823206" cy="2553716"/>
            </a:xfrm>
            <a:custGeom>
              <a:avLst/>
              <a:gdLst/>
              <a:ahLst/>
              <a:cxnLst/>
              <a:rect r="r" b="b" t="t" l="l"/>
              <a:pathLst>
                <a:path h="2553716" w="4823206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4675124" y="0"/>
                  </a:lnTo>
                  <a:cubicBezTo>
                    <a:pt x="4756912" y="0"/>
                    <a:pt x="4823206" y="66294"/>
                    <a:pt x="4823206" y="148082"/>
                  </a:cubicBezTo>
                  <a:lnTo>
                    <a:pt x="4823206" y="2405634"/>
                  </a:lnTo>
                  <a:cubicBezTo>
                    <a:pt x="4823206" y="2487422"/>
                    <a:pt x="4756912" y="2553716"/>
                    <a:pt x="4675124" y="2553716"/>
                  </a:cubicBezTo>
                  <a:lnTo>
                    <a:pt x="148082" y="2553716"/>
                  </a:lnTo>
                  <a:cubicBezTo>
                    <a:pt x="66294" y="2553716"/>
                    <a:pt x="0" y="2487422"/>
                    <a:pt x="0" y="2405634"/>
                  </a:cubicBezTo>
                  <a:close/>
                </a:path>
              </a:pathLst>
            </a:custGeom>
            <a:solidFill>
              <a:srgbClr val="112E3D"/>
            </a:solidFill>
            <a:ln w="20971" cap="sq">
              <a:solidFill>
                <a:srgbClr val="315A6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78789" y="4410475"/>
            <a:ext cx="499501" cy="403412"/>
            <a:chOff x="0" y="0"/>
            <a:chExt cx="666001" cy="5378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5988" cy="537845"/>
            </a:xfrm>
            <a:custGeom>
              <a:avLst/>
              <a:gdLst/>
              <a:ahLst/>
              <a:cxnLst/>
              <a:rect r="r" b="b" t="t" l="l"/>
              <a:pathLst>
                <a:path h="537845" w="665988">
                  <a:moveTo>
                    <a:pt x="0" y="96012"/>
                  </a:moveTo>
                  <a:cubicBezTo>
                    <a:pt x="0" y="43053"/>
                    <a:pt x="43053" y="0"/>
                    <a:pt x="96012" y="0"/>
                  </a:cubicBezTo>
                  <a:lnTo>
                    <a:pt x="569976" y="0"/>
                  </a:lnTo>
                  <a:cubicBezTo>
                    <a:pt x="623062" y="0"/>
                    <a:pt x="665988" y="43053"/>
                    <a:pt x="665988" y="96012"/>
                  </a:cubicBezTo>
                  <a:lnTo>
                    <a:pt x="665988" y="441833"/>
                  </a:lnTo>
                  <a:cubicBezTo>
                    <a:pt x="665988" y="494919"/>
                    <a:pt x="622935" y="537845"/>
                    <a:pt x="569976" y="537845"/>
                  </a:cubicBezTo>
                  <a:lnTo>
                    <a:pt x="96012" y="537845"/>
                  </a:lnTo>
                  <a:cubicBezTo>
                    <a:pt x="43053" y="537845"/>
                    <a:pt x="0" y="494919"/>
                    <a:pt x="0" y="441833"/>
                  </a:cubicBezTo>
                  <a:close/>
                </a:path>
              </a:pathLst>
            </a:custGeom>
            <a:solidFill>
              <a:srgbClr val="68E8F5"/>
            </a:solidFill>
            <a:ln w="19065" cap="sq">
              <a:solidFill>
                <a:srgbClr val="68E8F5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88324" y="4461186"/>
            <a:ext cx="480431" cy="219627"/>
            <a:chOff x="0" y="0"/>
            <a:chExt cx="640575" cy="29283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0580" cy="292837"/>
            </a:xfrm>
            <a:custGeom>
              <a:avLst/>
              <a:gdLst/>
              <a:ahLst/>
              <a:cxnLst/>
              <a:rect r="r" b="b" t="t" l="l"/>
              <a:pathLst>
                <a:path h="292837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2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640575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5121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592304" y="4433735"/>
            <a:ext cx="2635529" cy="494167"/>
            <a:chOff x="0" y="0"/>
            <a:chExt cx="3514039" cy="65888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514041" cy="658883"/>
            </a:xfrm>
            <a:custGeom>
              <a:avLst/>
              <a:gdLst/>
              <a:ahLst/>
              <a:cxnLst/>
              <a:rect r="r" b="b" t="t" l="l"/>
              <a:pathLst>
                <a:path h="658883" w="3514041">
                  <a:moveTo>
                    <a:pt x="0" y="0"/>
                  </a:moveTo>
                  <a:lnTo>
                    <a:pt x="3514041" y="0"/>
                  </a:lnTo>
                  <a:lnTo>
                    <a:pt x="3514041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19" r="0" b="-5392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3514039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spc="3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市場切散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70686" y="5216157"/>
            <a:ext cx="3129696" cy="617706"/>
            <a:chOff x="0" y="0"/>
            <a:chExt cx="4172928" cy="8236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172924" cy="823603"/>
            </a:xfrm>
            <a:custGeom>
              <a:avLst/>
              <a:gdLst/>
              <a:ahLst/>
              <a:cxnLst/>
              <a:rect r="r" b="b" t="t" l="l"/>
              <a:pathLst>
                <a:path h="823603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17292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spc="2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多交易所、ATS、Dark Pool、Internalizer 分散流動性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013493" y="4217346"/>
            <a:ext cx="3617376" cy="1915258"/>
            <a:chOff x="0" y="0"/>
            <a:chExt cx="4823168" cy="255367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23206" cy="2553716"/>
            </a:xfrm>
            <a:custGeom>
              <a:avLst/>
              <a:gdLst/>
              <a:ahLst/>
              <a:cxnLst/>
              <a:rect r="r" b="b" t="t" l="l"/>
              <a:pathLst>
                <a:path h="2553716" w="4823206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4675124" y="0"/>
                  </a:lnTo>
                  <a:cubicBezTo>
                    <a:pt x="4756912" y="0"/>
                    <a:pt x="4823206" y="66294"/>
                    <a:pt x="4823206" y="148082"/>
                  </a:cubicBezTo>
                  <a:lnTo>
                    <a:pt x="4823206" y="2405634"/>
                  </a:lnTo>
                  <a:cubicBezTo>
                    <a:pt x="4823206" y="2487422"/>
                    <a:pt x="4756912" y="2553716"/>
                    <a:pt x="4675124" y="2553716"/>
                  </a:cubicBezTo>
                  <a:lnTo>
                    <a:pt x="148082" y="2553716"/>
                  </a:lnTo>
                  <a:cubicBezTo>
                    <a:pt x="66294" y="2553716"/>
                    <a:pt x="0" y="2487422"/>
                    <a:pt x="0" y="2405634"/>
                  </a:cubicBezTo>
                  <a:close/>
                </a:path>
              </a:pathLst>
            </a:custGeom>
            <a:solidFill>
              <a:srgbClr val="112E3D"/>
            </a:solidFill>
            <a:ln w="20971" cap="sq">
              <a:solidFill>
                <a:srgbClr val="315A6B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179171" y="4410475"/>
            <a:ext cx="499501" cy="403412"/>
            <a:chOff x="0" y="0"/>
            <a:chExt cx="666001" cy="53788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65988" cy="537845"/>
            </a:xfrm>
            <a:custGeom>
              <a:avLst/>
              <a:gdLst/>
              <a:ahLst/>
              <a:cxnLst/>
              <a:rect r="r" b="b" t="t" l="l"/>
              <a:pathLst>
                <a:path h="537845" w="665988">
                  <a:moveTo>
                    <a:pt x="0" y="96012"/>
                  </a:moveTo>
                  <a:cubicBezTo>
                    <a:pt x="0" y="43053"/>
                    <a:pt x="43053" y="0"/>
                    <a:pt x="96012" y="0"/>
                  </a:cubicBezTo>
                  <a:lnTo>
                    <a:pt x="569976" y="0"/>
                  </a:lnTo>
                  <a:cubicBezTo>
                    <a:pt x="623062" y="0"/>
                    <a:pt x="665988" y="43053"/>
                    <a:pt x="665988" y="96012"/>
                  </a:cubicBezTo>
                  <a:lnTo>
                    <a:pt x="665988" y="441833"/>
                  </a:lnTo>
                  <a:cubicBezTo>
                    <a:pt x="665988" y="494919"/>
                    <a:pt x="622935" y="537845"/>
                    <a:pt x="569976" y="537845"/>
                  </a:cubicBezTo>
                  <a:lnTo>
                    <a:pt x="96012" y="537845"/>
                  </a:lnTo>
                  <a:cubicBezTo>
                    <a:pt x="43053" y="537845"/>
                    <a:pt x="0" y="494919"/>
                    <a:pt x="0" y="441833"/>
                  </a:cubicBezTo>
                  <a:close/>
                </a:path>
              </a:pathLst>
            </a:custGeom>
            <a:solidFill>
              <a:srgbClr val="F4D84B"/>
            </a:solidFill>
            <a:ln w="19065" cap="sq">
              <a:solidFill>
                <a:srgbClr val="F4D84B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5188706" y="4461186"/>
            <a:ext cx="480431" cy="219627"/>
            <a:chOff x="0" y="0"/>
            <a:chExt cx="640575" cy="29283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0580" cy="292837"/>
            </a:xfrm>
            <a:custGeom>
              <a:avLst/>
              <a:gdLst/>
              <a:ahLst/>
              <a:cxnLst/>
              <a:rect r="r" b="b" t="t" l="l"/>
              <a:pathLst>
                <a:path h="292837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2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40575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5121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792676" y="4433735"/>
            <a:ext cx="2635529" cy="494167"/>
            <a:chOff x="0" y="0"/>
            <a:chExt cx="3514039" cy="65888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514041" cy="658883"/>
            </a:xfrm>
            <a:custGeom>
              <a:avLst/>
              <a:gdLst/>
              <a:ahLst/>
              <a:cxnLst/>
              <a:rect r="r" b="b" t="t" l="l"/>
              <a:pathLst>
                <a:path h="658883" w="3514041">
                  <a:moveTo>
                    <a:pt x="0" y="0"/>
                  </a:moveTo>
                  <a:lnTo>
                    <a:pt x="3514041" y="0"/>
                  </a:lnTo>
                  <a:lnTo>
                    <a:pt x="3514041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19" r="0" b="-5392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3514039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spc="3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全面自動化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5271059" y="5216157"/>
            <a:ext cx="3129696" cy="617706"/>
            <a:chOff x="0" y="0"/>
            <a:chExt cx="4172928" cy="82360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72924" cy="823603"/>
            </a:xfrm>
            <a:custGeom>
              <a:avLst/>
              <a:gdLst/>
              <a:ahLst/>
              <a:cxnLst/>
              <a:rect r="r" b="b" t="t" l="l"/>
              <a:pathLst>
                <a:path h="823603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417292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spc="2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人工 Routing 不足，市場改由系統高速反應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213875" y="4217346"/>
            <a:ext cx="3617376" cy="1915258"/>
            <a:chOff x="0" y="0"/>
            <a:chExt cx="4823168" cy="255367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823206" cy="2553716"/>
            </a:xfrm>
            <a:custGeom>
              <a:avLst/>
              <a:gdLst/>
              <a:ahLst/>
              <a:cxnLst/>
              <a:rect r="r" b="b" t="t" l="l"/>
              <a:pathLst>
                <a:path h="2553716" w="4823206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4675124" y="0"/>
                  </a:lnTo>
                  <a:cubicBezTo>
                    <a:pt x="4756912" y="0"/>
                    <a:pt x="4823206" y="66294"/>
                    <a:pt x="4823206" y="148082"/>
                  </a:cubicBezTo>
                  <a:lnTo>
                    <a:pt x="4823206" y="2405634"/>
                  </a:lnTo>
                  <a:cubicBezTo>
                    <a:pt x="4823206" y="2487422"/>
                    <a:pt x="4756912" y="2553716"/>
                    <a:pt x="4675124" y="2553716"/>
                  </a:cubicBezTo>
                  <a:lnTo>
                    <a:pt x="148082" y="2553716"/>
                  </a:lnTo>
                  <a:cubicBezTo>
                    <a:pt x="66294" y="2553716"/>
                    <a:pt x="0" y="2487422"/>
                    <a:pt x="0" y="2405634"/>
                  </a:cubicBezTo>
                  <a:close/>
                </a:path>
              </a:pathLst>
            </a:custGeom>
            <a:solidFill>
              <a:srgbClr val="112E3D"/>
            </a:solidFill>
            <a:ln w="20971" cap="sq">
              <a:solidFill>
                <a:srgbClr val="315A6B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9379544" y="4410475"/>
            <a:ext cx="499501" cy="403412"/>
            <a:chOff x="0" y="0"/>
            <a:chExt cx="666001" cy="53788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65988" cy="537845"/>
            </a:xfrm>
            <a:custGeom>
              <a:avLst/>
              <a:gdLst/>
              <a:ahLst/>
              <a:cxnLst/>
              <a:rect r="r" b="b" t="t" l="l"/>
              <a:pathLst>
                <a:path h="537845" w="665988">
                  <a:moveTo>
                    <a:pt x="0" y="96012"/>
                  </a:moveTo>
                  <a:cubicBezTo>
                    <a:pt x="0" y="43053"/>
                    <a:pt x="43053" y="0"/>
                    <a:pt x="96012" y="0"/>
                  </a:cubicBezTo>
                  <a:lnTo>
                    <a:pt x="569976" y="0"/>
                  </a:lnTo>
                  <a:cubicBezTo>
                    <a:pt x="623062" y="0"/>
                    <a:pt x="665988" y="43053"/>
                    <a:pt x="665988" y="96012"/>
                  </a:cubicBezTo>
                  <a:lnTo>
                    <a:pt x="665988" y="441833"/>
                  </a:lnTo>
                  <a:cubicBezTo>
                    <a:pt x="665988" y="494919"/>
                    <a:pt x="622935" y="537845"/>
                    <a:pt x="569976" y="537845"/>
                  </a:cubicBezTo>
                  <a:lnTo>
                    <a:pt x="96012" y="537845"/>
                  </a:lnTo>
                  <a:cubicBezTo>
                    <a:pt x="43053" y="537845"/>
                    <a:pt x="0" y="494919"/>
                    <a:pt x="0" y="441833"/>
                  </a:cubicBezTo>
                  <a:close/>
                </a:path>
              </a:pathLst>
            </a:custGeom>
            <a:solidFill>
              <a:srgbClr val="63DBA1"/>
            </a:solidFill>
            <a:ln w="19065" cap="sq">
              <a:solidFill>
                <a:srgbClr val="63DBA1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389078" y="4461186"/>
            <a:ext cx="480431" cy="219627"/>
            <a:chOff x="0" y="0"/>
            <a:chExt cx="640575" cy="292837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40580" cy="292837"/>
            </a:xfrm>
            <a:custGeom>
              <a:avLst/>
              <a:gdLst/>
              <a:ahLst/>
              <a:cxnLst/>
              <a:rect r="r" b="b" t="t" l="l"/>
              <a:pathLst>
                <a:path h="292837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2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640575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5121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993058" y="4433735"/>
            <a:ext cx="2635529" cy="494167"/>
            <a:chOff x="0" y="0"/>
            <a:chExt cx="3514039" cy="65888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514041" cy="658883"/>
            </a:xfrm>
            <a:custGeom>
              <a:avLst/>
              <a:gdLst/>
              <a:ahLst/>
              <a:cxnLst/>
              <a:rect r="r" b="b" t="t" l="l"/>
              <a:pathLst>
                <a:path h="658883" w="3514041">
                  <a:moveTo>
                    <a:pt x="0" y="0"/>
                  </a:moveTo>
                  <a:lnTo>
                    <a:pt x="3514041" y="0"/>
                  </a:lnTo>
                  <a:lnTo>
                    <a:pt x="3514041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19" r="0" b="-5392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3514039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spc="3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速度變競爭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471441" y="5216157"/>
            <a:ext cx="3129696" cy="617706"/>
            <a:chOff x="0" y="0"/>
            <a:chExt cx="4172928" cy="82360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4172924" cy="823603"/>
            </a:xfrm>
            <a:custGeom>
              <a:avLst/>
              <a:gdLst/>
              <a:ahLst/>
              <a:cxnLst/>
              <a:rect r="r" b="b" t="t" l="l"/>
              <a:pathLst>
                <a:path h="823603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4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4172928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spc="2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Direct Feed、CoLo 讓反應速度影響交易機會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3414248" y="4217346"/>
            <a:ext cx="3617376" cy="1915258"/>
            <a:chOff x="0" y="0"/>
            <a:chExt cx="4823168" cy="255367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823206" cy="2553716"/>
            </a:xfrm>
            <a:custGeom>
              <a:avLst/>
              <a:gdLst/>
              <a:ahLst/>
              <a:cxnLst/>
              <a:rect r="r" b="b" t="t" l="l"/>
              <a:pathLst>
                <a:path h="2553716" w="4823206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4675124" y="0"/>
                  </a:lnTo>
                  <a:cubicBezTo>
                    <a:pt x="4756912" y="0"/>
                    <a:pt x="4823206" y="66294"/>
                    <a:pt x="4823206" y="148082"/>
                  </a:cubicBezTo>
                  <a:lnTo>
                    <a:pt x="4823206" y="2405634"/>
                  </a:lnTo>
                  <a:cubicBezTo>
                    <a:pt x="4823206" y="2487422"/>
                    <a:pt x="4756912" y="2553716"/>
                    <a:pt x="4675124" y="2553716"/>
                  </a:cubicBezTo>
                  <a:lnTo>
                    <a:pt x="148082" y="2553716"/>
                  </a:lnTo>
                  <a:cubicBezTo>
                    <a:pt x="66294" y="2553716"/>
                    <a:pt x="0" y="2487422"/>
                    <a:pt x="0" y="2405634"/>
                  </a:cubicBezTo>
                  <a:close/>
                </a:path>
              </a:pathLst>
            </a:custGeom>
            <a:solidFill>
              <a:srgbClr val="112E3D"/>
            </a:solidFill>
            <a:ln w="20971" cap="sq">
              <a:solidFill>
                <a:srgbClr val="315A6B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3579926" y="4410475"/>
            <a:ext cx="499501" cy="403412"/>
            <a:chOff x="0" y="0"/>
            <a:chExt cx="666001" cy="537883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65988" cy="537845"/>
            </a:xfrm>
            <a:custGeom>
              <a:avLst/>
              <a:gdLst/>
              <a:ahLst/>
              <a:cxnLst/>
              <a:rect r="r" b="b" t="t" l="l"/>
              <a:pathLst>
                <a:path h="537845" w="665988">
                  <a:moveTo>
                    <a:pt x="0" y="96012"/>
                  </a:moveTo>
                  <a:cubicBezTo>
                    <a:pt x="0" y="43053"/>
                    <a:pt x="43053" y="0"/>
                    <a:pt x="96012" y="0"/>
                  </a:cubicBezTo>
                  <a:lnTo>
                    <a:pt x="569976" y="0"/>
                  </a:lnTo>
                  <a:cubicBezTo>
                    <a:pt x="623062" y="0"/>
                    <a:pt x="665988" y="43053"/>
                    <a:pt x="665988" y="96012"/>
                  </a:cubicBezTo>
                  <a:lnTo>
                    <a:pt x="665988" y="441833"/>
                  </a:lnTo>
                  <a:cubicBezTo>
                    <a:pt x="665988" y="494919"/>
                    <a:pt x="622935" y="537845"/>
                    <a:pt x="569976" y="537845"/>
                  </a:cubicBezTo>
                  <a:lnTo>
                    <a:pt x="96012" y="537845"/>
                  </a:lnTo>
                  <a:cubicBezTo>
                    <a:pt x="43053" y="537845"/>
                    <a:pt x="0" y="494919"/>
                    <a:pt x="0" y="441833"/>
                  </a:cubicBezTo>
                  <a:close/>
                </a:path>
              </a:pathLst>
            </a:custGeom>
            <a:solidFill>
              <a:srgbClr val="F17677"/>
            </a:solidFill>
            <a:ln w="19065" cap="sq">
              <a:solidFill>
                <a:srgbClr val="F17677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3589460" y="4461186"/>
            <a:ext cx="480431" cy="219627"/>
            <a:chOff x="0" y="0"/>
            <a:chExt cx="640575" cy="29283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40580" cy="292837"/>
            </a:xfrm>
            <a:custGeom>
              <a:avLst/>
              <a:gdLst/>
              <a:ahLst/>
              <a:cxnLst/>
              <a:rect r="r" b="b" t="t" l="l"/>
              <a:pathLst>
                <a:path h="292837" w="640580">
                  <a:moveTo>
                    <a:pt x="0" y="0"/>
                  </a:moveTo>
                  <a:lnTo>
                    <a:pt x="640580" y="0"/>
                  </a:lnTo>
                  <a:lnTo>
                    <a:pt x="64058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2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640575" cy="2928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1"/>
                </a:lnSpc>
              </a:pPr>
              <a:r>
                <a:rPr lang="en-US" sz="1501" b="true">
                  <a:solidFill>
                    <a:srgbClr val="05121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193431" y="4433735"/>
            <a:ext cx="2635529" cy="494167"/>
            <a:chOff x="0" y="0"/>
            <a:chExt cx="3514039" cy="65888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14041" cy="658883"/>
            </a:xfrm>
            <a:custGeom>
              <a:avLst/>
              <a:gdLst/>
              <a:ahLst/>
              <a:cxnLst/>
              <a:rect r="r" b="b" t="t" l="l"/>
              <a:pathLst>
                <a:path h="658883" w="3514041">
                  <a:moveTo>
                    <a:pt x="0" y="0"/>
                  </a:moveTo>
                  <a:lnTo>
                    <a:pt x="3514041" y="0"/>
                  </a:lnTo>
                  <a:lnTo>
                    <a:pt x="3514041" y="658883"/>
                  </a:lnTo>
                  <a:lnTo>
                    <a:pt x="0" y="6588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919" r="0" b="-5392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3514039" cy="677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 spc="3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券商提供接入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671814" y="5216157"/>
            <a:ext cx="3129696" cy="617703"/>
            <a:chOff x="0" y="0"/>
            <a:chExt cx="4172928" cy="82360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4172924" cy="823599"/>
            </a:xfrm>
            <a:custGeom>
              <a:avLst/>
              <a:gdLst/>
              <a:ahLst/>
              <a:cxnLst/>
              <a:rect r="r" b="b" t="t" l="l"/>
              <a:pathLst>
                <a:path h="823599" w="4172924">
                  <a:moveTo>
                    <a:pt x="0" y="0"/>
                  </a:moveTo>
                  <a:lnTo>
                    <a:pt x="4172924" y="0"/>
                  </a:lnTo>
                  <a:lnTo>
                    <a:pt x="4172924" y="823599"/>
                  </a:lnTo>
                  <a:lnTo>
                    <a:pt x="0" y="823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724" r="0" b="-4872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4172928" cy="823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1"/>
                </a:lnSpc>
              </a:pPr>
              <a:r>
                <a:rPr lang="en-US" sz="1726" spc="2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客戶透過 DMA / Sponsored Access 自行高速下單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742579" y="6878422"/>
            <a:ext cx="16840019" cy="1630813"/>
            <a:chOff x="0" y="0"/>
            <a:chExt cx="22453359" cy="217441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453346" cy="2174367"/>
            </a:xfrm>
            <a:custGeom>
              <a:avLst/>
              <a:gdLst/>
              <a:ahLst/>
              <a:cxnLst/>
              <a:rect r="r" b="b" t="t" l="l"/>
              <a:pathLst>
                <a:path h="2174367" w="22453346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22341839" y="0"/>
                  </a:lnTo>
                  <a:cubicBezTo>
                    <a:pt x="22403434" y="0"/>
                    <a:pt x="22453346" y="49911"/>
                    <a:pt x="22453346" y="111506"/>
                  </a:cubicBezTo>
                  <a:lnTo>
                    <a:pt x="22453346" y="2062861"/>
                  </a:lnTo>
                  <a:cubicBezTo>
                    <a:pt x="22453346" y="2124456"/>
                    <a:pt x="22403434" y="2174367"/>
                    <a:pt x="22341839" y="2174367"/>
                  </a:cubicBezTo>
                  <a:lnTo>
                    <a:pt x="111506" y="2174367"/>
                  </a:lnTo>
                  <a:cubicBezTo>
                    <a:pt x="49911" y="2174367"/>
                    <a:pt x="0" y="2124456"/>
                    <a:pt x="0" y="2062861"/>
                  </a:cubicBezTo>
                  <a:close/>
                </a:path>
              </a:pathLst>
            </a:custGeom>
            <a:solidFill>
              <a:srgbClr val="0B2432"/>
            </a:solidFill>
            <a:ln w="24784" cap="sq">
              <a:solidFill>
                <a:srgbClr val="F4D84B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139314" y="7165353"/>
            <a:ext cx="5078892" cy="329441"/>
            <a:chOff x="0" y="0"/>
            <a:chExt cx="6771856" cy="43925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771850" cy="439255"/>
            </a:xfrm>
            <a:custGeom>
              <a:avLst/>
              <a:gdLst/>
              <a:ahLst/>
              <a:cxnLst/>
              <a:rect r="r" b="b" t="t" l="l"/>
              <a:pathLst>
                <a:path h="439255" w="6771850">
                  <a:moveTo>
                    <a:pt x="0" y="0"/>
                  </a:moveTo>
                  <a:lnTo>
                    <a:pt x="6771850" y="0"/>
                  </a:lnTo>
                  <a:lnTo>
                    <a:pt x="677185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0394" r="0" b="-250394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6771856" cy="4487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spc="3">
                  <a:solidFill>
                    <a:srgbClr val="F4D84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券商為什麼願意提供？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39314" y="7577147"/>
            <a:ext cx="7137892" cy="480431"/>
            <a:chOff x="0" y="0"/>
            <a:chExt cx="9517190" cy="640575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517195" cy="640580"/>
            </a:xfrm>
            <a:custGeom>
              <a:avLst/>
              <a:gdLst/>
              <a:ahLst/>
              <a:cxnLst/>
              <a:rect r="r" b="b" t="t" l="l"/>
              <a:pathLst>
                <a:path h="640580" w="9517195">
                  <a:moveTo>
                    <a:pt x="0" y="0"/>
                  </a:moveTo>
                  <a:lnTo>
                    <a:pt x="9517195" y="0"/>
                  </a:lnTo>
                  <a:lnTo>
                    <a:pt x="9517195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492" r="0" b="-239491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"/>
              <a:ext cx="9517190" cy="650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22"/>
                </a:lnSpc>
              </a:pPr>
              <a:r>
                <a:rPr lang="en-US" sz="2852" spc="4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重大 Flow 需要被留住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8304667" y="7165353"/>
            <a:ext cx="8647833" cy="384353"/>
            <a:chOff x="0" y="0"/>
            <a:chExt cx="11530444" cy="51247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1530448" cy="512464"/>
            </a:xfrm>
            <a:custGeom>
              <a:avLst/>
              <a:gdLst/>
              <a:ahLst/>
              <a:cxnLst/>
              <a:rect r="r" b="b" t="t" l="l"/>
              <a:pathLst>
                <a:path h="512464" w="11530448">
                  <a:moveTo>
                    <a:pt x="0" y="0"/>
                  </a:moveTo>
                  <a:lnTo>
                    <a:pt x="11530448" y="0"/>
                  </a:lnTo>
                  <a:lnTo>
                    <a:pt x="11530448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8412" r="0" b="-38841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11530444" cy="5219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1"/>
                </a:lnSpc>
              </a:pPr>
              <a:r>
                <a:rPr lang="en-US" sz="1876" spc="3">
                  <a:solidFill>
                    <a:srgbClr val="F6FAFE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HFT / Institution 已是市場重要流量，且需要更直接的 Market Access。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8304667" y="7659510"/>
            <a:ext cx="8716470" cy="439255"/>
            <a:chOff x="0" y="0"/>
            <a:chExt cx="11621960" cy="58567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1621960" cy="585674"/>
            </a:xfrm>
            <a:custGeom>
              <a:avLst/>
              <a:gdLst/>
              <a:ahLst/>
              <a:cxnLst/>
              <a:rect r="r" b="b" t="t" l="l"/>
              <a:pathLst>
                <a:path h="585674" w="11621960">
                  <a:moveTo>
                    <a:pt x="0" y="0"/>
                  </a:moveTo>
                  <a:lnTo>
                    <a:pt x="11621960" y="0"/>
                  </a:lnTo>
                  <a:lnTo>
                    <a:pt x="11621960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656" r="0" b="-336656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11621960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spc="3">
                  <a:solidFill>
                    <a:srgbClr val="ABC0CB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提供高速接入，讓券商保留專業客戶 Flow；監管也開始要求 Pre-trade risk control。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754971" y="9498892"/>
            <a:ext cx="16334804" cy="247079"/>
            <a:chOff x="0" y="0"/>
            <a:chExt cx="21779738" cy="329438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1779736" cy="329441"/>
            </a:xfrm>
            <a:custGeom>
              <a:avLst/>
              <a:gdLst/>
              <a:ahLst/>
              <a:cxnLst/>
              <a:rect r="r" b="b" t="t" l="l"/>
              <a:pathLst>
                <a:path h="329441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38178" r="0" b="-123817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21779738" cy="3389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24"/>
                </a:lnSpc>
              </a:pPr>
              <a:r>
                <a:rPr lang="en-US" sz="1020" spc="1">
                  <a:solidFill>
                    <a:srgbClr val="6F8390"/>
                  </a:solidFill>
                  <a:latin typeface="ほのかアンティーク丸"/>
                  <a:ea typeface="ほのかアンティーク丸"/>
                  <a:cs typeface="ほのかアンティーク丸"/>
                  <a:sym typeface="ほのかアンティーク丸"/>
                </a:rPr>
                <a:t>資料來源：SEC 2010 Equity Market Structure Concept Release；SEC Market Access Rule；SEC 2010 testimony / speeches。</a:t>
              </a:r>
            </a:p>
          </p:txBody>
        </p:sp>
      </p:grpSp>
      <p:sp>
        <p:nvSpPr>
          <p:cNvPr name="TextBox 103" id="103"/>
          <p:cNvSpPr txBox="true"/>
          <p:nvPr/>
        </p:nvSpPr>
        <p:spPr>
          <a:xfrm rot="0">
            <a:off x="17524381" y="9915239"/>
            <a:ext cx="1018061" cy="35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 spc="1">
                <a:solidFill>
                  <a:srgbClr val="738896"/>
                </a:solidFill>
                <a:latin typeface="ほのかアンティーク丸"/>
                <a:ea typeface="ほのかアンティーク丸"/>
                <a:cs typeface="ほのかアンティーク丸"/>
                <a:sym typeface="ほのかアンティーク丸"/>
              </a:rPr>
              <a:t>2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35" y="-9535"/>
            <a:ext cx="18320909" cy="10314108"/>
            <a:chOff x="0" y="0"/>
            <a:chExt cx="24427878" cy="1375214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27814" cy="13752195"/>
            </a:xfrm>
            <a:custGeom>
              <a:avLst/>
              <a:gdLst/>
              <a:ahLst/>
              <a:cxnLst/>
              <a:rect r="r" b="b" t="t" l="l"/>
              <a:pathLst>
                <a:path h="13752195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3752195"/>
                  </a:lnTo>
                  <a:lnTo>
                    <a:pt x="0" y="13752195"/>
                  </a:lnTo>
                  <a:close/>
                </a:path>
              </a:pathLst>
            </a:custGeom>
            <a:solidFill>
              <a:srgbClr val="06172B"/>
            </a:solidFill>
            <a:ln w="19065" cap="sq">
              <a:solidFill>
                <a:srgbClr val="06172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9535" y="-9535"/>
            <a:ext cx="18320909" cy="183785"/>
            <a:chOff x="0" y="0"/>
            <a:chExt cx="24427878" cy="245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27814" cy="245110"/>
            </a:xfrm>
            <a:custGeom>
              <a:avLst/>
              <a:gdLst/>
              <a:ahLst/>
              <a:cxnLst/>
              <a:rect r="r" b="b" t="t" l="l"/>
              <a:pathLst>
                <a:path h="245110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36D7E8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-9535" y="10175700"/>
            <a:ext cx="18320909" cy="128883"/>
            <a:chOff x="0" y="0"/>
            <a:chExt cx="24427878" cy="1718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27814" cy="171831"/>
            </a:xfrm>
            <a:custGeom>
              <a:avLst/>
              <a:gdLst/>
              <a:ahLst/>
              <a:cxnLst/>
              <a:rect r="r" b="b" t="t" l="l"/>
              <a:pathLst>
                <a:path h="171831" w="24427814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C857">
                <a:alpha val="8078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13794" y="409441"/>
            <a:ext cx="5627961" cy="595104"/>
            <a:chOff x="0" y="0"/>
            <a:chExt cx="7503947" cy="793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03943" cy="793470"/>
            </a:xfrm>
            <a:custGeom>
              <a:avLst/>
              <a:gdLst/>
              <a:ahLst/>
              <a:cxnLst/>
              <a:rect r="r" b="b" t="t" l="l"/>
              <a:pathLst>
                <a:path h="793470" w="7503943">
                  <a:moveTo>
                    <a:pt x="0" y="0"/>
                  </a:moveTo>
                  <a:lnTo>
                    <a:pt x="7503943" y="0"/>
                  </a:lnTo>
                  <a:lnTo>
                    <a:pt x="7503943" y="793470"/>
                  </a:lnTo>
                  <a:lnTo>
                    <a:pt x="0" y="7934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746" r="0" b="-11079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7503947" cy="79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1"/>
                </a:lnSpc>
              </a:pPr>
              <a:r>
                <a:rPr lang="en-US" sz="3001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HFT / Low-Latency｜投入訊號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3794" y="933421"/>
            <a:ext cx="16609333" cy="713794"/>
            <a:chOff x="0" y="0"/>
            <a:chExt cx="22145777" cy="9517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45782" cy="951720"/>
            </a:xfrm>
            <a:custGeom>
              <a:avLst/>
              <a:gdLst/>
              <a:ahLst/>
              <a:cxnLst/>
              <a:rect r="r" b="b" t="t" l="l"/>
              <a:pathLst>
                <a:path h="951720" w="22145782">
                  <a:moveTo>
                    <a:pt x="0" y="0"/>
                  </a:moveTo>
                  <a:lnTo>
                    <a:pt x="22145782" y="0"/>
                  </a:lnTo>
                  <a:lnTo>
                    <a:pt x="22145782" y="951720"/>
                  </a:lnTo>
                  <a:lnTo>
                    <a:pt x="0" y="951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3401" r="0" b="-40340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2145777" cy="951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63"/>
                </a:lnSpc>
              </a:pPr>
              <a:r>
                <a:rPr lang="en-US" sz="4053" b="true">
                  <a:solidFill>
                    <a:srgbClr val="F6FA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海外案例可推導的券商低延遲服務訊號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1245" y="1757020"/>
            <a:ext cx="16472068" cy="576520"/>
            <a:chOff x="0" y="0"/>
            <a:chExt cx="21962758" cy="7686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62759" cy="768697"/>
            </a:xfrm>
            <a:custGeom>
              <a:avLst/>
              <a:gdLst/>
              <a:ahLst/>
              <a:cxnLst/>
              <a:rect r="r" b="b" t="t" l="l"/>
              <a:pathLst>
                <a:path h="768697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62758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B8C9DB"/>
                  </a:solidFill>
                  <a:latin typeface="Noto Sans"/>
                  <a:ea typeface="Noto Sans"/>
                  <a:cs typeface="Noto Sans"/>
                  <a:sym typeface="Noto Sans"/>
                </a:rPr>
                <a:t>不是固定門檻，而是三個訊號是否在同一商品／策略上同時出現。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57240" y="2529916"/>
            <a:ext cx="870118" cy="870118"/>
            <a:chOff x="0" y="0"/>
            <a:chExt cx="1160158" cy="116015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60145" cy="1160145"/>
            </a:xfrm>
            <a:custGeom>
              <a:avLst/>
              <a:gdLst/>
              <a:ahLst/>
              <a:cxnLst/>
              <a:rect r="r" b="b" t="t" l="l"/>
              <a:pathLst>
                <a:path h="1160145" w="1160145">
                  <a:moveTo>
                    <a:pt x="0" y="580136"/>
                  </a:moveTo>
                  <a:cubicBezTo>
                    <a:pt x="0" y="259715"/>
                    <a:pt x="259715" y="0"/>
                    <a:pt x="580136" y="0"/>
                  </a:cubicBezTo>
                  <a:cubicBezTo>
                    <a:pt x="900557" y="0"/>
                    <a:pt x="1160145" y="259715"/>
                    <a:pt x="1160145" y="580136"/>
                  </a:cubicBezTo>
                  <a:cubicBezTo>
                    <a:pt x="1160145" y="900557"/>
                    <a:pt x="900430" y="1160145"/>
                    <a:pt x="580136" y="1160145"/>
                  </a:cubicBezTo>
                  <a:cubicBezTo>
                    <a:pt x="259842" y="1160145"/>
                    <a:pt x="0" y="900430"/>
                    <a:pt x="0" y="580136"/>
                  </a:cubicBezTo>
                  <a:close/>
                </a:path>
              </a:pathLst>
            </a:custGeom>
            <a:solidFill>
              <a:srgbClr val="36D7E8"/>
            </a:solidFill>
            <a:ln w="19065" cap="sq">
              <a:solidFill>
                <a:srgbClr val="F6FA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00127" y="2745343"/>
            <a:ext cx="384353" cy="301990"/>
            <a:chOff x="0" y="0"/>
            <a:chExt cx="512470" cy="40265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464" cy="402651"/>
            </a:xfrm>
            <a:custGeom>
              <a:avLst/>
              <a:gdLst/>
              <a:ahLst/>
              <a:cxnLst/>
              <a:rect r="r" b="b" t="t" l="l"/>
              <a:pathLst>
                <a:path h="402651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810" t="0" r="-50811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512470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6172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402176" y="2511990"/>
            <a:ext cx="6794725" cy="439255"/>
            <a:chOff x="0" y="0"/>
            <a:chExt cx="9059634" cy="58567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059638" cy="585674"/>
            </a:xfrm>
            <a:custGeom>
              <a:avLst/>
              <a:gdLst/>
              <a:ahLst/>
              <a:cxnLst/>
              <a:rect r="r" b="b" t="t" l="l"/>
              <a:pathLst>
                <a:path h="585674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409" r="0" b="-251409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9059634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b="true">
                  <a:solidFill>
                    <a:srgbClr val="36D7E8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對速度敏感的專業交易流出現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402176" y="3115970"/>
            <a:ext cx="14138529" cy="521618"/>
            <a:chOff x="0" y="0"/>
            <a:chExt cx="18851372" cy="6954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8851367" cy="695487"/>
            </a:xfrm>
            <a:custGeom>
              <a:avLst/>
              <a:gdLst/>
              <a:ahLst/>
              <a:cxnLst/>
              <a:rect r="r" b="b" t="t" l="l"/>
              <a:pathLst>
                <a:path h="695487" w="18851367">
                  <a:moveTo>
                    <a:pt x="0" y="0"/>
                  </a:moveTo>
                  <a:lnTo>
                    <a:pt x="18851367" y="0"/>
                  </a:lnTo>
                  <a:lnTo>
                    <a:pt x="1885136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147" r="0" b="-47814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8851372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特定商品／策略中出現高速、高量、對執行速度敏感的專業交易流。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57240" y="4520289"/>
            <a:ext cx="870118" cy="870118"/>
            <a:chOff x="0" y="0"/>
            <a:chExt cx="1160158" cy="116015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60145" cy="1160145"/>
            </a:xfrm>
            <a:custGeom>
              <a:avLst/>
              <a:gdLst/>
              <a:ahLst/>
              <a:cxnLst/>
              <a:rect r="r" b="b" t="t" l="l"/>
              <a:pathLst>
                <a:path h="1160145" w="1160145">
                  <a:moveTo>
                    <a:pt x="0" y="580136"/>
                  </a:moveTo>
                  <a:cubicBezTo>
                    <a:pt x="0" y="259715"/>
                    <a:pt x="259715" y="0"/>
                    <a:pt x="580136" y="0"/>
                  </a:cubicBezTo>
                  <a:cubicBezTo>
                    <a:pt x="900557" y="0"/>
                    <a:pt x="1160145" y="259715"/>
                    <a:pt x="1160145" y="580136"/>
                  </a:cubicBezTo>
                  <a:cubicBezTo>
                    <a:pt x="1160145" y="900557"/>
                    <a:pt x="900430" y="1160145"/>
                    <a:pt x="580136" y="1160145"/>
                  </a:cubicBezTo>
                  <a:cubicBezTo>
                    <a:pt x="259842" y="1160145"/>
                    <a:pt x="0" y="900430"/>
                    <a:pt x="0" y="580136"/>
                  </a:cubicBezTo>
                  <a:close/>
                </a:path>
              </a:pathLst>
            </a:custGeom>
            <a:solidFill>
              <a:srgbClr val="69E5A3"/>
            </a:solidFill>
            <a:ln w="19065" cap="sq">
              <a:solidFill>
                <a:srgbClr val="F6FA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1400127" y="4735716"/>
            <a:ext cx="384353" cy="301990"/>
            <a:chOff x="0" y="0"/>
            <a:chExt cx="512470" cy="40265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464" cy="402651"/>
            </a:xfrm>
            <a:custGeom>
              <a:avLst/>
              <a:gdLst/>
              <a:ahLst/>
              <a:cxnLst/>
              <a:rect r="r" b="b" t="t" l="l"/>
              <a:pathLst>
                <a:path h="402651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810" t="0" r="-50811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512470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6172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2402176" y="4502363"/>
            <a:ext cx="6794725" cy="439255"/>
            <a:chOff x="0" y="0"/>
            <a:chExt cx="9059634" cy="58567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059638" cy="585674"/>
            </a:xfrm>
            <a:custGeom>
              <a:avLst/>
              <a:gdLst/>
              <a:ahLst/>
              <a:cxnLst/>
              <a:rect r="r" b="b" t="t" l="l"/>
              <a:pathLst>
                <a:path h="585674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409" r="0" b="-25140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059634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b="true">
                  <a:solidFill>
                    <a:srgbClr val="69E5A3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交易所速度可用，且被實際使用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402176" y="5106343"/>
            <a:ext cx="14138529" cy="521618"/>
            <a:chOff x="0" y="0"/>
            <a:chExt cx="18851372" cy="69549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8851367" cy="695487"/>
            </a:xfrm>
            <a:custGeom>
              <a:avLst/>
              <a:gdLst/>
              <a:ahLst/>
              <a:cxnLst/>
              <a:rect r="r" b="b" t="t" l="l"/>
              <a:pathLst>
                <a:path h="695487" w="18851367">
                  <a:moveTo>
                    <a:pt x="0" y="0"/>
                  </a:moveTo>
                  <a:lnTo>
                    <a:pt x="18851367" y="0"/>
                  </a:lnTo>
                  <a:lnTo>
                    <a:pt x="1885136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147" r="0" b="-47814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8851372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交易所低延遲能力已被實際高速交易者使用，而不只是設備存在。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57240" y="6510661"/>
            <a:ext cx="870118" cy="870118"/>
            <a:chOff x="0" y="0"/>
            <a:chExt cx="1160158" cy="116015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60145" cy="1160145"/>
            </a:xfrm>
            <a:custGeom>
              <a:avLst/>
              <a:gdLst/>
              <a:ahLst/>
              <a:cxnLst/>
              <a:rect r="r" b="b" t="t" l="l"/>
              <a:pathLst>
                <a:path h="1160145" w="1160145">
                  <a:moveTo>
                    <a:pt x="0" y="580136"/>
                  </a:moveTo>
                  <a:cubicBezTo>
                    <a:pt x="0" y="259715"/>
                    <a:pt x="259715" y="0"/>
                    <a:pt x="580136" y="0"/>
                  </a:cubicBezTo>
                  <a:cubicBezTo>
                    <a:pt x="900557" y="0"/>
                    <a:pt x="1160145" y="259715"/>
                    <a:pt x="1160145" y="580136"/>
                  </a:cubicBezTo>
                  <a:cubicBezTo>
                    <a:pt x="1160145" y="900557"/>
                    <a:pt x="900430" y="1160145"/>
                    <a:pt x="580136" y="1160145"/>
                  </a:cubicBezTo>
                  <a:cubicBezTo>
                    <a:pt x="259842" y="1160145"/>
                    <a:pt x="0" y="900430"/>
                    <a:pt x="0" y="580136"/>
                  </a:cubicBezTo>
                  <a:close/>
                </a:path>
              </a:pathLst>
            </a:custGeom>
            <a:solidFill>
              <a:srgbClr val="FFC857"/>
            </a:solidFill>
            <a:ln w="19065" cap="sq">
              <a:solidFill>
                <a:srgbClr val="F6FA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00127" y="6726098"/>
            <a:ext cx="384353" cy="301990"/>
            <a:chOff x="0" y="0"/>
            <a:chExt cx="512470" cy="40265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464" cy="402651"/>
            </a:xfrm>
            <a:custGeom>
              <a:avLst/>
              <a:gdLst/>
              <a:ahLst/>
              <a:cxnLst/>
              <a:rect r="r" b="b" t="t" l="l"/>
              <a:pathLst>
                <a:path h="402651" w="512464">
                  <a:moveTo>
                    <a:pt x="0" y="0"/>
                  </a:moveTo>
                  <a:lnTo>
                    <a:pt x="512464" y="0"/>
                  </a:lnTo>
                  <a:lnTo>
                    <a:pt x="512464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0810" t="0" r="-50811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512470" cy="412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6172B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3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2402176" y="6492745"/>
            <a:ext cx="6794725" cy="439255"/>
            <a:chOff x="0" y="0"/>
            <a:chExt cx="9059634" cy="58567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059638" cy="585674"/>
            </a:xfrm>
            <a:custGeom>
              <a:avLst/>
              <a:gdLst/>
              <a:ahLst/>
              <a:cxnLst/>
              <a:rect r="r" b="b" t="t" l="l"/>
              <a:pathLst>
                <a:path h="585674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409" r="0" b="-25140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9059634" cy="5951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b="true">
                  <a:solidFill>
                    <a:srgbClr val="FFC857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券商開始競爭這類交易流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402176" y="7096716"/>
            <a:ext cx="14138529" cy="521618"/>
            <a:chOff x="0" y="0"/>
            <a:chExt cx="18851372" cy="6954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851367" cy="695487"/>
            </a:xfrm>
            <a:custGeom>
              <a:avLst/>
              <a:gdLst/>
              <a:ahLst/>
              <a:cxnLst/>
              <a:rect r="r" b="b" t="t" l="l"/>
              <a:pathLst>
                <a:path h="695487" w="18851367">
                  <a:moveTo>
                    <a:pt x="0" y="0"/>
                  </a:moveTo>
                  <a:lnTo>
                    <a:pt x="18851367" y="0"/>
                  </a:lnTo>
                  <a:lnTo>
                    <a:pt x="18851367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147" r="0" b="-478147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8851372" cy="695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2"/>
                </a:lnSpc>
              </a:pPr>
              <a:r>
                <a:rPr lang="en-US" sz="2326">
                  <a:solidFill>
                    <a:srgbClr val="F6FAFF"/>
                  </a:solidFill>
                  <a:latin typeface="Noto Sans"/>
                  <a:ea typeface="Noto Sans"/>
                  <a:cs typeface="Noto Sans"/>
                  <a:sym typeface="Noto Sans"/>
                </a:rPr>
                <a:t>券商開始提供 DMA / Low-Latency Connectivity，將速度服務化。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DAHSIRxGof4</dc:identifier>
  <dcterms:modified xsi:type="dcterms:W3CDTF">2011-08-01T06:04:30Z</dcterms:modified>
  <cp:revision>1</cp:revision>
  <dc:title>Blue Black Tech Programmer Presentation</dc:title>
</cp:coreProperties>
</file>