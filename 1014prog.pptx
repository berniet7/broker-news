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HK Modular" charset="1" panose="00000800000000000000"/>
      <p:regular r:id="rId25"/>
    </p:embeddedFont>
    <p:embeddedFont>
      <p:font typeface="Aptos" charset="1" panose="020B0004020202020204"/>
      <p:regular r:id="rId26"/>
    </p:embeddedFont>
    <p:embeddedFont>
      <p:font typeface="Noto Sans Bold" charset="1" panose="020B0802040504020204"/>
      <p:regular r:id="rId27"/>
    </p:embeddedFont>
    <p:embeddedFont>
      <p:font typeface="Aptos Bold" charset="1" panose="020B0004020202020204"/>
      <p:regular r:id="rId28"/>
    </p:embeddedFont>
    <p:embeddedFont>
      <p:font typeface="Noto Sans" charset="1" panose="020B0502040504020204"/>
      <p:regular r:id="rId32"/>
    </p:embeddedFont>
    <p:embeddedFont>
      <p:font typeface="Arimo" charset="1" panose="020B0604020202020204"/>
      <p:regular r:id="rId34"/>
    </p:embeddedFont>
    <p:embeddedFont>
      <p:font typeface="Arimo Bold" charset="1" panose="020B0704020202020204"/>
      <p:regular r:id="rId35"/>
    </p:embeddedFont>
    <p:embeddedFont>
      <p:font typeface="Calibri (MS) Bold" charset="1" panose="020F0702030404030204"/>
      <p:regular r:id="rId47"/>
    </p:embeddedFont>
    <p:embeddedFont>
      <p:font typeface="Calibri (MS)" charset="1" panose="020F05020202040302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538754"/>
            <a:ext cx="12079506" cy="109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2"/>
              </a:lnSpc>
              <a:spcBef>
                <a:spcPct val="0"/>
              </a:spcBef>
            </a:pPr>
            <a:r>
              <a:rPr lang="en-US" sz="7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券商程式交易服務發展研究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89664" y="5810394"/>
            <a:ext cx="11902421" cy="108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從海外市場演進探討台灣 OPEN API、BROKER ALGO 與 HFT 的發展條件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781734" y="1579492"/>
            <a:ext cx="8198197" cy="566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3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程式交易服務市場概覽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API、Broker Algo、HFT 的客群與服務定位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海外市場發展案例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觀察各市場如何形成需求，並整理市場形成的具備條件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台灣市場發展條件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對照海外經驗，檢視台灣目前條件與未來發展空間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6191"/>
            <a:ext cx="7695382" cy="2108728"/>
            <a:chOff x="0" y="0"/>
            <a:chExt cx="10260509" cy="28116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725"/>
              <a:ext cx="7908924" cy="1318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37"/>
                </a:lnSpc>
                <a:spcBef>
                  <a:spcPct val="0"/>
                </a:spcBef>
              </a:pPr>
              <a:r>
                <a:rPr lang="en-US" b="true" sz="692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08833"/>
              <a:ext cx="10260509" cy="130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1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39090" y="4456929"/>
            <a:ext cx="11609819" cy="96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2"/>
              </a:lnSpc>
              <a:spcBef>
                <a:spcPct val="0"/>
              </a:spcBef>
            </a:pPr>
            <a:r>
              <a:rPr lang="en-US" sz="6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券商程式交易服務的市場定位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92790" y="5453983"/>
            <a:ext cx="11902421" cy="52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sz="37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 OPEN API、BROKER ALGO 到 HFT 的需求與服務分層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520" y="301990"/>
            <a:ext cx="5765225" cy="521618"/>
            <a:chOff x="0" y="0"/>
            <a:chExt cx="7686967" cy="695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6966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86967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市場定義 | 服務分層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6520" y="988324"/>
            <a:ext cx="16334804" cy="796147"/>
            <a:chOff x="0" y="0"/>
            <a:chExt cx="2177973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9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79" r="0" b="-3497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77973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4"/>
                </a:lnSpc>
              </a:pPr>
              <a:r>
                <a:rPr lang="en-US" sz="4728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三類程式交易服務的客群與券商能力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3840">
            <a:off x="566985" y="1848345"/>
            <a:ext cx="16971578" cy="0"/>
          </a:xfrm>
          <a:prstGeom prst="line">
            <a:avLst/>
          </a:prstGeom>
          <a:ln cap="rnd" w="9525">
            <a:solidFill>
              <a:srgbClr val="27D7FF">
                <a:alpha val="9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39534" y="2049475"/>
            <a:ext cx="17211789" cy="7239324"/>
            <a:chOff x="0" y="0"/>
            <a:chExt cx="22949052" cy="9652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49027" cy="9652381"/>
            </a:xfrm>
            <a:custGeom>
              <a:avLst/>
              <a:gdLst/>
              <a:ahLst/>
              <a:cxnLst/>
              <a:rect r="r" b="b" t="t" l="l"/>
              <a:pathLst>
                <a:path h="9652381" w="22949027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22747224" y="0"/>
                  </a:lnTo>
                  <a:cubicBezTo>
                    <a:pt x="22858730" y="0"/>
                    <a:pt x="22949027" y="90424"/>
                    <a:pt x="22949027" y="201803"/>
                  </a:cubicBezTo>
                  <a:lnTo>
                    <a:pt x="22949027" y="9450578"/>
                  </a:lnTo>
                  <a:cubicBezTo>
                    <a:pt x="22949027" y="9562085"/>
                    <a:pt x="22858603" y="9652381"/>
                    <a:pt x="22747224" y="9652381"/>
                  </a:cubicBezTo>
                  <a:lnTo>
                    <a:pt x="201803" y="9652381"/>
                  </a:lnTo>
                  <a:cubicBezTo>
                    <a:pt x="90424" y="9652381"/>
                    <a:pt x="0" y="9562084"/>
                    <a:pt x="0" y="9450578"/>
                  </a:cubicBezTo>
                  <a:close/>
                </a:path>
              </a:pathLst>
            </a:custGeom>
            <a:solidFill>
              <a:srgbClr val="0A2035">
                <a:alpha val="93725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25921" y="2214201"/>
            <a:ext cx="4960687" cy="1007393"/>
            <a:chOff x="0" y="0"/>
            <a:chExt cx="6614249" cy="1343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04259" y="2214201"/>
            <a:ext cx="1872177" cy="1007393"/>
            <a:chOff x="0" y="0"/>
            <a:chExt cx="2496236" cy="1343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6185" cy="1343152"/>
            </a:xfrm>
            <a:custGeom>
              <a:avLst/>
              <a:gdLst/>
              <a:ahLst/>
              <a:cxnLst/>
              <a:rect r="r" b="b" t="t" l="l"/>
              <a:pathLst>
                <a:path h="1343152" w="2496185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2384298" y="0"/>
                  </a:lnTo>
                  <a:cubicBezTo>
                    <a:pt x="2446147" y="0"/>
                    <a:pt x="2496185" y="50165"/>
                    <a:pt x="2496185" y="111887"/>
                  </a:cubicBezTo>
                  <a:lnTo>
                    <a:pt x="2496185" y="1231265"/>
                  </a:lnTo>
                  <a:cubicBezTo>
                    <a:pt x="2496185" y="1293114"/>
                    <a:pt x="2446020" y="1343152"/>
                    <a:pt x="2384298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B1F33">
                <a:alpha val="95686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37333" y="2333539"/>
            <a:ext cx="1606029" cy="768696"/>
            <a:chOff x="0" y="0"/>
            <a:chExt cx="2141372" cy="1024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1369" cy="1024929"/>
            </a:xfrm>
            <a:custGeom>
              <a:avLst/>
              <a:gdLst/>
              <a:ahLst/>
              <a:cxnLst/>
              <a:rect r="r" b="b" t="t" l="l"/>
              <a:pathLst>
                <a:path h="1024929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10" t="0" r="-1141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41372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比較面向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19137" y="2214201"/>
            <a:ext cx="4960687" cy="1007393"/>
            <a:chOff x="0" y="0"/>
            <a:chExt cx="6614249" cy="13431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752211" y="2333539"/>
            <a:ext cx="4694539" cy="768697"/>
            <a:chOff x="0" y="0"/>
            <a:chExt cx="6259386" cy="1024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259386" cy="1024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2524" y="2214201"/>
            <a:ext cx="4960687" cy="1007393"/>
            <a:chOff x="0" y="0"/>
            <a:chExt cx="6614249" cy="1343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4661" y="2333539"/>
            <a:ext cx="4694539" cy="768696"/>
            <a:chOff x="0" y="0"/>
            <a:chExt cx="6259386" cy="1024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/ Low Latency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55603" y="2333673"/>
            <a:ext cx="4694539" cy="768696"/>
            <a:chOff x="0" y="0"/>
            <a:chExt cx="6259386" cy="10249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Electronic Trading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4259" y="3264294"/>
            <a:ext cx="1872177" cy="1432922"/>
            <a:chOff x="0" y="0"/>
            <a:chExt cx="2496236" cy="19105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37333" y="3383642"/>
            <a:ext cx="1606029" cy="1194225"/>
            <a:chOff x="0" y="0"/>
            <a:chExt cx="2141372" cy="15923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主要客群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19137" y="3264294"/>
            <a:ext cx="4960687" cy="1432922"/>
            <a:chOff x="0" y="0"/>
            <a:chExt cx="6614249" cy="19105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752211" y="3383642"/>
            <a:ext cx="4694539" cy="1194225"/>
            <a:chOff x="0" y="0"/>
            <a:chExt cx="6259386" cy="1592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Trading API:個人程式交易者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API:第三方平台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22524" y="3264294"/>
            <a:ext cx="4960687" cy="1432922"/>
            <a:chOff x="0" y="0"/>
            <a:chExt cx="6614249" cy="19105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625921" y="3264294"/>
            <a:ext cx="4960687" cy="1432922"/>
            <a:chOff x="0" y="0"/>
            <a:chExt cx="6614249" cy="19105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625921" y="4739916"/>
            <a:ext cx="4960687" cy="1432922"/>
            <a:chOff x="0" y="0"/>
            <a:chExt cx="6614249" cy="19105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625921" y="6215539"/>
            <a:ext cx="4960687" cy="1432922"/>
            <a:chOff x="0" y="0"/>
            <a:chExt cx="6614249" cy="19105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25921" y="7691161"/>
            <a:ext cx="4960687" cy="1432922"/>
            <a:chOff x="0" y="0"/>
            <a:chExt cx="6614249" cy="19105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758995" y="3383642"/>
            <a:ext cx="4694539" cy="1194225"/>
            <a:chOff x="0" y="0"/>
            <a:chExt cx="6259386" cy="15923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HFT、做市商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自營、專業量化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51274" y="3383642"/>
            <a:ext cx="4694539" cy="1194225"/>
            <a:chOff x="0" y="0"/>
            <a:chExt cx="6259386" cy="15923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外資、資產管理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量化基金、機構交易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04259" y="4739916"/>
            <a:ext cx="1872177" cy="1432922"/>
            <a:chOff x="0" y="0"/>
            <a:chExt cx="2496236" cy="19105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37333" y="4859264"/>
            <a:ext cx="1606029" cy="1194225"/>
            <a:chOff x="0" y="0"/>
            <a:chExt cx="2141372" cy="159230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客戶目標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19137" y="4739916"/>
            <a:ext cx="4960687" cy="1432922"/>
            <a:chOff x="0" y="0"/>
            <a:chExt cx="6614249" cy="19105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756535" y="4754366"/>
            <a:ext cx="4694539" cy="1717201"/>
            <a:chOff x="0" y="0"/>
            <a:chExt cx="6259386" cy="22896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59386" cy="2289601"/>
            </a:xfrm>
            <a:custGeom>
              <a:avLst/>
              <a:gdLst/>
              <a:ahLst/>
              <a:cxnLst/>
              <a:rect r="r" b="b" t="t" l="l"/>
              <a:pathLst>
                <a:path h="2289601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2289601"/>
                  </a:lnTo>
                  <a:lnTo>
                    <a:pt x="0" y="2289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6" r="0" b="119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259386" cy="228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自行串接交易、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省去券商牌照與法遵負擔、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快速加入投資交易功能、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降低系統建置成本</a:t>
              </a:r>
            </a:p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622524" y="4739916"/>
            <a:ext cx="4960687" cy="1432922"/>
            <a:chOff x="0" y="0"/>
            <a:chExt cx="6614249" cy="19105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754661" y="4859141"/>
            <a:ext cx="4694539" cy="1194225"/>
            <a:chOff x="0" y="0"/>
            <a:chExt cx="6259386" cy="15923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搶速度優勢、降低交易延遲、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提升報價／撤單／成交反應速度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755603" y="4859141"/>
            <a:ext cx="4694539" cy="1194225"/>
            <a:chOff x="0" y="0"/>
            <a:chExt cx="6259386" cy="1592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提升執行效率、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穩定處理大量交易、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降低市場衝擊與交易成本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04259" y="6215539"/>
            <a:ext cx="1872177" cy="1432922"/>
            <a:chOff x="0" y="0"/>
            <a:chExt cx="2496236" cy="191056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37333" y="6334887"/>
            <a:ext cx="1606029" cy="1194225"/>
            <a:chOff x="0" y="0"/>
            <a:chExt cx="2141372" cy="159230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核心服務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619137" y="6215539"/>
            <a:ext cx="4960687" cy="1432922"/>
            <a:chOff x="0" y="0"/>
            <a:chExt cx="6614249" cy="191056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2752211" y="6334887"/>
            <a:ext cx="4694539" cy="1194225"/>
            <a:chOff x="0" y="0"/>
            <a:chExt cx="6259386" cy="159230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API、SDK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行情／帳務／下單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22524" y="6215539"/>
            <a:ext cx="4960687" cy="1432922"/>
            <a:chOff x="0" y="0"/>
            <a:chExt cx="6614249" cy="19105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754661" y="6334763"/>
            <a:ext cx="4694539" cy="1194225"/>
            <a:chOff x="0" y="0"/>
            <a:chExt cx="6259386" cy="159230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Co-location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Cross-connect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低延遲行情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751274" y="6334763"/>
            <a:ext cx="4694539" cy="1194225"/>
            <a:chOff x="0" y="0"/>
            <a:chExt cx="6259386" cy="15923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FIX、DMA、SOR、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Algo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04259" y="7691161"/>
            <a:ext cx="1872177" cy="1432922"/>
            <a:chOff x="0" y="0"/>
            <a:chExt cx="2496236" cy="19105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837333" y="7810510"/>
            <a:ext cx="1606029" cy="1194225"/>
            <a:chOff x="0" y="0"/>
            <a:chExt cx="2141372" cy="159230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競爭核心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19137" y="7691161"/>
            <a:ext cx="4960687" cy="1432922"/>
            <a:chOff x="0" y="0"/>
            <a:chExt cx="6614249" cy="19105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2752211" y="7810510"/>
            <a:ext cx="4694539" cy="1194225"/>
            <a:chOff x="0" y="0"/>
            <a:chExt cx="6259386" cy="159230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易用性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功能完整度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622524" y="7691161"/>
            <a:ext cx="4960687" cy="1432922"/>
            <a:chOff x="0" y="0"/>
            <a:chExt cx="6614249" cy="191056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758995" y="7810386"/>
            <a:ext cx="4694539" cy="1194225"/>
            <a:chOff x="0" y="0"/>
            <a:chExt cx="6259386" cy="159230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Latency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網路與交易基礎設施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751274" y="7810510"/>
            <a:ext cx="4694539" cy="1194225"/>
            <a:chOff x="0" y="0"/>
            <a:chExt cx="6259386" cy="159230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 Quality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穩定性、風控與服務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64784" y="9540069"/>
            <a:ext cx="10706843" cy="384353"/>
            <a:chOff x="0" y="0"/>
            <a:chExt cx="14275791" cy="5124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275794" cy="512464"/>
            </a:xfrm>
            <a:custGeom>
              <a:avLst/>
              <a:gdLst/>
              <a:ahLst/>
              <a:cxnLst/>
              <a:rect r="r" b="b" t="t" l="l"/>
              <a:pathLst>
                <a:path h="512464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6" r="0" b="-4927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14275791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A8B7C5"/>
                  </a:solidFill>
                  <a:latin typeface="Noto Sans"/>
                  <a:ea typeface="Noto Sans"/>
                  <a:cs typeface="Noto Sans"/>
                  <a:sym typeface="Noto Sans"/>
                </a:rPr>
                <a:t>由「客群需求」與「券商基礎設施投入」區分三種服務型態</a:t>
              </a:r>
            </a:p>
          </p:txBody>
        </p:sp>
      </p:grpSp>
      <p:sp>
        <p:nvSpPr>
          <p:cNvPr name="Freeform 114" id="114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潛在客戶數量</a:t>
              </a: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 × 券商服務深度/單位交易量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36130" y="4893522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36130" y="648582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136130" y="811930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136126" y="8816290"/>
            <a:ext cx="13608423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48518" y="2634415"/>
            <a:ext cx="1575216" cy="682720"/>
            <a:chOff x="0" y="0"/>
            <a:chExt cx="1830235" cy="793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793243"/>
            </a:xfrm>
            <a:custGeom>
              <a:avLst/>
              <a:gdLst/>
              <a:ahLst/>
              <a:cxnLst/>
              <a:rect r="r" b="b" t="t" l="l"/>
              <a:pathLst>
                <a:path h="793243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793243"/>
                  </a:lnTo>
                  <a:lnTo>
                    <a:pt x="0" y="793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" r="0" b="296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81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1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單位交易量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26911" y="8586263"/>
            <a:ext cx="2059010" cy="460054"/>
            <a:chOff x="0" y="0"/>
            <a:chExt cx="2745346" cy="6134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613399"/>
            </a:xfrm>
            <a:custGeom>
              <a:avLst/>
              <a:gdLst/>
              <a:ahLst/>
              <a:cxnLst/>
              <a:rect r="r" b="b" t="t" l="l"/>
              <a:pathLst>
                <a:path h="613399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13399"/>
                  </a:lnTo>
                  <a:lnTo>
                    <a:pt x="0" y="613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4" r="0" b="-289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63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潛在</a:t>
              </a: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客戶數量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96832" y="7835238"/>
            <a:ext cx="513226" cy="513226"/>
            <a:chOff x="0" y="0"/>
            <a:chExt cx="684301" cy="684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302513" y="7652596"/>
            <a:ext cx="1990373" cy="329441"/>
            <a:chOff x="0" y="0"/>
            <a:chExt cx="265383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02513" y="8036949"/>
            <a:ext cx="2264912" cy="247079"/>
            <a:chOff x="0" y="0"/>
            <a:chExt cx="3019882" cy="3294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02513" y="8366390"/>
            <a:ext cx="2264912" cy="219627"/>
            <a:chOff x="0" y="0"/>
            <a:chExt cx="3019882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03542" y="5676722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085685" y="5466620"/>
            <a:ext cx="2813980" cy="356892"/>
            <a:chOff x="0" y="0"/>
            <a:chExt cx="3751974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85685" y="5892149"/>
            <a:ext cx="2127647" cy="247079"/>
            <a:chOff x="0" y="0"/>
            <a:chExt cx="2836862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85685" y="6221591"/>
            <a:ext cx="2882608" cy="219627"/>
            <a:chOff x="0" y="0"/>
            <a:chExt cx="3843477" cy="292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8128" y="4127410"/>
            <a:ext cx="513226" cy="513226"/>
            <a:chOff x="0" y="0"/>
            <a:chExt cx="684301" cy="6843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48898" y="3972228"/>
            <a:ext cx="1166774" cy="356892"/>
            <a:chOff x="0" y="0"/>
            <a:chExt cx="1555699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48898" y="4397748"/>
            <a:ext cx="2402176" cy="233353"/>
            <a:chOff x="0" y="0"/>
            <a:chExt cx="3202902" cy="3111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48898" y="4809552"/>
            <a:ext cx="2539441" cy="219627"/>
            <a:chOff x="0" y="0"/>
            <a:chExt cx="3385922" cy="2928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V="true">
            <a:off x="2136126" y="3335598"/>
            <a:ext cx="0" cy="5480693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  <p:sp>
        <p:nvSpPr>
          <p:cNvPr name="Freeform 58" id="58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海外程式交易市場發展案例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450082"/>
            <a:ext cx="12058285" cy="81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2"/>
              </a:lnSpc>
              <a:spcBef>
                <a:spcPct val="0"/>
              </a:spcBef>
            </a:pPr>
            <a:r>
              <a:rPr lang="en-US" sz="59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從市場形成條件到實際需求驗證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大量 FinTech 不自行建立完整券商，而是透過 API 接入既有券商的帳戶、交易與清算能力。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資料來源：Federal Reserve, 2019 SCF；SEC Rule 15c3-1；FINRA Regulatory Notice 12-32；Alpaca、DriveWealth 官方資料。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1854020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7021" y="5516038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556023" y="5527350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3690786" y="6774893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8847401" y="1854020"/>
            <a:ext cx="629676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1.低門檻數位投資存在新的潛在市場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42197" y="5705498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6986" y="5705498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47401" y="3487213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2.自行建立券商基礎設施門檻高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1688" y="2323008"/>
            <a:ext cx="18834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  <a:spcBef>
                <a:spcPct val="0"/>
              </a:spcBef>
            </a:pPr>
            <a:r>
              <a:rPr lang="en-US" b="true" sz="4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Alpaca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6699" y="626529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10821" y="6255831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5298" y="6265295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907064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676066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754006" y="9439770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券商從單純服務散戶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，進一步變成可被第三方重複使用的金融基礎設施。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7885" y="3056433"/>
            <a:ext cx="71311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brokerage accounts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FinTech／金融機構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涵蓋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40+ 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8250" y="2344213"/>
            <a:ext cx="902580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47%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美國家庭未持有股票（2019）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Millennials(千禧世代)占全球新開投資帳戶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58250" y="3972988"/>
            <a:ext cx="757304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Carrying Broker 最低淨資本約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FINRA 新會員申請費最高可達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還需持續承擔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資產保護、帳務、清算與監管成本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34459" y="5937767"/>
            <a:ext cx="8225942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券商能力模組化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形成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B2B2C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模式：券商透過提供API服務大量第三方平台。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DriveWealth 的結果驗證：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券商取得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新增帳戶、交易與資產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，並從提供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API服務中收費。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47401" y="5451992"/>
            <a:ext cx="15890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3.Result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156" y="7098755"/>
            <a:ext cx="858373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個全球合作平台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(2)2020-2021第三方平台開立帳戶開立數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+241%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案例｜印度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印度形成大量第三方投資科技平台，券商與 FinTech 逐步分工，交易服務開始走向平台化。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資料來源：SEBI/NCAER Household Survey（2012）、Innovation Sandbox（2019）；NSE Membership Requirements；Zerodha Kite Connect／Rainmatter。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22523" y="1937906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68945" y="5881256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937948" y="5892568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13072710" y="7140110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542084" y="1784323"/>
            <a:ext cx="67941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1.為什麼印度第三方平台, Fintech眾多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7880" y="2323018"/>
            <a:ext cx="9176579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(1)家庭儲蓄高，但證券市場滲透率低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11% 家庭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參與投資(2011-2012)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股票僅占家庭金融儲蓄約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(2016)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 自行建立券商基礎設施門檻高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資本門檻高：Trading Member 最低淨值 1 億印度盧比，若涉及清算資格要求更高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另外還有基礎設施要求及法遵與人力成本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(3)SEBI 想利用 FinTech 擴大市場觸及，刻意降低 FinTech 開發證券產品的測試門檻。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 年 SEBI 推出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Innovation Sandbox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：為FinTech提供資料及測試環境。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324122" y="607071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18910" y="6070715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2084" y="6881646"/>
            <a:ext cx="673052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ˇ2.需求驗證（以Zerodha為例）(2026)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275317" y="2805845"/>
            <a:ext cx="3460086" cy="846617"/>
          </a:xfrm>
          <a:custGeom>
            <a:avLst/>
            <a:gdLst/>
            <a:ahLst/>
            <a:cxnLst/>
            <a:rect r="r" b="b" t="t" l="l"/>
            <a:pathLst>
              <a:path h="846617" w="3460086">
                <a:moveTo>
                  <a:pt x="0" y="0"/>
                </a:moveTo>
                <a:lnTo>
                  <a:pt x="3460085" y="0"/>
                </a:lnTo>
                <a:lnTo>
                  <a:pt x="3460085" y="846617"/>
                </a:lnTo>
                <a:lnTo>
                  <a:pt x="0" y="846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376000" y="2200843"/>
            <a:ext cx="7258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Rainmatter ecosystem金融科技生態圈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12624" y="3765625"/>
            <a:ext cx="578547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2016：成立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80+ 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startups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累計投資：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 億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印度盧比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現有 FinTech portfolio：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39 家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8623" y="6630513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92745" y="6621049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7223" y="6630513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1288988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057991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713794" y="7490342"/>
            <a:ext cx="907137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數萬名交易者、數十家公司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使用Zerodha的Kite Connect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筆訂單、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億+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requests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直接 API 使用者 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&lt;0.05%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，需求主要透過第三方平台放大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54006" y="9090542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 的價值不在直接使用者數量，而在第三方平台能放大客戶觸及與交易流量。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9390" y="2034067"/>
            <a:ext cx="7531940" cy="7441079"/>
            <a:chOff x="0" y="0"/>
            <a:chExt cx="2085743" cy="2060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5676" cy="2060474"/>
            </a:xfrm>
            <a:custGeom>
              <a:avLst/>
              <a:gdLst/>
              <a:ahLst/>
              <a:cxnLst/>
              <a:rect r="r" b="b" t="t" l="l"/>
              <a:pathLst>
                <a:path h="2060474" w="2085676">
                  <a:moveTo>
                    <a:pt x="0" y="190174"/>
                  </a:moveTo>
                  <a:cubicBezTo>
                    <a:pt x="0" y="85072"/>
                    <a:pt x="44183" y="0"/>
                    <a:pt x="98769" y="0"/>
                  </a:cubicBezTo>
                  <a:lnTo>
                    <a:pt x="1986907" y="0"/>
                  </a:lnTo>
                  <a:cubicBezTo>
                    <a:pt x="2041493" y="0"/>
                    <a:pt x="2085676" y="85072"/>
                    <a:pt x="2085676" y="190174"/>
                  </a:cubicBezTo>
                  <a:lnTo>
                    <a:pt x="2085676" y="1870300"/>
                  </a:lnTo>
                  <a:cubicBezTo>
                    <a:pt x="2085676" y="1975402"/>
                    <a:pt x="2041493" y="2060474"/>
                    <a:pt x="1986907" y="2060474"/>
                  </a:cubicBezTo>
                  <a:lnTo>
                    <a:pt x="98769" y="2060474"/>
                  </a:lnTo>
                  <a:cubicBezTo>
                    <a:pt x="44183" y="2060474"/>
                    <a:pt x="0" y="1975402"/>
                    <a:pt x="0" y="1870300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373634" y="4030849"/>
            <a:ext cx="7264067" cy="4643090"/>
            <a:chOff x="0" y="0"/>
            <a:chExt cx="21515090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1503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1515034">
                  <a:moveTo>
                    <a:pt x="0" y="0"/>
                  </a:moveTo>
                  <a:lnTo>
                    <a:pt x="21515034" y="0"/>
                  </a:lnTo>
                  <a:lnTo>
                    <a:pt x="21515034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-1010" t="0" r="-1010" b="0"/>
              </a:stretch>
            </a:blip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大單要拆成小單分送到不同交易場所，人工下單開始不夠用讓Execution自動化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54491" y="2099905"/>
            <a:ext cx="5701736" cy="1178469"/>
            <a:chOff x="0" y="0"/>
            <a:chExt cx="6704828" cy="1385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4830" cy="1385791"/>
            </a:xfrm>
            <a:custGeom>
              <a:avLst/>
              <a:gdLst/>
              <a:ahLst/>
              <a:cxnLst/>
              <a:rect r="r" b="b" t="t" l="l"/>
              <a:pathLst>
                <a:path h="1385791" w="6704830">
                  <a:moveTo>
                    <a:pt x="0" y="0"/>
                  </a:moveTo>
                  <a:lnTo>
                    <a:pt x="6704830" y="0"/>
                  </a:lnTo>
                  <a:lnTo>
                    <a:pt x="6704830" y="1385791"/>
                  </a:lnTo>
                  <a:lnTo>
                    <a:pt x="0" y="13857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7" r="8554" b="-271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704828" cy="1385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44"/>
                </a:lnSpc>
              </a:pPr>
              <a:r>
                <a:rPr lang="en-US" sz="59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92814" y="3177064"/>
            <a:ext cx="4825090" cy="782390"/>
            <a:chOff x="0" y="0"/>
            <a:chExt cx="6131268" cy="9941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1270" cy="994191"/>
            </a:xfrm>
            <a:custGeom>
              <a:avLst/>
              <a:gdLst/>
              <a:ahLst/>
              <a:cxnLst/>
              <a:rect r="r" b="b" t="t" l="l"/>
              <a:pathLst>
                <a:path h="9941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94191"/>
                  </a:lnTo>
                  <a:lnTo>
                    <a:pt x="0" y="9941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6" r="0" b="-588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131268" cy="99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資料來源：SEC, Concept Release on Equity Market Structure（2010）及 May 6 Market Disruption Testimony（2010）；Aite Group（2006）。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49590" y="8750139"/>
            <a:ext cx="6511539" cy="50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b="true" sz="17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Trading Centers and Estimated Percentage of Share Volume in NMS Stocks September 2009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9519" y="1572942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1.為什麼美國有這麼多交易場所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120379"/>
            <a:ext cx="906715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1975: 建立National Market System,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允許市場上存在多個Venue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檔活躍 Nasdaq 股票中，70 檔幾乎不使用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較細的 1/8 美元報價刻度。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部分股票的採用更細報價後，買賣價差迅速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下降近 50%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1990年代: 科技進步，電子交易所開始出現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85%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的造市商報價優於 Nasdaq 公開市場最佳報價。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77%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的成交價格優於 Nasdaq 公開市場最佳買賣報價。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3685" y="5401742"/>
            <a:ext cx="82534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2.交易場所增加</a:t>
            </a: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為什麼需要將execution自動化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1834" y="5935142"/>
            <a:ext cx="1903826" cy="1513956"/>
            <a:chOff x="0" y="0"/>
            <a:chExt cx="1345341" cy="10698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64316" y="6484374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大單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506298" y="5935142"/>
            <a:ext cx="1903826" cy="1513956"/>
            <a:chOff x="0" y="0"/>
            <a:chExt cx="1345341" cy="1069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581807" y="6322432"/>
            <a:ext cx="18283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拆成小單child order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00761" y="5965504"/>
            <a:ext cx="1903826" cy="1513956"/>
            <a:chOff x="0" y="0"/>
            <a:chExt cx="1345341" cy="10698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853161" y="6114686"/>
            <a:ext cx="15934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從上百個路線中選最佳的</a:t>
            </a:r>
          </a:p>
        </p:txBody>
      </p:sp>
      <p:sp>
        <p:nvSpPr>
          <p:cNvPr name="AutoShape 34" id="34"/>
          <p:cNvSpPr/>
          <p:nvPr/>
        </p:nvSpPr>
        <p:spPr>
          <a:xfrm>
            <a:off x="3215599" y="6692120"/>
            <a:ext cx="12906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6408147" y="6722482"/>
            <a:ext cx="1292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799519" y="7560423"/>
            <a:ext cx="19287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ˇ3.需求驗證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3685" y="8036673"/>
            <a:ext cx="918071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美國機構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&gt;75%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最大／最活躍機構交易者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95%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Algo占美國股市成交量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從 2005 年 28% 升至 2006 年 33%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649660"/>
            <a:ext cx="16609333" cy="758081"/>
            <a:chOff x="0" y="0"/>
            <a:chExt cx="22145777" cy="1010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10768"/>
            </a:xfrm>
            <a:custGeom>
              <a:avLst/>
              <a:gdLst/>
              <a:ahLst/>
              <a:cxnLst/>
              <a:rect r="r" b="b" t="t" l="l"/>
              <a:pathLst>
                <a:path h="1010768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10768"/>
                  </a:lnTo>
                  <a:lnTo>
                    <a:pt x="0" y="1010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834" r="0" b="-3739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10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23"/>
                </a:lnSpc>
              </a:pP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外資與專業交易參與提升，機構Execution需求增加推</a:t>
              </a: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動 Broker Algo 發展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資料來源：IMF Korea Program（1997–98）；Choe, Kho &amp; Stulz（RFS, 2005）；Koscom STP-HUB；KCMI（2019）。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5852" y="1500667"/>
            <a:ext cx="7466340" cy="4056932"/>
          </a:xfrm>
          <a:custGeom>
            <a:avLst/>
            <a:gdLst/>
            <a:ahLst/>
            <a:cxnLst/>
            <a:rect r="r" b="b" t="t" l="l"/>
            <a:pathLst>
              <a:path h="4056932" w="7466340">
                <a:moveTo>
                  <a:pt x="0" y="0"/>
                </a:moveTo>
                <a:lnTo>
                  <a:pt x="7466340" y="0"/>
                </a:lnTo>
                <a:lnTo>
                  <a:pt x="7466340" y="4056932"/>
                </a:lnTo>
                <a:lnTo>
                  <a:pt x="0" y="4056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5852" y="5654635"/>
            <a:ext cx="7466340" cy="4037718"/>
          </a:xfrm>
          <a:custGeom>
            <a:avLst/>
            <a:gdLst/>
            <a:ahLst/>
            <a:cxnLst/>
            <a:rect r="r" b="b" t="t" l="l"/>
            <a:pathLst>
              <a:path h="4037718" w="7466340">
                <a:moveTo>
                  <a:pt x="0" y="0"/>
                </a:moveTo>
                <a:lnTo>
                  <a:pt x="7466340" y="0"/>
                </a:lnTo>
                <a:lnTo>
                  <a:pt x="7466340" y="4037718"/>
                </a:lnTo>
                <a:lnTo>
                  <a:pt x="0" y="4037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691" y="2638352"/>
            <a:ext cx="360233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外資持有韓股占比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 → 2007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 → 27%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38146" y="1995967"/>
            <a:ext cx="912800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1997 亞洲金融危機：短期外債龐大、外資停止續借，外匯存底耗盡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→外匯存底只剩約 50 億美元 vs. 短期外債約 1,000 億美元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IMF 救援＋資本市場改革：開放更多資本市場商品給外資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1997/12 外資持股限制 ：</a:t>
            </a:r>
            <a:r>
              <a:rPr lang="en-US" sz="2527" b="true">
                <a:solidFill>
                  <a:srgbClr val="FFC64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 → 55%→ 完全取消持股上限</a:t>
            </a:r>
          </a:p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外資進入韓國市場的制度障礙大幅下降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4008" y="1500667"/>
            <a:ext cx="32884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1.為什麼外資會湧入？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4008" y="4377217"/>
            <a:ext cx="562376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2.法人交易增加，推動交易流程電子化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38146" y="4841561"/>
            <a:ext cx="8977881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本土法人早已有需求，法人執行需求並非外資進入後才出現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2001–2007 年，股票型基金 AUM 約成長 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</a:t>
            </a:r>
            <a:r>
              <a:rPr lang="en-US" sz="25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將國際電子交易標準帶入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，促使韓國券商升級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交易服務，以爭取國際機構的訂單。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跨國交易系統整合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：FIX、電子化委託與成交回報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降低大額訂單執行成本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：VWAP、TWAP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保護交易意圖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：交易匿名性、母單拆分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自主管理交易策略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：可客製化的 Broker Algo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7661" y="8480111"/>
            <a:ext cx="9811486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2010：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家機構／券商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使用機構電子化訂單平台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2017：使用者較 2006 年上升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9.5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、每日處理量上升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 倍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2024：Koscom 旗下 STP-HUB 系統有</a:t>
            </a:r>
            <a:r>
              <a:rPr lang="en-US" b="true" sz="25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家客戶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700 萬筆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訂單／成交訊息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15154" y="7984811"/>
            <a:ext cx="543215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機構電子化 Execution 已形成規模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電子交易競爭與 Decimalization 壓縮做市利潤，推動美國交易走向高速自動化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 Decimalization Testimony（2001）、Equity Market Structure（2010）、FY2010 PAR；GAO-05-535（2005）。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0840" y="2017166"/>
            <a:ext cx="2105965" cy="1674701"/>
            <a:chOff x="0" y="0"/>
            <a:chExt cx="1345341" cy="1069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85795" y="2017166"/>
            <a:ext cx="2105965" cy="1674701"/>
            <a:chOff x="0" y="0"/>
            <a:chExt cx="1345341" cy="1069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748755" y="2017166"/>
            <a:ext cx="2105965" cy="1674701"/>
            <a:chOff x="0" y="0"/>
            <a:chExt cx="1345341" cy="1069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67275" y="2017166"/>
            <a:ext cx="2105965" cy="1674701"/>
            <a:chOff x="0" y="0"/>
            <a:chExt cx="1345341" cy="1069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74869" y="4701517"/>
            <a:ext cx="8369131" cy="4432432"/>
          </a:xfrm>
          <a:custGeom>
            <a:avLst/>
            <a:gdLst/>
            <a:ahLst/>
            <a:cxnLst/>
            <a:rect r="r" b="b" t="t" l="l"/>
            <a:pathLst>
              <a:path h="4432432" w="8369131">
                <a:moveTo>
                  <a:pt x="0" y="0"/>
                </a:moveTo>
                <a:lnTo>
                  <a:pt x="8369131" y="0"/>
                </a:lnTo>
                <a:lnTo>
                  <a:pt x="8369131" y="4432431"/>
                </a:lnTo>
                <a:lnTo>
                  <a:pt x="0" y="4432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4261" y="2168841"/>
            <a:ext cx="699123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48755" y="2168841"/>
            <a:ext cx="2105965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258" y="2525760"/>
            <a:ext cx="130444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790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-50%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02229" y="2525760"/>
            <a:ext cx="2095602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Quote Size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85047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-68%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66319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63283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66319" y="2525760"/>
            <a:ext cx="160807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造市收益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95049" y="2525760"/>
            <a:ext cx="188745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造市商數量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25123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-73%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6386" y="3090340"/>
            <a:ext cx="2054596" cy="54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  <a:spcBef>
                <a:spcPct val="0"/>
              </a:spcBef>
            </a:pPr>
            <a:r>
              <a:rPr lang="en-US" b="true" sz="3651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491→258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1704" y="4196692"/>
            <a:ext cx="57725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電子交易平台快速搶占 Nasdaq 成交量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4185" y="1556797"/>
            <a:ext cx="49564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為什麼傳統做市商利潤被壓縮？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1335" y="2065391"/>
            <a:ext cx="7805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電子交易平台崛起：電子交易平台快速崛起，傳統做市商面臨價格與執行競爭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Decimalization 壓縮價差：2001 年最小報價單位降至 1 cent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單筆交易利潤變薄：做市商無法再依賴較寬的買賣價差維持原有獲利模式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60149" y="4465691"/>
            <a:ext cx="791832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總利潤 ≈ 每筆能賺的價差 × 成交量 − 交易／人力／系統成本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單筆收益下降，做市商轉向大量、低成本、自動化交易，當大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量交易都電子化後，誰能更快搶成交、更新報價誰就更有優勢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4185" y="5912762"/>
            <a:ext cx="586792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速度成為競爭力，HFT 成為主要 Flow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01335" y="6312812"/>
            <a:ext cx="8018505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年 HFT 已占美股成交量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最快接單、撮合、回應已低於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 ms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每日交易筆數：2.9M → 22.1M，+662%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低延遲需求開始商品化：DMA、Sponsored Access、Co-location、Direct Feed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0149" y="8817887"/>
            <a:ext cx="72151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沒有證交稅但有監管費，費率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0.00169%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44185" y="8417837"/>
            <a:ext cx="162044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3.交易成本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704821"/>
            <a:ext cx="16609333" cy="795846"/>
            <a:chOff x="0" y="0"/>
            <a:chExt cx="22145777" cy="1061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61121"/>
            </a:xfrm>
            <a:custGeom>
              <a:avLst/>
              <a:gdLst/>
              <a:ahLst/>
              <a:cxnLst/>
              <a:rect r="r" b="b" t="t" l="l"/>
              <a:pathLst>
                <a:path h="1061121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61121"/>
                  </a:lnTo>
                  <a:lnTo>
                    <a:pt x="0" y="106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10" r="0" b="-351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61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散戶短線交易做大衍生品市場</a:t>
              </a: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，進而吸引 HFT 大量進場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資料來源：KRX Derivatives Market；KCMI（2011）；Kang et al.（RIBF, 2022）；Lee, Ryu &amp; Webb（RDR, 2026）；Kim &amp; Ryu（2022）。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2888" y="9076611"/>
            <a:ext cx="7473601" cy="3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</a:t>
            </a: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lobal Exchange-Based Trading of Equity Derivatives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2178238" y="2029402"/>
            <a:ext cx="5222900" cy="8555938"/>
          </a:xfrm>
          <a:custGeom>
            <a:avLst/>
            <a:gdLst/>
            <a:ahLst/>
            <a:cxnLst/>
            <a:rect r="r" b="b" t="t" l="l"/>
            <a:pathLst>
              <a:path h="8555938" w="5222900">
                <a:moveTo>
                  <a:pt x="0" y="0"/>
                </a:moveTo>
                <a:lnTo>
                  <a:pt x="5222901" y="0"/>
                </a:lnTo>
                <a:lnTo>
                  <a:pt x="5222901" y="8555938"/>
                </a:lnTo>
                <a:lnTo>
                  <a:pt x="0" y="8555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" t="0" r="-108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4292731" y="691049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313289" y="6627249"/>
            <a:ext cx="0" cy="297897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292731" y="662724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067657" y="6627249"/>
            <a:ext cx="0" cy="28325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705302" y="1758968"/>
            <a:ext cx="4277969" cy="1754852"/>
            <a:chOff x="0" y="0"/>
            <a:chExt cx="3023031" cy="1240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840943" y="1750569"/>
            <a:ext cx="422671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</a:pPr>
            <a:r>
              <a:rPr lang="en-US" sz="3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高周轉短線操作多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韓國：未平倉量</a:t>
            </a: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 640 億美元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美國：約 3.3 兆美元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b="true" sz="3129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是美國 1/50 倍以上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9219" y="1984578"/>
            <a:ext cx="884044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1.為什麼衍生性商品市場這麼龐大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低進入門檻：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合約規模小、保證金需求相對低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低交易摩擦：當時 Futures / Options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不課稅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，頻繁進出成本較低，2016 年才開始課徵資本利得稅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政策降低進場門檻：基本預存款由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3,000 萬降至 500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韓元，擴大散戶參與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2085" y="1758968"/>
            <a:ext cx="4277969" cy="1754852"/>
            <a:chOff x="0" y="0"/>
            <a:chExt cx="3023031" cy="12400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21196" y="1779144"/>
            <a:ext cx="461974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  <a:spcBef>
                <a:spcPct val="0"/>
              </a:spcBef>
            </a:pPr>
            <a:r>
              <a:rPr lang="en-US" b="true" sz="3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大量散戶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2/3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1/2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9219" y="4556820"/>
            <a:ext cx="8840445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2.散戶大量短線下單，持續製造短暫的買賣失衡與價格偏離HFT 靠比別人更快下單，把這些小利潤一直撿起來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2019.05–2020.09：散戶占總成交量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但占 HFT交易對手方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38%．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 年 Options multiplier 從 10 萬提高到 50 萬韓元後，總成交量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47.8%；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52.8%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，相對散戶的交易量還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下降約 30.9%。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9219" y="7528620"/>
            <a:ext cx="641285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ˇ3.高頻交易高度普及，且由外資主導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2010-2014：HFT總市場參與占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49.4%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2010｜每日 &gt;20,000 筆訂單的高頻帳戶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6513" y="8728770"/>
            <a:ext cx="427121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75.6%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為外資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98.0%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為外資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2085" y="3984828"/>
            <a:ext cx="399150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從2002年開始，衍生性商品</a:t>
            </a: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全年成交量全世界第一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706" y="329441"/>
            <a:ext cx="8647833" cy="494167"/>
            <a:chOff x="0" y="0"/>
            <a:chExt cx="11530444" cy="658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0448" cy="658883"/>
            </a:xfrm>
            <a:custGeom>
              <a:avLst/>
              <a:gdLst/>
              <a:ahLst/>
              <a:cxnLst/>
              <a:rect r="r" b="b" t="t" l="l"/>
              <a:pathLst>
                <a:path h="658883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7" r="0" b="-290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530444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第二章結論  |  可驗證的市場形成條件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706" y="1070686"/>
            <a:ext cx="16197539" cy="796147"/>
            <a:chOff x="0" y="0"/>
            <a:chExt cx="2159671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6713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420" r="0" b="-3464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59671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三類程式交易服務的形成條件不同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80">
            <a:off x="606733" y="1985610"/>
            <a:ext cx="17111710" cy="0"/>
          </a:xfrm>
          <a:prstGeom prst="line">
            <a:avLst/>
          </a:prstGeom>
          <a:ln cap="rnd" w="9525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03783" y="2296077"/>
            <a:ext cx="2833992" cy="678904"/>
            <a:chOff x="0" y="0"/>
            <a:chExt cx="3778656" cy="905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8631" cy="905256"/>
            </a:xfrm>
            <a:custGeom>
              <a:avLst/>
              <a:gdLst/>
              <a:ahLst/>
              <a:cxnLst/>
              <a:rect r="r" b="b" t="t" l="l"/>
              <a:pathLst>
                <a:path h="905256" w="377863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3627755" y="0"/>
                  </a:lnTo>
                  <a:cubicBezTo>
                    <a:pt x="3711067" y="0"/>
                    <a:pt x="3778631" y="67564"/>
                    <a:pt x="3778631" y="150876"/>
                  </a:cubicBezTo>
                  <a:lnTo>
                    <a:pt x="3778631" y="754380"/>
                  </a:lnTo>
                  <a:cubicBezTo>
                    <a:pt x="3778631" y="837692"/>
                    <a:pt x="3711067" y="905256"/>
                    <a:pt x="3627755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778656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服務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27577" y="2296077"/>
            <a:ext cx="14021276" cy="678904"/>
            <a:chOff x="0" y="0"/>
            <a:chExt cx="18695035" cy="905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95036" cy="905256"/>
            </a:xfrm>
            <a:custGeom>
              <a:avLst/>
              <a:gdLst/>
              <a:ahLst/>
              <a:cxnLst/>
              <a:rect r="r" b="b" t="t" l="l"/>
              <a:pathLst>
                <a:path h="905256" w="1869503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18544160" y="0"/>
                  </a:lnTo>
                  <a:cubicBezTo>
                    <a:pt x="18627472" y="0"/>
                    <a:pt x="18695036" y="67564"/>
                    <a:pt x="18695036" y="150876"/>
                  </a:cubicBezTo>
                  <a:lnTo>
                    <a:pt x="18695036" y="754380"/>
                  </a:lnTo>
                  <a:cubicBezTo>
                    <a:pt x="18695036" y="837692"/>
                    <a:pt x="18627472" y="905256"/>
                    <a:pt x="18544160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695035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主要市場形成條件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3783" y="3064774"/>
            <a:ext cx="2833992" cy="1571139"/>
            <a:chOff x="0" y="0"/>
            <a:chExt cx="3778656" cy="20948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27577" y="3064774"/>
            <a:ext cx="14021276" cy="1571138"/>
            <a:chOff x="0" y="0"/>
            <a:chExt cx="18695035" cy="20948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第三方平台已有一定規模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第三方具有差異化交易服務需求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券商完整基礎設施功能建置成本高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3783" y="4753166"/>
            <a:ext cx="2833992" cy="1571139"/>
            <a:chOff x="0" y="0"/>
            <a:chExt cx="3778656" cy="20948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778656" cy="2104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Algo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27577" y="4753166"/>
            <a:ext cx="14021276" cy="1571138"/>
            <a:chOff x="0" y="0"/>
            <a:chExt cx="18695035" cy="2094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法人／外資交易具規模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機構重視交易成本控制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 Complexity 提升：大額拆單、流動性碎片化、多執行路徑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3783" y="6441548"/>
            <a:ext cx="2833992" cy="1571139"/>
            <a:chOff x="0" y="0"/>
            <a:chExt cx="3778656" cy="2094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27577" y="6441548"/>
            <a:ext cx="14021276" cy="1571138"/>
            <a:chOff x="0" y="0"/>
            <a:chExt cx="18695035" cy="20948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外資／專業交易具規模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市場具高周轉、短線交易特徵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高速做市具經濟性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3783" y="8184842"/>
            <a:ext cx="5400894" cy="706355"/>
            <a:chOff x="0" y="0"/>
            <a:chExt cx="7201192" cy="941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 解決「串接」問題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45460" y="8184842"/>
            <a:ext cx="5400894" cy="706355"/>
            <a:chOff x="0" y="0"/>
            <a:chExt cx="7201192" cy="9418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解決「執行」問題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87146" y="8184842"/>
            <a:ext cx="5400894" cy="706355"/>
            <a:chOff x="0" y="0"/>
            <a:chExt cx="7201192" cy="9418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解決「速度」問題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794" y="9306716"/>
            <a:ext cx="16815235" cy="480431"/>
            <a:chOff x="0" y="0"/>
            <a:chExt cx="22420313" cy="6405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20315" cy="640580"/>
            </a:xfrm>
            <a:custGeom>
              <a:avLst/>
              <a:gdLst/>
              <a:ahLst/>
              <a:cxnLst/>
              <a:rect r="r" b="b" t="t" l="l"/>
              <a:pathLst>
                <a:path h="640580" w="22420315">
                  <a:moveTo>
                    <a:pt x="0" y="0"/>
                  </a:moveTo>
                  <a:lnTo>
                    <a:pt x="22420315" y="0"/>
                  </a:lnTo>
                  <a:lnTo>
                    <a:pt x="224203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2420313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7"/>
                </a:lnSpc>
              </a:pPr>
              <a:r>
                <a:rPr lang="en-US" sz="1981">
                  <a:solidFill>
                    <a:srgbClr val="AAB8C5"/>
                  </a:solidFill>
                  <a:latin typeface="Noto Sans"/>
                  <a:ea typeface="Noto Sans"/>
                  <a:cs typeface="Noto Sans"/>
                  <a:sym typeface="Noto Sans"/>
                </a:rPr>
                <a:t>下一章：以這三組條件檢驗台灣市場成熟度，而非只判斷技術能不能做。</a:t>
              </a:r>
            </a:p>
          </p:txBody>
        </p:sp>
      </p:grpSp>
      <p:sp>
        <p:nvSpPr>
          <p:cNvPr name="Freeform 45" id="45" descr="資料來源：SEC、SEBI、KRX、Koscom、Federal Reserve 與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台灣市場發展條件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6890" y="5582626"/>
            <a:ext cx="12124231" cy="6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43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對照海外經驗，檢視台灣目前條件與未來發展空間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236317"/>
            <a:ext cx="15707444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第三方已有產品與客群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2026：FinTechSpace 62 家進駐夥伴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富果會員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；XQ 已串接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20+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券商；玩股網：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43.5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註冊會員；CMoney 籌碼K線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MAU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Agent 正形成新的金融服務入口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永豐Shioaji Pro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內建 AI Agent可以連接行情、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Claude API、OpenAI API、Codex。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(2)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富果把 MarketData API 做成 MCP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，讓 AI Agent 可以直接與富果 API 互動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6478477"/>
            <a:ext cx="1674660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完整交易能力具高監管與建置門檻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第三方可以自己做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UI、AI、分析、策略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，但若自行提供：開戶 / KYC、帳戶、風控、交易所連線、下單、交割必須跨入受監管的證券經紀基礎設施。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證券經紀商最低實收資本額：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經紀商營業保證金：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5,000 萬元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Exchange Connectivity：須取得證交所／集保電腦連線承諾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4198847"/>
            <a:ext cx="52900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2.第三方已形成差異化交易服務需求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794" y="4633030"/>
            <a:ext cx="784495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策略自動化：XQ、FinLab、MultiCharts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多券商整合：XQ、CTsystem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金融數據應用：富果、CMoney、TEJ、FinMind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金融工具：富果 MCP、FinLab AI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1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935479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1.需求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已出現，但仍屬利基市場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：(2026)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成交約 8,995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占整體市場僅約 0.35%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9823" y="1331383"/>
            <a:ext cx="975092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同業持續投入，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服務已普及於多家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永豐｜Shioaji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富邦｜Fubon Neo API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元大｜SPARK API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3794" y="2676015"/>
            <a:ext cx="6190938" cy="2952304"/>
          </a:xfrm>
          <a:custGeom>
            <a:avLst/>
            <a:gdLst/>
            <a:ahLst/>
            <a:cxnLst/>
            <a:rect r="r" b="b" t="t" l="l"/>
            <a:pathLst>
              <a:path h="2952304" w="6190938">
                <a:moveTo>
                  <a:pt x="0" y="0"/>
                </a:moveTo>
                <a:lnTo>
                  <a:pt x="6190938" y="0"/>
                </a:lnTo>
                <a:lnTo>
                  <a:pt x="6190938" y="2952304"/>
                </a:lnTo>
                <a:lnTo>
                  <a:pt x="0" y="2952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794" y="5697331"/>
            <a:ext cx="6190938" cy="2940696"/>
          </a:xfrm>
          <a:custGeom>
            <a:avLst/>
            <a:gdLst/>
            <a:ahLst/>
            <a:cxnLst/>
            <a:rect r="r" b="b" t="t" l="l"/>
            <a:pathLst>
              <a:path h="2940696" w="6190938">
                <a:moveTo>
                  <a:pt x="0" y="0"/>
                </a:moveTo>
                <a:lnTo>
                  <a:pt x="6190938" y="0"/>
                </a:lnTo>
                <a:lnTo>
                  <a:pt x="6190938" y="2940696"/>
                </a:lnTo>
                <a:lnTo>
                  <a:pt x="0" y="2940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99823" y="3949494"/>
            <a:ext cx="97509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券商X第三方平台合作模式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已有實際案例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XQ × 多家券商：策略交易與下單整合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玉山 × 富果：曾合作交易 API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9902" y="6417318"/>
            <a:ext cx="9694802" cy="2220709"/>
            <a:chOff x="0" y="0"/>
            <a:chExt cx="6310839" cy="1445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648164" y="6854649"/>
            <a:ext cx="8718279" cy="134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市場條件</a:t>
            </a: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已具備、同業布局已展開，但交易滲透率仍低，建議及早布局 Open API，以第三方合作及小規模建置為優先，待實際交易需求擴大後再增加投入。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資料來源：TWSE／TPEx／TAIFEX 市場統計；勞動基金運用局《投資政策書》；TWSE 交易制度；國泰證券年報。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Broker algo｜台灣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401105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Broker Algo 需求已成立，核心價值在大單拆分與交易成本控制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476030"/>
            <a:ext cx="935479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法人／外資交易 Flow 具規模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35.3%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法人＋外資合計占現貨成交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法人占期貨市場交易約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53.6%（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2025）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3419130"/>
            <a:ext cx="1674660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Execution Complexity：部分成立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大額交易需求具規模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：20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年台股鉅額交易成交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金額約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1.04 兆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元，顯示大型訂單 Flow 確實存在。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流動性碎片化程度低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：台灣上市股票主要集中於 TWSE、上櫃股票集中於 TPEx，不像美國同一檔股票分散於多個交易場所，跨 Venue Routing 需求較弱。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具多種執行方式，但複雜度有限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：TWSE 提供一般交易、盤後定價、鉅額逐筆／配對、零股等不同交易機制。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5762280"/>
            <a:ext cx="1654550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3.機構重視交易成本控制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大型法人已有明確 Best Execution 要求：勞動基金表示交易執行須追求「最佳執行效益」，並考量集中／分散下單成本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制度允許 Broker 介入執行決策：法人可授權券商在指定區間內，決定價格與下單時間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券商已實際投入 Algo Execution：國泰證券年報表示「建置法人演算發交易模組」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57141" y="8162580"/>
            <a:ext cx="16373718" cy="1395440"/>
            <a:chOff x="0" y="0"/>
            <a:chExt cx="10658485" cy="908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8142" cy="908315"/>
            </a:xfrm>
            <a:custGeom>
              <a:avLst/>
              <a:gdLst/>
              <a:ahLst/>
              <a:cxnLst/>
              <a:rect r="r" b="b" t="t" l="l"/>
              <a:pathLst>
                <a:path h="908315" w="10658142">
                  <a:moveTo>
                    <a:pt x="0" y="83834"/>
                  </a:moveTo>
                  <a:cubicBezTo>
                    <a:pt x="0" y="37502"/>
                    <a:pt x="225784" y="0"/>
                    <a:pt x="504727" y="0"/>
                  </a:cubicBezTo>
                  <a:lnTo>
                    <a:pt x="10153415" y="0"/>
                  </a:lnTo>
                  <a:cubicBezTo>
                    <a:pt x="10432359" y="0"/>
                    <a:pt x="10658142" y="37502"/>
                    <a:pt x="10658142" y="83834"/>
                  </a:cubicBezTo>
                  <a:lnTo>
                    <a:pt x="10658142" y="824481"/>
                  </a:lnTo>
                  <a:cubicBezTo>
                    <a:pt x="10658142" y="870813"/>
                    <a:pt x="10432359" y="908315"/>
                    <a:pt x="10153415" y="908315"/>
                  </a:cubicBezTo>
                  <a:lnTo>
                    <a:pt x="504727" y="908315"/>
                  </a:lnTo>
                  <a:cubicBezTo>
                    <a:pt x="225784" y="908315"/>
                    <a:pt x="0" y="870813"/>
                    <a:pt x="0" y="824481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2931" y="8460250"/>
            <a:ext cx="1622213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 Broker Algo 已具明確需求基礎：法人交易量規模大、交易成本控制需求明確，但因流動性碎片化程度低，價值更集中在大額拆單與執行品質優化，而非跨市場 Routing，實際 Algo 採用規模尚待驗證。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資料來源：TAIFEX 市場統計、研究與造市者名單；TWSE／TPEx 統計；財政部《證券交易稅條例》《期貨交易稅條例》。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308772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台灣具備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HFT 發展條件，但高速交易經濟性更集中於衍生品市場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1216324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法人／專業交易 Flow 具規模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目前有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股票現貨、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期貨、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選擇權造市者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演算法交易約占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87%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委託量，反映高頻報價／撤單行為已相當普遍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外資／造市者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&gt;90%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使用專線下單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外資、證券自營商約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交易戶具有演算法交易特徵；期貨自營商近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90%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Co-Location 機櫃已飽和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3931708"/>
            <a:ext cx="9750925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台灣市場是否具高周轉、短線交易特徵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現貨短線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交易已成常態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當沖成交值約占市場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 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。2025/12：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37.1%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市場換手率高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週轉率：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118.5%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TPEx：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270.6%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6553200"/>
            <a:ext cx="11520205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高速做市具經濟性嗎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衍生品具備較好的高速交易 Economics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股價類期貨交易稅僅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0.002%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造市者達成義務後可享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經手費／結算費減免或獎勵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現股則受到交易摩擦限制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股票證交稅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0.3%，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經手費折讓＋造市獎勵降低成本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（經手費最高約 60% 折讓，並有額外造市獎金最高一季約100萬）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權證避險交易甚至在 2023 年將稅率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由 0.3% 降至 0.1%。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706021" y="5143500"/>
            <a:ext cx="9187668" cy="2104543"/>
            <a:chOff x="0" y="0"/>
            <a:chExt cx="6310839" cy="1445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80452" y="5545846"/>
            <a:ext cx="8438806" cy="12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專業交易高度自動化、</a:t>
            </a: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台灣市場具高周轉與短線特徵，且做市需求已形成；但現股交易摩擦較高，使高速策略的經濟性更偏向期貨、選擇權等低成本市場。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73" y="315716"/>
            <a:ext cx="16197539" cy="480431"/>
            <a:chOff x="0" y="0"/>
            <a:chExt cx="21596718" cy="640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96713" cy="640580"/>
            </a:xfrm>
            <a:custGeom>
              <a:avLst/>
              <a:gdLst/>
              <a:ahLst/>
              <a:cxnLst/>
              <a:rect r="r" b="b" t="t" l="l"/>
              <a:pathLst>
                <a:path h="640580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596718" cy="70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8"/>
                </a:lnSpc>
              </a:pPr>
              <a:r>
                <a:rPr lang="en-US" sz="2101" b="true">
                  <a:solidFill>
                    <a:srgbClr val="FFC6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第三章結論  /  海外市場發展經驗 × 台灣市場驗證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9873" y="919686"/>
            <a:ext cx="16746607" cy="960872"/>
            <a:chOff x="0" y="0"/>
            <a:chExt cx="22328810" cy="12811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28805" cy="1281161"/>
            </a:xfrm>
            <a:custGeom>
              <a:avLst/>
              <a:gdLst/>
              <a:ahLst/>
              <a:cxnLst/>
              <a:rect r="r" b="b" t="t" l="l"/>
              <a:pathLst>
                <a:path h="1281161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22328810" cy="1414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88"/>
                </a:lnSpc>
              </a:pPr>
              <a:r>
                <a:rPr lang="en-US" sz="4578" b="true">
                  <a:solidFill>
                    <a:srgbClr val="F6F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三項業務都看得到市場，但該投的地方不同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7333" y="1908010"/>
            <a:ext cx="16609333" cy="507892"/>
            <a:chOff x="0" y="0"/>
            <a:chExt cx="22145777" cy="677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45782" cy="677185"/>
            </a:xfrm>
            <a:custGeom>
              <a:avLst/>
              <a:gdLst/>
              <a:ahLst/>
              <a:cxnLst/>
              <a:rect r="r" b="b" t="t" l="l"/>
              <a:pathLst>
                <a:path h="677185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212" r="0" b="-5872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145777" cy="753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5"/>
                </a:lnSpc>
              </a:pPr>
              <a:r>
                <a:rPr lang="en-US" sz="22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從海外案例找出需求形成的原因，再用台灣證據決定現在該做什麼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3608" y="2580627"/>
            <a:ext cx="16691696" cy="24708"/>
            <a:chOff x="0" y="0"/>
            <a:chExt cx="22255594" cy="329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55607" cy="32893"/>
            </a:xfrm>
            <a:custGeom>
              <a:avLst/>
              <a:gdLst/>
              <a:ahLst/>
              <a:cxnLst/>
              <a:rect r="r" b="b" t="t" l="l"/>
              <a:pathLst>
                <a:path h="32893" w="22255607">
                  <a:moveTo>
                    <a:pt x="0" y="0"/>
                  </a:moveTo>
                  <a:lnTo>
                    <a:pt x="22255607" y="0"/>
                  </a:lnTo>
                  <a:lnTo>
                    <a:pt x="22255607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19A8B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8510" y="2779662"/>
            <a:ext cx="1798196" cy="411804"/>
            <a:chOff x="0" y="0"/>
            <a:chExt cx="2397595" cy="549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97601" cy="549069"/>
            </a:xfrm>
            <a:custGeom>
              <a:avLst/>
              <a:gdLst/>
              <a:ahLst/>
              <a:cxnLst/>
              <a:rect r="r" b="b" t="t" l="l"/>
              <a:pathLst>
                <a:path h="549069" w="2397601">
                  <a:moveTo>
                    <a:pt x="0" y="0"/>
                  </a:moveTo>
                  <a:lnTo>
                    <a:pt x="2397601" y="0"/>
                  </a:lnTo>
                  <a:lnTo>
                    <a:pt x="239760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84" r="0" b="-350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397595" cy="615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1951" b="true">
                  <a:solidFill>
                    <a:srgbClr val="FFC6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服務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786520" y="2779662"/>
            <a:ext cx="3912118" cy="411804"/>
            <a:chOff x="0" y="0"/>
            <a:chExt cx="5216157" cy="549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6155" cy="549069"/>
            </a:xfrm>
            <a:custGeom>
              <a:avLst/>
              <a:gdLst/>
              <a:ahLst/>
              <a:cxnLst/>
              <a:rect r="r" b="b" t="t" l="l"/>
              <a:pathLst>
                <a:path h="549069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216157" cy="615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1951" b="true">
                  <a:solidFill>
                    <a:srgbClr val="FFC6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海外：為何產生需求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28078" y="2779662"/>
            <a:ext cx="4612176" cy="411804"/>
            <a:chOff x="0" y="0"/>
            <a:chExt cx="6149569" cy="549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49572" cy="549069"/>
            </a:xfrm>
            <a:custGeom>
              <a:avLst/>
              <a:gdLst/>
              <a:ahLst/>
              <a:cxnLst/>
              <a:rect r="r" b="b" t="t" l="l"/>
              <a:pathLst>
                <a:path h="549069" w="6149572">
                  <a:moveTo>
                    <a:pt x="0" y="0"/>
                  </a:moveTo>
                  <a:lnTo>
                    <a:pt x="6149572" y="0"/>
                  </a:lnTo>
                  <a:lnTo>
                    <a:pt x="614957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149569" cy="615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1951" b="true">
                  <a:solidFill>
                    <a:srgbClr val="FFC6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台灣：哪些事情已發生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52059" y="2779662"/>
            <a:ext cx="5435784" cy="411804"/>
            <a:chOff x="0" y="0"/>
            <a:chExt cx="7247712" cy="549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47710" cy="549069"/>
            </a:xfrm>
            <a:custGeom>
              <a:avLst/>
              <a:gdLst/>
              <a:ahLst/>
              <a:cxnLst/>
              <a:rect r="r" b="b" t="t" l="l"/>
              <a:pathLst>
                <a:path h="549069" w="7247710">
                  <a:moveTo>
                    <a:pt x="0" y="0"/>
                  </a:moveTo>
                  <a:lnTo>
                    <a:pt x="7247710" y="0"/>
                  </a:lnTo>
                  <a:lnTo>
                    <a:pt x="72477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247712" cy="615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1951" b="true">
                  <a:solidFill>
                    <a:srgbClr val="FFC6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現在：券商該做什麼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1059" y="3342456"/>
            <a:ext cx="16650519" cy="16469"/>
            <a:chOff x="0" y="0"/>
            <a:chExt cx="22200692" cy="219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00743" cy="21971"/>
            </a:xfrm>
            <a:custGeom>
              <a:avLst/>
              <a:gdLst/>
              <a:ahLst/>
              <a:cxnLst/>
              <a:rect r="r" b="b" t="t" l="l"/>
              <a:pathLst>
                <a:path h="21971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28516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8510" y="3980755"/>
            <a:ext cx="1839382" cy="617706"/>
            <a:chOff x="0" y="0"/>
            <a:chExt cx="2452510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2508" cy="823603"/>
            </a:xfrm>
            <a:custGeom>
              <a:avLst/>
              <a:gdLst/>
              <a:ahLst/>
              <a:cxnLst/>
              <a:rect r="r" b="b" t="t" l="l"/>
              <a:pathLst>
                <a:path h="823603" w="2452508">
                  <a:moveTo>
                    <a:pt x="0" y="0"/>
                  </a:moveTo>
                  <a:lnTo>
                    <a:pt x="2452508" y="0"/>
                  </a:lnTo>
                  <a:lnTo>
                    <a:pt x="245250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21" r="0" b="-80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452510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3"/>
                </a:lnSpc>
              </a:pPr>
              <a:r>
                <a:rPr lang="en-US" sz="2747" b="true">
                  <a:solidFill>
                    <a:srgbClr val="FFC63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792006" y="3565579"/>
            <a:ext cx="3913956" cy="97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第三方平台有客戶，</a:t>
            </a:r>
          </a:p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需要券商完成交易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13980" y="4763176"/>
            <a:ext cx="3486588" cy="315716"/>
            <a:chOff x="0" y="0"/>
            <a:chExt cx="4648784" cy="4209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8784" cy="420953"/>
            </a:xfrm>
            <a:custGeom>
              <a:avLst/>
              <a:gdLst/>
              <a:ahLst/>
              <a:cxnLst/>
              <a:rect r="r" b="b" t="t" l="l"/>
              <a:pathLst>
                <a:path h="420953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182" r="0" b="-1651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648784" cy="468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美國／印度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033565" y="3437420"/>
            <a:ext cx="4476750" cy="67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128" b="true">
                <a:solidFill>
                  <a:srgbClr val="F6F8F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20+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069264" y="4255284"/>
            <a:ext cx="4653363" cy="497695"/>
            <a:chOff x="0" y="0"/>
            <a:chExt cx="6204483" cy="6635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04479" cy="663596"/>
            </a:xfrm>
            <a:custGeom>
              <a:avLst/>
              <a:gdLst/>
              <a:ahLst/>
              <a:cxnLst/>
              <a:rect r="r" b="b" t="t" l="l"/>
              <a:pathLst>
                <a:path h="663596" w="6204479">
                  <a:moveTo>
                    <a:pt x="0" y="0"/>
                  </a:moveTo>
                  <a:lnTo>
                    <a:pt x="6204479" y="0"/>
                  </a:lnTo>
                  <a:lnTo>
                    <a:pt x="6204479" y="663596"/>
                  </a:lnTo>
                  <a:lnTo>
                    <a:pt x="0" y="663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73" r="0" b="-1276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6204483" cy="739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476" b="true">
                  <a:solidFill>
                    <a:srgbClr val="C8D6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家券商與 XQ 串接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69264" y="4790627"/>
            <a:ext cx="4694539" cy="370618"/>
            <a:chOff x="0" y="0"/>
            <a:chExt cx="6259386" cy="4941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59386" cy="494162"/>
            </a:xfrm>
            <a:custGeom>
              <a:avLst/>
              <a:gdLst/>
              <a:ahLst/>
              <a:cxnLst/>
              <a:rect r="r" b="b" t="t" l="l"/>
              <a:pathLst>
                <a:path h="494162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10" r="0" b="-19680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259386" cy="541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168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多家同業已提供交易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24608" y="3459137"/>
            <a:ext cx="5504412" cy="1757020"/>
            <a:chOff x="0" y="0"/>
            <a:chExt cx="7339216" cy="234269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39203" cy="2342642"/>
            </a:xfrm>
            <a:custGeom>
              <a:avLst/>
              <a:gdLst/>
              <a:ahLst/>
              <a:cxnLst/>
              <a:rect r="r" b="b" t="t" l="l"/>
              <a:pathLst>
                <a:path h="2342642" w="7339203">
                  <a:moveTo>
                    <a:pt x="0" y="0"/>
                  </a:moveTo>
                  <a:lnTo>
                    <a:pt x="7339203" y="0"/>
                  </a:lnTo>
                  <a:lnTo>
                    <a:pt x="7339203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10293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038333" y="3678765"/>
            <a:ext cx="49416" cy="1207951"/>
            <a:chOff x="0" y="0"/>
            <a:chExt cx="65888" cy="16106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913" cy="1610614"/>
            </a:xfrm>
            <a:custGeom>
              <a:avLst/>
              <a:gdLst/>
              <a:ahLst/>
              <a:cxnLst/>
              <a:rect r="r" b="b" t="t" l="l"/>
              <a:pathLst>
                <a:path h="1610614" w="65913">
                  <a:moveTo>
                    <a:pt x="0" y="0"/>
                  </a:moveTo>
                  <a:lnTo>
                    <a:pt x="65913" y="0"/>
                  </a:lnTo>
                  <a:lnTo>
                    <a:pt x="65913" y="1610614"/>
                  </a:lnTo>
                  <a:lnTo>
                    <a:pt x="0" y="1610614"/>
                  </a:lnTo>
                  <a:close/>
                </a:path>
              </a:pathLst>
            </a:custGeom>
            <a:solidFill>
              <a:srgbClr val="FFC63D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318359" y="3505352"/>
            <a:ext cx="5053279" cy="9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</a:t>
            </a: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漸漸成為基礎設施</a:t>
            </a:r>
          </a:p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聚焦第三方合作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312872" y="4831804"/>
            <a:ext cx="5023980" cy="343168"/>
            <a:chOff x="0" y="0"/>
            <a:chExt cx="6698640" cy="4575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98642" cy="457559"/>
            </a:xfrm>
            <a:custGeom>
              <a:avLst/>
              <a:gdLst/>
              <a:ahLst/>
              <a:cxnLst/>
              <a:rect r="r" b="b" t="t" l="l"/>
              <a:pathLst>
                <a:path h="457559" w="6698642">
                  <a:moveTo>
                    <a:pt x="0" y="0"/>
                  </a:moveTo>
                  <a:lnTo>
                    <a:pt x="6698642" y="0"/>
                  </a:lnTo>
                  <a:lnTo>
                    <a:pt x="669864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260" r="0" b="-2352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698640" cy="5051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擴大投資條件</a:t>
              </a: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：合作是否帶來新增成交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1059" y="5277926"/>
            <a:ext cx="16664245" cy="12354"/>
            <a:chOff x="0" y="0"/>
            <a:chExt cx="22218993" cy="164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219031" cy="16510"/>
            </a:xfrm>
            <a:custGeom>
              <a:avLst/>
              <a:gdLst/>
              <a:ahLst/>
              <a:cxnLst/>
              <a:rect r="r" b="b" t="t" l="l"/>
              <a:pathLst>
                <a:path h="16510" w="22219031">
                  <a:moveTo>
                    <a:pt x="0" y="0"/>
                  </a:moveTo>
                  <a:lnTo>
                    <a:pt x="22219031" y="0"/>
                  </a:lnTo>
                  <a:lnTo>
                    <a:pt x="22219031" y="16510"/>
                  </a:lnTo>
                  <a:lnTo>
                    <a:pt x="0" y="16510"/>
                  </a:lnTo>
                  <a:close/>
                </a:path>
              </a:pathLst>
            </a:custGeom>
            <a:solidFill>
              <a:srgbClr val="28516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78510" y="5820127"/>
            <a:ext cx="1839382" cy="989447"/>
            <a:chOff x="0" y="0"/>
            <a:chExt cx="2452510" cy="13192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52508" cy="1319256"/>
            </a:xfrm>
            <a:custGeom>
              <a:avLst/>
              <a:gdLst/>
              <a:ahLst/>
              <a:cxnLst/>
              <a:rect r="r" b="b" t="t" l="l"/>
              <a:pathLst>
                <a:path h="1319256" w="2452508">
                  <a:moveTo>
                    <a:pt x="0" y="0"/>
                  </a:moveTo>
                  <a:lnTo>
                    <a:pt x="2452508" y="0"/>
                  </a:lnTo>
                  <a:lnTo>
                    <a:pt x="2452508" y="1319256"/>
                  </a:lnTo>
                  <a:lnTo>
                    <a:pt x="0" y="13192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08" r="0" b="325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452510" cy="1338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3"/>
                </a:lnSpc>
              </a:pPr>
              <a:r>
                <a:rPr lang="en-US" sz="2747" b="true">
                  <a:solidFill>
                    <a:srgbClr val="FFC63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792006" y="5404961"/>
            <a:ext cx="3913956" cy="97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機構重視執行品質，</a:t>
            </a:r>
          </a:p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券商發展演算法服務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813980" y="6602559"/>
            <a:ext cx="3486588" cy="315716"/>
            <a:chOff x="0" y="0"/>
            <a:chExt cx="4648784" cy="4209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48784" cy="420953"/>
            </a:xfrm>
            <a:custGeom>
              <a:avLst/>
              <a:gdLst/>
              <a:ahLst/>
              <a:cxnLst/>
              <a:rect r="r" b="b" t="t" l="l"/>
              <a:pathLst>
                <a:path h="420953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182" r="0" b="-16518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648784" cy="468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美國／韓國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7033565" y="5276802"/>
            <a:ext cx="4476750" cy="67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128" b="true">
                <a:solidFill>
                  <a:srgbClr val="F6F8F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069264" y="6094666"/>
            <a:ext cx="4653363" cy="497695"/>
            <a:chOff x="0" y="0"/>
            <a:chExt cx="6204483" cy="6635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04479" cy="663596"/>
            </a:xfrm>
            <a:custGeom>
              <a:avLst/>
              <a:gdLst/>
              <a:ahLst/>
              <a:cxnLst/>
              <a:rect r="r" b="b" t="t" l="l"/>
              <a:pathLst>
                <a:path h="663596" w="6204479">
                  <a:moveTo>
                    <a:pt x="0" y="0"/>
                  </a:moveTo>
                  <a:lnTo>
                    <a:pt x="6204479" y="0"/>
                  </a:lnTo>
                  <a:lnTo>
                    <a:pt x="6204479" y="663596"/>
                  </a:lnTo>
                  <a:lnTo>
                    <a:pt x="0" y="663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73" r="0" b="-12768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6204483" cy="739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476" b="true">
                  <a:solidFill>
                    <a:srgbClr val="C8D6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法人與外資現貨成交占比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069264" y="6630010"/>
            <a:ext cx="4694539" cy="370618"/>
            <a:chOff x="0" y="0"/>
            <a:chExt cx="6259386" cy="4941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59386" cy="494162"/>
            </a:xfrm>
            <a:custGeom>
              <a:avLst/>
              <a:gdLst/>
              <a:ahLst/>
              <a:cxnLst/>
              <a:rect r="r" b="b" t="t" l="l"/>
              <a:pathLst>
                <a:path h="494162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10" r="0" b="-19680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259386" cy="541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168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大型法人有最佳執行要求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24608" y="5298519"/>
            <a:ext cx="5504412" cy="1757020"/>
            <a:chOff x="0" y="0"/>
            <a:chExt cx="7339216" cy="234269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39203" cy="2342642"/>
            </a:xfrm>
            <a:custGeom>
              <a:avLst/>
              <a:gdLst/>
              <a:ahLst/>
              <a:cxnLst/>
              <a:rect r="r" b="b" t="t" l="l"/>
              <a:pathLst>
                <a:path h="2342642" w="7339203">
                  <a:moveTo>
                    <a:pt x="0" y="0"/>
                  </a:moveTo>
                  <a:lnTo>
                    <a:pt x="7339203" y="0"/>
                  </a:lnTo>
                  <a:lnTo>
                    <a:pt x="7339203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10293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038333" y="5518147"/>
            <a:ext cx="49416" cy="1207951"/>
            <a:chOff x="0" y="0"/>
            <a:chExt cx="65888" cy="16106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913" cy="1610614"/>
            </a:xfrm>
            <a:custGeom>
              <a:avLst/>
              <a:gdLst/>
              <a:ahLst/>
              <a:cxnLst/>
              <a:rect r="r" b="b" t="t" l="l"/>
              <a:pathLst>
                <a:path h="1610614" w="65913">
                  <a:moveTo>
                    <a:pt x="0" y="0"/>
                  </a:moveTo>
                  <a:lnTo>
                    <a:pt x="65913" y="0"/>
                  </a:lnTo>
                  <a:lnTo>
                    <a:pt x="65913" y="1610614"/>
                  </a:lnTo>
                  <a:lnTo>
                    <a:pt x="0" y="1610614"/>
                  </a:lnTo>
                  <a:close/>
                </a:path>
              </a:pathLst>
            </a:custGeom>
            <a:solidFill>
              <a:srgbClr val="FFC63D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318359" y="5344735"/>
            <a:ext cx="5053279" cy="120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具法人客群就值得做</a:t>
            </a:r>
          </a:p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優先發展拆單與成本控制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312872" y="6604797"/>
            <a:ext cx="5023980" cy="409556"/>
            <a:chOff x="0" y="0"/>
            <a:chExt cx="6698640" cy="5460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98642" cy="546077"/>
            </a:xfrm>
            <a:custGeom>
              <a:avLst/>
              <a:gdLst/>
              <a:ahLst/>
              <a:cxnLst/>
              <a:rect r="r" b="b" t="t" l="l"/>
              <a:pathLst>
                <a:path h="546077" w="6698642">
                  <a:moveTo>
                    <a:pt x="0" y="0"/>
                  </a:moveTo>
                  <a:lnTo>
                    <a:pt x="6698642" y="0"/>
                  </a:lnTo>
                  <a:lnTo>
                    <a:pt x="6698642" y="546077"/>
                  </a:lnTo>
                  <a:lnTo>
                    <a:pt x="0" y="546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125" r="0" b="-18091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698640" cy="59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擴大投資條件</a:t>
              </a: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：法人實際採用與執行成效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1059" y="7117309"/>
            <a:ext cx="16664245" cy="12354"/>
            <a:chOff x="0" y="0"/>
            <a:chExt cx="22218993" cy="1647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219031" cy="16510"/>
            </a:xfrm>
            <a:custGeom>
              <a:avLst/>
              <a:gdLst/>
              <a:ahLst/>
              <a:cxnLst/>
              <a:rect r="r" b="b" t="t" l="l"/>
              <a:pathLst>
                <a:path h="16510" w="22219031">
                  <a:moveTo>
                    <a:pt x="0" y="0"/>
                  </a:moveTo>
                  <a:lnTo>
                    <a:pt x="22219031" y="0"/>
                  </a:lnTo>
                  <a:lnTo>
                    <a:pt x="22219031" y="16510"/>
                  </a:lnTo>
                  <a:lnTo>
                    <a:pt x="0" y="16510"/>
                  </a:lnTo>
                  <a:close/>
                </a:path>
              </a:pathLst>
            </a:custGeom>
            <a:solidFill>
              <a:srgbClr val="28516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78510" y="7659510"/>
            <a:ext cx="1839382" cy="617706"/>
            <a:chOff x="0" y="0"/>
            <a:chExt cx="2452510" cy="8236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52508" cy="823603"/>
            </a:xfrm>
            <a:custGeom>
              <a:avLst/>
              <a:gdLst/>
              <a:ahLst/>
              <a:cxnLst/>
              <a:rect r="r" b="b" t="t" l="l"/>
              <a:pathLst>
                <a:path h="823603" w="2452508">
                  <a:moveTo>
                    <a:pt x="0" y="0"/>
                  </a:moveTo>
                  <a:lnTo>
                    <a:pt x="2452508" y="0"/>
                  </a:lnTo>
                  <a:lnTo>
                    <a:pt x="245250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21" r="0" b="-802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2452510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3"/>
                </a:lnSpc>
              </a:pPr>
              <a:r>
                <a:rPr lang="en-US" sz="2747" b="true">
                  <a:solidFill>
                    <a:srgbClr val="FFC63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2792006" y="7244344"/>
            <a:ext cx="3913956" cy="97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速度競爭加劇，</a:t>
            </a:r>
          </a:p>
          <a:p>
            <a:pPr algn="l">
              <a:lnSpc>
                <a:spcPts val="3195"/>
              </a:lnSpc>
            </a:pPr>
            <a:r>
              <a:rPr lang="en-US" sz="2356">
                <a:solidFill>
                  <a:srgbClr val="F6F8FA"/>
                </a:solidFill>
                <a:latin typeface="Calibri (MS)"/>
                <a:ea typeface="Calibri (MS)"/>
                <a:cs typeface="Calibri (MS)"/>
                <a:sym typeface="Calibri (MS)"/>
              </a:rPr>
              <a:t>低交易成本支持高速策略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2813980" y="8441931"/>
            <a:ext cx="3486588" cy="315716"/>
            <a:chOff x="0" y="0"/>
            <a:chExt cx="4648784" cy="42095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48784" cy="420953"/>
            </a:xfrm>
            <a:custGeom>
              <a:avLst/>
              <a:gdLst/>
              <a:ahLst/>
              <a:cxnLst/>
              <a:rect r="r" b="b" t="t" l="l"/>
              <a:pathLst>
                <a:path h="420953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182" r="0" b="-1651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4648784" cy="468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美國／韓國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7033565" y="7116185"/>
            <a:ext cx="4476750" cy="67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128" b="true">
                <a:solidFill>
                  <a:srgbClr val="F6F8F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87%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7069264" y="7934049"/>
            <a:ext cx="4653363" cy="497695"/>
            <a:chOff x="0" y="0"/>
            <a:chExt cx="6204483" cy="66359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204479" cy="663596"/>
            </a:xfrm>
            <a:custGeom>
              <a:avLst/>
              <a:gdLst/>
              <a:ahLst/>
              <a:cxnLst/>
              <a:rect r="r" b="b" t="t" l="l"/>
              <a:pathLst>
                <a:path h="663596" w="6204479">
                  <a:moveTo>
                    <a:pt x="0" y="0"/>
                  </a:moveTo>
                  <a:lnTo>
                    <a:pt x="6204479" y="0"/>
                  </a:lnTo>
                  <a:lnTo>
                    <a:pt x="6204479" y="663596"/>
                  </a:lnTo>
                  <a:lnTo>
                    <a:pt x="0" y="663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73" r="0" b="-12768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6204483" cy="739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476" b="true">
                  <a:solidFill>
                    <a:srgbClr val="C8D6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演算法輔助委託占比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069264" y="8469392"/>
            <a:ext cx="4694539" cy="370618"/>
            <a:chOff x="0" y="0"/>
            <a:chExt cx="6259386" cy="49415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259386" cy="494162"/>
            </a:xfrm>
            <a:custGeom>
              <a:avLst/>
              <a:gdLst/>
              <a:ahLst/>
              <a:cxnLst/>
              <a:rect r="r" b="b" t="t" l="l"/>
              <a:pathLst>
                <a:path h="494162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494162"/>
                  </a:lnTo>
                  <a:lnTo>
                    <a:pt x="0" y="494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810" r="0" b="-19680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259386" cy="541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1681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外資／自營商自身委託亦逾85%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024608" y="7137892"/>
            <a:ext cx="5504412" cy="1757020"/>
            <a:chOff x="0" y="0"/>
            <a:chExt cx="7339216" cy="234269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39203" cy="2342642"/>
            </a:xfrm>
            <a:custGeom>
              <a:avLst/>
              <a:gdLst/>
              <a:ahLst/>
              <a:cxnLst/>
              <a:rect r="r" b="b" t="t" l="l"/>
              <a:pathLst>
                <a:path h="2342642" w="7339203">
                  <a:moveTo>
                    <a:pt x="0" y="0"/>
                  </a:moveTo>
                  <a:lnTo>
                    <a:pt x="7339203" y="0"/>
                  </a:lnTo>
                  <a:lnTo>
                    <a:pt x="7339203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10293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038333" y="7357520"/>
            <a:ext cx="49416" cy="1207951"/>
            <a:chOff x="0" y="0"/>
            <a:chExt cx="65888" cy="161060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5913" cy="1610614"/>
            </a:xfrm>
            <a:custGeom>
              <a:avLst/>
              <a:gdLst/>
              <a:ahLst/>
              <a:cxnLst/>
              <a:rect r="r" b="b" t="t" l="l"/>
              <a:pathLst>
                <a:path h="1610614" w="65913">
                  <a:moveTo>
                    <a:pt x="0" y="0"/>
                  </a:moveTo>
                  <a:lnTo>
                    <a:pt x="65913" y="0"/>
                  </a:lnTo>
                  <a:lnTo>
                    <a:pt x="65913" y="1610614"/>
                  </a:lnTo>
                  <a:lnTo>
                    <a:pt x="0" y="1610614"/>
                  </a:lnTo>
                  <a:close/>
                </a:path>
              </a:pathLst>
            </a:custGeom>
            <a:solidFill>
              <a:srgbClr val="FFC63D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2318359" y="7184117"/>
            <a:ext cx="5053279" cy="120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不建議全面建置</a:t>
            </a:r>
          </a:p>
          <a:p>
            <a:pPr algn="l">
              <a:lnSpc>
                <a:spcPts val="3761"/>
              </a:lnSpc>
            </a:pPr>
            <a:r>
              <a:rPr lang="en-US" sz="2702" b="true">
                <a:solidFill>
                  <a:srgbClr val="FFC6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優先鎖定衍生品專業客戶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2312872" y="8415604"/>
            <a:ext cx="5023980" cy="438131"/>
            <a:chOff x="0" y="0"/>
            <a:chExt cx="6698640" cy="58417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698642" cy="584177"/>
            </a:xfrm>
            <a:custGeom>
              <a:avLst/>
              <a:gdLst/>
              <a:ahLst/>
              <a:cxnLst/>
              <a:rect r="r" b="b" t="t" l="l"/>
              <a:pathLst>
                <a:path h="584177" w="6698642">
                  <a:moveTo>
                    <a:pt x="0" y="0"/>
                  </a:moveTo>
                  <a:lnTo>
                    <a:pt x="6698642" y="0"/>
                  </a:lnTo>
                  <a:lnTo>
                    <a:pt x="6698642" y="584177"/>
                  </a:lnTo>
                  <a:lnTo>
                    <a:pt x="0" y="5841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268" r="0" b="-16259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6698640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擴大投資條件</a:t>
              </a:r>
              <a:r>
                <a:rPr lang="en-US" sz="1651">
                  <a:solidFill>
                    <a:srgbClr val="C8D6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：客戶需求能否支持建置成本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3608" y="9169451"/>
            <a:ext cx="16691696" cy="24708"/>
            <a:chOff x="0" y="0"/>
            <a:chExt cx="22255594" cy="3294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255607" cy="32893"/>
            </a:xfrm>
            <a:custGeom>
              <a:avLst/>
              <a:gdLst/>
              <a:ahLst/>
              <a:cxnLst/>
              <a:rect r="r" b="b" t="t" l="l"/>
              <a:pathLst>
                <a:path h="32893" w="22255607">
                  <a:moveTo>
                    <a:pt x="0" y="0"/>
                  </a:moveTo>
                  <a:lnTo>
                    <a:pt x="22255607" y="0"/>
                  </a:lnTo>
                  <a:lnTo>
                    <a:pt x="22255607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19A8BC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78510" y="9279265"/>
            <a:ext cx="16554431" cy="393292"/>
            <a:chOff x="0" y="0"/>
            <a:chExt cx="22072575" cy="52438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072572" cy="524394"/>
            </a:xfrm>
            <a:custGeom>
              <a:avLst/>
              <a:gdLst/>
              <a:ahLst/>
              <a:cxnLst/>
              <a:rect r="r" b="b" t="t" l="l"/>
              <a:pathLst>
                <a:path h="524394" w="22072572">
                  <a:moveTo>
                    <a:pt x="0" y="0"/>
                  </a:moveTo>
                  <a:lnTo>
                    <a:pt x="22072572" y="0"/>
                  </a:lnTo>
                  <a:lnTo>
                    <a:pt x="22072572" y="524394"/>
                  </a:lnTo>
                  <a:lnTo>
                    <a:pt x="0" y="524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3039" r="0" b="-76727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66675"/>
              <a:ext cx="22072575" cy="591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1951" b="true">
                  <a:solidFill>
                    <a:srgbClr val="F6F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投資判斷是方向，不是預算核准；擴大投資仍要靠實際交易與客戶採用來驗證。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78510" y="9680086"/>
            <a:ext cx="16609333" cy="274539"/>
            <a:chOff x="0" y="0"/>
            <a:chExt cx="22145777" cy="3660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145782" cy="366046"/>
            </a:xfrm>
            <a:custGeom>
              <a:avLst/>
              <a:gdLst/>
              <a:ahLst/>
              <a:cxnLst/>
              <a:rect r="r" b="b" t="t" l="l"/>
              <a:pathLst>
                <a:path h="366046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8843" r="0" b="-112884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22145777" cy="41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7"/>
                </a:lnSpc>
              </a:pPr>
              <a:r>
                <a:rPr lang="en-US" sz="1336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資料：XQ 合作串接券商數；期交所 2024 年《演算法輔助交易於我國期貨市場運用之現況分析》。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78510" y="9968341"/>
            <a:ext cx="16609333" cy="274539"/>
            <a:chOff x="0" y="0"/>
            <a:chExt cx="22145777" cy="3660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145782" cy="366046"/>
            </a:xfrm>
            <a:custGeom>
              <a:avLst/>
              <a:gdLst/>
              <a:ahLst/>
              <a:cxnLst/>
              <a:rect r="r" b="b" t="t" l="l"/>
              <a:pathLst>
                <a:path h="366046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8843" r="0" b="-112884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2145777" cy="41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7"/>
                </a:lnSpc>
              </a:pPr>
              <a:r>
                <a:rPr lang="en-US" sz="1336">
                  <a:solidFill>
                    <a:srgbClr val="91A6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註：87% 為演算法輔助「委託」占比，並非 HFT 成交占比；同期演算法輔助「成交」占比約 3.5%。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