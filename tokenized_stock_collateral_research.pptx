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開場：這份研究不把重點放在「什麼是槓桿」，而是放在槓桿市場背後的 collateral architecture。
主管關心的是代幣化股票作為永續合約抵押品會不會成為風潮；我的答案是：作為功能很可能會，但作為核心抵押品還太早。真正的風潮是 multi-asset collateral。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這頁先把結論講清楚：我不建議把報告下成「股票抵押一定取代 USDT」，這太強。
比較成熟的表述是：大型平台會把 tokenized stock 納入可抵押資產池；而核心趨勢是把更多資產變成可估值、可折價、可清算的 margin。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這頁的目的只有一個：為什麼我們不從現貨市場看，而是從 perpetual 和 collateral 看。
Perp 成交量是現貨的 6.5 倍，而且低迷時下降幅度較小，代表槓桿交易是平台獲利與用戶活躍的核心。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這頁把股票放在一條演進線上：從穩定幣，到 crypto asset，到 Treasury，再到 stock。
重點是 productive collateral。過去抵押品只是保證金；現在 BUIDL 可以一邊賺收益，一邊當保證金；股票則進一步讓持有部位本身支撐其他槓桿部位。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這頁證明「為什麼是現在」。第一，tokenized stock 本身有規模；第二，crypto venue 上 TradFi perpetual 的成交量與 OI 正在上升。
也就是說，產品供給和交易需求同時成熟，才會讓股票作為 collateral 變得有意義。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這頁只比較最乾淨的三個案例。Kraken 的優點是 haircut 最透明，Bitget 代表 CEX 的 UTA 結構，Ondo 代表把股票 collateral 跟 equity perps liquidity 結合。
這些案例顯示，這不是 Ondo 單一平台的故事，而是多家交易平台同步複製的功能。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這頁是第二輪研究的核心突破：現在至少能確認 Ondo 端有接近 2,000 萬美元的 Ondo Stocks 實際作為 collateral。
但我們也要避免過度解讀：它不能證明所有平台都有大量使用，也不能直接證明成交量成長是 collateral feature 造成的。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這頁回答「為什麼股票不會直接取代穩定幣」。最強的限制是交易時間 mismatch：crypto 週末仍交易，但美股抵押品價格可能固定，週一重新開盤才反映 gap。
haircut 也很有說服力：Treasury-like collateral 只有約 2% haircut，SPY/QQQ 10%，NVDA 20%，MSTR 30%。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最後要用兩層結論回答主管。第一，作為交易所功能，它很可能變成標配，因為供給端已經開始複製。
第二，作為主要抵押品，目前證據不支持，因為 stablecoin 和 tokenized Treasury 的抵押品質明顯更好。
更大的趨勢是 Universal Exchange：所有資產被放進同一個 collateral pool。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這一頁保留所有資料來源，方便後續把簡報交給主管或回查數字。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8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20"/>
          </a:solidFill>
          <a:ln w="12700">
            <a:solidFill>
              <a:srgbClr val="08112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20"/>
          </a:solidFill>
          <a:ln w="12700">
            <a:solidFill>
              <a:srgbClr val="08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73152"/>
            <a:ext cx="960120" cy="54864"/>
          </a:xfrm>
          <a:prstGeom prst="rect">
            <a:avLst/>
          </a:prstGeom>
          <a:solidFill>
            <a:srgbClr val="60A5FA">
              <a:alpha val="65000"/>
            </a:srgbClr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6473952"/>
            <a:ext cx="960120" cy="54864"/>
          </a:xfrm>
          <a:prstGeom prst="rect">
            <a:avLst/>
          </a:prstGeom>
          <a:solidFill>
            <a:srgbClr val="2DD4BF">
              <a:alpha val="55000"/>
            </a:srgbClr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9601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Tokenized Stock Collateral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536192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虛擬貨幣槓桿市場的新風潮？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94944" y="2770632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結論先行：風潮不是「拿股票買永續」本身，而是 crypto exchange 正在走向 Multi‑Asset Collateral / Universal Exchange。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001000" y="3611880"/>
            <a:ext cx="621792" cy="621792"/>
          </a:xfrm>
          <a:prstGeom prst="ellipse">
            <a:avLst/>
          </a:prstGeom>
          <a:solidFill>
            <a:srgbClr val="22C55E">
              <a:alpha val="95000"/>
            </a:srgbClr>
          </a:solidFill>
          <a:ln>
            <a:solidFill>
              <a:srgbClr val="22C55E">
                <a:alpha val="9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11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USDT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8641080" y="3922776"/>
            <a:ext cx="73152" cy="292608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8732520" y="3758184"/>
            <a:ext cx="621792" cy="621792"/>
          </a:xfrm>
          <a:prstGeom prst="ellipse">
            <a:avLst/>
          </a:prstGeom>
          <a:solidFill>
            <a:srgbClr val="60A5FA">
              <a:alpha val="95000"/>
            </a:srgbClr>
          </a:solidFill>
          <a:ln>
            <a:solidFill>
              <a:srgbClr val="60A5FA">
                <a:alpha val="9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11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BTC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9372600" y="4069080"/>
            <a:ext cx="73152" cy="292608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464040" y="3904488"/>
            <a:ext cx="621792" cy="621792"/>
          </a:xfrm>
          <a:prstGeom prst="ellipse">
            <a:avLst/>
          </a:prstGeom>
          <a:solidFill>
            <a:srgbClr val="2DD4BF">
              <a:alpha val="95000"/>
            </a:srgbClr>
          </a:solidFill>
          <a:ln>
            <a:solidFill>
              <a:srgbClr val="2DD4BF">
                <a:alpha val="9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11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BUIDL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0104120" y="4215384"/>
            <a:ext cx="73152" cy="292608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0195560" y="4050792"/>
            <a:ext cx="621792" cy="621792"/>
          </a:xfrm>
          <a:prstGeom prst="ellipse">
            <a:avLst/>
          </a:prstGeom>
          <a:solidFill>
            <a:srgbClr val="A78BFA">
              <a:alpha val="95000"/>
            </a:srgbClr>
          </a:solidFill>
          <a:ln>
            <a:solidFill>
              <a:srgbClr val="A78BFA">
                <a:alpha val="9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11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SPYx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0835640" y="4361688"/>
            <a:ext cx="73152" cy="292608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0927080" y="4197096"/>
            <a:ext cx="621792" cy="621792"/>
          </a:xfrm>
          <a:prstGeom prst="ellipse">
            <a:avLst/>
          </a:prstGeom>
          <a:solidFill>
            <a:srgbClr val="F59E0B">
              <a:alpha val="95000"/>
            </a:srgbClr>
          </a:solidFill>
          <a:ln>
            <a:solidFill>
              <a:srgbClr val="F59E0B">
                <a:alpha val="9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112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PERP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7589520" y="50749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Stablecoin → Crypto → Treasury → Stocks → Perps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4944" y="608076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2026/08/27｜研究簡報草案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20"/>
          </a:solidFill>
          <a:ln w="12700">
            <a:solidFill>
              <a:srgbClr val="08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73152"/>
            <a:ext cx="960120" cy="54864"/>
          </a:xfrm>
          <a:prstGeom prst="rect">
            <a:avLst/>
          </a:prstGeom>
          <a:solidFill>
            <a:srgbClr val="60A5FA">
              <a:alpha val="65000"/>
            </a:srgbClr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6473952"/>
            <a:ext cx="960120" cy="54864"/>
          </a:xfrm>
          <a:prstGeom prst="rect">
            <a:avLst/>
          </a:prstGeom>
          <a:solidFill>
            <a:srgbClr val="2DD4BF">
              <a:alpha val="55000"/>
            </a:srgbClr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84048"/>
            <a:ext cx="10332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研究問題與結論：不是單點產品，而是抵押品架構轉變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8503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主管問題：代幣化股票抵押購買永續合約，會不會成為風潮？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143000"/>
            <a:ext cx="110642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173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核心判斷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1783080"/>
            <a:ext cx="649224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Tokenized Stocks 會成為大型交易所的標準 collateral option；但更可能是補充性 cross‑asset collateral，而非取代 stablecoin / tokenized treasury。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" y="322783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2C5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高機率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777240" y="3648456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交易所功能風潮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777240" y="3904488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Kraken / Bitget / Ondo 已複製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617720" y="322783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9E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尚未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4617720" y="3648456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主要抵押品地位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617720" y="3904488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受交易時間、清算、法律限制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8458200" y="322783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2D3E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Multi‑Asset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8458200" y="3648456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真正長期趨勢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8458200" y="3904488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所有可估值資產進入 margin pool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1005840" y="4983480"/>
            <a:ext cx="102412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26694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研究主軸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14600" y="5166360"/>
            <a:ext cx="850392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RQ1  Crypto leverage market 的 collateral architecture 如何演進？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RQ2  為什麼交易所開始允許 tokenized stocks 作為 perp collateral？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RQ3  這是短期產品競爭，還是長期 multi‑asset collateral 的市場結構？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548640" y="6510528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Sources: CoinGecko, Kraken, Bitget, Ondo, OKX, SEC; desk research as of 2026/08/27.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20"/>
          </a:solidFill>
          <a:ln w="12700">
            <a:solidFill>
              <a:srgbClr val="08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73152"/>
            <a:ext cx="960120" cy="54864"/>
          </a:xfrm>
          <a:prstGeom prst="rect">
            <a:avLst/>
          </a:prstGeom>
          <a:solidFill>
            <a:srgbClr val="60A5FA">
              <a:alpha val="65000"/>
            </a:srgbClr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6473952"/>
            <a:ext cx="960120" cy="54864"/>
          </a:xfrm>
          <a:prstGeom prst="rect">
            <a:avLst/>
          </a:prstGeom>
          <a:solidFill>
            <a:srgbClr val="2DD4BF">
              <a:alpha val="55000"/>
            </a:srgbClr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84048"/>
            <a:ext cx="10332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Perpetual Futures 已是 Crypto 槓桿市場核心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8503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因此「哪些資產能支持槓桿部位」會成為交易所競爭點。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143000"/>
            <a:ext cx="110642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2026 Q2 Top CEX Volume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187452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Spot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68680" y="2103120"/>
            <a:ext cx="870480" cy="5029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20574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$1.95T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301752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Perpetual Futures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68680" y="3246120"/>
            <a:ext cx="5669280" cy="5029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32004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$12.7T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092440" y="1956816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DD4B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6.5×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8156448" y="27889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Perp / Spot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成交量倍數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590288"/>
            <a:ext cx="104241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9103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市場下跌時，Perp 更有韌性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440680" y="478231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B71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−27.9%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5440680" y="52029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Q2 Spot QoQ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5440680" y="5458968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成交量下滑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8275320" y="478231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9E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−10.0%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8275320" y="52029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Q2 Perp QoQ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8275320" y="5458968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下滑幅度較小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48640" y="6510528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Source: CoinGecko 2026 Q2 Crypto Industry Report; CoinGecko article lines: perp CEX volume $12.7T; spot CEX volume $1.95T.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20"/>
          </a:solidFill>
          <a:ln w="12700">
            <a:solidFill>
              <a:srgbClr val="08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73152"/>
            <a:ext cx="960120" cy="54864"/>
          </a:xfrm>
          <a:prstGeom prst="rect">
            <a:avLst/>
          </a:prstGeom>
          <a:solidFill>
            <a:srgbClr val="60A5FA">
              <a:alpha val="65000"/>
            </a:srgbClr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6473952"/>
            <a:ext cx="960120" cy="54864"/>
          </a:xfrm>
          <a:prstGeom prst="rect">
            <a:avLst/>
          </a:prstGeom>
          <a:solidFill>
            <a:srgbClr val="2DD4BF">
              <a:alpha val="55000"/>
            </a:srgbClr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84048"/>
            <a:ext cx="10332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Collateral Evolution：從「現金保證金」走向「productive collateral」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8503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Tokenized stock collateral 不是突然出現；它是 collateral universe 持續擴張的下一步。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143000"/>
            <a:ext cx="110642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965960"/>
            <a:ext cx="1737360" cy="960120"/>
          </a:xfrm>
          <a:prstGeom prst="roundRect">
            <a:avLst>
              <a:gd name="adj" fmla="val 5714"/>
            </a:avLst>
          </a:prstGeom>
          <a:solidFill>
            <a:srgbClr val="22C55E">
              <a:alpha val="93000"/>
            </a:srgbClr>
          </a:solidFill>
          <a:ln w="15240">
            <a:solidFill>
              <a:srgbClr val="22C55E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Stablecoin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USDT / USDC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43200" y="1965960"/>
            <a:ext cx="1737360" cy="960120"/>
          </a:xfrm>
          <a:prstGeom prst="roundRect">
            <a:avLst>
              <a:gd name="adj" fmla="val 5714"/>
            </a:avLst>
          </a:prstGeom>
          <a:solidFill>
            <a:srgbClr val="60A5FA">
              <a:alpha val="93000"/>
            </a:srgbClr>
          </a:solidFill>
          <a:ln w="15240">
            <a:solidFill>
              <a:srgbClr val="60A5FA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Crypto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BTC / ETH / SOL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800600" y="1965960"/>
            <a:ext cx="1737360" cy="960120"/>
          </a:xfrm>
          <a:prstGeom prst="roundRect">
            <a:avLst>
              <a:gd name="adj" fmla="val 5714"/>
            </a:avLst>
          </a:prstGeom>
          <a:solidFill>
            <a:srgbClr val="A78BFA">
              <a:alpha val="93000"/>
            </a:srgbClr>
          </a:solidFill>
          <a:ln w="15240">
            <a:solidFill>
              <a:srgbClr val="A78BFA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Unified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跨資產 margin pool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58000" y="1965960"/>
            <a:ext cx="1737360" cy="960120"/>
          </a:xfrm>
          <a:prstGeom prst="roundRect">
            <a:avLst>
              <a:gd name="adj" fmla="val 5714"/>
            </a:avLst>
          </a:prstGeom>
          <a:solidFill>
            <a:srgbClr val="2DD4BF">
              <a:alpha val="93000"/>
            </a:srgbClr>
          </a:solidFill>
          <a:ln w="15240">
            <a:solidFill>
              <a:srgbClr val="2DD4BF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Treasury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BUIDL / USYC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915400" y="1965960"/>
            <a:ext cx="1737360" cy="960120"/>
          </a:xfrm>
          <a:prstGeom prst="roundRect">
            <a:avLst>
              <a:gd name="adj" fmla="val 5714"/>
            </a:avLst>
          </a:prstGeom>
          <a:solidFill>
            <a:srgbClr val="F59E0B">
              <a:alpha val="93000"/>
            </a:srgbClr>
          </a:solidFill>
          <a:ln w="15240">
            <a:solidFill>
              <a:srgbClr val="F59E0B">
                <a:alpha val="82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Stock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SPYx / NVDAx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441448" y="2441448"/>
            <a:ext cx="256032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498848" y="2441448"/>
            <a:ext cx="256032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556248" y="2441448"/>
            <a:ext cx="256032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613648" y="2441448"/>
            <a:ext cx="256032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914400" y="3657600"/>
            <a:ext cx="10332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變化的本質：Idle asset 不再只是放著，而是能被折價計入 margin。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143000" y="4617720"/>
            <a:ext cx="4480560" cy="1005840"/>
          </a:xfrm>
          <a:prstGeom prst="roundRect">
            <a:avLst>
              <a:gd name="adj" fmla="val 7273"/>
            </a:avLst>
          </a:prstGeom>
          <a:solidFill>
            <a:srgbClr val="152238">
              <a:alpha val="94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479145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D4B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Tokenized Treasury 已先行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371600" y="5093208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OKX + BlackRock + Standard Chartered：BUIDL 可作 yield‑bearing trading collateral。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92240" y="4617720"/>
            <a:ext cx="4480560" cy="1005840"/>
          </a:xfrm>
          <a:prstGeom prst="roundRect">
            <a:avLst>
              <a:gd name="adj" fmla="val 7273"/>
            </a:avLst>
          </a:prstGeom>
          <a:solidFill>
            <a:srgbClr val="152238">
              <a:alpha val="94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479145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9E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股票是更激進的一步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720840" y="5093208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價值來自「持有股票 exposure」同時釋放 collateral value，但風險也更高。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6510528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Sources: OKX / Standard Chartered / BlackRock BUIDL collateral framework; Deribit cross-collateral specs; Ondo tokenized stock collateral paper.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20"/>
          </a:solidFill>
          <a:ln w="12700">
            <a:solidFill>
              <a:srgbClr val="08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73152"/>
            <a:ext cx="960120" cy="54864"/>
          </a:xfrm>
          <a:prstGeom prst="rect">
            <a:avLst/>
          </a:prstGeom>
          <a:solidFill>
            <a:srgbClr val="60A5FA">
              <a:alpha val="65000"/>
            </a:srgbClr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6473952"/>
            <a:ext cx="960120" cy="54864"/>
          </a:xfrm>
          <a:prstGeom prst="rect">
            <a:avLst/>
          </a:prstGeom>
          <a:solidFill>
            <a:srgbClr val="2DD4BF">
              <a:alpha val="55000"/>
            </a:srgbClr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84048"/>
            <a:ext cx="10332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Why Now：代幣化股票與 TradFi Perp 需求同時成熟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8503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供給端有 tokenized stock，需求端有股票/TradFi perpetual；兩條線在 2026 年交會。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143000"/>
            <a:ext cx="110642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276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DD4B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$2.38B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85800" y="204825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Tokenized stock distributed value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685800" y="2304288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RWA.xyz data via CoinMarketCap, Aug 2026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26280" y="16276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60A5F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1.31M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4526280" y="204825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Tokenized stock holders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4526280" y="2304288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30 天內翻倍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8366760" y="16276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2C5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$23.13B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8366760" y="204825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Monthly transfer volume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8366760" y="2304288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+179% MoM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731520" y="3154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Crypto venues 上的 TradFi exposure 需求也在爆發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280160" y="5063661"/>
            <a:ext cx="1097280" cy="468459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743621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$1.45T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0120" y="56784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H1 TradFi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trading volume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86200" y="4023360"/>
            <a:ext cx="1097280" cy="15087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37033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$4.67B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566160" y="56784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TradFi perp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open interest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92240" y="4882739"/>
            <a:ext cx="1097280" cy="649381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4562699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$2.01B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72200" y="56784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U.S. stock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perp OI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68680" y="5532120"/>
            <a:ext cx="77724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608076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解讀：股票不是只有被 tokenized；股票/ETF 的槓桿交易也開始在 crypto venue 上形成真實需求。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6510528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Sources: CoinMarketCap/RWA.xyz tokenized stock data, Aug 2026; CoinGecko Exchanges Reshaping Traditional Asset Trading Report 2026.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20"/>
          </a:solidFill>
          <a:ln w="12700">
            <a:solidFill>
              <a:srgbClr val="08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73152"/>
            <a:ext cx="960120" cy="54864"/>
          </a:xfrm>
          <a:prstGeom prst="rect">
            <a:avLst/>
          </a:prstGeom>
          <a:solidFill>
            <a:srgbClr val="60A5FA">
              <a:alpha val="65000"/>
            </a:srgbClr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6473952"/>
            <a:ext cx="960120" cy="54864"/>
          </a:xfrm>
          <a:prstGeom prst="rect">
            <a:avLst/>
          </a:prstGeom>
          <a:solidFill>
            <a:srgbClr val="2DD4BF">
              <a:alpha val="55000"/>
            </a:srgbClr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84048"/>
            <a:ext cx="10332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Market Cases：交易所開始複製股票抵押功能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8503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重點不是單一新聞，而是多平台同時把股票納入 margin / collateral workflow。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143000"/>
            <a:ext cx="110642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平台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0" y="1508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用在哪裡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20640" y="1508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資產範圍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0" y="1508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風控訊號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1892808"/>
            <a:ext cx="108813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Kraken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468880" y="2194560"/>
            <a:ext cx="25146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Futures + Margin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120640" y="2194560"/>
            <a:ext cx="25146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 種 xStocks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72400" y="2194560"/>
            <a:ext cx="36118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10–30% haircut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ETF 最低、波動股最高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072384"/>
            <a:ext cx="1088136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3649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Bitget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468880" y="3364992"/>
            <a:ext cx="25146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UTA + USDT‑M Futures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120640" y="3364992"/>
            <a:ext cx="25146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15 種啟動；後續擴張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772400" y="3364992"/>
            <a:ext cx="36118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up to 95% collateral ratio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且採 tiered ratio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4242816"/>
            <a:ext cx="1088136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5354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Ondo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2468880" y="4535424"/>
            <a:ext cx="25146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Ondo Perps + Lending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120640" y="4535424"/>
            <a:ext cx="25146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SPYon / QQQon 等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772400" y="4535424"/>
            <a:ext cx="36118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Hedge = Collateral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強調 basis trade / liquidity flywheel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22960" y="5742432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共同訊號：平台不只想增加商品，而是想讓使用者把更多資產留在同一個 collateral pool。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8640" y="6510528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Sources: Kraken Blog (xStocks collateral, July 3 2026); Bitget press release (June 4 2026); Ondo Finance blog (July 7 2026).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20"/>
          </a:solidFill>
          <a:ln w="12700">
            <a:solidFill>
              <a:srgbClr val="08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73152"/>
            <a:ext cx="960120" cy="54864"/>
          </a:xfrm>
          <a:prstGeom prst="rect">
            <a:avLst/>
          </a:prstGeom>
          <a:solidFill>
            <a:srgbClr val="60A5FA">
              <a:alpha val="65000"/>
            </a:srgbClr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6473952"/>
            <a:ext cx="960120" cy="54864"/>
          </a:xfrm>
          <a:prstGeom prst="rect">
            <a:avLst/>
          </a:prstGeom>
          <a:solidFill>
            <a:srgbClr val="2DD4BF">
              <a:alpha val="55000"/>
            </a:srgbClr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84048"/>
            <a:ext cx="10332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Demand Validation：已有實際使用，但仍屬早期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8503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最重要的新證據：Ondo 公開表示近 $20M Ondo Stocks 已作為 Ondo Perps productive collateral。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143000"/>
            <a:ext cx="110642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2880360"/>
            <a:ext cx="1005840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2670048"/>
            <a:ext cx="420624" cy="420624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1671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Jul 7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2278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Ondo Perps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Launch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0040" y="375818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tokenized stock collateral as core design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3931920" y="2670048"/>
            <a:ext cx="420624" cy="42062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21671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Jul 21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32278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SPYon / QQQon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Collateral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108960" y="375818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首批 tokenized ETF 作 margin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6903720" y="2670048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21671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Aug 25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32278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~$20M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Actual Collateral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80760" y="375818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backing positions / basis trade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9646920" y="2670048"/>
            <a:ext cx="420624" cy="42062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0" y="21671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Aug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052560" y="32278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&gt;$10B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Cumulative Volume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823960" y="375818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OI &gt;$100M reported by market coverage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960120" y="4709160"/>
            <a:ext cx="10195560" cy="960120"/>
          </a:xfrm>
          <a:prstGeom prst="roundRect">
            <a:avLst>
              <a:gd name="adj" fmla="val 7619"/>
            </a:avLst>
          </a:prstGeom>
          <a:solidFill>
            <a:srgbClr val="152238">
              <a:alpha val="94000"/>
            </a:srgbClr>
          </a:solidFill>
          <a:ln w="12700">
            <a:solidFill>
              <a:srgbClr val="F59E0B">
                <a:alpha val="5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34440" y="48920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嚴謹解讀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514600" y="4864608"/>
            <a:ext cx="8366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這證明「不是只有推出產品」；但公開資料仍不足以識別 collateral 功能對成交量 / OI 的因果效果，也不能推論整個產業已大規模採用。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6510528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Sources: Ondo Finance blog; Ondo/X and market coverage Aug 25–26 2026. $20M is issuer/platform-reported, not audited public utilization data.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20"/>
          </a:solidFill>
          <a:ln w="12700">
            <a:solidFill>
              <a:srgbClr val="08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73152"/>
            <a:ext cx="960120" cy="54864"/>
          </a:xfrm>
          <a:prstGeom prst="rect">
            <a:avLst/>
          </a:prstGeom>
          <a:solidFill>
            <a:srgbClr val="60A5FA">
              <a:alpha val="65000"/>
            </a:srgbClr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6473952"/>
            <a:ext cx="960120" cy="54864"/>
          </a:xfrm>
          <a:prstGeom prst="rect">
            <a:avLst/>
          </a:prstGeom>
          <a:solidFill>
            <a:srgbClr val="2DD4BF">
              <a:alpha val="55000"/>
            </a:srgbClr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84048"/>
            <a:ext cx="10332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Stock Collateral 不是 Cash：四個限制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8503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交易所會接受股票，但會用 haircut、限額與 tiered ratio 管理風險。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143000"/>
            <a:ext cx="110642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60020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152238">
              <a:alpha val="94000"/>
            </a:srgbClr>
          </a:solidFill>
          <a:ln>
            <a:solidFill>
              <a:srgbClr val="FB7185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1. Trading-hours mismatch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Crypto 24/7；美股非 24/7。週末價格固定，週一 gap-down 會使 margin value 急變。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63640" y="160020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152238">
              <a:alpha val="94000"/>
            </a:srgbClr>
          </a:solidFill>
          <a:ln>
            <a:solidFill>
              <a:srgbClr val="F59E0B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2. Volatility / Concentration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ETF haircut 較低；單一股票與高波動股票 haircut 較高。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379476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152238">
              <a:alpha val="94000"/>
            </a:srgbClr>
          </a:solidFill>
          <a:ln>
            <a:solidFill>
              <a:srgbClr val="A78BFA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3. Liquidation complexity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抵押品與永續部位可能同時反向，爆倉風險比 stablecoin margin 複雜。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263640" y="379476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152238">
              <a:alpha val="94000"/>
            </a:srgbClr>
          </a:solidFill>
          <a:ln>
            <a:solidFill>
              <a:srgbClr val="60A5FA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4. Legal wrapper risk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Tokenized stock 的持有人權利取決於 issuer / custody / redemption 架構。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68680" y="55778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Haircut signal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0320" y="549554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BUIDL/USYC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474720" y="5541264"/>
            <a:ext cx="51816" cy="16459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550468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D4B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2%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09160" y="549554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SPYx/QQQx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623560" y="5541264"/>
            <a:ext cx="259080" cy="1645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550468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10%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858000" y="549554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NVDAx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7772400" y="5541264"/>
            <a:ext cx="51816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0" y="550468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20%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006840" y="549554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MSTRx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9921240" y="5541264"/>
            <a:ext cx="777240" cy="16459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44200" y="550468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B71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30%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8640" y="6510528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Sources: Bitget stock token margin rules; Kraken xStocks haircut table; Deribit cross-collateral specs; SEC statement on tokenized securities.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20"/>
          </a:solidFill>
          <a:ln w="12700">
            <a:solidFill>
              <a:srgbClr val="08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73152"/>
            <a:ext cx="960120" cy="54864"/>
          </a:xfrm>
          <a:prstGeom prst="rect">
            <a:avLst/>
          </a:prstGeom>
          <a:solidFill>
            <a:srgbClr val="60A5FA">
              <a:alpha val="65000"/>
            </a:srgbClr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6473952"/>
            <a:ext cx="960120" cy="54864"/>
          </a:xfrm>
          <a:prstGeom prst="rect">
            <a:avLst/>
          </a:prstGeom>
          <a:solidFill>
            <a:srgbClr val="2DD4BF">
              <a:alpha val="55000"/>
            </a:srgbClr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84048"/>
            <a:ext cx="10332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Trend Assessment：會成為風潮，但不是你想的那個風潮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8503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最後答案要拆成「功能風潮」與「核心抵押品」兩個層次。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143000"/>
            <a:ext cx="110642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600200"/>
            <a:ext cx="2331720" cy="566928"/>
          </a:xfrm>
          <a:prstGeom prst="roundRect">
            <a:avLst>
              <a:gd name="adj" fmla="val 8065"/>
            </a:avLst>
          </a:prstGeom>
          <a:solidFill>
            <a:srgbClr val="152238">
              <a:alpha val="93000"/>
            </a:srgbClr>
          </a:solidFill>
          <a:ln>
            <a:solidFill>
              <a:srgbClr val="22C55E">
                <a:alpha val="6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Asset Supply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Strong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0" y="1600200"/>
            <a:ext cx="2331720" cy="566928"/>
          </a:xfrm>
          <a:prstGeom prst="roundRect">
            <a:avLst>
              <a:gd name="adj" fmla="val 8065"/>
            </a:avLst>
          </a:prstGeom>
          <a:solidFill>
            <a:srgbClr val="152238">
              <a:alpha val="93000"/>
            </a:srgbClr>
          </a:solidFill>
          <a:ln>
            <a:solidFill>
              <a:srgbClr val="22C55E">
                <a:alpha val="6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Trading Demand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Strong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46520" y="1600200"/>
            <a:ext cx="2331720" cy="566928"/>
          </a:xfrm>
          <a:prstGeom prst="roundRect">
            <a:avLst>
              <a:gd name="adj" fmla="val 8065"/>
            </a:avLst>
          </a:prstGeom>
          <a:solidFill>
            <a:srgbClr val="152238">
              <a:alpha val="93000"/>
            </a:srgbClr>
          </a:solidFill>
          <a:ln>
            <a:solidFill>
              <a:srgbClr val="22C55E">
                <a:alpha val="6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Product Adoption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Strong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235440" y="1600200"/>
            <a:ext cx="2331720" cy="566928"/>
          </a:xfrm>
          <a:prstGeom prst="roundRect">
            <a:avLst>
              <a:gd name="adj" fmla="val 8065"/>
            </a:avLst>
          </a:prstGeom>
          <a:solidFill>
            <a:srgbClr val="152238">
              <a:alpha val="93000"/>
            </a:srgbClr>
          </a:solidFill>
          <a:ln>
            <a:solidFill>
              <a:srgbClr val="F59E0B">
                <a:alpha val="6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Actual Usage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Emerging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8680" y="2560320"/>
            <a:ext cx="2331720" cy="566928"/>
          </a:xfrm>
          <a:prstGeom prst="roundRect">
            <a:avLst>
              <a:gd name="adj" fmla="val 8065"/>
            </a:avLst>
          </a:prstGeom>
          <a:solidFill>
            <a:srgbClr val="152238">
              <a:alpha val="93000"/>
            </a:srgbClr>
          </a:solidFill>
          <a:ln>
            <a:solidFill>
              <a:srgbClr val="2DD4BF">
                <a:alpha val="6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Infrastructure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Emerging+ 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0" y="2560320"/>
            <a:ext cx="2331720" cy="566928"/>
          </a:xfrm>
          <a:prstGeom prst="roundRect">
            <a:avLst>
              <a:gd name="adj" fmla="val 8065"/>
            </a:avLst>
          </a:prstGeom>
          <a:solidFill>
            <a:srgbClr val="152238">
              <a:alpha val="93000"/>
            </a:srgbClr>
          </a:solidFill>
          <a:ln>
            <a:solidFill>
              <a:srgbClr val="FB7185">
                <a:alpha val="6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Liquidity / Liquidation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Constraint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46520" y="2560320"/>
            <a:ext cx="2331720" cy="566928"/>
          </a:xfrm>
          <a:prstGeom prst="roundRect">
            <a:avLst>
              <a:gd name="adj" fmla="val 8065"/>
            </a:avLst>
          </a:prstGeom>
          <a:solidFill>
            <a:srgbClr val="152238">
              <a:alpha val="93000"/>
            </a:srgbClr>
          </a:solidFill>
          <a:ln>
            <a:solidFill>
              <a:srgbClr val="F59E0B">
                <a:alpha val="6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Regulation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Emerging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68680" y="3657600"/>
            <a:ext cx="105156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9776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建議對主管的結論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4389120"/>
            <a:ext cx="1042416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「Tokenized stock collateral 很可能成為大型 crypto trading platform 的標準功能；但其角色更可能是補充性 cross‑asset collateral。真正的長期趨勢是：交易所把所有可估值、可折價、可清算的資產納入同一個 margin pool。」</a:t>
            </a:r>
            <a:endParaRPr lang="en-US" sz="2050" dirty="0"/>
          </a:p>
        </p:txBody>
      </p:sp>
      <p:sp>
        <p:nvSpPr>
          <p:cNvPr id="18" name="Text 16"/>
          <p:cNvSpPr/>
          <p:nvPr/>
        </p:nvSpPr>
        <p:spPr>
          <a:xfrm>
            <a:off x="932688" y="565099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研究缺口：產業層級的 collateral utilization / liquidation / stock-backed OI 仍缺乏公開資料，後續要持續追。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548640" y="6510528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Verdict based on market data, platform launches, publicly reported Ondo collateral usage, and observable risk parameters.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20"/>
          </a:solidFill>
          <a:ln w="12700">
            <a:solidFill>
              <a:srgbClr val="08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73152"/>
            <a:ext cx="960120" cy="54864"/>
          </a:xfrm>
          <a:prstGeom prst="rect">
            <a:avLst/>
          </a:prstGeom>
          <a:solidFill>
            <a:srgbClr val="60A5FA">
              <a:alpha val="65000"/>
            </a:srgbClr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6473952"/>
            <a:ext cx="960120" cy="54864"/>
          </a:xfrm>
          <a:prstGeom prst="rect">
            <a:avLst/>
          </a:prstGeom>
          <a:solidFill>
            <a:srgbClr val="2DD4BF">
              <a:alpha val="55000"/>
            </a:srgbClr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84048"/>
            <a:ext cx="10332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Sources &amp; Evidence Map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8503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把公開資料分成市場規模、平台規則、實際使用與風險框架四類。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143000"/>
            <a:ext cx="110642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234440"/>
            <a:ext cx="10835640" cy="5074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Market scale / demand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CoinGecko — 2026 Q2 Crypto Industry Report: Q2 spot volume $1.95T; CEX perp volume $12.7T.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CoinGecko — Exchanges Reshaping Traditional Asset Trading Report 2026: H1 2026 crypto TradFi volume $1.45T; TradFi perp OI $4.67B; U.S. stock OI $2.01B.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CoinMarketCap / RWA.xyz — Tokenized stock holders 1.31M; monthly transfer volume $23.13B; distributed value $2.38B.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Product cases / rules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Kraken Blog — xStocks eligible as futures and margin collateral; 10 assets; haircuts 10–30%; collateral limits.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Bitget — tokenized stocks and ETFs as USDT‑M Futures margin assets in UTA; 15 initial assets; collateral ratios and weekend price rules.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Ondo Finance — tokenized stock collateral for Ondo Perps; SPYon / QQQon as productive collateral; hedge = collateral logic.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Risk / institutional collateral comparison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OKX + BlackRock + Standard Chartered — BUIDL as yield‑bearing trading collateral with regulated custody.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Deribit — cross‑collateral specifications and yield-bearing collateral such as BUIDL / USYC.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SEC — statement on tokenized securities: tokenized security remains a security; holder rights depend on tokenization structure.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48640" y="6510528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Prepared for internal research discussion; all figures are public-source desk research, not investment advice.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Tokenized Stock Collateral：虛擬貨幣槓桿市場的新風潮？</dc:title>
  <dc:subject>Tokenized Stock Collateral research</dc:subject>
  <dc:creator>OpenAI</dc:creator>
  <cp:lastModifiedBy>OpenAI</cp:lastModifiedBy>
  <cp:revision>1</cp:revision>
  <dcterms:created xsi:type="dcterms:W3CDTF">2026-08-27T05:13:38Z</dcterms:created>
  <dcterms:modified xsi:type="dcterms:W3CDTF">2026-08-27T05:13:38Z</dcterms:modified>
</cp:coreProperties>
</file>