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HK Modular" charset="1" panose="00000800000000000000"/>
      <p:regular r:id="rId34"/>
    </p:embeddedFont>
    <p:embeddedFont>
      <p:font typeface="Aptos" charset="1" panose="020B0004020202020204"/>
      <p:regular r:id="rId35"/>
    </p:embeddedFont>
    <p:embeddedFont>
      <p:font typeface="Noto Sans Bold" charset="1" panose="020B0802040504020204"/>
      <p:regular r:id="rId36"/>
    </p:embeddedFont>
    <p:embeddedFont>
      <p:font typeface="Aptos Bold" charset="1" panose="020B0004020202020204"/>
      <p:regular r:id="rId37"/>
    </p:embeddedFont>
    <p:embeddedFont>
      <p:font typeface="Noto Sans" charset="1" panose="020B0502040504020204"/>
      <p:regular r:id="rId41"/>
    </p:embeddedFont>
    <p:embeddedFont>
      <p:font typeface="Arimo" charset="1" panose="020B0604020202020204"/>
      <p:regular r:id="rId43"/>
    </p:embeddedFont>
    <p:embeddedFont>
      <p:font typeface="Arimo Bold" charset="1" panose="020B0704020202020204"/>
      <p:regular r:id="rId44"/>
    </p:embeddedFont>
    <p:embeddedFont>
      <p:font typeface="Calibri (MS) Bold" charset="1" panose="020F0702030404030204"/>
      <p:regular r:id="rId46"/>
    </p:embeddedFont>
    <p:embeddedFont>
      <p:font typeface="Calibri (MS)" charset="1" panose="020F0502020204030204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Masters/notesMaster1.xml" Type="http://schemas.openxmlformats.org/officeDocument/2006/relationships/notesMaster"/><Relationship Id="rId39" Target="theme/theme2.xml" Type="http://schemas.openxmlformats.org/officeDocument/2006/relationships/theme"/><Relationship Id="rId4" Target="theme/theme1.xml" Type="http://schemas.openxmlformats.org/officeDocument/2006/relationships/theme"/><Relationship Id="rId40" Target="notesSlides/notesSlide1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2.xml" Type="http://schemas.openxmlformats.org/officeDocument/2006/relationships/notes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notesSlides/notesSlide3.xml" Type="http://schemas.openxmlformats.org/officeDocument/2006/relationships/notes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notesSlides/notesSlide4.xml" Type="http://schemas.openxmlformats.org/officeDocument/2006/relationships/notesSlide"/><Relationship Id="rId49" Target="notesSlides/notesSlide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6.xml" Type="http://schemas.openxmlformats.org/officeDocument/2006/relationships/notesSlide"/><Relationship Id="rId51" Target="notesSlides/notesSlide7.xml" Type="http://schemas.openxmlformats.org/officeDocument/2006/relationships/notesSlide"/><Relationship Id="rId52" Target="notesSlides/notesSlide8.xml" Type="http://schemas.openxmlformats.org/officeDocument/2006/relationships/notesSlide"/><Relationship Id="rId53" Target="notesSlides/notesSlide9.xml" Type="http://schemas.openxmlformats.org/officeDocument/2006/relationships/notesSlide"/><Relationship Id="rId54" Target="notesSlides/notesSlide10.xml" Type="http://schemas.openxmlformats.org/officeDocument/2006/relationships/notesSlide"/><Relationship Id="rId55" Target="notesSlides/notesSlide11.xml" Type="http://schemas.openxmlformats.org/officeDocument/2006/relationships/notesSlide"/><Relationship Id="rId56" Target="notesSlides/notesSlide12.xml" Type="http://schemas.openxmlformats.org/officeDocument/2006/relationships/notesSlide"/><Relationship Id="rId57" Target="notesSlides/notesSlide13.xml" Type="http://schemas.openxmlformats.org/officeDocument/2006/relationships/notesSlide"/><Relationship Id="rId58" Target="notesSlides/notesSlide14.xml" Type="http://schemas.openxmlformats.org/officeDocument/2006/relationships/notesSlide"/><Relationship Id="rId59" Target="notesSlides/notesSlide15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6.xml" Type="http://schemas.openxmlformats.org/officeDocument/2006/relationships/notesSlide"/><Relationship Id="rId61" Target="notesSlides/notesSlide17.xml" Type="http://schemas.openxmlformats.org/officeDocument/2006/relationships/notesSlide"/><Relationship Id="rId62" Target="notesSlides/notesSlide18.xml" Type="http://schemas.openxmlformats.org/officeDocument/2006/relationships/notesSlide"/><Relationship Id="rId63" Target="notesSlides/notesSlide19.xml" Type="http://schemas.openxmlformats.org/officeDocument/2006/relationships/notesSlide"/><Relationship Id="rId64" Target="notesSlides/notesSlide20.xml" Type="http://schemas.openxmlformats.org/officeDocument/2006/relationships/notesSlide"/><Relationship Id="rId65" Target="notesSlides/notesSlide21.xml" Type="http://schemas.openxmlformats.org/officeDocument/2006/relationships/notesSlide"/><Relationship Id="rId66" Target="notesSlides/notesSlide22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頁1｜Open API。資料沿用原版第7–8頁。美國 +241% 指 DriveWealth 第三方平台開立帳戶數 2020–2021 年成長（以原稿為準）。Rainmatter 形成的生態系不是 2019 SEBI Sandbox 的直接產物。單純絕對量與監理細節放在原簡報附錄。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頁2｜Broker Algo。資料沿用原版第9–10頁。美國 NYSE 占比 79.1→25.1，韓國外資成交占比 10→27。韓國原頁中圖表呈現 Trading Volume Share by Investor Type，但加註為「持有占比」，故這裡依圖表改為成交量占比，對外使用前仍需核對來源與統計口徑。STP-HUB 是電子交易流程證據，不直接等於 Algo 採用。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頁3｜HFT。資料沿用原版第11–12頁。美國做市收益下降 73% 與 2010 HFT 占比 50% 是不同期間的指標；韓國散戶 26% 和38% 是研究樣本所指的市場成交占比與 HFT 交易對手方占比，不代表全市場所有時期。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頁4｜條件不是必要條件、亦不是充分條件。案例背景可能不同：美國 Broker Algo 偏交易環境複雜度，韓國偏法人需求；美國 HFT 偏價差競爭，韓國偏短線交易機會。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第1頁｜本頁逐項對照第二章三類業務的各三個促成條件。Open API 第三方具規模：富果、XQ、CMoney已有產品與客群，但以會員數或合作券商絕對家數不能單獨判斷規模，故未塞絕對數字。Open API 差異化：XQ、FinLab、MultiCharts、富果MCP等案例。證券商涉及牌照與經紀資本法規，不能視為所有 API 應用本身都必須持有券商牌照。Broker Algo 法人+外資現貨成交比47.9%，來源原簡報；勞動基金的最佳執行要求是制度支持，不能直接推估 Algo 採用率；大額拆單存在，但「複雜度提升」是時間序列命題，目前缺乏直接趨勢證據。HFT 外資／造市者專線下單 &gt;90% 只反映專業交易基礎，不是 HFT 客戶占比。37.1% 為原稿 2025/12 當沖成交值比。現股 0.3% 與股價類期貨 0.002% 稅基不同，不可簡單做倍數比較，也無法直接推論 HFT 淨獲利。87%演算法輔助委託占比並非HFT成交比，本頁刻意不採用。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第2頁｜本頁以第一頁九項逐項驗證為依據，整理現在應採用的業務策略及擴大投入前的觀察指標。Open API 約0.35% 是原簡報所載 API 成交占整體市場交易額，不是所有第三方合作的全部交易滲透率。Broker Algo 47.9%是法人與外資現貨成交占比，不代表47.9%使用 Broker Algo。HFT不使用 87% 演算法輔助委託當作 HFT 占比。三項建議屬研究方向，不是投資回收估計或預算核准。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本頁要先釐清：三種服務的主要收入可能都來自經紀佣金，但商業機制不同。Open API 從交易串接擴大入口，Zerodha 的基本下單 API 免費，較完整資料方案月費 500 印度盧比；費用不一定歸券商。Broker Algo 用執行品質爭取法人委託，IBKR Quantitative Brokers 供應商費每口 0.75 美元屬代收轉付，不能當成券商額外營收。HFT 相關服務面向專業交易者，可能賺取交易佣金，具資格的業者也可能有清算收入；IBKR 的 FIX 最低佣金不等於 HFT 專屬月費。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建議約1分20秒。這一頁不是再說市場有多少客群，而是看台灣已有哪些業者在做、實際做法是什麼。Open API：富邦證券與富果在2025年共同推出新一代Python API，提供交易與行情整合，支援DMA等低延遲連線。富果先前受訪提到截至2024年10月，其API使用人數較前一年同期增加近40%，交易API處理金額約變成3倍；注意這是歷史使用數據，不能解釋成2025年合作帶來的成果。Broker Algo：富邦2019年報說明運用演算法功能爭取法人一籃子電子交易；凱衛是台灣金融系統商，與韓國AI交易技術公司QRAFT合作在台推廣AXE系統，可串接OMS、支援TWAP/VWAP等執行功能，不能將推廣說成已被大量採用。HFT：統一期貨官網列有DMA專線、高速設備、Co-Location及Speedy；富邦在2025年投入千萬元級接單主機與FPGA行情技術；這些是低延遲服務的供給，無法直接證明HFT成交占比。資料來源 https://tw.news.yahoo.com/讓程式幫你做交易-富果推行情-交易兩段api-助散戶打開量化交易大門-032701098.html https://money.udn.com/money/story/5636/8878906 https://bu1.kway.com.tw/article/event-news/155/ https://bu1.kway.com.tw/software/qraft-axe/ https://www.pfcf.com.tw/software/detail/1753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0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6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6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6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9253" y="4538754"/>
            <a:ext cx="12079506" cy="109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2"/>
              </a:lnSpc>
              <a:spcBef>
                <a:spcPct val="0"/>
              </a:spcBef>
            </a:pPr>
            <a:r>
              <a:rPr lang="en-US" sz="79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券商程式交易服務發展研究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89664" y="5810394"/>
            <a:ext cx="11902421" cy="108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sz="3999">
                <a:solidFill>
                  <a:srgbClr val="00BBDE"/>
                </a:solidFill>
                <a:latin typeface="Aptos"/>
                <a:ea typeface="Aptos"/>
                <a:cs typeface="Aptos"/>
                <a:sym typeface="Aptos"/>
              </a:rPr>
              <a:t>從海外市場演進探討台灣 OPEN API、BROKER ALGO 與 HFT 的發展條件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781734" y="1579492"/>
            <a:ext cx="8198197" cy="566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7"/>
              </a:lnSpc>
            </a:pPr>
            <a:r>
              <a:rPr lang="en-US" sz="3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01|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程式交易服務市場概覽</a:t>
            </a:r>
          </a:p>
          <a:p>
            <a:pPr algn="l">
              <a:lnSpc>
                <a:spcPts val="6067"/>
              </a:lnSpc>
            </a:pP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</a:t>
            </a: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API、Broker Algo、HFT 的客群與服務定位</a:t>
            </a:r>
          </a:p>
          <a:p>
            <a:pPr algn="l">
              <a:lnSpc>
                <a:spcPts val="9067"/>
              </a:lnSpc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02|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海外市場發展案例</a:t>
            </a:r>
          </a:p>
          <a:p>
            <a:pPr algn="l">
              <a:lnSpc>
                <a:spcPts val="6067"/>
              </a:lnSpc>
            </a:pP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</a:t>
            </a: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觀察各市場如何形成需求，並整理市場形成的具備條件</a:t>
            </a:r>
          </a:p>
          <a:p>
            <a:pPr algn="l">
              <a:lnSpc>
                <a:spcPts val="9067"/>
              </a:lnSpc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03|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台灣市場發展條件</a:t>
            </a:r>
          </a:p>
          <a:p>
            <a:pPr algn="l">
              <a:lnSpc>
                <a:spcPts val="6067"/>
              </a:lnSpc>
            </a:pP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</a:t>
            </a: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對照海外經驗，檢視台灣目前條件與未來發展空間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06191"/>
            <a:ext cx="7695382" cy="2108728"/>
            <a:chOff x="0" y="0"/>
            <a:chExt cx="10260509" cy="281163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725"/>
              <a:ext cx="7908924" cy="1318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37"/>
                </a:lnSpc>
                <a:spcBef>
                  <a:spcPct val="0"/>
                </a:spcBef>
              </a:pPr>
              <a:r>
                <a:rPr lang="en-US" b="true" sz="692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Agenda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08833"/>
              <a:ext cx="10260509" cy="130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1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39090" y="4456929"/>
            <a:ext cx="11609819" cy="96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2"/>
              </a:lnSpc>
              <a:spcBef>
                <a:spcPct val="0"/>
              </a:spcBef>
            </a:pPr>
            <a:r>
              <a:rPr lang="en-US" sz="69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券商程式交易服務的市場定位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92790" y="5453983"/>
            <a:ext cx="11902421" cy="52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  <a:spcBef>
                <a:spcPct val="0"/>
              </a:spcBef>
            </a:pPr>
            <a:r>
              <a:rPr lang="en-US" sz="3799">
                <a:solidFill>
                  <a:srgbClr val="00BBDE"/>
                </a:solidFill>
                <a:latin typeface="Aptos"/>
                <a:ea typeface="Aptos"/>
                <a:cs typeface="Aptos"/>
                <a:sym typeface="Aptos"/>
              </a:rPr>
              <a:t>從 OPEN API、BROKER ALGO 到 HFT 的需求與服務分層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520" y="301990"/>
            <a:ext cx="5765225" cy="521618"/>
            <a:chOff x="0" y="0"/>
            <a:chExt cx="7686967" cy="695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6966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86967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市場定義 | 服務分層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6520" y="988324"/>
            <a:ext cx="16334804" cy="796147"/>
            <a:chOff x="0" y="0"/>
            <a:chExt cx="21779738" cy="1061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9736" cy="1061533"/>
            </a:xfrm>
            <a:custGeom>
              <a:avLst/>
              <a:gdLst/>
              <a:ahLst/>
              <a:cxnLst/>
              <a:rect r="r" b="b" t="t" l="l"/>
              <a:pathLst>
                <a:path h="106153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79" r="0" b="-3497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779738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4"/>
                </a:lnSpc>
              </a:pPr>
              <a:r>
                <a:rPr lang="en-US" sz="4728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三類程式交易服務的客群與券商能力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3840">
            <a:off x="566985" y="1848345"/>
            <a:ext cx="16971578" cy="0"/>
          </a:xfrm>
          <a:prstGeom prst="line">
            <a:avLst/>
          </a:prstGeom>
          <a:ln cap="rnd" w="9525">
            <a:solidFill>
              <a:srgbClr val="27D7FF">
                <a:alpha val="9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539534" y="2049475"/>
            <a:ext cx="17211789" cy="7239324"/>
            <a:chOff x="0" y="0"/>
            <a:chExt cx="22949052" cy="9652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49027" cy="9652381"/>
            </a:xfrm>
            <a:custGeom>
              <a:avLst/>
              <a:gdLst/>
              <a:ahLst/>
              <a:cxnLst/>
              <a:rect r="r" b="b" t="t" l="l"/>
              <a:pathLst>
                <a:path h="9652381" w="22949027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22747224" y="0"/>
                  </a:lnTo>
                  <a:cubicBezTo>
                    <a:pt x="22858730" y="0"/>
                    <a:pt x="22949027" y="90424"/>
                    <a:pt x="22949027" y="201803"/>
                  </a:cubicBezTo>
                  <a:lnTo>
                    <a:pt x="22949027" y="9450578"/>
                  </a:lnTo>
                  <a:cubicBezTo>
                    <a:pt x="22949027" y="9562085"/>
                    <a:pt x="22858603" y="9652381"/>
                    <a:pt x="22747224" y="9652381"/>
                  </a:cubicBezTo>
                  <a:lnTo>
                    <a:pt x="201803" y="9652381"/>
                  </a:lnTo>
                  <a:cubicBezTo>
                    <a:pt x="90424" y="9652381"/>
                    <a:pt x="0" y="9562084"/>
                    <a:pt x="0" y="9450578"/>
                  </a:cubicBezTo>
                  <a:close/>
                </a:path>
              </a:pathLst>
            </a:custGeom>
            <a:solidFill>
              <a:srgbClr val="0A2035">
                <a:alpha val="93725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625921" y="2214201"/>
            <a:ext cx="4960687" cy="1007393"/>
            <a:chOff x="0" y="0"/>
            <a:chExt cx="6614249" cy="13431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14160" cy="1343152"/>
            </a:xfrm>
            <a:custGeom>
              <a:avLst/>
              <a:gdLst/>
              <a:ahLst/>
              <a:cxnLst/>
              <a:rect r="r" b="b" t="t" l="l"/>
              <a:pathLst>
                <a:path h="1343152" w="6614160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6502273" y="0"/>
                  </a:lnTo>
                  <a:cubicBezTo>
                    <a:pt x="6564122" y="0"/>
                    <a:pt x="6614160" y="50165"/>
                    <a:pt x="6614160" y="111887"/>
                  </a:cubicBezTo>
                  <a:lnTo>
                    <a:pt x="6614160" y="1231265"/>
                  </a:lnTo>
                  <a:cubicBezTo>
                    <a:pt x="6614160" y="1293114"/>
                    <a:pt x="6563995" y="1343152"/>
                    <a:pt x="6502273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C2A43">
                <a:alpha val="95686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04259" y="2214201"/>
            <a:ext cx="1872177" cy="1007393"/>
            <a:chOff x="0" y="0"/>
            <a:chExt cx="2496236" cy="13431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96185" cy="1343152"/>
            </a:xfrm>
            <a:custGeom>
              <a:avLst/>
              <a:gdLst/>
              <a:ahLst/>
              <a:cxnLst/>
              <a:rect r="r" b="b" t="t" l="l"/>
              <a:pathLst>
                <a:path h="1343152" w="2496185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2384298" y="0"/>
                  </a:lnTo>
                  <a:cubicBezTo>
                    <a:pt x="2446147" y="0"/>
                    <a:pt x="2496185" y="50165"/>
                    <a:pt x="2496185" y="111887"/>
                  </a:cubicBezTo>
                  <a:lnTo>
                    <a:pt x="2496185" y="1231265"/>
                  </a:lnTo>
                  <a:cubicBezTo>
                    <a:pt x="2496185" y="1293114"/>
                    <a:pt x="2446020" y="1343152"/>
                    <a:pt x="2384298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B1F33">
                <a:alpha val="95686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37333" y="2333539"/>
            <a:ext cx="1606029" cy="768696"/>
            <a:chOff x="0" y="0"/>
            <a:chExt cx="2141372" cy="1024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1369" cy="1024929"/>
            </a:xfrm>
            <a:custGeom>
              <a:avLst/>
              <a:gdLst/>
              <a:ahLst/>
              <a:cxnLst/>
              <a:rect r="r" b="b" t="t" l="l"/>
              <a:pathLst>
                <a:path h="1024929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10" t="0" r="-1141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41372" cy="102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比較面向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19137" y="2214201"/>
            <a:ext cx="4960687" cy="1007393"/>
            <a:chOff x="0" y="0"/>
            <a:chExt cx="6614249" cy="13431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14160" cy="1343152"/>
            </a:xfrm>
            <a:custGeom>
              <a:avLst/>
              <a:gdLst/>
              <a:ahLst/>
              <a:cxnLst/>
              <a:rect r="r" b="b" t="t" l="l"/>
              <a:pathLst>
                <a:path h="1343152" w="6614160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6502273" y="0"/>
                  </a:lnTo>
                  <a:cubicBezTo>
                    <a:pt x="6564122" y="0"/>
                    <a:pt x="6614160" y="50165"/>
                    <a:pt x="6614160" y="111887"/>
                  </a:cubicBezTo>
                  <a:lnTo>
                    <a:pt x="6614160" y="1231265"/>
                  </a:lnTo>
                  <a:cubicBezTo>
                    <a:pt x="6614160" y="1293114"/>
                    <a:pt x="6563995" y="1343152"/>
                    <a:pt x="6502273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C2A43">
                <a:alpha val="95686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752211" y="2333539"/>
            <a:ext cx="4694539" cy="768697"/>
            <a:chOff x="0" y="0"/>
            <a:chExt cx="6259386" cy="1024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59386" cy="1024929"/>
            </a:xfrm>
            <a:custGeom>
              <a:avLst/>
              <a:gdLst/>
              <a:ahLst/>
              <a:cxnLst/>
              <a:rect r="r" b="b" t="t" l="l"/>
              <a:pathLst>
                <a:path h="102492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97" r="0" b="-689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259386" cy="1024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22524" y="2214201"/>
            <a:ext cx="4960687" cy="1007393"/>
            <a:chOff x="0" y="0"/>
            <a:chExt cx="6614249" cy="13431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14160" cy="1343152"/>
            </a:xfrm>
            <a:custGeom>
              <a:avLst/>
              <a:gdLst/>
              <a:ahLst/>
              <a:cxnLst/>
              <a:rect r="r" b="b" t="t" l="l"/>
              <a:pathLst>
                <a:path h="1343152" w="6614160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6502273" y="0"/>
                  </a:lnTo>
                  <a:cubicBezTo>
                    <a:pt x="6564122" y="0"/>
                    <a:pt x="6614160" y="50165"/>
                    <a:pt x="6614160" y="111887"/>
                  </a:cubicBezTo>
                  <a:lnTo>
                    <a:pt x="6614160" y="1231265"/>
                  </a:lnTo>
                  <a:cubicBezTo>
                    <a:pt x="6614160" y="1293114"/>
                    <a:pt x="6563995" y="1343152"/>
                    <a:pt x="6502273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C2A43">
                <a:alpha val="95686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754661" y="2333539"/>
            <a:ext cx="4694539" cy="768696"/>
            <a:chOff x="0" y="0"/>
            <a:chExt cx="6259386" cy="1024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59386" cy="1024929"/>
            </a:xfrm>
            <a:custGeom>
              <a:avLst/>
              <a:gdLst/>
              <a:ahLst/>
              <a:cxnLst/>
              <a:rect r="r" b="b" t="t" l="l"/>
              <a:pathLst>
                <a:path h="102492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97" r="0" b="-6899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259386" cy="102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/ Low Latency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755603" y="2333673"/>
            <a:ext cx="4694539" cy="768696"/>
            <a:chOff x="0" y="0"/>
            <a:chExt cx="6259386" cy="10249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59386" cy="1024929"/>
            </a:xfrm>
            <a:custGeom>
              <a:avLst/>
              <a:gdLst/>
              <a:ahLst/>
              <a:cxnLst/>
              <a:rect r="r" b="b" t="t" l="l"/>
              <a:pathLst>
                <a:path h="102492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97" r="0" b="-6899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259386" cy="102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 Electronic Trading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04259" y="3264294"/>
            <a:ext cx="1872177" cy="1432922"/>
            <a:chOff x="0" y="0"/>
            <a:chExt cx="2496236" cy="19105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37333" y="3383642"/>
            <a:ext cx="1606029" cy="1194225"/>
            <a:chOff x="0" y="0"/>
            <a:chExt cx="2141372" cy="15923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主要客群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619137" y="3264294"/>
            <a:ext cx="4960687" cy="1432922"/>
            <a:chOff x="0" y="0"/>
            <a:chExt cx="6614249" cy="19105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2752211" y="3383642"/>
            <a:ext cx="4694539" cy="1194225"/>
            <a:chOff x="0" y="0"/>
            <a:chExt cx="6259386" cy="1592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Trading API:個人程式交易者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Broker API:第三方平台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22524" y="3264294"/>
            <a:ext cx="4960687" cy="1432922"/>
            <a:chOff x="0" y="0"/>
            <a:chExt cx="6614249" cy="19105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625921" y="3264294"/>
            <a:ext cx="4960687" cy="1432922"/>
            <a:chOff x="0" y="0"/>
            <a:chExt cx="6614249" cy="19105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625921" y="4739916"/>
            <a:ext cx="4960687" cy="1432922"/>
            <a:chOff x="0" y="0"/>
            <a:chExt cx="6614249" cy="19105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625921" y="6215539"/>
            <a:ext cx="4960687" cy="1432922"/>
            <a:chOff x="0" y="0"/>
            <a:chExt cx="6614249" cy="19105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625921" y="7691161"/>
            <a:ext cx="4960687" cy="1432922"/>
            <a:chOff x="0" y="0"/>
            <a:chExt cx="6614249" cy="19105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758995" y="3383642"/>
            <a:ext cx="4694539" cy="1194225"/>
            <a:chOff x="0" y="0"/>
            <a:chExt cx="6259386" cy="159230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HFT、做市商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自營、專業量化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751274" y="3383642"/>
            <a:ext cx="4694539" cy="1194225"/>
            <a:chOff x="0" y="0"/>
            <a:chExt cx="6259386" cy="159230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外資、資產管理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量化基金、機構交易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04259" y="4739916"/>
            <a:ext cx="1872177" cy="1432922"/>
            <a:chOff x="0" y="0"/>
            <a:chExt cx="2496236" cy="191056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837333" y="4859264"/>
            <a:ext cx="1606029" cy="1194225"/>
            <a:chOff x="0" y="0"/>
            <a:chExt cx="2141372" cy="159230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客戶目標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619137" y="4739916"/>
            <a:ext cx="4960687" cy="1432922"/>
            <a:chOff x="0" y="0"/>
            <a:chExt cx="6614249" cy="19105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2756535" y="4754366"/>
            <a:ext cx="4694539" cy="1717201"/>
            <a:chOff x="0" y="0"/>
            <a:chExt cx="6259386" cy="228960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59386" cy="2289601"/>
            </a:xfrm>
            <a:custGeom>
              <a:avLst/>
              <a:gdLst/>
              <a:ahLst/>
              <a:cxnLst/>
              <a:rect r="r" b="b" t="t" l="l"/>
              <a:pathLst>
                <a:path h="2289601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2289601"/>
                  </a:lnTo>
                  <a:lnTo>
                    <a:pt x="0" y="2289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96" r="0" b="1195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259386" cy="2289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自行串接交易、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省去券商牌照與法遵負擔、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快速加入投資交易功能、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降低系統建置成本</a:t>
              </a:r>
            </a:p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622524" y="4739916"/>
            <a:ext cx="4960687" cy="1432922"/>
            <a:chOff x="0" y="0"/>
            <a:chExt cx="6614249" cy="191056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754661" y="4859141"/>
            <a:ext cx="4694539" cy="1194225"/>
            <a:chOff x="0" y="0"/>
            <a:chExt cx="6259386" cy="15923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搶速度優勢、降低交易延遲、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提升報價／撤單／成交反應速度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755603" y="4859141"/>
            <a:ext cx="4694539" cy="1194225"/>
            <a:chOff x="0" y="0"/>
            <a:chExt cx="6259386" cy="15923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提升執行效率、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穩定處理大量交易、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降低市場衝擊與交易成本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04259" y="6215539"/>
            <a:ext cx="1872177" cy="1432922"/>
            <a:chOff x="0" y="0"/>
            <a:chExt cx="2496236" cy="191056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37333" y="6334887"/>
            <a:ext cx="1606029" cy="1194225"/>
            <a:chOff x="0" y="0"/>
            <a:chExt cx="2141372" cy="159230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核心服務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619137" y="6215539"/>
            <a:ext cx="4960687" cy="1432922"/>
            <a:chOff x="0" y="0"/>
            <a:chExt cx="6614249" cy="191056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2752211" y="6334887"/>
            <a:ext cx="4694539" cy="1194225"/>
            <a:chOff x="0" y="0"/>
            <a:chExt cx="6259386" cy="159230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API、SDK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行情／帳務／下單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622524" y="6215539"/>
            <a:ext cx="4960687" cy="1432922"/>
            <a:chOff x="0" y="0"/>
            <a:chExt cx="6614249" cy="191056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754661" y="6325238"/>
            <a:ext cx="4694539" cy="1194225"/>
            <a:chOff x="0" y="0"/>
            <a:chExt cx="6259386" cy="15923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FPGA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Cross-connect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低延遲行情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751274" y="6334763"/>
            <a:ext cx="4694539" cy="1194225"/>
            <a:chOff x="0" y="0"/>
            <a:chExt cx="6259386" cy="15923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FIX、DMA、SOR、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Broker Algo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04259" y="7691161"/>
            <a:ext cx="1872177" cy="1432922"/>
            <a:chOff x="0" y="0"/>
            <a:chExt cx="2496236" cy="191056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837333" y="7810510"/>
            <a:ext cx="1606029" cy="1194225"/>
            <a:chOff x="0" y="0"/>
            <a:chExt cx="2141372" cy="15923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41369" cy="1592299"/>
            </a:xfrm>
            <a:custGeom>
              <a:avLst/>
              <a:gdLst/>
              <a:ahLst/>
              <a:cxnLst/>
              <a:rect r="r" b="b" t="t" l="l"/>
              <a:pathLst>
                <a:path h="1592299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2141372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收入來源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619137" y="7691161"/>
            <a:ext cx="4960687" cy="1432922"/>
            <a:chOff x="0" y="0"/>
            <a:chExt cx="6614249" cy="191056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2752211" y="7810510"/>
            <a:ext cx="4694539" cy="1194225"/>
            <a:chOff x="0" y="0"/>
            <a:chExt cx="6259386" cy="15923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交易佣金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部分 API、資料服務費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622524" y="7691161"/>
            <a:ext cx="4960687" cy="1432922"/>
            <a:chOff x="0" y="0"/>
            <a:chExt cx="6614249" cy="191056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758995" y="7810386"/>
            <a:ext cx="4694539" cy="1194225"/>
            <a:chOff x="0" y="0"/>
            <a:chExt cx="6259386" cy="15923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專業交易客戶的經紀／清算收入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部分低延遲服務費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751274" y="7810510"/>
            <a:ext cx="4694539" cy="1194225"/>
            <a:chOff x="0" y="0"/>
            <a:chExt cx="6259386" cy="15923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法人經紀佣金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部分執行服務費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864784" y="9540069"/>
            <a:ext cx="10706843" cy="384353"/>
            <a:chOff x="0" y="0"/>
            <a:chExt cx="14275791" cy="51247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4275794" cy="512464"/>
            </a:xfrm>
            <a:custGeom>
              <a:avLst/>
              <a:gdLst/>
              <a:ahLst/>
              <a:cxnLst/>
              <a:rect r="r" b="b" t="t" l="l"/>
              <a:pathLst>
                <a:path h="512464" w="14275794">
                  <a:moveTo>
                    <a:pt x="0" y="0"/>
                  </a:moveTo>
                  <a:lnTo>
                    <a:pt x="14275794" y="0"/>
                  </a:lnTo>
                  <a:lnTo>
                    <a:pt x="1427579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6" r="0" b="-492797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14275791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A8B7C5"/>
                  </a:solidFill>
                  <a:latin typeface="Noto Sans"/>
                  <a:ea typeface="Noto Sans"/>
                  <a:cs typeface="Noto Sans"/>
                  <a:sym typeface="Noto Sans"/>
                </a:rPr>
                <a:t>由「客群需求」與「券商基礎設施投入」區分三種服務型態</a:t>
              </a:r>
            </a:p>
          </p:txBody>
        </p:sp>
      </p:grpSp>
      <p:sp>
        <p:nvSpPr>
          <p:cNvPr name="Freeform 114" id="114" descr="資料來源：FIX Trading Community、Nasdaq Co-Location、Alpaca Broker API、本研究整理。"/>
          <p:cNvSpPr/>
          <p:nvPr/>
        </p:nvSpPr>
        <p:spPr>
          <a:xfrm flipH="false" flipV="false" rot="0">
            <a:off x="714375" y="9829800"/>
            <a:ext cx="16744950" cy="266700"/>
          </a:xfrm>
          <a:custGeom>
            <a:avLst/>
            <a:gdLst/>
            <a:ahLst/>
            <a:cxnLst/>
            <a:rect r="r" b="b" t="t" l="l"/>
            <a:pathLst>
              <a:path h="266700" w="16744950">
                <a:moveTo>
                  <a:pt x="0" y="0"/>
                </a:moveTo>
                <a:lnTo>
                  <a:pt x="16744950" y="0"/>
                </a:lnTo>
                <a:lnTo>
                  <a:pt x="16744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FFE24C"/>
            </a:solidFill>
            <a:ln w="19065" cap="sq">
              <a:solidFill>
                <a:srgbClr val="FFE24C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3840">
            <a:off x="745436" y="10084384"/>
            <a:ext cx="16971578" cy="0"/>
          </a:xfrm>
          <a:prstGeom prst="line">
            <a:avLst/>
          </a:prstGeom>
          <a:ln cap="rnd" w="9525">
            <a:solidFill>
              <a:srgbClr val="23424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44484" y="2078612"/>
            <a:ext cx="6863363" cy="555803"/>
            <a:chOff x="0" y="0"/>
            <a:chExt cx="9151150" cy="741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1149" cy="741062"/>
            </a:xfrm>
            <a:custGeom>
              <a:avLst/>
              <a:gdLst/>
              <a:ahLst/>
              <a:cxnLst/>
              <a:rect r="r" b="b" t="t" l="l"/>
              <a:pathLst>
                <a:path h="74106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41062"/>
                  </a:lnTo>
                  <a:lnTo>
                    <a:pt x="0" y="741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38" r="0" b="-1751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151150" cy="760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spc="3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潛在客戶數量</a:t>
              </a:r>
              <a:r>
                <a:rPr lang="en-US" sz="2627" spc="3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 × 券商服務深度/單位交易量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136130" y="4893522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136130" y="648582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136130" y="811930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2136126" y="8816290"/>
            <a:ext cx="13608423" cy="0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348518" y="2634415"/>
            <a:ext cx="1575216" cy="682720"/>
            <a:chOff x="0" y="0"/>
            <a:chExt cx="1830235" cy="7932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230" cy="793243"/>
            </a:xfrm>
            <a:custGeom>
              <a:avLst/>
              <a:gdLst/>
              <a:ahLst/>
              <a:cxnLst/>
              <a:rect r="r" b="b" t="t" l="l"/>
              <a:pathLst>
                <a:path h="793243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793243"/>
                  </a:lnTo>
                  <a:lnTo>
                    <a:pt x="0" y="793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77" r="0" b="296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30235" cy="812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5"/>
                </a:lnSpc>
              </a:pPr>
              <a:r>
                <a:rPr lang="en-US" b="true" sz="1921" spc="1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券商服務深度</a:t>
              </a:r>
            </a:p>
            <a:p>
              <a:pPr algn="ctr">
                <a:lnSpc>
                  <a:spcPts val="2305"/>
                </a:lnSpc>
              </a:pPr>
              <a:r>
                <a:rPr lang="en-US" b="true" sz="1921" spc="2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單位交易量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26911" y="8586263"/>
            <a:ext cx="2059010" cy="460054"/>
            <a:chOff x="0" y="0"/>
            <a:chExt cx="2745346" cy="6134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5345" cy="613399"/>
            </a:xfrm>
            <a:custGeom>
              <a:avLst/>
              <a:gdLst/>
              <a:ahLst/>
              <a:cxnLst/>
              <a:rect r="r" b="b" t="t" l="l"/>
              <a:pathLst>
                <a:path h="613399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13399"/>
                  </a:lnTo>
                  <a:lnTo>
                    <a:pt x="0" y="613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4" r="0" b="-289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745346" cy="632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潛在</a:t>
              </a: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客戶數量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96832" y="7835238"/>
            <a:ext cx="513226" cy="513226"/>
            <a:chOff x="0" y="0"/>
            <a:chExt cx="684301" cy="684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2E8CFF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302513" y="7652596"/>
            <a:ext cx="1990373" cy="329441"/>
            <a:chOff x="0" y="0"/>
            <a:chExt cx="2653830" cy="439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3833" cy="439255"/>
            </a:xfrm>
            <a:custGeom>
              <a:avLst/>
              <a:gdLst/>
              <a:ahLst/>
              <a:cxnLst/>
              <a:rect r="r" b="b" t="t" l="l"/>
              <a:pathLst>
                <a:path h="439255" w="2653833">
                  <a:moveTo>
                    <a:pt x="0" y="0"/>
                  </a:moveTo>
                  <a:lnTo>
                    <a:pt x="2653833" y="0"/>
                  </a:lnTo>
                  <a:lnTo>
                    <a:pt x="265383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1" r="0" b="-677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65383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 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02513" y="8036949"/>
            <a:ext cx="2264912" cy="247079"/>
            <a:chOff x="0" y="0"/>
            <a:chExt cx="3019882" cy="3294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19879" cy="329441"/>
            </a:xfrm>
            <a:custGeom>
              <a:avLst/>
              <a:gdLst/>
              <a:ahLst/>
              <a:cxnLst/>
              <a:rect r="r" b="b" t="t" l="l"/>
              <a:pathLst>
                <a:path h="329441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3" r="0" b="-1286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01988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3BD7E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Programmable Access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02513" y="8366390"/>
            <a:ext cx="2264912" cy="219627"/>
            <a:chOff x="0" y="0"/>
            <a:chExt cx="3019882" cy="292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19879" cy="292837"/>
            </a:xfrm>
            <a:custGeom>
              <a:avLst/>
              <a:gdLst/>
              <a:ahLst/>
              <a:cxnLst/>
              <a:rect r="r" b="b" t="t" l="l"/>
              <a:pathLst>
                <a:path h="29283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939" r="0" b="-1509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01988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API、SDK、行情、文件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03542" y="5676722"/>
            <a:ext cx="513226" cy="513226"/>
            <a:chOff x="0" y="0"/>
            <a:chExt cx="684301" cy="6843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55D5AC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085685" y="5466620"/>
            <a:ext cx="2813980" cy="356892"/>
            <a:chOff x="0" y="0"/>
            <a:chExt cx="3751974" cy="475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1971" cy="475860"/>
            </a:xfrm>
            <a:custGeom>
              <a:avLst/>
              <a:gdLst/>
              <a:ahLst/>
              <a:cxnLst/>
              <a:rect r="r" b="b" t="t" l="l"/>
              <a:pathLst>
                <a:path h="475860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32" r="0" b="-1036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751974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0"/>
                </a:lnSpc>
              </a:pPr>
              <a:r>
                <a:rPr lang="en-US" sz="219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INSTITUTIONAL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085685" y="5892149"/>
            <a:ext cx="2127647" cy="247079"/>
            <a:chOff x="0" y="0"/>
            <a:chExt cx="2836862" cy="3294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36856" cy="329441"/>
            </a:xfrm>
            <a:custGeom>
              <a:avLst/>
              <a:gdLst/>
              <a:ahLst/>
              <a:cxnLst/>
              <a:rect r="r" b="b" t="t" l="l"/>
              <a:pathLst>
                <a:path h="329441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8" r="0" b="-11778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83686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55D5A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Execution Quality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085685" y="6221591"/>
            <a:ext cx="2882608" cy="219627"/>
            <a:chOff x="0" y="0"/>
            <a:chExt cx="3843477" cy="2928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43483" cy="292837"/>
            </a:xfrm>
            <a:custGeom>
              <a:avLst/>
              <a:gdLst/>
              <a:ahLst/>
              <a:cxnLst/>
              <a:rect r="r" b="b" t="t" l="l"/>
              <a:pathLst>
                <a:path h="292837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0" r="0" b="-2057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843477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FIX、DMA、Algo、OMS/EMS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98128" y="4127410"/>
            <a:ext cx="513226" cy="513226"/>
            <a:chOff x="0" y="0"/>
            <a:chExt cx="684301" cy="6843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FF7545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548898" y="3972228"/>
            <a:ext cx="1166774" cy="356892"/>
            <a:chOff x="0" y="0"/>
            <a:chExt cx="1555699" cy="475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5695" cy="475860"/>
            </a:xfrm>
            <a:custGeom>
              <a:avLst/>
              <a:gdLst/>
              <a:ahLst/>
              <a:cxnLst/>
              <a:rect r="r" b="b" t="t" l="l"/>
              <a:pathLst>
                <a:path h="475860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1" r="0" b="-137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555699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HFT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48898" y="4397748"/>
            <a:ext cx="2402176" cy="233353"/>
            <a:chOff x="0" y="0"/>
            <a:chExt cx="3202902" cy="31113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02902" cy="311139"/>
            </a:xfrm>
            <a:custGeom>
              <a:avLst/>
              <a:gdLst/>
              <a:ahLst/>
              <a:cxnLst/>
              <a:rect r="r" b="b" t="t" l="l"/>
              <a:pathLst>
                <a:path h="311139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311139"/>
                  </a:lnTo>
                  <a:lnTo>
                    <a:pt x="0" y="311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581" r="0" b="-1505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202902" cy="311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75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Latency / Infrastructure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548898" y="4809552"/>
            <a:ext cx="2539441" cy="219627"/>
            <a:chOff x="0" y="0"/>
            <a:chExt cx="3385922" cy="29283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85925" cy="292837"/>
            </a:xfrm>
            <a:custGeom>
              <a:avLst/>
              <a:gdLst/>
              <a:ahLst/>
              <a:cxnLst/>
              <a:rect r="r" b="b" t="t" l="l"/>
              <a:pathLst>
                <a:path h="292837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38592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CoLo、Cross-connect、低延遲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748656" y="9814608"/>
            <a:ext cx="137265" cy="137265"/>
            <a:chOff x="0" y="0"/>
            <a:chExt cx="183020" cy="1830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3023" cy="183023"/>
            </a:xfrm>
            <a:custGeom>
              <a:avLst/>
              <a:gdLst/>
              <a:ahLst/>
              <a:cxnLst/>
              <a:rect r="r" b="b" t="t" l="l"/>
              <a:pathLst>
                <a:path h="183023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83020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7E99A3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V="true">
            <a:off x="2136126" y="3335598"/>
            <a:ext cx="0" cy="5480693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686333" y="437866"/>
            <a:ext cx="6223581" cy="1431196"/>
            <a:chOff x="0" y="0"/>
            <a:chExt cx="8298108" cy="1908261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57150"/>
              <a:ext cx="6396281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程式交易服務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0" y="1018740"/>
              <a:ext cx="8298108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三個層級</a:t>
              </a:r>
            </a:p>
          </p:txBody>
        </p:sp>
      </p:grpSp>
      <p:sp>
        <p:nvSpPr>
          <p:cNvPr name="Freeform 58" id="58" descr="資料來源：FIX Trading Community、Nasdaq Co-Location、Alpaca Broker API、本研究整理。"/>
          <p:cNvSpPr/>
          <p:nvPr/>
        </p:nvSpPr>
        <p:spPr>
          <a:xfrm flipH="false" flipV="false" rot="0">
            <a:off x="714375" y="9829800"/>
            <a:ext cx="16744950" cy="266700"/>
          </a:xfrm>
          <a:custGeom>
            <a:avLst/>
            <a:gdLst/>
            <a:ahLst/>
            <a:cxnLst/>
            <a:rect r="r" b="b" t="t" l="l"/>
            <a:pathLst>
              <a:path h="266700" w="16744950">
                <a:moveTo>
                  <a:pt x="0" y="0"/>
                </a:moveTo>
                <a:lnTo>
                  <a:pt x="16744950" y="0"/>
                </a:lnTo>
                <a:lnTo>
                  <a:pt x="16744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9253" y="4443504"/>
            <a:ext cx="12079506" cy="108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  <a:spcBef>
                <a:spcPct val="0"/>
              </a:spcBef>
            </a:pPr>
            <a:r>
              <a:rPr lang="en-US" sz="78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海外程式交易市場發展案例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74527" y="5450082"/>
            <a:ext cx="12058285" cy="81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2"/>
              </a:lnSpc>
              <a:spcBef>
                <a:spcPct val="0"/>
              </a:spcBef>
            </a:pPr>
            <a:r>
              <a:rPr lang="en-US" sz="591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從市場形成條件到實際需求驗證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91440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第二章  /  OPEN API 海外案例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29437"/>
            <a:ext cx="172364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第三方投資服務需求，推動券商透過API開放部分券商能力</a:t>
            </a:r>
          </a:p>
        </p:txBody>
      </p:sp>
      <p:sp>
        <p:nvSpPr>
          <p:cNvPr name="AutoShape 6" id="6"/>
          <p:cNvSpPr/>
          <p:nvPr/>
        </p:nvSpPr>
        <p:spPr>
          <a:xfrm rot="2580">
            <a:off x="578863" y="1732598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86740" y="1921764"/>
            <a:ext cx="8409432" cy="5062728"/>
            <a:chOff x="0" y="0"/>
            <a:chExt cx="11212576" cy="6750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94360" y="1929384"/>
            <a:ext cx="68580" cy="5047488"/>
            <a:chOff x="0" y="0"/>
            <a:chExt cx="91440" cy="6729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4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美國｜嵌入式投資服務</a:t>
            </a:r>
          </a:p>
        </p:txBody>
      </p:sp>
      <p:sp>
        <p:nvSpPr>
          <p:cNvPr name="AutoShape 12" id="12"/>
          <p:cNvSpPr/>
          <p:nvPr/>
        </p:nvSpPr>
        <p:spPr>
          <a:xfrm rot="4440">
            <a:off x="863594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69264" y="2889504"/>
            <a:ext cx="801776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1.存在新的潛在市場，</a:t>
            </a:r>
            <a:r>
              <a:rPr lang="en-US" sz="2299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FinTech想將證券交易整合進既有產品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Noto Sans"/>
                <a:ea typeface="Noto Sans"/>
                <a:cs typeface="Noto Sans"/>
                <a:sym typeface="Noto Sans"/>
              </a:rPr>
              <a:t>約 </a:t>
            </a:r>
            <a:r>
              <a:rPr lang="en-US" sz="2100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47% </a:t>
            </a:r>
            <a:r>
              <a:rPr lang="en-US" sz="2100">
                <a:solidFill>
                  <a:srgbClr val="FAFCFF"/>
                </a:solidFill>
                <a:latin typeface="Noto Sans"/>
                <a:ea typeface="Noto Sans"/>
                <a:cs typeface="Noto Sans"/>
                <a:sym typeface="Noto Sans"/>
              </a:rPr>
              <a:t>美國家庭未持有股票（2019）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9264" y="3594354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</a:t>
            </a: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自行建立券商的交易、帳務及法遵能力負擔高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最低淨資本約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25 萬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美元與其他成本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670478" y="4441508"/>
            <a:ext cx="241956" cy="189357"/>
            <a:chOff x="0" y="0"/>
            <a:chExt cx="280416" cy="2194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9264" y="4725543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透過 DriveWealth、Alpaca API 接入券商服務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AutoShape 18" id="18"/>
          <p:cNvSpPr/>
          <p:nvPr/>
        </p:nvSpPr>
        <p:spPr>
          <a:xfrm rot="4440">
            <a:off x="872738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960120" y="5843016"/>
            <a:ext cx="7662672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ACEDF"/>
                </a:solidFill>
                <a:latin typeface="Noto Sans"/>
                <a:ea typeface="Noto Sans"/>
                <a:cs typeface="Noto Sans"/>
                <a:sym typeface="Noto Sans"/>
              </a:rPr>
              <a:t>DriveWealth 第三方平台開戶成長｜2020–2021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976" y="6163056"/>
            <a:ext cx="7708392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+241%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91828" y="1921764"/>
            <a:ext cx="8409432" cy="5062728"/>
            <a:chOff x="0" y="0"/>
            <a:chExt cx="11212576" cy="67503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299448" y="1929384"/>
            <a:ext cx="68580" cy="5047488"/>
            <a:chOff x="0" y="0"/>
            <a:chExt cx="91440" cy="6729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82912" y="2110740"/>
            <a:ext cx="304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印度｜金融科技生態系</a:t>
            </a:r>
          </a:p>
        </p:txBody>
      </p:sp>
      <p:sp>
        <p:nvSpPr>
          <p:cNvPr name="AutoShape 26" id="26"/>
          <p:cNvSpPr/>
          <p:nvPr/>
        </p:nvSpPr>
        <p:spPr>
          <a:xfrm rot="4440">
            <a:off x="9568682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674352" y="2841879"/>
            <a:ext cx="764438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</a:t>
            </a: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市場仍具擴張空間，開發者提供各類投資工具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約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11% 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家庭參與投資(2011-2012)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股票僅占家庭金融儲蓄約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 5%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(2016)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72828" y="3840290"/>
            <a:ext cx="81883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</a:t>
            </a: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第三方自行建置券商基礎設施的門檻高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Trading Member 最低淨值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 億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印度盧比，涉及清算資格要求更高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74352" y="4935093"/>
            <a:ext cx="764438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Zerodha 開放 Kite Connect，支援外部應用</a:t>
            </a:r>
          </a:p>
        </p:txBody>
      </p:sp>
      <p:sp>
        <p:nvSpPr>
          <p:cNvPr name="AutoShape 30" id="30"/>
          <p:cNvSpPr/>
          <p:nvPr/>
        </p:nvSpPr>
        <p:spPr>
          <a:xfrm rot="4440">
            <a:off x="9577826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603504" y="7157847"/>
            <a:ext cx="914400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兩國案例歸納的促成條件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88645" y="7638669"/>
            <a:ext cx="5589270" cy="962406"/>
            <a:chOff x="0" y="0"/>
            <a:chExt cx="7452360" cy="12832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75895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272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第三方平台已有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一定規模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349365" y="7638669"/>
            <a:ext cx="5589270" cy="962406"/>
            <a:chOff x="0" y="0"/>
            <a:chExt cx="7452360" cy="12832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651967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015734" y="7761732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完整券商基礎設施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建置成本高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86102" y="8888854"/>
            <a:ext cx="17115787" cy="766315"/>
            <a:chOff x="0" y="0"/>
            <a:chExt cx="22821049" cy="10217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821012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821012">
                  <a:moveTo>
                    <a:pt x="0" y="0"/>
                  </a:moveTo>
                  <a:lnTo>
                    <a:pt x="22821012" y="0"/>
                  </a:lnTo>
                  <a:lnTo>
                    <a:pt x="22821012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786384" y="9014079"/>
            <a:ext cx="16733520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券商透過 API 輸出交易能力，藉第三方擴大客戶觸及與交易流量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03504" y="9883902"/>
            <a:ext cx="169621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資料來源：Alpaca、DriveWealth 官方資料；Zerodha Kite Connect／Rainmatter；原簡報第 7–8 頁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74245" y="5862447"/>
            <a:ext cx="803545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413" indent="-251206" lvl="1">
              <a:lnSpc>
                <a:spcPts val="2792"/>
              </a:lnSpc>
              <a:buFont typeface="Arial"/>
              <a:buChar char="•"/>
            </a:pPr>
            <a:r>
              <a:rPr lang="en-US" b="true" sz="23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數萬名交易者、數十家公司</a:t>
            </a: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使用Zerodha的Kite Connect</a:t>
            </a:r>
          </a:p>
          <a:p>
            <a:pPr algn="l" marL="502413" indent="-251206" lvl="1">
              <a:lnSpc>
                <a:spcPts val="2792"/>
              </a:lnSpc>
              <a:buFont typeface="Arial"/>
              <a:buChar char="•"/>
            </a:pP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 </a:t>
            </a:r>
            <a:r>
              <a:rPr lang="en-US" b="true" sz="23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1,000 萬+</a:t>
            </a: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筆訂單、</a:t>
            </a:r>
            <a:r>
              <a:rPr lang="en-US" b="true" sz="23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 億+ </a:t>
            </a: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requests</a:t>
            </a:r>
          </a:p>
          <a:p>
            <a:pPr algn="l" marL="502413" indent="-251206" lvl="1">
              <a:lnSpc>
                <a:spcPts val="2792"/>
              </a:lnSpc>
              <a:buFont typeface="Arial"/>
              <a:buChar char="•"/>
            </a:pP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直接 API 使用者 </a:t>
            </a:r>
            <a:r>
              <a:rPr lang="en-US" b="true" sz="23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&lt;0.05%</a:t>
            </a: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，需求主要透過第三方平台放大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370994" y="4630865"/>
            <a:ext cx="241956" cy="189357"/>
            <a:chOff x="0" y="0"/>
            <a:chExt cx="280416" cy="2194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91440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第二章  /  BROKER ALGO 海外案例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29437"/>
            <a:ext cx="17236440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法人需求與執行複雜度提升，推動券商發展演算法交易服務</a:t>
            </a:r>
          </a:p>
        </p:txBody>
      </p:sp>
      <p:sp>
        <p:nvSpPr>
          <p:cNvPr name="AutoShape 6" id="6"/>
          <p:cNvSpPr/>
          <p:nvPr/>
        </p:nvSpPr>
        <p:spPr>
          <a:xfrm rot="2580">
            <a:off x="578863" y="1732598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86740" y="1921764"/>
            <a:ext cx="8409432" cy="5062728"/>
            <a:chOff x="0" y="0"/>
            <a:chExt cx="11212576" cy="6750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94360" y="1929384"/>
            <a:ext cx="68580" cy="5047488"/>
            <a:chOff x="0" y="0"/>
            <a:chExt cx="91440" cy="6729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4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美國｜交易場所分散</a:t>
            </a:r>
          </a:p>
        </p:txBody>
      </p:sp>
      <p:sp>
        <p:nvSpPr>
          <p:cNvPr name="AutoShape 12" id="12"/>
          <p:cNvSpPr/>
          <p:nvPr/>
        </p:nvSpPr>
        <p:spPr>
          <a:xfrm rot="4440">
            <a:off x="863594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69264" y="2889504"/>
            <a:ext cx="764438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ECN 崛起，交易場所競爭加劇使訂單開始分散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Noto Sans"/>
                <a:ea typeface="Noto Sans"/>
                <a:cs typeface="Noto Sans"/>
                <a:sym typeface="Noto Sans"/>
              </a:rPr>
              <a:t>Nasdaq 股票</a:t>
            </a:r>
            <a:r>
              <a:rPr lang="en-US" sz="2100">
                <a:solidFill>
                  <a:srgbClr val="FAFCFF"/>
                </a:solidFill>
                <a:latin typeface="Noto Sans"/>
                <a:ea typeface="Noto Sans"/>
                <a:cs typeface="Noto Sans"/>
                <a:sym typeface="Noto Sans"/>
              </a:rPr>
              <a:t>幾乎不使用較細的 1/8 美元報價刻度。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681728" y="3575304"/>
            <a:ext cx="210312" cy="164592"/>
            <a:chOff x="0" y="0"/>
            <a:chExt cx="280416" cy="2194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9264" y="3783711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交易場所眾多，</a:t>
            </a: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大型委託需拆單、尋找最佳價格控制成本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NYSE 掛牌股在 NYSE 成交占比(2005–2009)：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79.1% → 25.1%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681728" y="4517136"/>
            <a:ext cx="210312" cy="164592"/>
            <a:chOff x="0" y="0"/>
            <a:chExt cx="280416" cy="219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9264" y="4725543"/>
            <a:ext cx="76443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券商發展自動化執行與 Broker Algo</a:t>
            </a:r>
          </a:p>
        </p:txBody>
      </p:sp>
      <p:sp>
        <p:nvSpPr>
          <p:cNvPr name="AutoShape 20" id="20"/>
          <p:cNvSpPr/>
          <p:nvPr/>
        </p:nvSpPr>
        <p:spPr>
          <a:xfrm rot="4440">
            <a:off x="872738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333738" y="1895094"/>
            <a:ext cx="8409432" cy="5062728"/>
            <a:chOff x="0" y="0"/>
            <a:chExt cx="11212576" cy="67503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299448" y="1929384"/>
            <a:ext cx="68580" cy="5047488"/>
            <a:chOff x="0" y="0"/>
            <a:chExt cx="91440" cy="6729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82912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韓國｜法人交易需求擴張</a:t>
            </a:r>
          </a:p>
        </p:txBody>
      </p:sp>
      <p:sp>
        <p:nvSpPr>
          <p:cNvPr name="AutoShape 26" id="26"/>
          <p:cNvSpPr/>
          <p:nvPr/>
        </p:nvSpPr>
        <p:spPr>
          <a:xfrm rot="4440">
            <a:off x="9568682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674352" y="2841879"/>
            <a:ext cx="764438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金融市場開放，外資與本土法人交易成長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外資持股限制 ：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26% → 55%→ 完全取消持股上限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外資股票成交量占比(2000–2007)：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10% → 27%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384911" y="3895344"/>
            <a:ext cx="210312" cy="164592"/>
            <a:chOff x="0" y="0"/>
            <a:chExt cx="280416" cy="219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72447" y="4103751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機構重視電子化下單、大單執行及成本控制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外資將國際電子交易標準帶入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384911" y="4837176"/>
            <a:ext cx="210312" cy="164592"/>
            <a:chOff x="0" y="0"/>
            <a:chExt cx="280416" cy="2194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672447" y="5045583"/>
            <a:ext cx="76443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券商升級電子交易與專業執行服務</a:t>
            </a:r>
          </a:p>
        </p:txBody>
      </p:sp>
      <p:sp>
        <p:nvSpPr>
          <p:cNvPr name="AutoShape 34" id="34"/>
          <p:cNvSpPr/>
          <p:nvPr/>
        </p:nvSpPr>
        <p:spPr>
          <a:xfrm rot="4440">
            <a:off x="9577826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603504" y="7157847"/>
            <a:ext cx="914400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兩國案例歸納的促成條件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88645" y="7638669"/>
            <a:ext cx="5589270" cy="962406"/>
            <a:chOff x="0" y="0"/>
            <a:chExt cx="7452360" cy="12832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75895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272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法人／外資交易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具規模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349365" y="7638669"/>
            <a:ext cx="5589270" cy="962406"/>
            <a:chOff x="0" y="0"/>
            <a:chExt cx="7452360" cy="12832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651967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015734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執行複雜度提升，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需專業化服務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86102" y="8888854"/>
            <a:ext cx="17115787" cy="766315"/>
            <a:chOff x="0" y="0"/>
            <a:chExt cx="22821049" cy="102175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821012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821012">
                  <a:moveTo>
                    <a:pt x="0" y="0"/>
                  </a:moveTo>
                  <a:lnTo>
                    <a:pt x="22821012" y="0"/>
                  </a:lnTo>
                  <a:lnTo>
                    <a:pt x="22821012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786384" y="9014079"/>
            <a:ext cx="16733520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券商以執行品質與成本控制能力，爭取機構交易委託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03504" y="9883902"/>
            <a:ext cx="169621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資料來源：SEC（2010）、Aite Group（2006）、KCMI；*韓國占比據原稿圖表，正式發表前宜複核統計口徑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28650" y="5951138"/>
            <a:ext cx="709002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5" indent="-313058" lvl="1">
              <a:lnSpc>
                <a:spcPts val="348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美國機構</a:t>
            </a:r>
            <a:r>
              <a:rPr lang="en-US" b="true" sz="290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&gt;</a:t>
            </a:r>
            <a:r>
              <a:rPr lang="en-US" b="true" sz="290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75%</a:t>
            </a:r>
            <a:r>
              <a:rPr lang="en-US" b="true" sz="29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 Algo</a:t>
            </a:r>
          </a:p>
          <a:p>
            <a:pPr algn="l" marL="626115" indent="-313058" lvl="1">
              <a:lnSpc>
                <a:spcPts val="348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最大／最活躍機構交易者</a:t>
            </a:r>
            <a:r>
              <a:rPr lang="en-US" b="true" sz="290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95%</a:t>
            </a:r>
            <a:r>
              <a:rPr lang="en-US" b="true" sz="29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 Algo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679737" y="5893988"/>
            <a:ext cx="522505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2017：使用者較 2006 年上升 </a:t>
            </a:r>
            <a:r>
              <a:rPr lang="en-US" b="true" sz="26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9.5 倍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每日處理量上升</a:t>
            </a:r>
            <a:r>
              <a:rPr lang="en-US" b="true" sz="26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50 倍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91440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第二章  /  HFT 海外案例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29437"/>
            <a:ext cx="17236440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交易利潤壓縮與短線機會，推動高速交易競爭</a:t>
            </a:r>
          </a:p>
        </p:txBody>
      </p:sp>
      <p:sp>
        <p:nvSpPr>
          <p:cNvPr name="AutoShape 6" id="6"/>
          <p:cNvSpPr/>
          <p:nvPr/>
        </p:nvSpPr>
        <p:spPr>
          <a:xfrm rot="2580">
            <a:off x="578863" y="1732598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86740" y="1921764"/>
            <a:ext cx="8409432" cy="5062728"/>
            <a:chOff x="0" y="0"/>
            <a:chExt cx="11212576" cy="6750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94360" y="1929384"/>
            <a:ext cx="68580" cy="5047488"/>
            <a:chOff x="0" y="0"/>
            <a:chExt cx="91440" cy="6729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4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美國｜做市利潤壓縮</a:t>
            </a:r>
          </a:p>
        </p:txBody>
      </p:sp>
      <p:sp>
        <p:nvSpPr>
          <p:cNvPr name="AutoShape 12" id="12"/>
          <p:cNvSpPr/>
          <p:nvPr/>
        </p:nvSpPr>
        <p:spPr>
          <a:xfrm rot="4440">
            <a:off x="863594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69264" y="2841879"/>
            <a:ext cx="764438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電子交易競爭與 Decimalization 壓縮價差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2001 年最小報價單位降至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 cent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，spread減少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50%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2000–2004 年做市收益變化：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-73%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681728" y="3868715"/>
            <a:ext cx="210312" cy="164592"/>
            <a:chOff x="0" y="0"/>
            <a:chExt cx="280416" cy="2194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9264" y="4077122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單筆做市獲利下降，轉向大量、低成本交易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總利潤 ≈ 每筆能賺的價差 × 成交量 − 交易／人力／系統成本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681728" y="4810547"/>
            <a:ext cx="210312" cy="164592"/>
            <a:chOff x="0" y="0"/>
            <a:chExt cx="280416" cy="219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9264" y="5018954"/>
            <a:ext cx="764438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自動化與速度成為競爭工具，HFT 擴張</a:t>
            </a:r>
          </a:p>
        </p:txBody>
      </p:sp>
      <p:sp>
        <p:nvSpPr>
          <p:cNvPr name="AutoShape 20" id="20"/>
          <p:cNvSpPr/>
          <p:nvPr/>
        </p:nvSpPr>
        <p:spPr>
          <a:xfrm rot="4440">
            <a:off x="872738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60120" y="5852541"/>
            <a:ext cx="766267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>
                <a:solidFill>
                  <a:srgbClr val="BACEDF"/>
                </a:solidFill>
                <a:latin typeface="Noto Sans"/>
                <a:ea typeface="Noto Sans"/>
                <a:cs typeface="Noto Sans"/>
                <a:sym typeface="Noto Sans"/>
              </a:rPr>
              <a:t>2010 年 HFT 成交占比約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0976" y="6163056"/>
            <a:ext cx="103859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</a:t>
            </a:r>
            <a:r>
              <a:rPr lang="en-US" sz="39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%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91828" y="1921764"/>
            <a:ext cx="8409432" cy="5062728"/>
            <a:chOff x="0" y="0"/>
            <a:chExt cx="11212576" cy="67503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299448" y="1929384"/>
            <a:ext cx="68580" cy="5047488"/>
            <a:chOff x="0" y="0"/>
            <a:chExt cx="91440" cy="67299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582912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韓國｜衍生品短線交易</a:t>
            </a:r>
          </a:p>
        </p:txBody>
      </p:sp>
      <p:sp>
        <p:nvSpPr>
          <p:cNvPr name="AutoShape 28" id="28"/>
          <p:cNvSpPr/>
          <p:nvPr/>
        </p:nvSpPr>
        <p:spPr>
          <a:xfrm rot="4440">
            <a:off x="9568682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674352" y="2841879"/>
            <a:ext cx="764438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低進入門檻、交易摩擦，吸引短線散戶使得衍生性商品市場全世界第一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386816" y="3530727"/>
            <a:ext cx="210312" cy="164592"/>
            <a:chOff x="0" y="0"/>
            <a:chExt cx="28041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674352" y="3739134"/>
            <a:ext cx="764438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密集委託形成短暫價格偏離與流動性機會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散戶占市場成交:</a:t>
            </a:r>
            <a:r>
              <a:rPr lang="en-US" b="true" sz="2100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26%</a:t>
            </a:r>
            <a:r>
              <a:rPr lang="en-US" b="true" sz="2100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; 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散戶占 HFT 對手方: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38%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韓國期權未平倉量是美國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1/50 倍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以上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386816" y="4853559"/>
            <a:ext cx="210312" cy="164592"/>
            <a:chOff x="0" y="0"/>
            <a:chExt cx="280416" cy="2194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74352" y="5061966"/>
            <a:ext cx="76443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專業 HFT 參與期貨與選擇權市場</a:t>
            </a:r>
          </a:p>
        </p:txBody>
      </p:sp>
      <p:sp>
        <p:nvSpPr>
          <p:cNvPr name="AutoShape 36" id="36"/>
          <p:cNvSpPr/>
          <p:nvPr/>
        </p:nvSpPr>
        <p:spPr>
          <a:xfrm>
            <a:off x="9577829" y="5764803"/>
            <a:ext cx="7837421" cy="10122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603504" y="7157847"/>
            <a:ext cx="914400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兩國案例歸納的促成條件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88645" y="7638669"/>
            <a:ext cx="5589270" cy="962406"/>
            <a:chOff x="0" y="0"/>
            <a:chExt cx="7452360" cy="12832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75895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272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專業交易者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具規模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349365" y="7638669"/>
            <a:ext cx="5589270" cy="962406"/>
            <a:chOff x="0" y="0"/>
            <a:chExt cx="7452360" cy="12832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651967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01344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市場具高周轉、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短線交易特徵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110085" y="7638669"/>
            <a:ext cx="5589270" cy="962406"/>
            <a:chOff x="0" y="0"/>
            <a:chExt cx="7452360" cy="12832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228039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7416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高速交易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具經濟性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86102" y="8888854"/>
            <a:ext cx="17115787" cy="766315"/>
            <a:chOff x="0" y="0"/>
            <a:chExt cx="22821049" cy="102175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821012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821012">
                  <a:moveTo>
                    <a:pt x="0" y="0"/>
                  </a:moveTo>
                  <a:lnTo>
                    <a:pt x="22821012" y="0"/>
                  </a:lnTo>
                  <a:lnTo>
                    <a:pt x="22821012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786384" y="9014079"/>
            <a:ext cx="16733520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高速交易機會與可負擔的交易成本，支撐持續的低延遲需求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03504" y="9883902"/>
            <a:ext cx="169621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資料來源：SEC（2001、2010）、GAO；KRX、KCMI、韓國 HFT 相關研究；不同數據期間及母體不同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68685" y="5817788"/>
            <a:ext cx="750490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2010-2014：HFT總市場參與占</a:t>
            </a:r>
            <a:r>
              <a:rPr lang="en-US" b="true" sz="23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49.4%</a:t>
            </a:r>
          </a:p>
          <a:p>
            <a:pPr algn="l" marL="518158" indent="-259079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每日 &gt;20,000 筆訂單的高頻帳戶：Options有</a:t>
            </a:r>
            <a:r>
              <a:rPr lang="en-US" b="true" sz="23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75.6%</a:t>
            </a:r>
            <a:r>
              <a:rPr lang="en-US" b="true" sz="23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為外資; Futures有</a:t>
            </a:r>
            <a:r>
              <a:rPr lang="en-US" b="true" sz="23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98.0%</a:t>
            </a:r>
            <a:r>
              <a:rPr lang="en-US" b="true" sz="23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為外資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91440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第二章  /  總結 海外案例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29437"/>
            <a:ext cx="17236440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海外案例歸納三類程式交易業務的重要促成條件</a:t>
            </a:r>
          </a:p>
        </p:txBody>
      </p:sp>
      <p:sp>
        <p:nvSpPr>
          <p:cNvPr name="AutoShape 6" id="6"/>
          <p:cNvSpPr/>
          <p:nvPr/>
        </p:nvSpPr>
        <p:spPr>
          <a:xfrm rot="2580">
            <a:off x="578863" y="1732598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88007" y="2087623"/>
            <a:ext cx="5572249" cy="6367777"/>
            <a:chOff x="0" y="0"/>
            <a:chExt cx="7429665" cy="84903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29626" cy="8490331"/>
            </a:xfrm>
            <a:custGeom>
              <a:avLst/>
              <a:gdLst/>
              <a:ahLst/>
              <a:cxnLst/>
              <a:rect r="r" b="b" t="t" l="l"/>
              <a:pathLst>
                <a:path h="8490331" w="7429626">
                  <a:moveTo>
                    <a:pt x="0" y="817245"/>
                  </a:moveTo>
                  <a:cubicBezTo>
                    <a:pt x="0" y="365887"/>
                    <a:pt x="365887" y="0"/>
                    <a:pt x="817245" y="0"/>
                  </a:cubicBezTo>
                  <a:lnTo>
                    <a:pt x="6612382" y="0"/>
                  </a:lnTo>
                  <a:cubicBezTo>
                    <a:pt x="7063739" y="0"/>
                    <a:pt x="7429626" y="365887"/>
                    <a:pt x="7429626" y="817245"/>
                  </a:cubicBezTo>
                  <a:lnTo>
                    <a:pt x="7429626" y="7673086"/>
                  </a:lnTo>
                  <a:cubicBezTo>
                    <a:pt x="7429626" y="8124444"/>
                    <a:pt x="7063739" y="8490331"/>
                    <a:pt x="6612382" y="8490331"/>
                  </a:cubicBezTo>
                  <a:lnTo>
                    <a:pt x="817245" y="8490331"/>
                  </a:lnTo>
                  <a:cubicBezTo>
                    <a:pt x="365887" y="8490331"/>
                    <a:pt x="0" y="8124444"/>
                    <a:pt x="0" y="7673086"/>
                  </a:cubicBezTo>
                  <a:close/>
                </a:path>
              </a:pathLst>
            </a:custGeom>
            <a:solidFill>
              <a:srgbClr val="16334F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94360" y="2093976"/>
            <a:ext cx="5559552" cy="77724"/>
            <a:chOff x="0" y="0"/>
            <a:chExt cx="7412736" cy="1036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12736" cy="103632"/>
            </a:xfrm>
            <a:custGeom>
              <a:avLst/>
              <a:gdLst/>
              <a:ahLst/>
              <a:cxnLst/>
              <a:rect r="r" b="b" t="t" l="l"/>
              <a:pathLst>
                <a:path h="103632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103632"/>
                  </a:lnTo>
                  <a:lnTo>
                    <a:pt x="0" y="103632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4" y="2414016"/>
            <a:ext cx="49926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6112" y="2878836"/>
            <a:ext cx="4956048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美國 × 印度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6968" y="3408807"/>
            <a:ext cx="4965192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第三方投資服務</a:t>
            </a:r>
          </a:p>
        </p:txBody>
      </p:sp>
      <p:sp>
        <p:nvSpPr>
          <p:cNvPr name="AutoShape 14" id="14"/>
          <p:cNvSpPr/>
          <p:nvPr/>
        </p:nvSpPr>
        <p:spPr>
          <a:xfrm rot="8700">
            <a:off x="862317" y="3982022"/>
            <a:ext cx="5023628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886968" y="430644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3312" y="4312228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第三方平台已有一定規模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6968" y="531228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2456" y="5336737"/>
            <a:ext cx="450799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完整券商基礎設施建置成本高</a:t>
            </a:r>
          </a:p>
        </p:txBody>
      </p:sp>
      <p:sp>
        <p:nvSpPr>
          <p:cNvPr name="AutoShape 19" id="19"/>
          <p:cNvSpPr/>
          <p:nvPr/>
        </p:nvSpPr>
        <p:spPr>
          <a:xfrm rot="8640">
            <a:off x="853173" y="7429310"/>
            <a:ext cx="5041916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4672" y="7615428"/>
            <a:ext cx="5138928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券商提供「串接」能力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57871" y="2087623"/>
            <a:ext cx="5572249" cy="6367777"/>
            <a:chOff x="0" y="0"/>
            <a:chExt cx="7429665" cy="84903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29626" cy="8490331"/>
            </a:xfrm>
            <a:custGeom>
              <a:avLst/>
              <a:gdLst/>
              <a:ahLst/>
              <a:cxnLst/>
              <a:rect r="r" b="b" t="t" l="l"/>
              <a:pathLst>
                <a:path h="8490331" w="7429626">
                  <a:moveTo>
                    <a:pt x="0" y="817245"/>
                  </a:moveTo>
                  <a:cubicBezTo>
                    <a:pt x="0" y="365887"/>
                    <a:pt x="365887" y="0"/>
                    <a:pt x="817245" y="0"/>
                  </a:cubicBezTo>
                  <a:lnTo>
                    <a:pt x="6612382" y="0"/>
                  </a:lnTo>
                  <a:cubicBezTo>
                    <a:pt x="7063739" y="0"/>
                    <a:pt x="7429626" y="365887"/>
                    <a:pt x="7429626" y="817245"/>
                  </a:cubicBezTo>
                  <a:lnTo>
                    <a:pt x="7429626" y="7673086"/>
                  </a:lnTo>
                  <a:cubicBezTo>
                    <a:pt x="7429626" y="8124444"/>
                    <a:pt x="7063739" y="8490331"/>
                    <a:pt x="6612382" y="8490331"/>
                  </a:cubicBezTo>
                  <a:lnTo>
                    <a:pt x="817245" y="8490331"/>
                  </a:lnTo>
                  <a:cubicBezTo>
                    <a:pt x="365887" y="8490331"/>
                    <a:pt x="0" y="8124444"/>
                    <a:pt x="0" y="7673086"/>
                  </a:cubicBezTo>
                  <a:close/>
                </a:path>
              </a:pathLst>
            </a:custGeom>
            <a:solidFill>
              <a:srgbClr val="16334F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364224" y="2093976"/>
            <a:ext cx="5559552" cy="77724"/>
            <a:chOff x="0" y="0"/>
            <a:chExt cx="7412736" cy="1036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12736" cy="103632"/>
            </a:xfrm>
            <a:custGeom>
              <a:avLst/>
              <a:gdLst/>
              <a:ahLst/>
              <a:cxnLst/>
              <a:rect r="r" b="b" t="t" l="l"/>
              <a:pathLst>
                <a:path h="103632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103632"/>
                  </a:lnTo>
                  <a:lnTo>
                    <a:pt x="0" y="103632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647688" y="2414016"/>
            <a:ext cx="49926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BROKER ALGO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65976" y="2878836"/>
            <a:ext cx="4956048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美國 × 韓國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56832" y="3408807"/>
            <a:ext cx="4965192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專業法人執行</a:t>
            </a:r>
          </a:p>
        </p:txBody>
      </p:sp>
      <p:sp>
        <p:nvSpPr>
          <p:cNvPr name="AutoShape 28" id="28"/>
          <p:cNvSpPr/>
          <p:nvPr/>
        </p:nvSpPr>
        <p:spPr>
          <a:xfrm rot="8700">
            <a:off x="6632181" y="3982022"/>
            <a:ext cx="5023628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6656832" y="430644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23176" y="4312228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法人／外資交易具規模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56832" y="531228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14032" y="5332095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執行複雜度提升</a:t>
            </a:r>
          </a:p>
        </p:txBody>
      </p:sp>
      <p:sp>
        <p:nvSpPr>
          <p:cNvPr name="AutoShape 33" id="33"/>
          <p:cNvSpPr/>
          <p:nvPr/>
        </p:nvSpPr>
        <p:spPr>
          <a:xfrm rot="8640">
            <a:off x="6623037" y="7429310"/>
            <a:ext cx="5041916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6574536" y="7615428"/>
            <a:ext cx="5138928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券商提供「執行」能力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127735" y="2087623"/>
            <a:ext cx="5572249" cy="6367777"/>
            <a:chOff x="0" y="0"/>
            <a:chExt cx="7429665" cy="84903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29626" cy="8490331"/>
            </a:xfrm>
            <a:custGeom>
              <a:avLst/>
              <a:gdLst/>
              <a:ahLst/>
              <a:cxnLst/>
              <a:rect r="r" b="b" t="t" l="l"/>
              <a:pathLst>
                <a:path h="8490331" w="7429626">
                  <a:moveTo>
                    <a:pt x="0" y="817245"/>
                  </a:moveTo>
                  <a:cubicBezTo>
                    <a:pt x="0" y="365887"/>
                    <a:pt x="365887" y="0"/>
                    <a:pt x="817245" y="0"/>
                  </a:cubicBezTo>
                  <a:lnTo>
                    <a:pt x="6612382" y="0"/>
                  </a:lnTo>
                  <a:cubicBezTo>
                    <a:pt x="7063739" y="0"/>
                    <a:pt x="7429626" y="365887"/>
                    <a:pt x="7429626" y="817245"/>
                  </a:cubicBezTo>
                  <a:lnTo>
                    <a:pt x="7429626" y="7673086"/>
                  </a:lnTo>
                  <a:cubicBezTo>
                    <a:pt x="7429626" y="8124444"/>
                    <a:pt x="7063739" y="8490331"/>
                    <a:pt x="6612382" y="8490331"/>
                  </a:cubicBezTo>
                  <a:lnTo>
                    <a:pt x="817245" y="8490331"/>
                  </a:lnTo>
                  <a:cubicBezTo>
                    <a:pt x="365887" y="8490331"/>
                    <a:pt x="0" y="8124444"/>
                    <a:pt x="0" y="7673086"/>
                  </a:cubicBezTo>
                  <a:close/>
                </a:path>
              </a:pathLst>
            </a:custGeom>
            <a:solidFill>
              <a:srgbClr val="16334F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134088" y="2093976"/>
            <a:ext cx="5559552" cy="77724"/>
            <a:chOff x="0" y="0"/>
            <a:chExt cx="7412736" cy="1036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12736" cy="103632"/>
            </a:xfrm>
            <a:custGeom>
              <a:avLst/>
              <a:gdLst/>
              <a:ahLst/>
              <a:cxnLst/>
              <a:rect r="r" b="b" t="t" l="l"/>
              <a:pathLst>
                <a:path h="103632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103632"/>
                  </a:lnTo>
                  <a:lnTo>
                    <a:pt x="0" y="103632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417552" y="2414016"/>
            <a:ext cx="49926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35840" y="2878836"/>
            <a:ext cx="4956048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美國 × 韓國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26696" y="3408807"/>
            <a:ext cx="4965192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高速交易機會</a:t>
            </a:r>
          </a:p>
        </p:txBody>
      </p:sp>
      <p:sp>
        <p:nvSpPr>
          <p:cNvPr name="AutoShape 42" id="42"/>
          <p:cNvSpPr/>
          <p:nvPr/>
        </p:nvSpPr>
        <p:spPr>
          <a:xfrm rot="8700">
            <a:off x="12402045" y="3982022"/>
            <a:ext cx="5023628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2426696" y="430644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93040" y="4312228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專業交易者具規模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26696" y="531228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893040" y="5318068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市場具高周轉、短線交易特徵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26696" y="6308979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893040" y="6314764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高速交易具經濟性</a:t>
            </a:r>
          </a:p>
        </p:txBody>
      </p:sp>
      <p:sp>
        <p:nvSpPr>
          <p:cNvPr name="AutoShape 49" id="49"/>
          <p:cNvSpPr/>
          <p:nvPr/>
        </p:nvSpPr>
        <p:spPr>
          <a:xfrm rot="8640">
            <a:off x="12392901" y="7429310"/>
            <a:ext cx="5041916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0" id="50"/>
          <p:cNvSpPr txBox="true"/>
          <p:nvPr/>
        </p:nvSpPr>
        <p:spPr>
          <a:xfrm rot="0">
            <a:off x="12344400" y="7615428"/>
            <a:ext cx="5138928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券商提供「速度」能力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86102" y="8742550"/>
            <a:ext cx="17115787" cy="793747"/>
            <a:chOff x="0" y="0"/>
            <a:chExt cx="22821049" cy="10583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821012" cy="1058291"/>
            </a:xfrm>
            <a:custGeom>
              <a:avLst/>
              <a:gdLst/>
              <a:ahLst/>
              <a:cxnLst/>
              <a:rect r="r" b="b" t="t" l="l"/>
              <a:pathLst>
                <a:path h="1058291" w="22821012">
                  <a:moveTo>
                    <a:pt x="0" y="0"/>
                  </a:moveTo>
                  <a:lnTo>
                    <a:pt x="22821012" y="0"/>
                  </a:lnTo>
                  <a:lnTo>
                    <a:pt x="22821012" y="1058291"/>
                  </a:lnTo>
                  <a:lnTo>
                    <a:pt x="0" y="1058291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832104" y="8895207"/>
            <a:ext cx="16642080" cy="51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下一章：依九項促成條件檢視台灣市場成熟度，而非以符合項數直接決定投資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03504" y="9883902"/>
            <a:ext cx="169621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資料來源：由原簡報第 7–13 頁案例歸納；本章條件為重要促成因素，非缺一不可的必要條件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9253" y="4443504"/>
            <a:ext cx="12079506" cy="108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  <a:spcBef>
                <a:spcPct val="0"/>
              </a:spcBef>
            </a:pPr>
            <a:r>
              <a:rPr lang="en-US" sz="78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台灣市場發展條件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6890" y="5582626"/>
            <a:ext cx="12124231" cy="60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431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對照海外經驗，檢視台灣目前條件與未來發展空間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109728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第三章  /  台灣市場發展條件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19912"/>
            <a:ext cx="1723644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九項海外促成條件，逐項檢驗台灣市場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4360" y="1470660"/>
            <a:ext cx="16824960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以原簡報所蒐集的台灣資料驗證；區分直接證據、間接支持與尚未驗證的條件</a:t>
            </a:r>
          </a:p>
        </p:txBody>
      </p:sp>
      <p:sp>
        <p:nvSpPr>
          <p:cNvPr name="AutoShape 7" id="7"/>
          <p:cNvSpPr/>
          <p:nvPr/>
        </p:nvSpPr>
        <p:spPr>
          <a:xfrm rot="2580">
            <a:off x="578863" y="1970342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88007" y="2188207"/>
            <a:ext cx="2024377" cy="2024377"/>
            <a:chOff x="0" y="0"/>
            <a:chExt cx="2699169" cy="2699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9913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699131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lnTo>
                    <a:pt x="2429256" y="0"/>
                  </a:lnTo>
                  <a:cubicBezTo>
                    <a:pt x="2578354" y="0"/>
                    <a:pt x="2699131" y="120904"/>
                    <a:pt x="2699131" y="269875"/>
                  </a:cubicBezTo>
                  <a:lnTo>
                    <a:pt x="2699131" y="2429256"/>
                  </a:lnTo>
                  <a:cubicBezTo>
                    <a:pt x="2699131" y="2578354"/>
                    <a:pt x="2578227" y="2699131"/>
                    <a:pt x="2429256" y="2699131"/>
                  </a:cubicBezTo>
                  <a:lnTo>
                    <a:pt x="269875" y="2699131"/>
                  </a:lnTo>
                  <a:cubicBezTo>
                    <a:pt x="120904" y="2699131"/>
                    <a:pt x="0" y="2578354"/>
                    <a:pt x="0" y="2429256"/>
                  </a:cubicBezTo>
                  <a:close/>
                </a:path>
              </a:pathLst>
            </a:custGeom>
            <a:solidFill>
              <a:srgbClr val="0D2A43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94360" y="2194560"/>
            <a:ext cx="82296" cy="2011680"/>
            <a:chOff x="0" y="0"/>
            <a:chExt cx="109728" cy="268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3816" y="2588133"/>
            <a:ext cx="164592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816" y="3546348"/>
            <a:ext cx="1673352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第三方生態與交易串接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773747" y="2188531"/>
            <a:ext cx="4879724" cy="2023748"/>
            <a:chOff x="0" y="0"/>
            <a:chExt cx="6506299" cy="26983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779776" y="2194560"/>
            <a:ext cx="54864" cy="2011680"/>
            <a:chOff x="0" y="0"/>
            <a:chExt cx="73152" cy="2682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971800" y="233019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① 第三方平台已有一定規模</a:t>
            </a:r>
          </a:p>
        </p:txBody>
      </p:sp>
      <p:sp>
        <p:nvSpPr>
          <p:cNvPr name="AutoShape 19" id="19"/>
          <p:cNvSpPr/>
          <p:nvPr/>
        </p:nvSpPr>
        <p:spPr>
          <a:xfrm rot="7260">
            <a:off x="2976172" y="2903029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779776" y="3043428"/>
            <a:ext cx="448360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富果、XQ、CMoney已有產品與客群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AI Agent </a:t>
            </a: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正形成新的金融服務入口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71800" y="384848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已觀察到｜規模基準待補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796851" y="2188531"/>
            <a:ext cx="4879724" cy="2023748"/>
            <a:chOff x="0" y="0"/>
            <a:chExt cx="6506299" cy="26983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802880" y="2194560"/>
            <a:ext cx="54864" cy="2011680"/>
            <a:chOff x="0" y="0"/>
            <a:chExt cx="73152" cy="2682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994904" y="2330196"/>
            <a:ext cx="451104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② 券商完整建置成本高</a:t>
            </a:r>
          </a:p>
        </p:txBody>
      </p:sp>
      <p:sp>
        <p:nvSpPr>
          <p:cNvPr name="AutoShape 27" id="27"/>
          <p:cNvSpPr/>
          <p:nvPr/>
        </p:nvSpPr>
        <p:spPr>
          <a:xfrm rot="7260">
            <a:off x="7999276" y="2903029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029194" y="3034284"/>
            <a:ext cx="4483608" cy="68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經紀牌照、資本與法遵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交易、帳務及交割要求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29194" y="3839337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00BBD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制度門檻明確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88007" y="4382767"/>
            <a:ext cx="2024377" cy="2024377"/>
            <a:chOff x="0" y="0"/>
            <a:chExt cx="2699169" cy="26991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9913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699131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lnTo>
                    <a:pt x="2429256" y="0"/>
                  </a:lnTo>
                  <a:cubicBezTo>
                    <a:pt x="2578354" y="0"/>
                    <a:pt x="2699131" y="120904"/>
                    <a:pt x="2699131" y="269875"/>
                  </a:cubicBezTo>
                  <a:lnTo>
                    <a:pt x="2699131" y="2429256"/>
                  </a:lnTo>
                  <a:cubicBezTo>
                    <a:pt x="2699131" y="2578354"/>
                    <a:pt x="2578227" y="2699131"/>
                    <a:pt x="2429256" y="2699131"/>
                  </a:cubicBezTo>
                  <a:lnTo>
                    <a:pt x="269875" y="2699131"/>
                  </a:lnTo>
                  <a:cubicBezTo>
                    <a:pt x="120904" y="2699131"/>
                    <a:pt x="0" y="2578354"/>
                    <a:pt x="0" y="2429256"/>
                  </a:cubicBezTo>
                  <a:close/>
                </a:path>
              </a:pathLst>
            </a:custGeom>
            <a:solidFill>
              <a:srgbClr val="0D2A43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94360" y="4389120"/>
            <a:ext cx="82296" cy="2011680"/>
            <a:chOff x="0" y="0"/>
            <a:chExt cx="109728" cy="2682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13816" y="4773168"/>
            <a:ext cx="164592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BROKER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ALGO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3816" y="5740908"/>
            <a:ext cx="1673352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法人需求與執行品質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773747" y="4383091"/>
            <a:ext cx="4879724" cy="2023748"/>
            <a:chOff x="0" y="0"/>
            <a:chExt cx="6506299" cy="26983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2779776" y="4389120"/>
            <a:ext cx="54864" cy="2011680"/>
            <a:chOff x="0" y="0"/>
            <a:chExt cx="73152" cy="2682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971800" y="452475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① 法人／外資交易具規模</a:t>
            </a:r>
          </a:p>
        </p:txBody>
      </p:sp>
      <p:sp>
        <p:nvSpPr>
          <p:cNvPr name="AutoShape 41" id="41"/>
          <p:cNvSpPr/>
          <p:nvPr/>
        </p:nvSpPr>
        <p:spPr>
          <a:xfrm rot="7260">
            <a:off x="2976172" y="5097590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2962656" y="5193792"/>
            <a:ext cx="4483608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47.9%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71800" y="5695569"/>
            <a:ext cx="4501896" cy="36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法人與外資現貨成交占比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71800" y="604304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00BBD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具市場規模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810562" y="4383091"/>
            <a:ext cx="4879724" cy="2023748"/>
            <a:chOff x="0" y="0"/>
            <a:chExt cx="6506299" cy="26983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816591" y="4389120"/>
            <a:ext cx="54864" cy="2011680"/>
            <a:chOff x="0" y="0"/>
            <a:chExt cx="73152" cy="2682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008615" y="4524756"/>
            <a:ext cx="451104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② </a:t>
            </a: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交易執行複雜度提升</a:t>
            </a:r>
          </a:p>
        </p:txBody>
      </p:sp>
      <p:sp>
        <p:nvSpPr>
          <p:cNvPr name="AutoShape 50" id="50"/>
          <p:cNvSpPr/>
          <p:nvPr/>
        </p:nvSpPr>
        <p:spPr>
          <a:xfrm>
            <a:off x="8012992" y="5097608"/>
            <a:ext cx="4493133" cy="9489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8008615" y="5237988"/>
            <a:ext cx="448360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有大額拆單需求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但跨市場 Routing 有限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008615" y="604304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部分支持｜提升趨勢待驗證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588007" y="6577327"/>
            <a:ext cx="2024377" cy="2024377"/>
            <a:chOff x="0" y="0"/>
            <a:chExt cx="2699169" cy="269916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9913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699131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lnTo>
                    <a:pt x="2429256" y="0"/>
                  </a:lnTo>
                  <a:cubicBezTo>
                    <a:pt x="2578354" y="0"/>
                    <a:pt x="2699131" y="120904"/>
                    <a:pt x="2699131" y="269875"/>
                  </a:cubicBezTo>
                  <a:lnTo>
                    <a:pt x="2699131" y="2429256"/>
                  </a:lnTo>
                  <a:cubicBezTo>
                    <a:pt x="2699131" y="2578354"/>
                    <a:pt x="2578227" y="2699131"/>
                    <a:pt x="2429256" y="2699131"/>
                  </a:cubicBezTo>
                  <a:lnTo>
                    <a:pt x="269875" y="2699131"/>
                  </a:lnTo>
                  <a:cubicBezTo>
                    <a:pt x="120904" y="2699131"/>
                    <a:pt x="0" y="2578354"/>
                    <a:pt x="0" y="2429256"/>
                  </a:cubicBezTo>
                  <a:close/>
                </a:path>
              </a:pathLst>
            </a:custGeom>
            <a:solidFill>
              <a:srgbClr val="0D2A43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94360" y="6583680"/>
            <a:ext cx="82296" cy="2011680"/>
            <a:chOff x="0" y="0"/>
            <a:chExt cx="109728" cy="2682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813816" y="6977253"/>
            <a:ext cx="164592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13816" y="7935468"/>
            <a:ext cx="1673352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專業交易與高速經濟性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2773747" y="6577651"/>
            <a:ext cx="4879724" cy="2023748"/>
            <a:chOff x="0" y="0"/>
            <a:chExt cx="6506299" cy="26983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2779776" y="6583680"/>
            <a:ext cx="54864" cy="2011680"/>
            <a:chOff x="0" y="0"/>
            <a:chExt cx="73152" cy="26822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2971800" y="671931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① 專業交易者具規模</a:t>
            </a:r>
          </a:p>
        </p:txBody>
      </p:sp>
      <p:sp>
        <p:nvSpPr>
          <p:cNvPr name="AutoShape 64" id="64"/>
          <p:cNvSpPr/>
          <p:nvPr/>
        </p:nvSpPr>
        <p:spPr>
          <a:xfrm rot="7260">
            <a:off x="2976172" y="7292150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2971800" y="823760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間接支持｜非 HFT 占比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7796851" y="6577651"/>
            <a:ext cx="4879724" cy="2023748"/>
            <a:chOff x="0" y="0"/>
            <a:chExt cx="6506299" cy="269833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7802880" y="6583680"/>
            <a:ext cx="54864" cy="2011680"/>
            <a:chOff x="0" y="0"/>
            <a:chExt cx="73152" cy="2682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7994904" y="671931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② 高周轉與短線交易特徵</a:t>
            </a:r>
          </a:p>
        </p:txBody>
      </p:sp>
      <p:sp>
        <p:nvSpPr>
          <p:cNvPr name="AutoShape 71" id="71"/>
          <p:cNvSpPr/>
          <p:nvPr/>
        </p:nvSpPr>
        <p:spPr>
          <a:xfrm rot="7260">
            <a:off x="7999276" y="7292150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2" id="72"/>
          <p:cNvSpPr txBox="true"/>
          <p:nvPr/>
        </p:nvSpPr>
        <p:spPr>
          <a:xfrm rot="0">
            <a:off x="7994904" y="823760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00BBD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短線交易特徵明確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819955" y="6577651"/>
            <a:ext cx="4879724" cy="2023748"/>
            <a:chOff x="0" y="0"/>
            <a:chExt cx="6506299" cy="26983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2825984" y="6583680"/>
            <a:ext cx="54864" cy="2011680"/>
            <a:chOff x="0" y="0"/>
            <a:chExt cx="73152" cy="2682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018008" y="671931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③ 高速交易具經濟性</a:t>
            </a:r>
          </a:p>
        </p:txBody>
      </p:sp>
      <p:sp>
        <p:nvSpPr>
          <p:cNvPr name="AutoShape 78" id="78"/>
          <p:cNvSpPr/>
          <p:nvPr/>
        </p:nvSpPr>
        <p:spPr>
          <a:xfrm rot="7260">
            <a:off x="13022380" y="7292150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9" id="79"/>
          <p:cNvSpPr txBox="true"/>
          <p:nvPr/>
        </p:nvSpPr>
        <p:spPr>
          <a:xfrm rot="0">
            <a:off x="13018008" y="7432548"/>
            <a:ext cx="4483608" cy="68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現股證交稅 0.3%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股價類期貨交易稅 0.002%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018008" y="823760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稅基不同｜獲利性未驗證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586426" y="8962330"/>
            <a:ext cx="17115158" cy="628526"/>
            <a:chOff x="0" y="0"/>
            <a:chExt cx="22820211" cy="83803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820249" cy="838073"/>
            </a:xfrm>
            <a:custGeom>
              <a:avLst/>
              <a:gdLst/>
              <a:ahLst/>
              <a:cxnLst/>
              <a:rect r="r" b="b" t="t" l="l"/>
              <a:pathLst>
                <a:path h="838073" w="22820249">
                  <a:moveTo>
                    <a:pt x="0" y="0"/>
                  </a:moveTo>
                  <a:lnTo>
                    <a:pt x="22820249" y="0"/>
                  </a:lnTo>
                  <a:lnTo>
                    <a:pt x="22820249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06172B"/>
            </a:solidFill>
            <a:ln w="15875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83" id="83"/>
          <p:cNvSpPr txBox="true"/>
          <p:nvPr/>
        </p:nvSpPr>
        <p:spPr>
          <a:xfrm rot="0">
            <a:off x="804672" y="9060180"/>
            <a:ext cx="16687800" cy="3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驗證促成條件是否可觀察，不代表符合九項條件即可獲得投資報酬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03504" y="9883902"/>
            <a:ext cx="16952976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資料：原簡報台灣市場章；47.9%（現貨法人與外資）；37.1%（2025/12）；專線與稅率資料需保留原始統計口徑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857744" y="7439769"/>
            <a:ext cx="451365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當沖成交值占市場 37.1% (韓國 40.1%)</a:t>
            </a:r>
          </a:p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TWSE 週轉率：118.5% (韓國 145.4%)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810008" y="7366635"/>
            <a:ext cx="481633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演算法交易約占 87% 委託量</a:t>
            </a:r>
          </a:p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外資／造市者 &gt;90% 使用專線下單</a:t>
            </a:r>
          </a:p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TWSE Co-Location 機櫃已飽和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109728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第三章  /  台灣市場發展條件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19912"/>
            <a:ext cx="1723644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依台灣條件成熟度，決定三項業務的投入方式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4360" y="1470660"/>
            <a:ext cx="16824960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市場證據是方向判斷的起點；擴大投資仍須驗證實際採用、交易貢獻與成本效益</a:t>
            </a:r>
          </a:p>
        </p:txBody>
      </p:sp>
      <p:sp>
        <p:nvSpPr>
          <p:cNvPr name="AutoShape 7" id="7"/>
          <p:cNvSpPr/>
          <p:nvPr/>
        </p:nvSpPr>
        <p:spPr>
          <a:xfrm rot="2580">
            <a:off x="578863" y="1970342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40080" y="2137791"/>
            <a:ext cx="2331720" cy="44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業務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27248" y="2137791"/>
            <a:ext cx="4434840" cy="44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目前的市場判斷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26680" y="2137791"/>
            <a:ext cx="473659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券商現在可以做什麼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91288" y="2137791"/>
            <a:ext cx="5056632" cy="44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擴大投入前必須驗證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23319" y="2644163"/>
            <a:ext cx="17068803" cy="15193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16391" y="2893247"/>
            <a:ext cx="17082640" cy="1793872"/>
            <a:chOff x="0" y="0"/>
            <a:chExt cx="22776853" cy="23918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776814" cy="2391791"/>
            </a:xfrm>
            <a:custGeom>
              <a:avLst/>
              <a:gdLst/>
              <a:ahLst/>
              <a:cxnLst/>
              <a:rect r="r" b="b" t="t" l="l"/>
              <a:pathLst>
                <a:path h="2391791" w="22776814">
                  <a:moveTo>
                    <a:pt x="0" y="239141"/>
                  </a:moveTo>
                  <a:cubicBezTo>
                    <a:pt x="0" y="107061"/>
                    <a:pt x="107061" y="0"/>
                    <a:pt x="239141" y="0"/>
                  </a:cubicBezTo>
                  <a:lnTo>
                    <a:pt x="22537674" y="0"/>
                  </a:lnTo>
                  <a:cubicBezTo>
                    <a:pt x="22669754" y="0"/>
                    <a:pt x="22776814" y="107061"/>
                    <a:pt x="22776814" y="239141"/>
                  </a:cubicBezTo>
                  <a:lnTo>
                    <a:pt x="22776814" y="2152650"/>
                  </a:lnTo>
                  <a:cubicBezTo>
                    <a:pt x="22776814" y="2284730"/>
                    <a:pt x="22669754" y="2391791"/>
                    <a:pt x="22537674" y="2391791"/>
                  </a:cubicBezTo>
                  <a:lnTo>
                    <a:pt x="239141" y="2391791"/>
                  </a:lnTo>
                  <a:cubicBezTo>
                    <a:pt x="107061" y="2391791"/>
                    <a:pt x="0" y="2284730"/>
                    <a:pt x="0" y="2152650"/>
                  </a:cubicBezTo>
                  <a:close/>
                </a:path>
              </a:pathLst>
            </a:custGeom>
            <a:solidFill>
              <a:srgbClr val="16334F"/>
            </a:solidFill>
            <a:ln w="1079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21792" y="2898648"/>
            <a:ext cx="91440" cy="1783080"/>
            <a:chOff x="0" y="0"/>
            <a:chExt cx="121920" cy="2377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9536" y="3429381"/>
            <a:ext cx="2048256" cy="62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54680" y="3180588"/>
            <a:ext cx="4297680" cy="115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第三方已有產品與客群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API 成交占比僅 0.35%</a:t>
            </a:r>
          </a:p>
        </p:txBody>
      </p:sp>
      <p:sp>
        <p:nvSpPr>
          <p:cNvPr name="AutoShape 19" id="19"/>
          <p:cNvSpPr/>
          <p:nvPr/>
        </p:nvSpPr>
        <p:spPr>
          <a:xfrm rot="5374020">
            <a:off x="6898624" y="3789997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7790688" y="3180588"/>
            <a:ext cx="4572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優先</a:t>
            </a: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第三方合作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先建標準化交易串接能力</a:t>
            </a:r>
          </a:p>
        </p:txBody>
      </p:sp>
      <p:sp>
        <p:nvSpPr>
          <p:cNvPr name="AutoShape 21" id="21"/>
          <p:cNvSpPr/>
          <p:nvPr/>
        </p:nvSpPr>
        <p:spPr>
          <a:xfrm rot="5374020">
            <a:off x="11808952" y="3789997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2719304" y="3217164"/>
            <a:ext cx="4736592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新增成交與開戶是否可歸因於合作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合作平台的活躍交易及營收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16391" y="4914071"/>
            <a:ext cx="17082640" cy="1793872"/>
            <a:chOff x="0" y="0"/>
            <a:chExt cx="22776853" cy="23918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76814" cy="2391791"/>
            </a:xfrm>
            <a:custGeom>
              <a:avLst/>
              <a:gdLst/>
              <a:ahLst/>
              <a:cxnLst/>
              <a:rect r="r" b="b" t="t" l="l"/>
              <a:pathLst>
                <a:path h="2391791" w="22776814">
                  <a:moveTo>
                    <a:pt x="0" y="239141"/>
                  </a:moveTo>
                  <a:cubicBezTo>
                    <a:pt x="0" y="107061"/>
                    <a:pt x="107061" y="0"/>
                    <a:pt x="239141" y="0"/>
                  </a:cubicBezTo>
                  <a:lnTo>
                    <a:pt x="22537674" y="0"/>
                  </a:lnTo>
                  <a:cubicBezTo>
                    <a:pt x="22669754" y="0"/>
                    <a:pt x="22776814" y="107061"/>
                    <a:pt x="22776814" y="239141"/>
                  </a:cubicBezTo>
                  <a:lnTo>
                    <a:pt x="22776814" y="2152650"/>
                  </a:lnTo>
                  <a:cubicBezTo>
                    <a:pt x="22776814" y="2284730"/>
                    <a:pt x="22669754" y="2391791"/>
                    <a:pt x="22537674" y="2391791"/>
                  </a:cubicBezTo>
                  <a:lnTo>
                    <a:pt x="239141" y="2391791"/>
                  </a:lnTo>
                  <a:cubicBezTo>
                    <a:pt x="107061" y="2391791"/>
                    <a:pt x="0" y="2284730"/>
                    <a:pt x="0" y="2152650"/>
                  </a:cubicBezTo>
                  <a:close/>
                </a:path>
              </a:pathLst>
            </a:custGeom>
            <a:solidFill>
              <a:srgbClr val="16334F"/>
            </a:solidFill>
            <a:ln w="1079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21792" y="4919472"/>
            <a:ext cx="91440" cy="1783080"/>
            <a:chOff x="0" y="0"/>
            <a:chExt cx="121920" cy="2377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59536" y="5450205"/>
            <a:ext cx="2048256" cy="62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BROKER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ALGO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680" y="5201412"/>
            <a:ext cx="4297680" cy="115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法人／外資占現貨成交 47.9%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大單執行與成本控制需求存在</a:t>
            </a:r>
          </a:p>
        </p:txBody>
      </p:sp>
      <p:sp>
        <p:nvSpPr>
          <p:cNvPr name="AutoShape 29" id="29"/>
          <p:cNvSpPr/>
          <p:nvPr/>
        </p:nvSpPr>
        <p:spPr>
          <a:xfrm rot="5374020">
            <a:off x="6898624" y="5810821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7790688" y="5201412"/>
            <a:ext cx="4572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以</a:t>
            </a: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專業執行品質</a:t>
            </a: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爭取法人委託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優先拆單、TWAP／VWAP 等服務</a:t>
            </a:r>
          </a:p>
        </p:txBody>
      </p:sp>
      <p:sp>
        <p:nvSpPr>
          <p:cNvPr name="AutoShape 31" id="31"/>
          <p:cNvSpPr/>
          <p:nvPr/>
        </p:nvSpPr>
        <p:spPr>
          <a:xfrm rot="5374020">
            <a:off x="11808952" y="5810821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2719304" y="5237988"/>
            <a:ext cx="4736592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法人實際採用率與委託貢獻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執行品質與成本改善幅度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16391" y="6934895"/>
            <a:ext cx="17082640" cy="1793872"/>
            <a:chOff x="0" y="0"/>
            <a:chExt cx="22776853" cy="23918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776814" cy="2391791"/>
            </a:xfrm>
            <a:custGeom>
              <a:avLst/>
              <a:gdLst/>
              <a:ahLst/>
              <a:cxnLst/>
              <a:rect r="r" b="b" t="t" l="l"/>
              <a:pathLst>
                <a:path h="2391791" w="22776814">
                  <a:moveTo>
                    <a:pt x="0" y="239141"/>
                  </a:moveTo>
                  <a:cubicBezTo>
                    <a:pt x="0" y="107061"/>
                    <a:pt x="107061" y="0"/>
                    <a:pt x="239141" y="0"/>
                  </a:cubicBezTo>
                  <a:lnTo>
                    <a:pt x="22537674" y="0"/>
                  </a:lnTo>
                  <a:cubicBezTo>
                    <a:pt x="22669754" y="0"/>
                    <a:pt x="22776814" y="107061"/>
                    <a:pt x="22776814" y="239141"/>
                  </a:cubicBezTo>
                  <a:lnTo>
                    <a:pt x="22776814" y="2152650"/>
                  </a:lnTo>
                  <a:cubicBezTo>
                    <a:pt x="22776814" y="2284730"/>
                    <a:pt x="22669754" y="2391791"/>
                    <a:pt x="22537674" y="2391791"/>
                  </a:cubicBezTo>
                  <a:lnTo>
                    <a:pt x="239141" y="2391791"/>
                  </a:lnTo>
                  <a:cubicBezTo>
                    <a:pt x="107061" y="2391791"/>
                    <a:pt x="0" y="2284730"/>
                    <a:pt x="0" y="2152650"/>
                  </a:cubicBezTo>
                  <a:close/>
                </a:path>
              </a:pathLst>
            </a:custGeom>
            <a:solidFill>
              <a:srgbClr val="16334F"/>
            </a:solidFill>
            <a:ln w="1079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21792" y="6940296"/>
            <a:ext cx="91440" cy="1783080"/>
            <a:chOff x="0" y="0"/>
            <a:chExt cx="121920" cy="2377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859536" y="7471029"/>
            <a:ext cx="2048256" cy="62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154680" y="7222236"/>
            <a:ext cx="4297680" cy="115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高周轉與專業交易基礎可觀察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策略獲利與建置回收尚未驗證</a:t>
            </a:r>
          </a:p>
        </p:txBody>
      </p:sp>
      <p:sp>
        <p:nvSpPr>
          <p:cNvPr name="AutoShape 39" id="39"/>
          <p:cNvSpPr/>
          <p:nvPr/>
        </p:nvSpPr>
        <p:spPr>
          <a:xfrm rot="5374020">
            <a:off x="6898624" y="7831646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7790688" y="7222236"/>
            <a:ext cx="4572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不建議全面建置低延遲設施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先聚焦</a:t>
            </a: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衍生品專業客戶</a:t>
            </a:r>
          </a:p>
        </p:txBody>
      </p:sp>
      <p:sp>
        <p:nvSpPr>
          <p:cNvPr name="AutoShape 41" id="41"/>
          <p:cNvSpPr/>
          <p:nvPr/>
        </p:nvSpPr>
        <p:spPr>
          <a:xfrm rot="5374020">
            <a:off x="11808952" y="7831646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2719304" y="7258812"/>
            <a:ext cx="4736592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客戶需求及增量交易承諾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連線、機櫃與營運成本回收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13534" y="8966892"/>
            <a:ext cx="17088355" cy="867794"/>
            <a:chOff x="0" y="0"/>
            <a:chExt cx="22784473" cy="11570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784436" cy="1157008"/>
            </a:xfrm>
            <a:custGeom>
              <a:avLst/>
              <a:gdLst/>
              <a:ahLst/>
              <a:cxnLst/>
              <a:rect r="r" b="b" t="t" l="l"/>
              <a:pathLst>
                <a:path h="1157008" w="22784436">
                  <a:moveTo>
                    <a:pt x="0" y="0"/>
                  </a:moveTo>
                  <a:lnTo>
                    <a:pt x="22784436" y="0"/>
                  </a:lnTo>
                  <a:lnTo>
                    <a:pt x="22784436" y="1157008"/>
                  </a:lnTo>
                  <a:lnTo>
                    <a:pt x="0" y="1157008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713232" y="9051788"/>
            <a:ext cx="1670608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後續研究方向：</a:t>
            </a:r>
            <a:r>
              <a:rPr lang="en-US" sz="21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本研究著重於台灣市場機會與券商發展</a:t>
            </a:r>
            <a:r>
              <a:rPr lang="en-US" sz="21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方向的評估。至於各項業務的預期獲利、投資優先順序及所需投入預算，仍須結合實際客戶需求、交易貢獻、建置成本及公司內部資料，進一步進行投資可行性評估。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03504" y="9902190"/>
            <a:ext cx="16952976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資料：原簡報第三章台灣市場條件與結論；API 成交占比、法人交易占比皆沿用 10/14 簡報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11167" y="4686377"/>
            <a:ext cx="12079506" cy="108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  <a:spcBef>
                <a:spcPct val="0"/>
              </a:spcBef>
            </a:pPr>
            <a:r>
              <a:rPr lang="en-US" sz="78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附錄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0263" y="333375"/>
            <a:ext cx="115062" cy="403098"/>
            <a:chOff x="0" y="0"/>
            <a:chExt cx="153416" cy="537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416" cy="537464"/>
            </a:xfrm>
            <a:custGeom>
              <a:avLst/>
              <a:gdLst/>
              <a:ahLst/>
              <a:cxnLst/>
              <a:rect r="r" b="b" t="t" l="l"/>
              <a:pathLst>
                <a:path h="537464" w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lnTo>
                    <a:pt x="153416" y="460756"/>
                  </a:lnTo>
                  <a:cubicBezTo>
                    <a:pt x="153416" y="503174"/>
                    <a:pt x="119126" y="537464"/>
                    <a:pt x="76708" y="537464"/>
                  </a:cubicBezTo>
                  <a:cubicBezTo>
                    <a:pt x="34290" y="537464"/>
                    <a:pt x="0" y="503174"/>
                    <a:pt x="0" y="460756"/>
                  </a:cubicBezTo>
                  <a:close/>
                </a:path>
              </a:pathLst>
            </a:custGeom>
            <a:solidFill>
              <a:srgbClr val="FFC5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6676" y="260604"/>
            <a:ext cx="12207240" cy="534924"/>
            <a:chOff x="0" y="0"/>
            <a:chExt cx="16276320" cy="7132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76320" cy="713232"/>
            </a:xfrm>
            <a:custGeom>
              <a:avLst/>
              <a:gdLst/>
              <a:ahLst/>
              <a:cxnLst/>
              <a:rect r="r" b="b" t="t" l="l"/>
              <a:pathLst>
                <a:path h="713232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658" r="0" b="-3946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6276320" cy="703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第一章  /  程式交易服務定位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9788" y="836676"/>
            <a:ext cx="16870680" cy="740664"/>
            <a:chOff x="0" y="0"/>
            <a:chExt cx="22494240" cy="9875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94239" cy="987552"/>
            </a:xfrm>
            <a:custGeom>
              <a:avLst/>
              <a:gdLst/>
              <a:ahLst/>
              <a:cxnLst/>
              <a:rect r="r" b="b" t="t" l="l"/>
              <a:pathLst>
                <a:path h="987552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494240" cy="98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三種程式交易服務的收費模式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3504" y="1618488"/>
            <a:ext cx="16939260" cy="384048"/>
            <a:chOff x="0" y="0"/>
            <a:chExt cx="2258568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85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2585680">
                  <a:moveTo>
                    <a:pt x="0" y="0"/>
                  </a:moveTo>
                  <a:lnTo>
                    <a:pt x="22585680" y="0"/>
                  </a:lnTo>
                  <a:lnTo>
                    <a:pt x="22585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9429" r="0" b="-8094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25856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三者主要皆能帶動經紀業務，但服務收費與取得交易流量的方式不同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4200">
            <a:off x="565585" y="2121217"/>
            <a:ext cx="17152249" cy="0"/>
          </a:xfrm>
          <a:prstGeom prst="line">
            <a:avLst/>
          </a:prstGeom>
          <a:ln cap="rnd" w="9525">
            <a:solidFill>
              <a:srgbClr val="2D58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81216" y="2323148"/>
            <a:ext cx="3528441" cy="675513"/>
            <a:chOff x="0" y="0"/>
            <a:chExt cx="4704588" cy="900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04588" cy="900684"/>
            </a:xfrm>
            <a:custGeom>
              <a:avLst/>
              <a:gdLst/>
              <a:ahLst/>
              <a:cxnLst/>
              <a:rect r="r" b="b" t="t" l="l"/>
              <a:pathLst>
                <a:path h="900684" w="4704588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4573270" y="0"/>
                  </a:lnTo>
                  <a:cubicBezTo>
                    <a:pt x="4645787" y="0"/>
                    <a:pt x="4704588" y="58801"/>
                    <a:pt x="4704588" y="131318"/>
                  </a:cubicBezTo>
                  <a:lnTo>
                    <a:pt x="4704588" y="769366"/>
                  </a:lnTo>
                  <a:cubicBezTo>
                    <a:pt x="4704588" y="841883"/>
                    <a:pt x="4645787" y="900684"/>
                    <a:pt x="4573270" y="900684"/>
                  </a:cubicBezTo>
                  <a:lnTo>
                    <a:pt x="131318" y="900684"/>
                  </a:lnTo>
                  <a:cubicBezTo>
                    <a:pt x="58801" y="900684"/>
                    <a:pt x="0" y="841883"/>
                    <a:pt x="0" y="769366"/>
                  </a:cubicBezTo>
                  <a:close/>
                </a:path>
              </a:pathLst>
            </a:custGeom>
            <a:solidFill>
              <a:srgbClr val="0B253F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13232" y="2427732"/>
            <a:ext cx="3264408" cy="370332"/>
            <a:chOff x="0" y="0"/>
            <a:chExt cx="4352544" cy="4937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52544" cy="493776"/>
            </a:xfrm>
            <a:custGeom>
              <a:avLst/>
              <a:gdLst/>
              <a:ahLst/>
              <a:cxnLst/>
              <a:rect r="r" b="b" t="t" l="l"/>
              <a:pathLst>
                <a:path h="493776" w="4352544">
                  <a:moveTo>
                    <a:pt x="0" y="0"/>
                  </a:moveTo>
                  <a:lnTo>
                    <a:pt x="4352544" y="0"/>
                  </a:lnTo>
                  <a:lnTo>
                    <a:pt x="435254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757" r="0" b="-1217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352544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4"/>
                </a:lnSpc>
              </a:pPr>
              <a:r>
                <a:rPr lang="en-US" sz="222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業務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09097" y="2323148"/>
            <a:ext cx="4200525" cy="675513"/>
            <a:chOff x="0" y="0"/>
            <a:chExt cx="5600700" cy="9006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00700" cy="900684"/>
            </a:xfrm>
            <a:custGeom>
              <a:avLst/>
              <a:gdLst/>
              <a:ahLst/>
              <a:cxnLst/>
              <a:rect r="r" b="b" t="t" l="l"/>
              <a:pathLst>
                <a:path h="900684" w="5600700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5469382" y="0"/>
                  </a:lnTo>
                  <a:cubicBezTo>
                    <a:pt x="5541899" y="0"/>
                    <a:pt x="5600700" y="58801"/>
                    <a:pt x="5600700" y="131318"/>
                  </a:cubicBezTo>
                  <a:lnTo>
                    <a:pt x="5600700" y="769366"/>
                  </a:lnTo>
                  <a:cubicBezTo>
                    <a:pt x="5600700" y="841883"/>
                    <a:pt x="5541899" y="900684"/>
                    <a:pt x="5469382" y="900684"/>
                  </a:cubicBezTo>
                  <a:lnTo>
                    <a:pt x="131318" y="900684"/>
                  </a:lnTo>
                  <a:cubicBezTo>
                    <a:pt x="58801" y="900684"/>
                    <a:pt x="0" y="841883"/>
                    <a:pt x="0" y="769366"/>
                  </a:cubicBezTo>
                  <a:close/>
                </a:path>
              </a:pathLst>
            </a:custGeom>
            <a:solidFill>
              <a:srgbClr val="0B253F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341114" y="2427732"/>
            <a:ext cx="3936492" cy="370332"/>
            <a:chOff x="0" y="0"/>
            <a:chExt cx="5248656" cy="4937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48656" cy="493776"/>
            </a:xfrm>
            <a:custGeom>
              <a:avLst/>
              <a:gdLst/>
              <a:ahLst/>
              <a:cxnLst/>
              <a:rect r="r" b="b" t="t" l="l"/>
              <a:pathLst>
                <a:path h="493776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118" r="0" b="-1571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248656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4"/>
                </a:lnSpc>
              </a:pPr>
              <a:r>
                <a:rPr lang="en-US" sz="222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主要收入模式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09064" y="2323148"/>
            <a:ext cx="4378833" cy="675513"/>
            <a:chOff x="0" y="0"/>
            <a:chExt cx="5838444" cy="9006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38444" cy="900684"/>
            </a:xfrm>
            <a:custGeom>
              <a:avLst/>
              <a:gdLst/>
              <a:ahLst/>
              <a:cxnLst/>
              <a:rect r="r" b="b" t="t" l="l"/>
              <a:pathLst>
                <a:path h="900684" w="5838444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5707126" y="0"/>
                  </a:lnTo>
                  <a:cubicBezTo>
                    <a:pt x="5779643" y="0"/>
                    <a:pt x="5838444" y="58801"/>
                    <a:pt x="5838444" y="131318"/>
                  </a:cubicBezTo>
                  <a:lnTo>
                    <a:pt x="5838444" y="769366"/>
                  </a:lnTo>
                  <a:cubicBezTo>
                    <a:pt x="5838444" y="841883"/>
                    <a:pt x="5779643" y="900684"/>
                    <a:pt x="5707126" y="900684"/>
                  </a:cubicBezTo>
                  <a:lnTo>
                    <a:pt x="131318" y="900684"/>
                  </a:lnTo>
                  <a:cubicBezTo>
                    <a:pt x="58801" y="900684"/>
                    <a:pt x="0" y="841883"/>
                    <a:pt x="0" y="769366"/>
                  </a:cubicBezTo>
                  <a:close/>
                </a:path>
              </a:pathLst>
            </a:custGeom>
            <a:solidFill>
              <a:srgbClr val="0B253F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641080" y="2427732"/>
            <a:ext cx="4114800" cy="370332"/>
            <a:chOff x="0" y="0"/>
            <a:chExt cx="5486400" cy="4937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493776"/>
            </a:xfrm>
            <a:custGeom>
              <a:avLst/>
              <a:gdLst/>
              <a:ahLst/>
              <a:cxnLst/>
              <a:rect r="r" b="b" t="t" l="l"/>
              <a:pathLst>
                <a:path h="49377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4"/>
                </a:lnSpc>
              </a:pPr>
              <a:r>
                <a:rPr lang="en-US" sz="222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代表收費案例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87338" y="2323148"/>
            <a:ext cx="4749165" cy="675513"/>
            <a:chOff x="0" y="0"/>
            <a:chExt cx="6332220" cy="9006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32220" cy="900684"/>
            </a:xfrm>
            <a:custGeom>
              <a:avLst/>
              <a:gdLst/>
              <a:ahLst/>
              <a:cxnLst/>
              <a:rect r="r" b="b" t="t" l="l"/>
              <a:pathLst>
                <a:path h="900684" w="6332220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6200902" y="0"/>
                  </a:lnTo>
                  <a:cubicBezTo>
                    <a:pt x="6273419" y="0"/>
                    <a:pt x="6332220" y="58801"/>
                    <a:pt x="6332220" y="131318"/>
                  </a:cubicBezTo>
                  <a:lnTo>
                    <a:pt x="6332220" y="769366"/>
                  </a:lnTo>
                  <a:cubicBezTo>
                    <a:pt x="6332220" y="841883"/>
                    <a:pt x="6273419" y="900684"/>
                    <a:pt x="6200902" y="900684"/>
                  </a:cubicBezTo>
                  <a:lnTo>
                    <a:pt x="131318" y="900684"/>
                  </a:lnTo>
                  <a:cubicBezTo>
                    <a:pt x="58801" y="900684"/>
                    <a:pt x="0" y="841883"/>
                    <a:pt x="0" y="769366"/>
                  </a:cubicBezTo>
                  <a:close/>
                </a:path>
              </a:pathLst>
            </a:custGeom>
            <a:solidFill>
              <a:srgbClr val="0B253F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119354" y="2427732"/>
            <a:ext cx="4485132" cy="370332"/>
            <a:chOff x="0" y="0"/>
            <a:chExt cx="5980176" cy="4937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80176" cy="493776"/>
            </a:xfrm>
            <a:custGeom>
              <a:avLst/>
              <a:gdLst/>
              <a:ahLst/>
              <a:cxnLst/>
              <a:rect r="r" b="b" t="t" l="l"/>
              <a:pathLst>
                <a:path h="493776" w="5980176">
                  <a:moveTo>
                    <a:pt x="0" y="0"/>
                  </a:moveTo>
                  <a:lnTo>
                    <a:pt x="5980176" y="0"/>
                  </a:lnTo>
                  <a:lnTo>
                    <a:pt x="59801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85" r="0" b="-18598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980176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4"/>
                </a:lnSpc>
              </a:pPr>
              <a:r>
                <a:rPr lang="en-US" sz="222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商業意涵與限制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82168" y="3105912"/>
            <a:ext cx="3526536" cy="1743456"/>
            <a:chOff x="0" y="0"/>
            <a:chExt cx="4702048" cy="23246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02048" cy="2324608"/>
            </a:xfrm>
            <a:custGeom>
              <a:avLst/>
              <a:gdLst/>
              <a:ahLst/>
              <a:cxnLst/>
              <a:rect r="r" b="b" t="t" l="l"/>
              <a:pathLst>
                <a:path h="2324608" w="4702048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4572889" y="0"/>
                  </a:lnTo>
                  <a:cubicBezTo>
                    <a:pt x="4644263" y="0"/>
                    <a:pt x="4702048" y="57785"/>
                    <a:pt x="4702048" y="129159"/>
                  </a:cubicBezTo>
                  <a:lnTo>
                    <a:pt x="4702048" y="2195449"/>
                  </a:lnTo>
                  <a:cubicBezTo>
                    <a:pt x="4702048" y="2266823"/>
                    <a:pt x="4644263" y="2324608"/>
                    <a:pt x="4572889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210050" y="3105912"/>
            <a:ext cx="4198620" cy="1743456"/>
            <a:chOff x="0" y="0"/>
            <a:chExt cx="5598160" cy="2324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98160" cy="2324608"/>
            </a:xfrm>
            <a:custGeom>
              <a:avLst/>
              <a:gdLst/>
              <a:ahLst/>
              <a:cxnLst/>
              <a:rect r="r" b="b" t="t" l="l"/>
              <a:pathLst>
                <a:path h="2324608" w="559816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469001" y="0"/>
                  </a:lnTo>
                  <a:cubicBezTo>
                    <a:pt x="5540375" y="0"/>
                    <a:pt x="5598160" y="57785"/>
                    <a:pt x="5598160" y="129159"/>
                  </a:cubicBezTo>
                  <a:lnTo>
                    <a:pt x="5598160" y="2195449"/>
                  </a:lnTo>
                  <a:cubicBezTo>
                    <a:pt x="5598160" y="2266823"/>
                    <a:pt x="5540375" y="2324608"/>
                    <a:pt x="546900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510016" y="3105912"/>
            <a:ext cx="4376928" cy="1743456"/>
            <a:chOff x="0" y="0"/>
            <a:chExt cx="5835904" cy="23246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35904" cy="2324608"/>
            </a:xfrm>
            <a:custGeom>
              <a:avLst/>
              <a:gdLst/>
              <a:ahLst/>
              <a:cxnLst/>
              <a:rect r="r" b="b" t="t" l="l"/>
              <a:pathLst>
                <a:path h="2324608" w="5835904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706745" y="0"/>
                  </a:lnTo>
                  <a:cubicBezTo>
                    <a:pt x="5778119" y="0"/>
                    <a:pt x="5835904" y="57785"/>
                    <a:pt x="5835904" y="129159"/>
                  </a:cubicBezTo>
                  <a:lnTo>
                    <a:pt x="5835904" y="2195449"/>
                  </a:lnTo>
                  <a:cubicBezTo>
                    <a:pt x="5835904" y="2266823"/>
                    <a:pt x="5778119" y="2324608"/>
                    <a:pt x="5706745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988290" y="3105912"/>
            <a:ext cx="4747260" cy="1743456"/>
            <a:chOff x="0" y="0"/>
            <a:chExt cx="6329680" cy="23246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29680" cy="2324608"/>
            </a:xfrm>
            <a:custGeom>
              <a:avLst/>
              <a:gdLst/>
              <a:ahLst/>
              <a:cxnLst/>
              <a:rect r="r" b="b" t="t" l="l"/>
              <a:pathLst>
                <a:path h="2324608" w="632968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6200521" y="0"/>
                  </a:lnTo>
                  <a:cubicBezTo>
                    <a:pt x="6271895" y="0"/>
                    <a:pt x="6329680" y="57785"/>
                    <a:pt x="6329680" y="129159"/>
                  </a:cubicBezTo>
                  <a:lnTo>
                    <a:pt x="6329680" y="2195449"/>
                  </a:lnTo>
                  <a:cubicBezTo>
                    <a:pt x="6329680" y="2266823"/>
                    <a:pt x="6271895" y="2324608"/>
                    <a:pt x="620052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580263" y="3104007"/>
            <a:ext cx="115062" cy="1747266"/>
            <a:chOff x="0" y="0"/>
            <a:chExt cx="153416" cy="23296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3416" cy="2329688"/>
            </a:xfrm>
            <a:custGeom>
              <a:avLst/>
              <a:gdLst/>
              <a:ahLst/>
              <a:cxnLst/>
              <a:rect r="r" b="b" t="t" l="l"/>
              <a:pathLst>
                <a:path h="2329688" w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lnTo>
                    <a:pt x="153416" y="2252980"/>
                  </a:lnTo>
                  <a:cubicBezTo>
                    <a:pt x="153416" y="2295398"/>
                    <a:pt x="119126" y="2329688"/>
                    <a:pt x="76708" y="2329688"/>
                  </a:cubicBezTo>
                  <a:cubicBezTo>
                    <a:pt x="34290" y="2329688"/>
                    <a:pt x="0" y="2295398"/>
                    <a:pt x="0" y="2252980"/>
                  </a:cubicBezTo>
                  <a:close/>
                </a:path>
              </a:pathLst>
            </a:custGeom>
            <a:solidFill>
              <a:srgbClr val="FFC54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89064" y="3604831"/>
            <a:ext cx="814197" cy="622173"/>
            <a:chOff x="0" y="0"/>
            <a:chExt cx="1085596" cy="8295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5596" cy="829564"/>
            </a:xfrm>
            <a:custGeom>
              <a:avLst/>
              <a:gdLst/>
              <a:ahLst/>
              <a:cxnLst/>
              <a:rect r="r" b="b" t="t" l="l"/>
              <a:pathLst>
                <a:path h="829564" w="1085596">
                  <a:moveTo>
                    <a:pt x="0" y="154305"/>
                  </a:moveTo>
                  <a:cubicBezTo>
                    <a:pt x="0" y="69088"/>
                    <a:pt x="69088" y="0"/>
                    <a:pt x="154305" y="0"/>
                  </a:cubicBezTo>
                  <a:lnTo>
                    <a:pt x="931291" y="0"/>
                  </a:lnTo>
                  <a:cubicBezTo>
                    <a:pt x="1016508" y="0"/>
                    <a:pt x="1085596" y="69088"/>
                    <a:pt x="1085596" y="154305"/>
                  </a:cubicBezTo>
                  <a:lnTo>
                    <a:pt x="1085596" y="675259"/>
                  </a:lnTo>
                  <a:cubicBezTo>
                    <a:pt x="1085596" y="760476"/>
                    <a:pt x="1016508" y="829564"/>
                    <a:pt x="931291" y="829564"/>
                  </a:cubicBezTo>
                  <a:lnTo>
                    <a:pt x="154305" y="829564"/>
                  </a:lnTo>
                  <a:cubicBezTo>
                    <a:pt x="69088" y="829564"/>
                    <a:pt x="0" y="760476"/>
                    <a:pt x="0" y="67525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043" t="0" r="-48043" b="0"/>
              </a:stretch>
            </a:blipFill>
            <a:ln w="3238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3836" y="3751326"/>
            <a:ext cx="658368" cy="315468"/>
            <a:chOff x="0" y="0"/>
            <a:chExt cx="877824" cy="4206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" cy="420624"/>
            </a:xfrm>
            <a:custGeom>
              <a:avLst/>
              <a:gdLst/>
              <a:ahLst/>
              <a:cxnLst/>
              <a:rect r="r" b="b" t="t" l="l"/>
              <a:pathLst>
                <a:path h="4206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78" t="0" r="-11478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877824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BED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API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92808" y="3497580"/>
            <a:ext cx="2043684" cy="384048"/>
            <a:chOff x="0" y="0"/>
            <a:chExt cx="2724912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24912" cy="512064"/>
            </a:xfrm>
            <a:custGeom>
              <a:avLst/>
              <a:gdLst/>
              <a:ahLst/>
              <a:cxnLst/>
              <a:rect r="r" b="b" t="t" l="l"/>
              <a:pathLst>
                <a:path h="512064" w="2724912">
                  <a:moveTo>
                    <a:pt x="0" y="0"/>
                  </a:moveTo>
                  <a:lnTo>
                    <a:pt x="2724912" y="0"/>
                  </a:lnTo>
                  <a:lnTo>
                    <a:pt x="272491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88" r="0" b="-5368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72491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1"/>
                </a:lnSpc>
              </a:pPr>
              <a:r>
                <a:rPr lang="en-US" sz="2535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892808" y="4018788"/>
            <a:ext cx="2057400" cy="329184"/>
            <a:chOff x="0" y="0"/>
            <a:chExt cx="2743200" cy="4389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43200" cy="438912"/>
            </a:xfrm>
            <a:custGeom>
              <a:avLst/>
              <a:gdLst/>
              <a:ahLst/>
              <a:cxnLst/>
              <a:rect r="r" b="b" t="t" l="l"/>
              <a:pathLst>
                <a:path h="43891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7432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7"/>
                </a:lnSpc>
              </a:pPr>
              <a:r>
                <a:rPr lang="en-US" sz="1664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交易 API／行情串接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496181" y="3693795"/>
            <a:ext cx="149352" cy="149352"/>
            <a:chOff x="0" y="0"/>
            <a:chExt cx="199136" cy="1991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766310" y="3538728"/>
            <a:ext cx="3429000" cy="425196"/>
            <a:chOff x="0" y="0"/>
            <a:chExt cx="4572000" cy="5669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交易佣金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496181" y="4324731"/>
            <a:ext cx="149352" cy="149352"/>
            <a:chOff x="0" y="0"/>
            <a:chExt cx="199136" cy="1991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766310" y="4169664"/>
            <a:ext cx="3429000" cy="425196"/>
            <a:chOff x="0" y="0"/>
            <a:chExt cx="4572000" cy="5669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部分 API／行情訂閱費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737092" y="3415284"/>
            <a:ext cx="3936492" cy="397764"/>
            <a:chOff x="0" y="0"/>
            <a:chExt cx="5248656" cy="5303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48656" cy="530352"/>
            </a:xfrm>
            <a:custGeom>
              <a:avLst/>
              <a:gdLst/>
              <a:ahLst/>
              <a:cxnLst/>
              <a:rect r="r" b="b" t="t" l="l"/>
              <a:pathLst>
                <a:path h="530352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834" r="0" b="-14283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248656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Zerodha｜Kite Connect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737092" y="3895344"/>
            <a:ext cx="3936492" cy="356616"/>
            <a:chOff x="0" y="0"/>
            <a:chExt cx="5248656" cy="4754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48656" cy="475488"/>
            </a:xfrm>
            <a:custGeom>
              <a:avLst/>
              <a:gdLst/>
              <a:ahLst/>
              <a:cxnLst/>
              <a:rect r="r" b="b" t="t" l="l"/>
              <a:pathLst>
                <a:path h="475488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084" r="0" b="-16508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5248656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下單 API 免費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737092" y="4320540"/>
            <a:ext cx="3936492" cy="315468"/>
            <a:chOff x="0" y="0"/>
            <a:chExt cx="5248656" cy="4206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48656" cy="420624"/>
            </a:xfrm>
            <a:custGeom>
              <a:avLst/>
              <a:gdLst/>
              <a:ahLst/>
              <a:cxnLst/>
              <a:rect r="r" b="b" t="t" l="l"/>
              <a:pathLst>
                <a:path h="420624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139" r="0" b="-19313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9525"/>
              <a:ext cx="5248656" cy="411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Connect：INR 500／月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229082" y="3387852"/>
            <a:ext cx="4251960" cy="1179576"/>
            <a:chOff x="0" y="0"/>
            <a:chExt cx="5669280" cy="15727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6692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36" r="0" b="-2023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5669280" cy="1601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F5F8FC"/>
                  </a:solidFill>
                  <a:latin typeface="Noto Sans"/>
                  <a:ea typeface="Noto Sans"/>
                  <a:cs typeface="Noto Sans"/>
                  <a:sym typeface="Noto Sans"/>
                </a:rPr>
                <a:t>透過外部串接擴大交易入口與客戶觸及；訂閱費不一定歸券商所有。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82168" y="4998720"/>
            <a:ext cx="3526536" cy="1743456"/>
            <a:chOff x="0" y="0"/>
            <a:chExt cx="4702048" cy="23246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702048" cy="2324608"/>
            </a:xfrm>
            <a:custGeom>
              <a:avLst/>
              <a:gdLst/>
              <a:ahLst/>
              <a:cxnLst/>
              <a:rect r="r" b="b" t="t" l="l"/>
              <a:pathLst>
                <a:path h="2324608" w="4702048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4572889" y="0"/>
                  </a:lnTo>
                  <a:cubicBezTo>
                    <a:pt x="4644263" y="0"/>
                    <a:pt x="4702048" y="57785"/>
                    <a:pt x="4702048" y="129159"/>
                  </a:cubicBezTo>
                  <a:lnTo>
                    <a:pt x="4702048" y="2195449"/>
                  </a:lnTo>
                  <a:cubicBezTo>
                    <a:pt x="4702048" y="2266823"/>
                    <a:pt x="4644263" y="2324608"/>
                    <a:pt x="4572889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4210050" y="4998720"/>
            <a:ext cx="4198620" cy="1743456"/>
            <a:chOff x="0" y="0"/>
            <a:chExt cx="5598160" cy="23246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598160" cy="2324608"/>
            </a:xfrm>
            <a:custGeom>
              <a:avLst/>
              <a:gdLst/>
              <a:ahLst/>
              <a:cxnLst/>
              <a:rect r="r" b="b" t="t" l="l"/>
              <a:pathLst>
                <a:path h="2324608" w="559816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469001" y="0"/>
                  </a:lnTo>
                  <a:cubicBezTo>
                    <a:pt x="5540375" y="0"/>
                    <a:pt x="5598160" y="57785"/>
                    <a:pt x="5598160" y="129159"/>
                  </a:cubicBezTo>
                  <a:lnTo>
                    <a:pt x="5598160" y="2195449"/>
                  </a:lnTo>
                  <a:cubicBezTo>
                    <a:pt x="5598160" y="2266823"/>
                    <a:pt x="5540375" y="2324608"/>
                    <a:pt x="546900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8510016" y="4998720"/>
            <a:ext cx="4376928" cy="1743456"/>
            <a:chOff x="0" y="0"/>
            <a:chExt cx="5835904" cy="232460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835904" cy="2324608"/>
            </a:xfrm>
            <a:custGeom>
              <a:avLst/>
              <a:gdLst/>
              <a:ahLst/>
              <a:cxnLst/>
              <a:rect r="r" b="b" t="t" l="l"/>
              <a:pathLst>
                <a:path h="2324608" w="5835904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706745" y="0"/>
                  </a:lnTo>
                  <a:cubicBezTo>
                    <a:pt x="5778119" y="0"/>
                    <a:pt x="5835904" y="57785"/>
                    <a:pt x="5835904" y="129159"/>
                  </a:cubicBezTo>
                  <a:lnTo>
                    <a:pt x="5835904" y="2195449"/>
                  </a:lnTo>
                  <a:cubicBezTo>
                    <a:pt x="5835904" y="2266823"/>
                    <a:pt x="5778119" y="2324608"/>
                    <a:pt x="5706745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2988290" y="4998720"/>
            <a:ext cx="4747260" cy="1743456"/>
            <a:chOff x="0" y="0"/>
            <a:chExt cx="6329680" cy="232460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329680" cy="2324608"/>
            </a:xfrm>
            <a:custGeom>
              <a:avLst/>
              <a:gdLst/>
              <a:ahLst/>
              <a:cxnLst/>
              <a:rect r="r" b="b" t="t" l="l"/>
              <a:pathLst>
                <a:path h="2324608" w="632968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6200521" y="0"/>
                  </a:lnTo>
                  <a:cubicBezTo>
                    <a:pt x="6271895" y="0"/>
                    <a:pt x="6329680" y="57785"/>
                    <a:pt x="6329680" y="129159"/>
                  </a:cubicBezTo>
                  <a:lnTo>
                    <a:pt x="6329680" y="2195449"/>
                  </a:lnTo>
                  <a:cubicBezTo>
                    <a:pt x="6329680" y="2266823"/>
                    <a:pt x="6271895" y="2324608"/>
                    <a:pt x="620052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580263" y="4996815"/>
            <a:ext cx="115062" cy="1747266"/>
            <a:chOff x="0" y="0"/>
            <a:chExt cx="153416" cy="232968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53416" cy="2329688"/>
            </a:xfrm>
            <a:custGeom>
              <a:avLst/>
              <a:gdLst/>
              <a:ahLst/>
              <a:cxnLst/>
              <a:rect r="r" b="b" t="t" l="l"/>
              <a:pathLst>
                <a:path h="2329688" w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lnTo>
                    <a:pt x="153416" y="2252980"/>
                  </a:lnTo>
                  <a:cubicBezTo>
                    <a:pt x="153416" y="2295398"/>
                    <a:pt x="119126" y="2329688"/>
                    <a:pt x="76708" y="2329688"/>
                  </a:cubicBezTo>
                  <a:cubicBezTo>
                    <a:pt x="34290" y="2329688"/>
                    <a:pt x="0" y="2295398"/>
                    <a:pt x="0" y="2252980"/>
                  </a:cubicBezTo>
                  <a:close/>
                </a:path>
              </a:pathLst>
            </a:custGeom>
            <a:solidFill>
              <a:srgbClr val="FFC54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895731" y="5998083"/>
            <a:ext cx="211074" cy="293370"/>
            <a:chOff x="0" y="0"/>
            <a:chExt cx="281432" cy="3911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81432" cy="391160"/>
            </a:xfrm>
            <a:custGeom>
              <a:avLst/>
              <a:gdLst/>
              <a:ahLst/>
              <a:cxnLst/>
              <a:rect r="r" b="b" t="t" l="l"/>
              <a:pathLst>
                <a:path h="391160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lnTo>
                    <a:pt x="281432" y="250444"/>
                  </a:lnTo>
                  <a:cubicBezTo>
                    <a:pt x="281432" y="328168"/>
                    <a:pt x="218440" y="391160"/>
                    <a:pt x="140716" y="391160"/>
                  </a:cubicBezTo>
                  <a:cubicBezTo>
                    <a:pt x="62992" y="391160"/>
                    <a:pt x="0" y="328168"/>
                    <a:pt x="0" y="250444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142619" y="5778627"/>
            <a:ext cx="211074" cy="512826"/>
            <a:chOff x="0" y="0"/>
            <a:chExt cx="281432" cy="6837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81432" cy="683768"/>
            </a:xfrm>
            <a:custGeom>
              <a:avLst/>
              <a:gdLst/>
              <a:ahLst/>
              <a:cxnLst/>
              <a:rect r="r" b="b" t="t" l="l"/>
              <a:pathLst>
                <a:path h="683768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lnTo>
                    <a:pt x="281432" y="543052"/>
                  </a:lnTo>
                  <a:cubicBezTo>
                    <a:pt x="281432" y="620776"/>
                    <a:pt x="218440" y="683768"/>
                    <a:pt x="140716" y="683768"/>
                  </a:cubicBezTo>
                  <a:cubicBezTo>
                    <a:pt x="62992" y="683768"/>
                    <a:pt x="0" y="620776"/>
                    <a:pt x="0" y="543052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89507" y="5545455"/>
            <a:ext cx="211074" cy="745998"/>
            <a:chOff x="0" y="0"/>
            <a:chExt cx="281432" cy="9946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81432" cy="994664"/>
            </a:xfrm>
            <a:custGeom>
              <a:avLst/>
              <a:gdLst/>
              <a:ahLst/>
              <a:cxnLst/>
              <a:rect r="r" b="b" t="t" l="l"/>
              <a:pathLst>
                <a:path h="994664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lnTo>
                    <a:pt x="281432" y="853948"/>
                  </a:lnTo>
                  <a:cubicBezTo>
                    <a:pt x="281432" y="931672"/>
                    <a:pt x="218440" y="994664"/>
                    <a:pt x="140716" y="994664"/>
                  </a:cubicBezTo>
                  <a:cubicBezTo>
                    <a:pt x="62992" y="994664"/>
                    <a:pt x="0" y="931672"/>
                    <a:pt x="0" y="85394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sp>
        <p:nvSpPr>
          <p:cNvPr name="AutoShape 93" id="93"/>
          <p:cNvSpPr/>
          <p:nvPr/>
        </p:nvSpPr>
        <p:spPr>
          <a:xfrm rot="102180">
            <a:off x="877043" y="6272403"/>
            <a:ext cx="961692" cy="0"/>
          </a:xfrm>
          <a:prstGeom prst="line">
            <a:avLst/>
          </a:prstGeom>
          <a:ln cap="rnd" w="19050">
            <a:solidFill>
              <a:srgbClr val="00BE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4" id="94"/>
          <p:cNvGrpSpPr/>
          <p:nvPr/>
        </p:nvGrpSpPr>
        <p:grpSpPr>
          <a:xfrm rot="0">
            <a:off x="1892808" y="5135118"/>
            <a:ext cx="2043684" cy="791718"/>
            <a:chOff x="0" y="0"/>
            <a:chExt cx="2724912" cy="10556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724912" cy="1055624"/>
            </a:xfrm>
            <a:custGeom>
              <a:avLst/>
              <a:gdLst/>
              <a:ahLst/>
              <a:cxnLst/>
              <a:rect r="r" b="b" t="t" l="l"/>
              <a:pathLst>
                <a:path h="1055624" w="2724912">
                  <a:moveTo>
                    <a:pt x="0" y="0"/>
                  </a:moveTo>
                  <a:lnTo>
                    <a:pt x="2724912" y="0"/>
                  </a:lnTo>
                  <a:lnTo>
                    <a:pt x="2724912" y="1055624"/>
                  </a:lnTo>
                  <a:lnTo>
                    <a:pt x="0" y="1055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43" r="0" b="2544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2724912" cy="1055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4"/>
                </a:lnSpc>
              </a:pPr>
              <a:r>
                <a:rPr lang="en-US" sz="2295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892808" y="5911596"/>
            <a:ext cx="2057400" cy="329184"/>
            <a:chOff x="0" y="0"/>
            <a:chExt cx="2743200" cy="43891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743200" cy="438912"/>
            </a:xfrm>
            <a:custGeom>
              <a:avLst/>
              <a:gdLst/>
              <a:ahLst/>
              <a:cxnLst/>
              <a:rect r="r" b="b" t="t" l="l"/>
              <a:pathLst>
                <a:path h="43891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27432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7"/>
                </a:lnSpc>
              </a:pPr>
              <a:r>
                <a:rPr lang="en-US" sz="1664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法人演算法執行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4496181" y="5586603"/>
            <a:ext cx="149352" cy="149352"/>
            <a:chOff x="0" y="0"/>
            <a:chExt cx="199136" cy="19913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766310" y="5431536"/>
            <a:ext cx="3429000" cy="425196"/>
            <a:chOff x="0" y="0"/>
            <a:chExt cx="4572000" cy="56692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法人經紀佣金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4496181" y="6217539"/>
            <a:ext cx="149352" cy="149352"/>
            <a:chOff x="0" y="0"/>
            <a:chExt cx="199136" cy="19913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4766310" y="6062472"/>
            <a:ext cx="3429000" cy="425196"/>
            <a:chOff x="0" y="0"/>
            <a:chExt cx="4572000" cy="56692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部分策略另收服務費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737092" y="5308092"/>
            <a:ext cx="3936492" cy="397764"/>
            <a:chOff x="0" y="0"/>
            <a:chExt cx="5248656" cy="5303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248656" cy="530352"/>
            </a:xfrm>
            <a:custGeom>
              <a:avLst/>
              <a:gdLst/>
              <a:ahLst/>
              <a:cxnLst/>
              <a:rect r="r" b="b" t="t" l="l"/>
              <a:pathLst>
                <a:path h="530352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834" r="0" b="-14283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5248656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IBKR × Quantitative Brokers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737092" y="5788152"/>
            <a:ext cx="3936492" cy="356616"/>
            <a:chOff x="0" y="0"/>
            <a:chExt cx="5248656" cy="4754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248656" cy="475488"/>
            </a:xfrm>
            <a:custGeom>
              <a:avLst/>
              <a:gdLst/>
              <a:ahLst/>
              <a:cxnLst/>
              <a:rect r="r" b="b" t="t" l="l"/>
              <a:pathLst>
                <a:path h="475488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084" r="0" b="-16508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5248656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供應商費：USD 0.75／口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737092" y="6213348"/>
            <a:ext cx="3936492" cy="315468"/>
            <a:chOff x="0" y="0"/>
            <a:chExt cx="5248656" cy="42062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248656" cy="420624"/>
            </a:xfrm>
            <a:custGeom>
              <a:avLst/>
              <a:gdLst/>
              <a:ahLst/>
              <a:cxnLst/>
              <a:rect r="r" b="b" t="t" l="l"/>
              <a:pathLst>
                <a:path h="420624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139" r="0" b="-19313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524865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5"/>
                </a:lnSpc>
              </a:pPr>
              <a:r>
                <a:rPr lang="en-US" sz="1604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（代收轉付，非券商新增收入）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229082" y="5280660"/>
            <a:ext cx="4251960" cy="1179576"/>
            <a:chOff x="0" y="0"/>
            <a:chExt cx="5669280" cy="157276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6692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36" r="0" b="-2023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5669280" cy="1601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F5F8FC"/>
                  </a:solidFill>
                  <a:latin typeface="Noto Sans"/>
                  <a:ea typeface="Noto Sans"/>
                  <a:cs typeface="Noto Sans"/>
                  <a:sym typeface="Noto Sans"/>
                </a:rPr>
                <a:t>透過執行品質爭取與維持法人委託；額外費用視策略及合約而定。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582168" y="6891528"/>
            <a:ext cx="3526536" cy="1743456"/>
            <a:chOff x="0" y="0"/>
            <a:chExt cx="4702048" cy="232460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702048" cy="2324608"/>
            </a:xfrm>
            <a:custGeom>
              <a:avLst/>
              <a:gdLst/>
              <a:ahLst/>
              <a:cxnLst/>
              <a:rect r="r" b="b" t="t" l="l"/>
              <a:pathLst>
                <a:path h="2324608" w="4702048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4572889" y="0"/>
                  </a:lnTo>
                  <a:cubicBezTo>
                    <a:pt x="4644263" y="0"/>
                    <a:pt x="4702048" y="57785"/>
                    <a:pt x="4702048" y="129159"/>
                  </a:cubicBezTo>
                  <a:lnTo>
                    <a:pt x="4702048" y="2195449"/>
                  </a:lnTo>
                  <a:cubicBezTo>
                    <a:pt x="4702048" y="2266823"/>
                    <a:pt x="4644263" y="2324608"/>
                    <a:pt x="4572889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4210050" y="6891528"/>
            <a:ext cx="4198620" cy="1743456"/>
            <a:chOff x="0" y="0"/>
            <a:chExt cx="5598160" cy="232460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598160" cy="2324608"/>
            </a:xfrm>
            <a:custGeom>
              <a:avLst/>
              <a:gdLst/>
              <a:ahLst/>
              <a:cxnLst/>
              <a:rect r="r" b="b" t="t" l="l"/>
              <a:pathLst>
                <a:path h="2324608" w="559816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469001" y="0"/>
                  </a:lnTo>
                  <a:cubicBezTo>
                    <a:pt x="5540375" y="0"/>
                    <a:pt x="5598160" y="57785"/>
                    <a:pt x="5598160" y="129159"/>
                  </a:cubicBezTo>
                  <a:lnTo>
                    <a:pt x="5598160" y="2195449"/>
                  </a:lnTo>
                  <a:cubicBezTo>
                    <a:pt x="5598160" y="2266823"/>
                    <a:pt x="5540375" y="2324608"/>
                    <a:pt x="546900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8510016" y="6891528"/>
            <a:ext cx="4376928" cy="1743456"/>
            <a:chOff x="0" y="0"/>
            <a:chExt cx="5835904" cy="232460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835904" cy="2324608"/>
            </a:xfrm>
            <a:custGeom>
              <a:avLst/>
              <a:gdLst/>
              <a:ahLst/>
              <a:cxnLst/>
              <a:rect r="r" b="b" t="t" l="l"/>
              <a:pathLst>
                <a:path h="2324608" w="5835904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706745" y="0"/>
                  </a:lnTo>
                  <a:cubicBezTo>
                    <a:pt x="5778119" y="0"/>
                    <a:pt x="5835904" y="57785"/>
                    <a:pt x="5835904" y="129159"/>
                  </a:cubicBezTo>
                  <a:lnTo>
                    <a:pt x="5835904" y="2195449"/>
                  </a:lnTo>
                  <a:cubicBezTo>
                    <a:pt x="5835904" y="2266823"/>
                    <a:pt x="5778119" y="2324608"/>
                    <a:pt x="5706745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12988290" y="6891528"/>
            <a:ext cx="4747260" cy="1743456"/>
            <a:chOff x="0" y="0"/>
            <a:chExt cx="6329680" cy="232460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329680" cy="2324608"/>
            </a:xfrm>
            <a:custGeom>
              <a:avLst/>
              <a:gdLst/>
              <a:ahLst/>
              <a:cxnLst/>
              <a:rect r="r" b="b" t="t" l="l"/>
              <a:pathLst>
                <a:path h="2324608" w="632968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6200521" y="0"/>
                  </a:lnTo>
                  <a:cubicBezTo>
                    <a:pt x="6271895" y="0"/>
                    <a:pt x="6329680" y="57785"/>
                    <a:pt x="6329680" y="129159"/>
                  </a:cubicBezTo>
                  <a:lnTo>
                    <a:pt x="6329680" y="2195449"/>
                  </a:lnTo>
                  <a:cubicBezTo>
                    <a:pt x="6329680" y="2266823"/>
                    <a:pt x="6271895" y="2324608"/>
                    <a:pt x="620052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580263" y="6889623"/>
            <a:ext cx="115062" cy="1747266"/>
            <a:chOff x="0" y="0"/>
            <a:chExt cx="153416" cy="232968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53416" cy="2329688"/>
            </a:xfrm>
            <a:custGeom>
              <a:avLst/>
              <a:gdLst/>
              <a:ahLst/>
              <a:cxnLst/>
              <a:rect r="r" b="b" t="t" l="l"/>
              <a:pathLst>
                <a:path h="2329688" w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lnTo>
                    <a:pt x="153416" y="2252980"/>
                  </a:lnTo>
                  <a:cubicBezTo>
                    <a:pt x="153416" y="2295398"/>
                    <a:pt x="119126" y="2329688"/>
                    <a:pt x="76708" y="2329688"/>
                  </a:cubicBezTo>
                  <a:cubicBezTo>
                    <a:pt x="34290" y="2329688"/>
                    <a:pt x="0" y="2295398"/>
                    <a:pt x="0" y="2252980"/>
                  </a:cubicBezTo>
                  <a:close/>
                </a:path>
              </a:pathLst>
            </a:custGeom>
            <a:solidFill>
              <a:srgbClr val="FFC54A"/>
            </a:solidFill>
          </p:spPr>
        </p:sp>
      </p:grpSp>
      <p:sp>
        <p:nvSpPr>
          <p:cNvPr name="AutoShape 132" id="132"/>
          <p:cNvSpPr/>
          <p:nvPr/>
        </p:nvSpPr>
        <p:spPr>
          <a:xfrm rot="596220">
            <a:off x="1070362" y="7803832"/>
            <a:ext cx="287007" cy="0"/>
          </a:xfrm>
          <a:prstGeom prst="line">
            <a:avLst/>
          </a:prstGeom>
          <a:ln cap="rnd" w="28575">
            <a:solidFill>
              <a:srgbClr val="00BE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3" id="133"/>
          <p:cNvGrpSpPr/>
          <p:nvPr/>
        </p:nvGrpSpPr>
        <p:grpSpPr>
          <a:xfrm rot="0">
            <a:off x="1892808" y="7283196"/>
            <a:ext cx="2043684" cy="384048"/>
            <a:chOff x="0" y="0"/>
            <a:chExt cx="2724912" cy="51206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724912" cy="512064"/>
            </a:xfrm>
            <a:custGeom>
              <a:avLst/>
              <a:gdLst/>
              <a:ahLst/>
              <a:cxnLst/>
              <a:rect r="r" b="b" t="t" l="l"/>
              <a:pathLst>
                <a:path h="512064" w="2724912">
                  <a:moveTo>
                    <a:pt x="0" y="0"/>
                  </a:moveTo>
                  <a:lnTo>
                    <a:pt x="2724912" y="0"/>
                  </a:lnTo>
                  <a:lnTo>
                    <a:pt x="272491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88" r="0" b="-53688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0"/>
              <a:ext cx="272491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1"/>
                </a:lnSpc>
              </a:pPr>
              <a:r>
                <a:rPr lang="en-US" sz="2535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相關服務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892808" y="7804404"/>
            <a:ext cx="2057400" cy="329184"/>
            <a:chOff x="0" y="0"/>
            <a:chExt cx="2743200" cy="43891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743200" cy="438912"/>
            </a:xfrm>
            <a:custGeom>
              <a:avLst/>
              <a:gdLst/>
              <a:ahLst/>
              <a:cxnLst/>
              <a:rect r="r" b="b" t="t" l="l"/>
              <a:pathLst>
                <a:path h="43891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0"/>
              <a:ext cx="27432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7"/>
                </a:lnSpc>
              </a:pPr>
              <a:r>
                <a:rPr lang="en-US" sz="1664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專業低延遲交易接入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4496181" y="7479411"/>
            <a:ext cx="149352" cy="149352"/>
            <a:chOff x="0" y="0"/>
            <a:chExt cx="199136" cy="19913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4766310" y="7324344"/>
            <a:ext cx="3429000" cy="425196"/>
            <a:chOff x="0" y="0"/>
            <a:chExt cx="4572000" cy="56692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專業客戶經紀佣金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4496181" y="8110347"/>
            <a:ext cx="149352" cy="149352"/>
            <a:chOff x="0" y="0"/>
            <a:chExt cx="199136" cy="19913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4766310" y="7955280"/>
            <a:ext cx="3429000" cy="425196"/>
            <a:chOff x="0" y="0"/>
            <a:chExt cx="4572000" cy="56692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具資格業者的清算收入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8737092" y="7200900"/>
            <a:ext cx="3936492" cy="397764"/>
            <a:chOff x="0" y="0"/>
            <a:chExt cx="5248656" cy="53035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248656" cy="530352"/>
            </a:xfrm>
            <a:custGeom>
              <a:avLst/>
              <a:gdLst/>
              <a:ahLst/>
              <a:cxnLst/>
              <a:rect r="r" b="b" t="t" l="l"/>
              <a:pathLst>
                <a:path h="530352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834" r="0" b="-14283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5248656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IBKR｜FIX 最低佣金門檻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8737092" y="7680960"/>
            <a:ext cx="3936492" cy="356616"/>
            <a:chOff x="0" y="0"/>
            <a:chExt cx="5248656" cy="47548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248656" cy="475488"/>
            </a:xfrm>
            <a:custGeom>
              <a:avLst/>
              <a:gdLst/>
              <a:ahLst/>
              <a:cxnLst/>
              <a:rect r="r" b="b" t="t" l="l"/>
              <a:pathLst>
                <a:path h="475488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084" r="0" b="-165084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9525"/>
              <a:ext cx="5248656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Marex｜執行／清算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8737092" y="8106156"/>
            <a:ext cx="3936492" cy="315468"/>
            <a:chOff x="0" y="0"/>
            <a:chExt cx="5248656" cy="42062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8656" cy="420624"/>
            </a:xfrm>
            <a:custGeom>
              <a:avLst/>
              <a:gdLst/>
              <a:ahLst/>
              <a:cxnLst/>
              <a:rect r="r" b="b" t="t" l="l"/>
              <a:pathLst>
                <a:path h="420624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139" r="0" b="-193139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9525"/>
              <a:ext cx="5248656" cy="411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按交易筆數收取佣金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229082" y="7173468"/>
            <a:ext cx="4251960" cy="1179576"/>
            <a:chOff x="0" y="0"/>
            <a:chExt cx="5669280" cy="157276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6692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36" r="0" b="-20236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5669280" cy="1601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F5F8FC"/>
                  </a:solidFill>
                  <a:latin typeface="Noto Sans"/>
                  <a:ea typeface="Noto Sans"/>
                  <a:cs typeface="Noto Sans"/>
                  <a:sym typeface="Noto Sans"/>
                </a:rPr>
                <a:t>清算收入需具相應資格；FIX 非 HFT 專屬，台灣券商另收低延遲費尚無普遍證據。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581216" y="8824532"/>
            <a:ext cx="17148429" cy="798957"/>
            <a:chOff x="0" y="0"/>
            <a:chExt cx="22864572" cy="106527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2864572" cy="1065276"/>
            </a:xfrm>
            <a:custGeom>
              <a:avLst/>
              <a:gdLst/>
              <a:ahLst/>
              <a:cxnLst/>
              <a:rect r="r" b="b" t="t" l="l"/>
              <a:pathLst>
                <a:path h="1065276" w="22864572">
                  <a:moveTo>
                    <a:pt x="0" y="93472"/>
                  </a:moveTo>
                  <a:cubicBezTo>
                    <a:pt x="0" y="41783"/>
                    <a:pt x="41783" y="0"/>
                    <a:pt x="93472" y="0"/>
                  </a:cubicBezTo>
                  <a:lnTo>
                    <a:pt x="22771100" y="0"/>
                  </a:lnTo>
                  <a:cubicBezTo>
                    <a:pt x="22822663" y="0"/>
                    <a:pt x="22864572" y="41783"/>
                    <a:pt x="22864572" y="93472"/>
                  </a:cubicBezTo>
                  <a:lnTo>
                    <a:pt x="22864572" y="971804"/>
                  </a:lnTo>
                  <a:cubicBezTo>
                    <a:pt x="22864572" y="1023366"/>
                    <a:pt x="22822790" y="1065276"/>
                    <a:pt x="22771100" y="1065276"/>
                  </a:cubicBezTo>
                  <a:lnTo>
                    <a:pt x="93472" y="1065276"/>
                  </a:lnTo>
                  <a:cubicBezTo>
                    <a:pt x="41783" y="1065276"/>
                    <a:pt x="0" y="1023493"/>
                    <a:pt x="0" y="971804"/>
                  </a:cubicBezTo>
                  <a:close/>
                </a:path>
              </a:pathLst>
            </a:custGeom>
            <a:solidFill>
              <a:srgbClr val="0A2037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946404" y="8997696"/>
            <a:ext cx="946404" cy="384048"/>
            <a:chOff x="0" y="0"/>
            <a:chExt cx="1261872" cy="512064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261872" cy="512064"/>
            </a:xfrm>
            <a:custGeom>
              <a:avLst/>
              <a:gdLst/>
              <a:ahLst/>
              <a:cxnLst/>
              <a:rect r="r" b="b" t="t" l="l"/>
              <a:pathLst>
                <a:path h="512064" w="1261872">
                  <a:moveTo>
                    <a:pt x="0" y="0"/>
                  </a:moveTo>
                  <a:lnTo>
                    <a:pt x="1261872" y="0"/>
                  </a:lnTo>
                  <a:lnTo>
                    <a:pt x="126187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5" t="0" r="-2065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0"/>
              <a:ext cx="126187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重點</a:t>
              </a:r>
            </a:p>
          </p:txBody>
        </p:sp>
      </p:grpSp>
      <p:sp>
        <p:nvSpPr>
          <p:cNvPr name="AutoShape 166" id="166"/>
          <p:cNvSpPr/>
          <p:nvPr/>
        </p:nvSpPr>
        <p:spPr>
          <a:xfrm rot="5272380">
            <a:off x="1828238" y="9226106"/>
            <a:ext cx="513178" cy="0"/>
          </a:xfrm>
          <a:prstGeom prst="line">
            <a:avLst/>
          </a:prstGeom>
          <a:ln cap="rnd" w="9525">
            <a:solidFill>
              <a:srgbClr val="C4D1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7" id="167"/>
          <p:cNvGrpSpPr/>
          <p:nvPr/>
        </p:nvGrpSpPr>
        <p:grpSpPr>
          <a:xfrm rot="0">
            <a:off x="2427732" y="8970264"/>
            <a:ext cx="14730984" cy="466344"/>
            <a:chOff x="0" y="0"/>
            <a:chExt cx="19641312" cy="6217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9641313" cy="621792"/>
            </a:xfrm>
            <a:custGeom>
              <a:avLst/>
              <a:gdLst/>
              <a:ahLst/>
              <a:cxnLst/>
              <a:rect r="r" b="b" t="t" l="l"/>
              <a:pathLst>
                <a:path h="621792" w="19641313">
                  <a:moveTo>
                    <a:pt x="0" y="0"/>
                  </a:moveTo>
                  <a:lnTo>
                    <a:pt x="19641313" y="0"/>
                  </a:lnTo>
                  <a:lnTo>
                    <a:pt x="19641313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497" r="0" b="-565497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0"/>
              <a:ext cx="1964131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三種服務未必有不同的收費方式；關鍵是券商透過何種能力取得交易流量。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658368" y="9848088"/>
            <a:ext cx="16664940" cy="233172"/>
            <a:chOff x="0" y="0"/>
            <a:chExt cx="22219920" cy="31089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2219920" cy="310896"/>
            </a:xfrm>
            <a:custGeom>
              <a:avLst/>
              <a:gdLst/>
              <a:ahLst/>
              <a:cxnLst/>
              <a:rect r="r" b="b" t="t" l="l"/>
              <a:pathLst>
                <a:path h="310896" w="22219920">
                  <a:moveTo>
                    <a:pt x="0" y="0"/>
                  </a:moveTo>
                  <a:lnTo>
                    <a:pt x="22219920" y="0"/>
                  </a:lnTo>
                  <a:lnTo>
                    <a:pt x="2221992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2607" r="0" b="-1342607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9525"/>
              <a:ext cx="22219920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2A8BB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資料來源：Zerodha、Interactive Brokers、Marex 官方公開資訊；費率依產品及市場而異。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ＯpenAPI</a:t>
              </a: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案例｜美國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13790"/>
            <a:chOff x="0" y="0"/>
            <a:chExt cx="24225048" cy="951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51714"/>
            </a:xfrm>
            <a:custGeom>
              <a:avLst/>
              <a:gdLst/>
              <a:ahLst/>
              <a:cxnLst/>
              <a:rect r="r" b="b" t="t" l="l"/>
              <a:pathLst>
                <a:path h="951714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51714"/>
                  </a:lnTo>
                  <a:lnTo>
                    <a:pt x="0" y="951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3" r="8583" b="-4034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225048" cy="951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大量 FinTech 不自行建立完整券商，而是透過 API 接入既有券商的帳戶、交易與清算能力。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資料來源：Federal Reserve, 2019 SCF；SEC Rule 15c3-1；FINRA Regulatory Notice 12-32；Alpaca、DriveWealth 官方資料。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1854020"/>
            <a:ext cx="7819282" cy="6884097"/>
            <a:chOff x="0" y="0"/>
            <a:chExt cx="2059399" cy="1813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9399" cy="1813096"/>
            </a:xfrm>
            <a:custGeom>
              <a:avLst/>
              <a:gdLst/>
              <a:ahLst/>
              <a:cxnLst/>
              <a:rect r="r" b="b" t="t" l="l"/>
              <a:pathLst>
                <a:path h="1813096" w="2059399">
                  <a:moveTo>
                    <a:pt x="0" y="0"/>
                  </a:moveTo>
                  <a:lnTo>
                    <a:pt x="2059399" y="0"/>
                  </a:lnTo>
                  <a:lnTo>
                    <a:pt x="2059399" y="1813096"/>
                  </a:lnTo>
                  <a:lnTo>
                    <a:pt x="0" y="1813096"/>
                  </a:lnTo>
                  <a:close/>
                </a:path>
              </a:pathLst>
            </a:custGeom>
            <a:solidFill>
              <a:srgbClr val="3880B9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59399" cy="181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7021" y="5516038"/>
            <a:ext cx="1903826" cy="2517710"/>
            <a:chOff x="0" y="0"/>
            <a:chExt cx="1345341" cy="17791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5297" cy="1779049"/>
            </a:xfrm>
            <a:custGeom>
              <a:avLst/>
              <a:gdLst/>
              <a:ahLst/>
              <a:cxnLst/>
              <a:rect r="r" b="b" t="t" l="l"/>
              <a:pathLst>
                <a:path h="1779049" w="1345297">
                  <a:moveTo>
                    <a:pt x="0" y="164200"/>
                  </a:moveTo>
                  <a:cubicBezTo>
                    <a:pt x="0" y="7345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453"/>
                    <a:pt x="1345297" y="164200"/>
                  </a:cubicBezTo>
                  <a:lnTo>
                    <a:pt x="1345297" y="1614849"/>
                  </a:lnTo>
                  <a:cubicBezTo>
                    <a:pt x="1345297" y="1705596"/>
                    <a:pt x="1316798" y="1779049"/>
                    <a:pt x="1281589" y="1779049"/>
                  </a:cubicBezTo>
                  <a:lnTo>
                    <a:pt x="63708" y="1779049"/>
                  </a:lnTo>
                  <a:cubicBezTo>
                    <a:pt x="28499" y="1779049"/>
                    <a:pt x="0" y="1705596"/>
                    <a:pt x="0" y="1614849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556023" y="5527350"/>
            <a:ext cx="1903826" cy="2506398"/>
            <a:chOff x="0" y="0"/>
            <a:chExt cx="1345341" cy="17711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5297" cy="1771056"/>
            </a:xfrm>
            <a:custGeom>
              <a:avLst/>
              <a:gdLst/>
              <a:ahLst/>
              <a:cxnLst/>
              <a:rect r="r" b="b" t="t" l="l"/>
              <a:pathLst>
                <a:path h="1771056" w="1345297">
                  <a:moveTo>
                    <a:pt x="0" y="163462"/>
                  </a:moveTo>
                  <a:cubicBezTo>
                    <a:pt x="0" y="7312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123"/>
                    <a:pt x="1345297" y="163462"/>
                  </a:cubicBezTo>
                  <a:lnTo>
                    <a:pt x="1345297" y="1607594"/>
                  </a:lnTo>
                  <a:cubicBezTo>
                    <a:pt x="1345297" y="1697933"/>
                    <a:pt x="1316798" y="1771056"/>
                    <a:pt x="1281589" y="1771056"/>
                  </a:cubicBezTo>
                  <a:lnTo>
                    <a:pt x="63708" y="1771056"/>
                  </a:lnTo>
                  <a:cubicBezTo>
                    <a:pt x="28499" y="1771056"/>
                    <a:pt x="0" y="1697933"/>
                    <a:pt x="0" y="1607594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AutoShape 18" id="18"/>
          <p:cNvSpPr/>
          <p:nvPr/>
        </p:nvSpPr>
        <p:spPr>
          <a:xfrm>
            <a:off x="3690786" y="6774893"/>
            <a:ext cx="1865238" cy="565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8847401" y="1854020"/>
            <a:ext cx="629676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1.低門檻數位投資存在新的潛在市場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42197" y="5705498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36986" y="5705498"/>
            <a:ext cx="174190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第三方平台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47401" y="3487213"/>
            <a:ext cx="550262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2.自行建立券商基礎設施門檻高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81688" y="2323008"/>
            <a:ext cx="188349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  <a:spcBef>
                <a:spcPct val="0"/>
              </a:spcBef>
            </a:pPr>
            <a:r>
              <a:rPr lang="en-US" b="true" sz="44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Alpaca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26699" y="6265295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10821" y="6255831"/>
            <a:ext cx="166806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策略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分析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產品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使用者體驗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05298" y="6265295"/>
            <a:ext cx="66727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帳戶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風控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法遵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907064" y="6185421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5676066" y="6185421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754006" y="9439770"/>
            <a:ext cx="152224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2"/>
              </a:lnSpc>
              <a:spcBef>
                <a:spcPct val="0"/>
              </a:spcBef>
            </a:pP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券商從單純服務散戶</a:t>
            </a: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，進一步變成可被第三方重複使用的金融基礎設施。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7885" y="3056433"/>
            <a:ext cx="71311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539" indent="-326770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支援 </a:t>
            </a: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1,000 萬+ </a:t>
            </a: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brokerage accounts</a:t>
            </a:r>
          </a:p>
          <a:p>
            <a:pPr algn="l" marL="653539" indent="-326770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200+ </a:t>
            </a: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FinTech／金融機構</a:t>
            </a:r>
          </a:p>
          <a:p>
            <a:pPr algn="l" marL="653539" indent="-326770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涵蓋 </a:t>
            </a: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40+ 國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58250" y="2344213"/>
            <a:ext cx="902580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47%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美國家庭未持有股票（2019）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Millennials(千禧世代)占全球新開投資帳戶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46%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58250" y="3972988"/>
            <a:ext cx="757304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Carrying Broker 最低淨資本約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FINRA 新會員申請費最高可達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5.5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還需持續承擔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資產保護、帳務、清算與監管成本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34459" y="5937767"/>
            <a:ext cx="8225942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券商能力模組化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形成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B2B2C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模式：券商透過提供API服務大量第三方平台。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DriveWealth 的結果驗證：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券商取得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新增帳戶、交易與資產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，並從提供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API服務中收費。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47401" y="5451992"/>
            <a:ext cx="158903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3.Result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58156" y="7098755"/>
            <a:ext cx="858373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(1)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100+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個全球合作平台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(2)2020-2021第三方平台開立帳戶開立數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+241%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ＯpenAPI</a:t>
              </a: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案例｜印度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13790"/>
            <a:chOff x="0" y="0"/>
            <a:chExt cx="24225048" cy="951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51714"/>
            </a:xfrm>
            <a:custGeom>
              <a:avLst/>
              <a:gdLst/>
              <a:ahLst/>
              <a:cxnLst/>
              <a:rect r="r" b="b" t="t" l="l"/>
              <a:pathLst>
                <a:path h="951714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51714"/>
                  </a:lnTo>
                  <a:lnTo>
                    <a:pt x="0" y="951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3" r="8583" b="-4034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225048" cy="951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印度形成大量第三方投資科技平台，券商與 FinTech 逐步分工，交易服務開始走向平台化。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資料來源：SEBI/NCAER Household Survey（2012）、Innovation Sandbox（2019）；NSE Membership Requirements；Zerodha Kite Connect／Rainmatter。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22523" y="1937906"/>
            <a:ext cx="7819282" cy="6884097"/>
            <a:chOff x="0" y="0"/>
            <a:chExt cx="2059399" cy="1813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9399" cy="1813096"/>
            </a:xfrm>
            <a:custGeom>
              <a:avLst/>
              <a:gdLst/>
              <a:ahLst/>
              <a:cxnLst/>
              <a:rect r="r" b="b" t="t" l="l"/>
              <a:pathLst>
                <a:path h="1813096" w="2059399">
                  <a:moveTo>
                    <a:pt x="0" y="0"/>
                  </a:moveTo>
                  <a:lnTo>
                    <a:pt x="2059399" y="0"/>
                  </a:lnTo>
                  <a:lnTo>
                    <a:pt x="2059399" y="1813096"/>
                  </a:lnTo>
                  <a:lnTo>
                    <a:pt x="0" y="1813096"/>
                  </a:lnTo>
                  <a:close/>
                </a:path>
              </a:pathLst>
            </a:custGeom>
            <a:solidFill>
              <a:srgbClr val="3880B9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59399" cy="181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68945" y="5881256"/>
            <a:ext cx="1903826" cy="2517710"/>
            <a:chOff x="0" y="0"/>
            <a:chExt cx="1345341" cy="17791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5297" cy="1779049"/>
            </a:xfrm>
            <a:custGeom>
              <a:avLst/>
              <a:gdLst/>
              <a:ahLst/>
              <a:cxnLst/>
              <a:rect r="r" b="b" t="t" l="l"/>
              <a:pathLst>
                <a:path h="1779049" w="1345297">
                  <a:moveTo>
                    <a:pt x="0" y="164200"/>
                  </a:moveTo>
                  <a:cubicBezTo>
                    <a:pt x="0" y="7345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453"/>
                    <a:pt x="1345297" y="164200"/>
                  </a:cubicBezTo>
                  <a:lnTo>
                    <a:pt x="1345297" y="1614849"/>
                  </a:lnTo>
                  <a:cubicBezTo>
                    <a:pt x="1345297" y="1705596"/>
                    <a:pt x="1316798" y="1779049"/>
                    <a:pt x="1281589" y="1779049"/>
                  </a:cubicBezTo>
                  <a:lnTo>
                    <a:pt x="63708" y="1779049"/>
                  </a:lnTo>
                  <a:cubicBezTo>
                    <a:pt x="28499" y="1779049"/>
                    <a:pt x="0" y="1705596"/>
                    <a:pt x="0" y="1614849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937948" y="5892568"/>
            <a:ext cx="1903826" cy="2506398"/>
            <a:chOff x="0" y="0"/>
            <a:chExt cx="1345341" cy="17711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5297" cy="1771056"/>
            </a:xfrm>
            <a:custGeom>
              <a:avLst/>
              <a:gdLst/>
              <a:ahLst/>
              <a:cxnLst/>
              <a:rect r="r" b="b" t="t" l="l"/>
              <a:pathLst>
                <a:path h="1771056" w="1345297">
                  <a:moveTo>
                    <a:pt x="0" y="163462"/>
                  </a:moveTo>
                  <a:cubicBezTo>
                    <a:pt x="0" y="7312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123"/>
                    <a:pt x="1345297" y="163462"/>
                  </a:cubicBezTo>
                  <a:lnTo>
                    <a:pt x="1345297" y="1607594"/>
                  </a:lnTo>
                  <a:cubicBezTo>
                    <a:pt x="1345297" y="1697933"/>
                    <a:pt x="1316798" y="1771056"/>
                    <a:pt x="1281589" y="1771056"/>
                  </a:cubicBezTo>
                  <a:lnTo>
                    <a:pt x="63708" y="1771056"/>
                  </a:lnTo>
                  <a:cubicBezTo>
                    <a:pt x="28499" y="1771056"/>
                    <a:pt x="0" y="1697933"/>
                    <a:pt x="0" y="1607594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AutoShape 18" id="18"/>
          <p:cNvSpPr/>
          <p:nvPr/>
        </p:nvSpPr>
        <p:spPr>
          <a:xfrm>
            <a:off x="13072710" y="7140110"/>
            <a:ext cx="1865238" cy="565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542084" y="1784323"/>
            <a:ext cx="679415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1.為什麼印度第三方平台, Fintech眾多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7880" y="2323018"/>
            <a:ext cx="9176579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(1)家庭儲蓄高，但證券市場滲透率低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11% 家庭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參與投資(2011-2012)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股票僅占家庭金融儲蓄約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5%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(2016)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(2) 自行建立券商基礎設施門檻高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資本門檻高：Trading Member 最低淨值 1 億印度盧比，若涉及清算資格要求更高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另外還有基礎設施要求及法遵與人力成本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(3)SEBI 想利用 FinTech 擴大市場觸及，刻意降低 FinTech 開發證券產品的測試門檻。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2019 年 SEBI 推出 </a:t>
            </a: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Innovation Sandbox</a:t>
            </a: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：為FinTech提供資料及測試環境。</a:t>
            </a:r>
          </a:p>
          <a:p>
            <a:pPr algn="l">
              <a:lnSpc>
                <a:spcPts val="3152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324122" y="6070715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18910" y="6070715"/>
            <a:ext cx="174190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第三方平台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2084" y="6881646"/>
            <a:ext cx="673052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ˇ2.需求驗證（以Zerodha為例）(2026)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275317" y="2805845"/>
            <a:ext cx="3460086" cy="846617"/>
          </a:xfrm>
          <a:custGeom>
            <a:avLst/>
            <a:gdLst/>
            <a:ahLst/>
            <a:cxnLst/>
            <a:rect r="r" b="b" t="t" l="l"/>
            <a:pathLst>
              <a:path h="846617" w="3460086">
                <a:moveTo>
                  <a:pt x="0" y="0"/>
                </a:moveTo>
                <a:lnTo>
                  <a:pt x="3460085" y="0"/>
                </a:lnTo>
                <a:lnTo>
                  <a:pt x="3460085" y="846617"/>
                </a:lnTo>
                <a:lnTo>
                  <a:pt x="0" y="846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376000" y="2200843"/>
            <a:ext cx="72587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Rainmatter ecosystem金融科技生態圈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12624" y="3765625"/>
            <a:ext cx="5785470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2016：成立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2023：</a:t>
            </a:r>
            <a:r>
              <a:rPr lang="en-US" b="true" sz="3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80+ </a:t>
            </a: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startups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累計投資：</a:t>
            </a:r>
            <a:r>
              <a:rPr lang="en-US" b="true" sz="3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 億</a:t>
            </a: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印度盧比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現有 FinTech portfolio：</a:t>
            </a:r>
            <a:r>
              <a:rPr lang="en-US" b="true" sz="3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39 家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08623" y="6630513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092745" y="6621049"/>
            <a:ext cx="166806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策略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分析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產品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使用者體驗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87223" y="6630513"/>
            <a:ext cx="66727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帳戶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風控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法遵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1288988" y="6550639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5057991" y="6550639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713794" y="7490342"/>
            <a:ext cx="907137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數萬名交易者、數十家公司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使用Zerodha的Kite Connect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1,000 萬+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筆訂單、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 億+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requests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直接 API 使用者 </a:t>
            </a:r>
            <a:r>
              <a:rPr lang="en-US" b="true" sz="26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&lt;0.05%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，需求主要透過第三方平台放大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54006" y="9090542"/>
            <a:ext cx="152224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2"/>
              </a:lnSpc>
              <a:spcBef>
                <a:spcPct val="0"/>
              </a:spcBef>
            </a:pP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 的價值不在直接使用者數量，而在第三方平台能放大客戶觸及與交易流量。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9390" y="2034067"/>
            <a:ext cx="7531940" cy="7441079"/>
            <a:chOff x="0" y="0"/>
            <a:chExt cx="2085743" cy="20605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5676" cy="2060474"/>
            </a:xfrm>
            <a:custGeom>
              <a:avLst/>
              <a:gdLst/>
              <a:ahLst/>
              <a:cxnLst/>
              <a:rect r="r" b="b" t="t" l="l"/>
              <a:pathLst>
                <a:path h="2060474" w="2085676">
                  <a:moveTo>
                    <a:pt x="0" y="190174"/>
                  </a:moveTo>
                  <a:cubicBezTo>
                    <a:pt x="0" y="85072"/>
                    <a:pt x="44183" y="0"/>
                    <a:pt x="98769" y="0"/>
                  </a:cubicBezTo>
                  <a:lnTo>
                    <a:pt x="1986907" y="0"/>
                  </a:lnTo>
                  <a:cubicBezTo>
                    <a:pt x="2041493" y="0"/>
                    <a:pt x="2085676" y="85072"/>
                    <a:pt x="2085676" y="190174"/>
                  </a:cubicBezTo>
                  <a:lnTo>
                    <a:pt x="2085676" y="1870300"/>
                  </a:lnTo>
                  <a:cubicBezTo>
                    <a:pt x="2085676" y="1975402"/>
                    <a:pt x="2041493" y="2060474"/>
                    <a:pt x="1986907" y="2060474"/>
                  </a:cubicBezTo>
                  <a:lnTo>
                    <a:pt x="98769" y="2060474"/>
                  </a:lnTo>
                  <a:cubicBezTo>
                    <a:pt x="44183" y="2060474"/>
                    <a:pt x="0" y="1975402"/>
                    <a:pt x="0" y="1870300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373634" y="4030849"/>
            <a:ext cx="7264067" cy="4643090"/>
            <a:chOff x="0" y="0"/>
            <a:chExt cx="21515090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1503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1515034">
                  <a:moveTo>
                    <a:pt x="0" y="0"/>
                  </a:moveTo>
                  <a:lnTo>
                    <a:pt x="21515034" y="0"/>
                  </a:lnTo>
                  <a:lnTo>
                    <a:pt x="21515034" y="13752195"/>
                  </a:lnTo>
                  <a:lnTo>
                    <a:pt x="0" y="13752195"/>
                  </a:lnTo>
                  <a:close/>
                </a:path>
              </a:pathLst>
            </a:custGeom>
            <a:blipFill>
              <a:blip r:embed="rId3"/>
              <a:stretch>
                <a:fillRect l="-1010" t="0" r="-1010" b="0"/>
              </a:stretch>
            </a:blip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案例｜美國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0840" y="795476"/>
            <a:ext cx="18168786" cy="720316"/>
            <a:chOff x="0" y="0"/>
            <a:chExt cx="24225048" cy="9604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225052" cy="960415"/>
            </a:xfrm>
            <a:custGeom>
              <a:avLst/>
              <a:gdLst/>
              <a:ahLst/>
              <a:cxnLst/>
              <a:rect r="r" b="b" t="t" l="l"/>
              <a:pathLst>
                <a:path h="960415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60415"/>
                  </a:lnTo>
                  <a:lnTo>
                    <a:pt x="0" y="960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9748" r="8583" b="-3988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4225048" cy="95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83"/>
                </a:lnSpc>
              </a:pP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大單要拆成小單分送到不同交易場所，人工下單開始不夠用讓Execution自動化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54491" y="2099905"/>
            <a:ext cx="5701736" cy="1178469"/>
            <a:chOff x="0" y="0"/>
            <a:chExt cx="6704828" cy="13857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04830" cy="1385791"/>
            </a:xfrm>
            <a:custGeom>
              <a:avLst/>
              <a:gdLst/>
              <a:ahLst/>
              <a:cxnLst/>
              <a:rect r="r" b="b" t="t" l="l"/>
              <a:pathLst>
                <a:path h="1385791" w="6704830">
                  <a:moveTo>
                    <a:pt x="0" y="0"/>
                  </a:moveTo>
                  <a:lnTo>
                    <a:pt x="6704830" y="0"/>
                  </a:lnTo>
                  <a:lnTo>
                    <a:pt x="6704830" y="1385791"/>
                  </a:lnTo>
                  <a:lnTo>
                    <a:pt x="0" y="13857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267" r="8554" b="-271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704828" cy="1385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44"/>
                </a:lnSpc>
              </a:pPr>
              <a:r>
                <a:rPr lang="en-US" sz="5954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79.1% → 25.1%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92814" y="3177064"/>
            <a:ext cx="4825090" cy="782390"/>
            <a:chOff x="0" y="0"/>
            <a:chExt cx="6131268" cy="9941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31270" cy="994191"/>
            </a:xfrm>
            <a:custGeom>
              <a:avLst/>
              <a:gdLst/>
              <a:ahLst/>
              <a:cxnLst/>
              <a:rect r="r" b="b" t="t" l="l"/>
              <a:pathLst>
                <a:path h="994191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994191"/>
                  </a:lnTo>
                  <a:lnTo>
                    <a:pt x="0" y="9941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06" r="0" b="-588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131268" cy="994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NYSE 掛牌股在 NYSE 成交占比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2005 → 2009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資料來源：SEC, Concept Release on Equity Market Structure（2010）及 May 6 Market Disruption Testimony（2010）；Aite Group（2006）。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749590" y="8750139"/>
            <a:ext cx="6511539" cy="50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b="true" sz="173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Trading Centers and Estimated Percentage of Share Volume in NMS Stocks September 2009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9519" y="1572942"/>
            <a:ext cx="550262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1.為什麼美國有這麼多交易場所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120379"/>
            <a:ext cx="9067150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1975: 建立National Market System, </a:t>
            </a: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允許市場上存在多個Venue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 檔活躍 Nasdaq 股票中，70 檔幾乎不使用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較細的 1/8 美元報價刻度。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部分股票的採用更細報價後，買賣價差迅速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下降近 50%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1990年代: 科技進步，電子交易所開始出現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85% </a:t>
            </a: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的造市商報價優於 Nasdaq 公開市場最佳報價。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77% </a:t>
            </a: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的成交價格優於 Nasdaq 公開市場最佳買賣報價。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3685" y="5401742"/>
            <a:ext cx="82534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2.交易場所增加</a:t>
            </a: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為什麼需要將execution自動化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11834" y="5935142"/>
            <a:ext cx="1903826" cy="1513956"/>
            <a:chOff x="0" y="0"/>
            <a:chExt cx="1345341" cy="10698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464316" y="6484374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大單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506298" y="5935142"/>
            <a:ext cx="1903826" cy="1513956"/>
            <a:chOff x="0" y="0"/>
            <a:chExt cx="1345341" cy="10698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581807" y="6322432"/>
            <a:ext cx="182831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拆成小單child order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700761" y="5965504"/>
            <a:ext cx="1903826" cy="1513956"/>
            <a:chOff x="0" y="0"/>
            <a:chExt cx="1345341" cy="10698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853161" y="6114686"/>
            <a:ext cx="1593473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從上百個路線中選最佳的</a:t>
            </a:r>
          </a:p>
        </p:txBody>
      </p:sp>
      <p:sp>
        <p:nvSpPr>
          <p:cNvPr name="AutoShape 34" id="34"/>
          <p:cNvSpPr/>
          <p:nvPr/>
        </p:nvSpPr>
        <p:spPr>
          <a:xfrm>
            <a:off x="3215599" y="6692120"/>
            <a:ext cx="129069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6408147" y="6722482"/>
            <a:ext cx="12926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6" id="36"/>
          <p:cNvSpPr txBox="true"/>
          <p:nvPr/>
        </p:nvSpPr>
        <p:spPr>
          <a:xfrm rot="0">
            <a:off x="799519" y="7560423"/>
            <a:ext cx="192873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ˇ3.需求驗證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33685" y="8036673"/>
            <a:ext cx="9180719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美國機構</a:t>
            </a:r>
            <a:r>
              <a:rPr lang="en-US" sz="2627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&gt;75%</a:t>
            </a: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使用 Algo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最大／最活躍機構交易者</a:t>
            </a:r>
            <a:r>
              <a:rPr lang="en-US" sz="2627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95%</a:t>
            </a: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使用 Algo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Algo占美國股市成交量</a:t>
            </a:r>
            <a:r>
              <a:rPr lang="en-US" sz="2627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從 2005 年 28% 升至 2006 年 33%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848" y="1097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案例｜韓國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848" y="649660"/>
            <a:ext cx="16609333" cy="758081"/>
            <a:chOff x="0" y="0"/>
            <a:chExt cx="22145777" cy="1010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45782" cy="1010768"/>
            </a:xfrm>
            <a:custGeom>
              <a:avLst/>
              <a:gdLst/>
              <a:ahLst/>
              <a:cxnLst/>
              <a:rect r="r" b="b" t="t" l="l"/>
              <a:pathLst>
                <a:path h="1010768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1010768"/>
                  </a:lnTo>
                  <a:lnTo>
                    <a:pt x="0" y="1010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834" r="0" b="-3739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45777" cy="1010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23"/>
                </a:lnSpc>
              </a:pPr>
              <a:r>
                <a:rPr lang="en-US" sz="38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外資與專業交易參與提升，機構Execution需求增加推</a:t>
              </a:r>
              <a:r>
                <a:rPr lang="en-US" sz="38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動 Broker Algo 發展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資料來源：IMF Korea Program（1997–98）；Choe, Kho &amp; Stulz（RFS, 2005）；Koscom STP-HUB；KCMI（2019）。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75852" y="1500667"/>
            <a:ext cx="7466340" cy="4056932"/>
          </a:xfrm>
          <a:custGeom>
            <a:avLst/>
            <a:gdLst/>
            <a:ahLst/>
            <a:cxnLst/>
            <a:rect r="r" b="b" t="t" l="l"/>
            <a:pathLst>
              <a:path h="4056932" w="7466340">
                <a:moveTo>
                  <a:pt x="0" y="0"/>
                </a:moveTo>
                <a:lnTo>
                  <a:pt x="7466340" y="0"/>
                </a:lnTo>
                <a:lnTo>
                  <a:pt x="7466340" y="4056932"/>
                </a:lnTo>
                <a:lnTo>
                  <a:pt x="0" y="4056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5852" y="5654635"/>
            <a:ext cx="7466340" cy="4037718"/>
          </a:xfrm>
          <a:custGeom>
            <a:avLst/>
            <a:gdLst/>
            <a:ahLst/>
            <a:cxnLst/>
            <a:rect r="r" b="b" t="t" l="l"/>
            <a:pathLst>
              <a:path h="4037718" w="7466340">
                <a:moveTo>
                  <a:pt x="0" y="0"/>
                </a:moveTo>
                <a:lnTo>
                  <a:pt x="7466340" y="0"/>
                </a:lnTo>
                <a:lnTo>
                  <a:pt x="7466340" y="4037718"/>
                </a:lnTo>
                <a:lnTo>
                  <a:pt x="0" y="4037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6691" y="2638352"/>
            <a:ext cx="3602331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外資持有韓股占比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2000 → 2007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2AA0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  <a:r>
              <a:rPr lang="en-US" b="true" sz="3227">
                <a:solidFill>
                  <a:srgbClr val="2AA0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% → 27%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38146" y="1995967"/>
            <a:ext cx="9128009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1997 亞洲金融危機：短期外債龐大、外資停止續借，外匯存底耗盡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→外匯存底只剩約 50 億美元 vs. 短期外債約 1,000 億美元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 IMF 救援＋資本市場改革：開放更多資本市場商品給外資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 1997/12 外資持股限制 ：</a:t>
            </a:r>
            <a:r>
              <a:rPr lang="en-US" sz="2527" b="true">
                <a:solidFill>
                  <a:srgbClr val="FFC64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26% → 55%→ 完全取消持股上限</a:t>
            </a:r>
          </a:p>
          <a:p>
            <a:pPr algn="l">
              <a:lnSpc>
                <a:spcPts val="3032"/>
              </a:lnSpc>
              <a:spcBef>
                <a:spcPct val="0"/>
              </a:spcBef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 外資進入韓國市場的制度障礙大幅下降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14008" y="1500667"/>
            <a:ext cx="328843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1.為什麼外資會湧入？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14008" y="4377217"/>
            <a:ext cx="562376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2.法人交易增加，推動交易流程電子化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38146" y="4841561"/>
            <a:ext cx="8977881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本土法人早已有需求，法人執行需求並非外資進入後才出現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2001–2007 年，股票型基金 AUM 約成長 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 倍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</a:t>
            </a:r>
            <a:r>
              <a:rPr lang="en-US" sz="25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將國際電子交易標準帶入</a:t>
            </a: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，促使韓國券商升級</a:t>
            </a: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交易服務，以爭取國際機構的訂單。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跨國交易系統整合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：FIX、電子化委託與成交回報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降低大額訂單執行成本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：VWAP、TWAP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保護交易意圖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：交易匿名性、母單拆分</a:t>
            </a:r>
          </a:p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自主管理交易策略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：可客製化的 Broker Algo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77661" y="8480111"/>
            <a:ext cx="953455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2010：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 家機構／券商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使用機構電子化訂單平台</a:t>
            </a:r>
          </a:p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2017：使用者較 2006 年上升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9.5 倍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、每日處理量上升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 倍</a:t>
            </a:r>
          </a:p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2024：Koscom 旗下 STP-HUB 系統有</a:t>
            </a:r>
            <a:r>
              <a:rPr lang="en-US" b="true" sz="25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330 家客戶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、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 700 萬筆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訂單／成交訊息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15154" y="7984811"/>
            <a:ext cx="543215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機構電子化 Execution 已形成規模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HFT案例｜美國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20316"/>
            <a:chOff x="0" y="0"/>
            <a:chExt cx="24225048" cy="9604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60415"/>
            </a:xfrm>
            <a:custGeom>
              <a:avLst/>
              <a:gdLst/>
              <a:ahLst/>
              <a:cxnLst/>
              <a:rect r="r" b="b" t="t" l="l"/>
              <a:pathLst>
                <a:path h="960415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60415"/>
                  </a:lnTo>
                  <a:lnTo>
                    <a:pt x="0" y="960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748" r="8583" b="-39884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4225048" cy="95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83"/>
                </a:lnSpc>
              </a:pP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電子交易競爭與 Decimalization 壓縮做市利潤，推動美國交易走向高速自動化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資料來源：SEC Decimalization Testimony（2001）、Equity Market Structure（2010）、FY2010 PAR；GAO-05-535（2005）。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0840" y="2017166"/>
            <a:ext cx="2105965" cy="1674701"/>
            <a:chOff x="0" y="0"/>
            <a:chExt cx="1345341" cy="10698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85795" y="2017166"/>
            <a:ext cx="2105965" cy="1674701"/>
            <a:chOff x="0" y="0"/>
            <a:chExt cx="1345341" cy="1069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748755" y="2017166"/>
            <a:ext cx="2105965" cy="1674701"/>
            <a:chOff x="0" y="0"/>
            <a:chExt cx="1345341" cy="10698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167275" y="2017166"/>
            <a:ext cx="2105965" cy="1674701"/>
            <a:chOff x="0" y="0"/>
            <a:chExt cx="1345341" cy="10698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774869" y="4701517"/>
            <a:ext cx="8369131" cy="4432432"/>
          </a:xfrm>
          <a:custGeom>
            <a:avLst/>
            <a:gdLst/>
            <a:ahLst/>
            <a:cxnLst/>
            <a:rect r="r" b="b" t="t" l="l"/>
            <a:pathLst>
              <a:path h="4432432" w="8369131">
                <a:moveTo>
                  <a:pt x="0" y="0"/>
                </a:moveTo>
                <a:lnTo>
                  <a:pt x="8369131" y="0"/>
                </a:lnTo>
                <a:lnTo>
                  <a:pt x="8369131" y="4432431"/>
                </a:lnTo>
                <a:lnTo>
                  <a:pt x="0" y="4432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84261" y="2168841"/>
            <a:ext cx="699123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48755" y="2168841"/>
            <a:ext cx="2105965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7258" y="2525760"/>
            <a:ext cx="1304446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Spread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2790" y="3043093"/>
            <a:ext cx="1233381" cy="6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b="true" sz="410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-50%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02229" y="2525760"/>
            <a:ext cx="2095602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Quote Size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85047" y="3043093"/>
            <a:ext cx="1233381" cy="6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b="true" sz="410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-68%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66319" y="2168841"/>
            <a:ext cx="1550988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2000–2004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63283" y="2168841"/>
            <a:ext cx="1550988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2000–2004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66319" y="2525760"/>
            <a:ext cx="1608076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造市收益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95049" y="2525760"/>
            <a:ext cx="1887456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造市商數量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25123" y="3043093"/>
            <a:ext cx="1233381" cy="6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b="true" sz="410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-73%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6386" y="3090340"/>
            <a:ext cx="2054596" cy="54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  <a:spcBef>
                <a:spcPct val="0"/>
              </a:spcBef>
            </a:pPr>
            <a:r>
              <a:rPr lang="en-US" b="true" sz="3651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491→258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11704" y="4196692"/>
            <a:ext cx="577259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電子交易平台快速搶占 Nasdaq 成交量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44185" y="1556797"/>
            <a:ext cx="495649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為什麼傳統做市商利潤被壓縮？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01335" y="2065391"/>
            <a:ext cx="7805975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電子交易平台崛起：電子交易平台快速崛起，傳統做市商面臨價格與執行競爭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Decimalization 壓縮價差：2001 年最小報價單位降至 1 cent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單筆交易利潤變薄：做市商無法再依賴較寬的買賣價差維持原有獲利模式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60149" y="4465691"/>
            <a:ext cx="791832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總利潤 ≈ 每筆能賺的價差 × 成交量 − 交易／人力／系統成本</a:t>
            </a:r>
          </a:p>
          <a:p>
            <a:pPr algn="l">
              <a:lnSpc>
                <a:spcPts val="2672"/>
              </a:lnSpc>
              <a:spcBef>
                <a:spcPct val="0"/>
              </a:spcBef>
            </a:pPr>
          </a:p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單筆收益下降，做市商轉向大量、低成本、自動化交易，當大</a:t>
            </a:r>
          </a:p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量交易都電子化後，誰能更快搶成交、更新報價誰就更有優勢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44185" y="5912762"/>
            <a:ext cx="586792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速度成為競爭力，HFT 成為主要 Flow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01335" y="6312812"/>
            <a:ext cx="8018505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 年 HFT 已占美股成交量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50%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最快接單、撮合、回應已低於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 ms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每日交易筆數：2.9M → 22.1M，+662%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低延遲需求開始商品化：DMA、Sponsored Access、Co-location、Direct Feed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60149" y="8817887"/>
            <a:ext cx="721511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沒有證交稅但有監管費，費率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0.00169%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44185" y="8417837"/>
            <a:ext cx="162044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3.交易成本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848" y="1097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</a:t>
              </a: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案例｜韓國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848" y="704821"/>
            <a:ext cx="16609333" cy="795846"/>
            <a:chOff x="0" y="0"/>
            <a:chExt cx="22145777" cy="1061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45782" cy="1061121"/>
            </a:xfrm>
            <a:custGeom>
              <a:avLst/>
              <a:gdLst/>
              <a:ahLst/>
              <a:cxnLst/>
              <a:rect r="r" b="b" t="t" l="l"/>
              <a:pathLst>
                <a:path h="1061121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1061121"/>
                  </a:lnTo>
                  <a:lnTo>
                    <a:pt x="0" y="1061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810" r="0" b="-3515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45777" cy="1061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散戶短線交易做大衍生品市場</a:t>
              </a: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，進而吸引 HFT 大量進場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資料來源：KRX Derivatives Market；KCMI（2011）；Kang et al.（RIBF, 2022）；Lee, Ryu &amp; Webb（RDR, 2026）；Kim &amp; Ryu（2022）。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2888" y="9076611"/>
            <a:ext cx="7473601" cy="33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</a:t>
            </a: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lobal Exchange-Based Trading of Equity Derivatives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400000">
            <a:off x="2178238" y="2029402"/>
            <a:ext cx="5222900" cy="8555938"/>
          </a:xfrm>
          <a:custGeom>
            <a:avLst/>
            <a:gdLst/>
            <a:ahLst/>
            <a:cxnLst/>
            <a:rect r="r" b="b" t="t" l="l"/>
            <a:pathLst>
              <a:path h="8555938" w="5222900">
                <a:moveTo>
                  <a:pt x="0" y="0"/>
                </a:moveTo>
                <a:lnTo>
                  <a:pt x="5222901" y="0"/>
                </a:lnTo>
                <a:lnTo>
                  <a:pt x="5222901" y="8555938"/>
                </a:lnTo>
                <a:lnTo>
                  <a:pt x="0" y="8555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" t="0" r="-108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4292731" y="6910499"/>
            <a:ext cx="4774927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313289" y="6627249"/>
            <a:ext cx="0" cy="297897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292731" y="6627249"/>
            <a:ext cx="4774927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067657" y="6627249"/>
            <a:ext cx="0" cy="28325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4705302" y="1758968"/>
            <a:ext cx="4277969" cy="1754852"/>
            <a:chOff x="0" y="0"/>
            <a:chExt cx="3023031" cy="12400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22934" cy="1240003"/>
            </a:xfrm>
            <a:custGeom>
              <a:avLst/>
              <a:gdLst/>
              <a:ahLst/>
              <a:cxnLst/>
              <a:rect r="r" b="b" t="t" l="l"/>
              <a:pathLst>
                <a:path h="1240003" w="3022934">
                  <a:moveTo>
                    <a:pt x="0" y="114448"/>
                  </a:moveTo>
                  <a:cubicBezTo>
                    <a:pt x="0" y="51197"/>
                    <a:pt x="64038" y="0"/>
                    <a:pt x="143154" y="0"/>
                  </a:cubicBezTo>
                  <a:lnTo>
                    <a:pt x="2879780" y="0"/>
                  </a:lnTo>
                  <a:cubicBezTo>
                    <a:pt x="2958896" y="0"/>
                    <a:pt x="3022934" y="51197"/>
                    <a:pt x="3022934" y="114448"/>
                  </a:cubicBezTo>
                  <a:lnTo>
                    <a:pt x="3022934" y="1125555"/>
                  </a:lnTo>
                  <a:cubicBezTo>
                    <a:pt x="3022934" y="1188806"/>
                    <a:pt x="2958896" y="1240003"/>
                    <a:pt x="2879780" y="1240003"/>
                  </a:cubicBezTo>
                  <a:lnTo>
                    <a:pt x="143154" y="1240003"/>
                  </a:lnTo>
                  <a:cubicBezTo>
                    <a:pt x="64038" y="1240003"/>
                    <a:pt x="0" y="1188806"/>
                    <a:pt x="0" y="1125555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840943" y="1750569"/>
            <a:ext cx="4226714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2"/>
              </a:lnSpc>
            </a:pPr>
            <a:r>
              <a:rPr lang="en-US" sz="3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高周轉短線操作多</a:t>
            </a:r>
          </a:p>
          <a:p>
            <a:pPr algn="l">
              <a:lnSpc>
                <a:spcPts val="2796"/>
              </a:lnSpc>
              <a:spcBef>
                <a:spcPct val="0"/>
              </a:spcBef>
            </a:pPr>
            <a:r>
              <a:rPr lang="en-US" b="true" sz="233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韓國：未平倉量</a:t>
            </a:r>
            <a:r>
              <a:rPr lang="en-US" b="true" sz="233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 640 億美元</a:t>
            </a:r>
          </a:p>
          <a:p>
            <a:pPr algn="l">
              <a:lnSpc>
                <a:spcPts val="2796"/>
              </a:lnSpc>
              <a:spcBef>
                <a:spcPct val="0"/>
              </a:spcBef>
            </a:pPr>
            <a:r>
              <a:rPr lang="en-US" b="true" sz="233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美國：約 3.3 兆美元</a:t>
            </a:r>
          </a:p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b="true" sz="3129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是美國 1/50 倍以上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9219" y="1984578"/>
            <a:ext cx="8840445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1.為什麼衍生性商品市場這麼龐大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低進入門檻：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合約規模小、保證金需求相對低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低交易摩擦：當時 Futures / Options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不課稅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，頻繁進出成本較低，2016 年才開始課徵資本利得稅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政策降低進場門檻：基本預存款由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3,000 萬降至 500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韓元，擴大散戶參與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92085" y="1758968"/>
            <a:ext cx="4277969" cy="1754852"/>
            <a:chOff x="0" y="0"/>
            <a:chExt cx="3023031" cy="12400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22934" cy="1240003"/>
            </a:xfrm>
            <a:custGeom>
              <a:avLst/>
              <a:gdLst/>
              <a:ahLst/>
              <a:cxnLst/>
              <a:rect r="r" b="b" t="t" l="l"/>
              <a:pathLst>
                <a:path h="1240003" w="3022934">
                  <a:moveTo>
                    <a:pt x="0" y="114448"/>
                  </a:moveTo>
                  <a:cubicBezTo>
                    <a:pt x="0" y="51197"/>
                    <a:pt x="64038" y="0"/>
                    <a:pt x="143154" y="0"/>
                  </a:cubicBezTo>
                  <a:lnTo>
                    <a:pt x="2879780" y="0"/>
                  </a:lnTo>
                  <a:cubicBezTo>
                    <a:pt x="2958896" y="0"/>
                    <a:pt x="3022934" y="51197"/>
                    <a:pt x="3022934" y="114448"/>
                  </a:cubicBezTo>
                  <a:lnTo>
                    <a:pt x="3022934" y="1125555"/>
                  </a:lnTo>
                  <a:cubicBezTo>
                    <a:pt x="3022934" y="1188806"/>
                    <a:pt x="2958896" y="1240003"/>
                    <a:pt x="2879780" y="1240003"/>
                  </a:cubicBezTo>
                  <a:lnTo>
                    <a:pt x="143154" y="1240003"/>
                  </a:lnTo>
                  <a:cubicBezTo>
                    <a:pt x="64038" y="1240003"/>
                    <a:pt x="0" y="1188806"/>
                    <a:pt x="0" y="1125555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221196" y="1779144"/>
            <a:ext cx="4619747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2"/>
              </a:lnSpc>
              <a:spcBef>
                <a:spcPct val="0"/>
              </a:spcBef>
            </a:pPr>
            <a:r>
              <a:rPr lang="en-US" b="true" sz="3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大量散戶</a:t>
            </a:r>
          </a:p>
          <a:p>
            <a:pPr algn="l" marL="524002" indent="-262001" lvl="1">
              <a:lnSpc>
                <a:spcPts val="2912"/>
              </a:lnSpc>
              <a:buFont typeface="Arial"/>
              <a:buChar char="•"/>
            </a:pP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Options：散戶占</a:t>
            </a:r>
            <a:r>
              <a:rPr lang="en-US" b="true" sz="24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2/3</a:t>
            </a: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的交易</a:t>
            </a:r>
          </a:p>
          <a:p>
            <a:pPr algn="l" marL="524002" indent="-262001" lvl="1">
              <a:lnSpc>
                <a:spcPts val="2912"/>
              </a:lnSpc>
              <a:buFont typeface="Arial"/>
              <a:buChar char="•"/>
            </a:pP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Futures：散戶占</a:t>
            </a:r>
            <a:r>
              <a:rPr lang="en-US" b="true" sz="24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1/2</a:t>
            </a: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的交易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89219" y="4556820"/>
            <a:ext cx="8840445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2.散戶大量短線下單，持續製造短暫的買賣失衡與價格偏離HFT 靠比別人更快下單，把這些小利潤一直撿起來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2019.05–2020.09：散戶占總成交量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26%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但占 HFT交易對手方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38%．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2012 年 Options multiplier 從 10 萬提高到 50 萬韓元後，總成交量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約下降 47.8%；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約下降 52.8%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，相對散戶的交易量還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下降約 30.9%。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89219" y="7528620"/>
            <a:ext cx="641285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ˇ3.高頻交易高度普及，且由外資主導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2010-2014：HFT總市場參與占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49.4%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2010｜每日 &gt;20,000 筆訂單的高頻帳戶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36513" y="8728770"/>
            <a:ext cx="427121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75.6%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為外資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98.0%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為外資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2085" y="3984828"/>
            <a:ext cx="399150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  <a:spcBef>
                <a:spcPct val="0"/>
              </a:spcBef>
            </a:pPr>
            <a:r>
              <a:rPr lang="en-US" b="true" sz="27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從2002年開始，衍生性商品</a:t>
            </a:r>
            <a:r>
              <a:rPr lang="en-US" b="true" sz="27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全年成交量全世界第一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HFT案例｜日本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20316"/>
            <a:chOff x="0" y="0"/>
            <a:chExt cx="24225048" cy="9604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60415"/>
            </a:xfrm>
            <a:custGeom>
              <a:avLst/>
              <a:gdLst/>
              <a:ahLst/>
              <a:cxnLst/>
              <a:rect r="r" b="b" t="t" l="l"/>
              <a:pathLst>
                <a:path h="960415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60415"/>
                  </a:lnTo>
                  <a:lnTo>
                    <a:pt x="0" y="960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748" r="8583" b="-39884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4225048" cy="95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83"/>
                </a:lnSpc>
              </a:pP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市場參與者結構改變：海外機構逐漸取代本國穩定股東</a:t>
              </a: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，成為主要交易力量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Source: SEC testimony, 2010, market fragmentation statistics.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0840" y="1572942"/>
            <a:ext cx="3073587" cy="1674701"/>
            <a:chOff x="0" y="0"/>
            <a:chExt cx="1963480" cy="10698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341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963417">
                  <a:moveTo>
                    <a:pt x="0" y="98737"/>
                  </a:moveTo>
                  <a:cubicBezTo>
                    <a:pt x="0" y="44169"/>
                    <a:pt x="41593" y="0"/>
                    <a:pt x="92980" y="0"/>
                  </a:cubicBezTo>
                  <a:lnTo>
                    <a:pt x="1870438" y="0"/>
                  </a:lnTo>
                  <a:cubicBezTo>
                    <a:pt x="1921824" y="0"/>
                    <a:pt x="1963417" y="44169"/>
                    <a:pt x="1963417" y="98737"/>
                  </a:cubicBezTo>
                  <a:lnTo>
                    <a:pt x="1963417" y="971046"/>
                  </a:lnTo>
                  <a:cubicBezTo>
                    <a:pt x="1963417" y="1025614"/>
                    <a:pt x="1921824" y="1069783"/>
                    <a:pt x="1870438" y="1069783"/>
                  </a:cubicBezTo>
                  <a:lnTo>
                    <a:pt x="92980" y="1069783"/>
                  </a:lnTo>
                  <a:cubicBezTo>
                    <a:pt x="41593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478967" y="1572942"/>
            <a:ext cx="3073587" cy="1674701"/>
            <a:chOff x="0" y="0"/>
            <a:chExt cx="1963480" cy="1069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6341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963417">
                  <a:moveTo>
                    <a:pt x="0" y="98737"/>
                  </a:moveTo>
                  <a:cubicBezTo>
                    <a:pt x="0" y="44169"/>
                    <a:pt x="41593" y="0"/>
                    <a:pt x="92980" y="0"/>
                  </a:cubicBezTo>
                  <a:lnTo>
                    <a:pt x="1870438" y="0"/>
                  </a:lnTo>
                  <a:cubicBezTo>
                    <a:pt x="1921824" y="0"/>
                    <a:pt x="1963417" y="44169"/>
                    <a:pt x="1963417" y="98737"/>
                  </a:cubicBezTo>
                  <a:lnTo>
                    <a:pt x="1963417" y="971046"/>
                  </a:lnTo>
                  <a:cubicBezTo>
                    <a:pt x="1963417" y="1025614"/>
                    <a:pt x="1921824" y="1069783"/>
                    <a:pt x="1870438" y="1069783"/>
                  </a:cubicBezTo>
                  <a:lnTo>
                    <a:pt x="92980" y="1069783"/>
                  </a:lnTo>
                  <a:cubicBezTo>
                    <a:pt x="41593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76379" y="1572942"/>
            <a:ext cx="3073587" cy="1674701"/>
            <a:chOff x="0" y="0"/>
            <a:chExt cx="1963480" cy="10698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6341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963417">
                  <a:moveTo>
                    <a:pt x="0" y="98737"/>
                  </a:moveTo>
                  <a:cubicBezTo>
                    <a:pt x="0" y="44169"/>
                    <a:pt x="41593" y="0"/>
                    <a:pt x="92980" y="0"/>
                  </a:cubicBezTo>
                  <a:lnTo>
                    <a:pt x="1870438" y="0"/>
                  </a:lnTo>
                  <a:cubicBezTo>
                    <a:pt x="1921824" y="0"/>
                    <a:pt x="1963417" y="44169"/>
                    <a:pt x="1963417" y="98737"/>
                  </a:cubicBezTo>
                  <a:lnTo>
                    <a:pt x="1963417" y="971046"/>
                  </a:lnTo>
                  <a:cubicBezTo>
                    <a:pt x="1963417" y="1025614"/>
                    <a:pt x="1921824" y="1069783"/>
                    <a:pt x="1870438" y="1069783"/>
                  </a:cubicBezTo>
                  <a:lnTo>
                    <a:pt x="92980" y="1069783"/>
                  </a:lnTo>
                  <a:cubicBezTo>
                    <a:pt x="41593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99694" y="3923918"/>
            <a:ext cx="9632134" cy="5761220"/>
          </a:xfrm>
          <a:custGeom>
            <a:avLst/>
            <a:gdLst/>
            <a:ahLst/>
            <a:cxnLst/>
            <a:rect r="r" b="b" t="t" l="l"/>
            <a:pathLst>
              <a:path h="5761220" w="9632134">
                <a:moveTo>
                  <a:pt x="0" y="0"/>
                </a:moveTo>
                <a:lnTo>
                  <a:pt x="9632134" y="0"/>
                </a:lnTo>
                <a:lnTo>
                  <a:pt x="9632134" y="5761220"/>
                </a:lnTo>
                <a:lnTo>
                  <a:pt x="0" y="576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62099" y="1515792"/>
            <a:ext cx="78059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1.制度改革改變市場持股結構，外資佔比逐漸提高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2099" y="1915842"/>
            <a:ext cx="7805975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1998跨境資本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交易自由化：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取消多項跨境資本交易許可／事前申報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2001銀行持股限制法：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銀行股票持有原則上不得超過自有資本</a:t>
            </a:r>
          </a:p>
          <a:p>
            <a:pPr algn="l">
              <a:lnSpc>
                <a:spcPts val="3152"/>
              </a:lnSpc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解除跨境資本限制，同時要求銀行降低股票持有部位。海外機構投資人更容易進入日本市場。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62099" y="4487592"/>
            <a:ext cx="228763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2.交易需求改變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62099" y="4830492"/>
            <a:ext cx="801850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海外機構不是只長期持有，而是更頻繁地調整部位、執行交易，市場開始需要更有效率的電子執行，但</a:t>
            </a: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原有的系統太慢了(2-3sec)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4815" y="1681630"/>
            <a:ext cx="2088431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外資交易占比 </a:t>
            </a:r>
          </a:p>
          <a:p>
            <a:pPr algn="ctr">
              <a:lnSpc>
                <a:spcPts val="5072"/>
              </a:lnSpc>
              <a:spcBef>
                <a:spcPct val="0"/>
              </a:spcBef>
            </a:pPr>
            <a:r>
              <a:rPr lang="en-US" b="true" sz="4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60</a:t>
            </a:r>
            <a:r>
              <a:rPr lang="en-US" b="true" sz="4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%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（2007）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42192" y="1710350"/>
            <a:ext cx="234195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  <a:spcBef>
                <a:spcPct val="0"/>
              </a:spcBef>
            </a:pPr>
            <a:r>
              <a:rPr lang="en-US" b="true" sz="26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外資持日股佔比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33015" y="2091205"/>
            <a:ext cx="156031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1"/>
              </a:lnSpc>
              <a:spcBef>
                <a:spcPct val="0"/>
              </a:spcBef>
            </a:pPr>
            <a:r>
              <a:rPr lang="en-US" b="true" sz="423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27.5%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17202" y="2719855"/>
            <a:ext cx="99193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  <a:spcBef>
                <a:spcPct val="0"/>
              </a:spcBef>
            </a:pPr>
            <a:r>
              <a:rPr lang="en-US" b="true" sz="26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(2007)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78967" y="1738925"/>
            <a:ext cx="307358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個人交易占比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65990" y="2100730"/>
            <a:ext cx="109954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1"/>
              </a:lnSpc>
              <a:spcBef>
                <a:spcPct val="0"/>
              </a:spcBef>
            </a:pPr>
            <a:r>
              <a:rPr lang="en-US" b="true" sz="423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30%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55748" y="2719855"/>
            <a:ext cx="99193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  <a:spcBef>
                <a:spcPct val="0"/>
              </a:spcBef>
            </a:pPr>
            <a:r>
              <a:rPr lang="en-US" b="true" sz="26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(2007)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0809" y="3466718"/>
            <a:ext cx="834040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外資交易占比持續攀升，逐步成為日本股市主要交易力量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62099" y="6144942"/>
            <a:ext cx="600834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3.基礎設施升級後，HFT 才真正大量進來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62099" y="6544992"/>
            <a:ext cx="815210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東證2010 年推出 Arrowhead，並提供 CoLo 服務。</a:t>
            </a:r>
          </a:p>
          <a:p>
            <a:pPr algn="l">
              <a:lnSpc>
                <a:spcPts val="3152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0162099" y="6945042"/>
            <a:ext cx="6992987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 已成為日本市場主要交易 Flow (2026)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東證：HFT 約占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35%–40%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成交金額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東證：約占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新單、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撤單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大阪衍生品：HFT 約占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35%–50%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成交金額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2026/6：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52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註冊 HFT 業者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62099" y="9058275"/>
            <a:ext cx="338360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4.交易成本: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不課證交稅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706" y="329441"/>
            <a:ext cx="8647833" cy="494167"/>
            <a:chOff x="0" y="0"/>
            <a:chExt cx="11530444" cy="6588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30448" cy="658883"/>
            </a:xfrm>
            <a:custGeom>
              <a:avLst/>
              <a:gdLst/>
              <a:ahLst/>
              <a:cxnLst/>
              <a:rect r="r" b="b" t="t" l="l"/>
              <a:pathLst>
                <a:path h="658883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7" r="0" b="-2909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1530444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第二章結論  |  可驗證的市場形成條件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706" y="1070686"/>
            <a:ext cx="16197539" cy="796147"/>
            <a:chOff x="0" y="0"/>
            <a:chExt cx="21596718" cy="1061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96713" cy="1061533"/>
            </a:xfrm>
            <a:custGeom>
              <a:avLst/>
              <a:gdLst/>
              <a:ahLst/>
              <a:cxnLst/>
              <a:rect r="r" b="b" t="t" l="l"/>
              <a:pathLst>
                <a:path h="1061533" w="21596713">
                  <a:moveTo>
                    <a:pt x="0" y="0"/>
                  </a:moveTo>
                  <a:lnTo>
                    <a:pt x="21596713" y="0"/>
                  </a:lnTo>
                  <a:lnTo>
                    <a:pt x="21596713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420" r="0" b="-3464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596718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三類程式交易服務的形成條件不同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4380">
            <a:off x="606733" y="1985610"/>
            <a:ext cx="17111710" cy="0"/>
          </a:xfrm>
          <a:prstGeom prst="line">
            <a:avLst/>
          </a:prstGeom>
          <a:ln cap="rnd" w="9525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03783" y="2296077"/>
            <a:ext cx="2833992" cy="678904"/>
            <a:chOff x="0" y="0"/>
            <a:chExt cx="3778656" cy="9052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8631" cy="905256"/>
            </a:xfrm>
            <a:custGeom>
              <a:avLst/>
              <a:gdLst/>
              <a:ahLst/>
              <a:cxnLst/>
              <a:rect r="r" b="b" t="t" l="l"/>
              <a:pathLst>
                <a:path h="905256" w="377863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3627755" y="0"/>
                  </a:lnTo>
                  <a:cubicBezTo>
                    <a:pt x="3711067" y="0"/>
                    <a:pt x="3778631" y="67564"/>
                    <a:pt x="3778631" y="150876"/>
                  </a:cubicBezTo>
                  <a:lnTo>
                    <a:pt x="3778631" y="754380"/>
                  </a:lnTo>
                  <a:cubicBezTo>
                    <a:pt x="3778631" y="837692"/>
                    <a:pt x="3711067" y="905256"/>
                    <a:pt x="3627755" y="905256"/>
                  </a:cubicBezTo>
                  <a:lnTo>
                    <a:pt x="150876" y="905256"/>
                  </a:lnTo>
                  <a:cubicBezTo>
                    <a:pt x="67564" y="905256"/>
                    <a:pt x="0" y="837692"/>
                    <a:pt x="0" y="754380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778656" cy="905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服務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27577" y="2296077"/>
            <a:ext cx="14021276" cy="678904"/>
            <a:chOff x="0" y="0"/>
            <a:chExt cx="18695035" cy="9052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95036" cy="905256"/>
            </a:xfrm>
            <a:custGeom>
              <a:avLst/>
              <a:gdLst/>
              <a:ahLst/>
              <a:cxnLst/>
              <a:rect r="r" b="b" t="t" l="l"/>
              <a:pathLst>
                <a:path h="905256" w="18695036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18544160" y="0"/>
                  </a:lnTo>
                  <a:cubicBezTo>
                    <a:pt x="18627472" y="0"/>
                    <a:pt x="18695036" y="67564"/>
                    <a:pt x="18695036" y="150876"/>
                  </a:cubicBezTo>
                  <a:lnTo>
                    <a:pt x="18695036" y="754380"/>
                  </a:lnTo>
                  <a:cubicBezTo>
                    <a:pt x="18695036" y="837692"/>
                    <a:pt x="18627472" y="905256"/>
                    <a:pt x="18544160" y="905256"/>
                  </a:cubicBezTo>
                  <a:lnTo>
                    <a:pt x="150876" y="905256"/>
                  </a:lnTo>
                  <a:cubicBezTo>
                    <a:pt x="67564" y="905256"/>
                    <a:pt x="0" y="837692"/>
                    <a:pt x="0" y="754380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695035" cy="905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主要市場形成條件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3783" y="3064774"/>
            <a:ext cx="2833992" cy="1571139"/>
            <a:chOff x="0" y="0"/>
            <a:chExt cx="3778656" cy="20948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8631" cy="2094865"/>
            </a:xfrm>
            <a:custGeom>
              <a:avLst/>
              <a:gdLst/>
              <a:ahLst/>
              <a:cxnLst/>
              <a:rect r="r" b="b" t="t" l="l"/>
              <a:pathLst>
                <a:path h="2094865" w="3778631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3429508" y="0"/>
                  </a:lnTo>
                  <a:cubicBezTo>
                    <a:pt x="3622294" y="0"/>
                    <a:pt x="3778631" y="156337"/>
                    <a:pt x="3778631" y="349123"/>
                  </a:cubicBezTo>
                  <a:lnTo>
                    <a:pt x="3778631" y="1745742"/>
                  </a:lnTo>
                  <a:cubicBezTo>
                    <a:pt x="3778631" y="1938528"/>
                    <a:pt x="3622294" y="2094865"/>
                    <a:pt x="3429508" y="2094865"/>
                  </a:cubicBezTo>
                  <a:lnTo>
                    <a:pt x="349123" y="2094865"/>
                  </a:lnTo>
                  <a:cubicBezTo>
                    <a:pt x="156337" y="2094865"/>
                    <a:pt x="0" y="1938528"/>
                    <a:pt x="0" y="1745742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778656" cy="209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27577" y="3064774"/>
            <a:ext cx="14021276" cy="1571138"/>
            <a:chOff x="0" y="0"/>
            <a:chExt cx="18695035" cy="20948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95036" cy="2094863"/>
            </a:xfrm>
            <a:custGeom>
              <a:avLst/>
              <a:gdLst/>
              <a:ahLst/>
              <a:cxnLst/>
              <a:rect r="r" b="b" t="t" l="l"/>
              <a:pathLst>
                <a:path h="2094863" w="18695036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18345913" y="0"/>
                  </a:lnTo>
                  <a:cubicBezTo>
                    <a:pt x="18538699" y="0"/>
                    <a:pt x="18695036" y="156337"/>
                    <a:pt x="18695036" y="349123"/>
                  </a:cubicBezTo>
                  <a:lnTo>
                    <a:pt x="18695036" y="1745741"/>
                  </a:lnTo>
                  <a:cubicBezTo>
                    <a:pt x="18695036" y="1938527"/>
                    <a:pt x="18538699" y="2094863"/>
                    <a:pt x="18345913" y="2094863"/>
                  </a:cubicBezTo>
                  <a:lnTo>
                    <a:pt x="349123" y="2094863"/>
                  </a:lnTo>
                  <a:cubicBezTo>
                    <a:pt x="156337" y="2094863"/>
                    <a:pt x="0" y="1938526"/>
                    <a:pt x="0" y="1745741"/>
                  </a:cubicBezTo>
                  <a:close/>
                </a:path>
              </a:pathLst>
            </a:custGeom>
            <a:solidFill>
              <a:srgbClr val="0B2C43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695035" cy="209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第三方平台已有一定規模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第三方具有差異化交易服務需求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券商完整基礎設施功能建置成本高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3783" y="4753166"/>
            <a:ext cx="2833992" cy="1571139"/>
            <a:chOff x="0" y="0"/>
            <a:chExt cx="3778656" cy="20948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8631" cy="2094865"/>
            </a:xfrm>
            <a:custGeom>
              <a:avLst/>
              <a:gdLst/>
              <a:ahLst/>
              <a:cxnLst/>
              <a:rect r="r" b="b" t="t" l="l"/>
              <a:pathLst>
                <a:path h="2094865" w="3778631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3429508" y="0"/>
                  </a:lnTo>
                  <a:cubicBezTo>
                    <a:pt x="3622294" y="0"/>
                    <a:pt x="3778631" y="156337"/>
                    <a:pt x="3778631" y="349123"/>
                  </a:cubicBezTo>
                  <a:lnTo>
                    <a:pt x="3778631" y="1745742"/>
                  </a:lnTo>
                  <a:cubicBezTo>
                    <a:pt x="3778631" y="1938528"/>
                    <a:pt x="3622294" y="2094865"/>
                    <a:pt x="3429508" y="2094865"/>
                  </a:cubicBezTo>
                  <a:lnTo>
                    <a:pt x="349123" y="2094865"/>
                  </a:lnTo>
                  <a:cubicBezTo>
                    <a:pt x="156337" y="2094865"/>
                    <a:pt x="0" y="1938528"/>
                    <a:pt x="0" y="1745742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778656" cy="2104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Algo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27577" y="4753166"/>
            <a:ext cx="14021276" cy="1571138"/>
            <a:chOff x="0" y="0"/>
            <a:chExt cx="18695035" cy="20948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695036" cy="2094863"/>
            </a:xfrm>
            <a:custGeom>
              <a:avLst/>
              <a:gdLst/>
              <a:ahLst/>
              <a:cxnLst/>
              <a:rect r="r" b="b" t="t" l="l"/>
              <a:pathLst>
                <a:path h="2094863" w="18695036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18345913" y="0"/>
                  </a:lnTo>
                  <a:cubicBezTo>
                    <a:pt x="18538699" y="0"/>
                    <a:pt x="18695036" y="156337"/>
                    <a:pt x="18695036" y="349123"/>
                  </a:cubicBezTo>
                  <a:lnTo>
                    <a:pt x="18695036" y="1745741"/>
                  </a:lnTo>
                  <a:cubicBezTo>
                    <a:pt x="18695036" y="1938527"/>
                    <a:pt x="18538699" y="2094863"/>
                    <a:pt x="18345913" y="2094863"/>
                  </a:cubicBezTo>
                  <a:lnTo>
                    <a:pt x="349123" y="2094863"/>
                  </a:lnTo>
                  <a:cubicBezTo>
                    <a:pt x="156337" y="2094863"/>
                    <a:pt x="0" y="1938526"/>
                    <a:pt x="0" y="1745741"/>
                  </a:cubicBezTo>
                  <a:close/>
                </a:path>
              </a:pathLst>
            </a:custGeom>
            <a:solidFill>
              <a:srgbClr val="0B2C43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8695035" cy="209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法人／外資交易具規模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機構重視交易成本控制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Execution Complexity 提升：大額拆單、流動性碎片化、多執行路徑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03783" y="6441548"/>
            <a:ext cx="2833992" cy="1571139"/>
            <a:chOff x="0" y="0"/>
            <a:chExt cx="3778656" cy="20948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78631" cy="2094865"/>
            </a:xfrm>
            <a:custGeom>
              <a:avLst/>
              <a:gdLst/>
              <a:ahLst/>
              <a:cxnLst/>
              <a:rect r="r" b="b" t="t" l="l"/>
              <a:pathLst>
                <a:path h="2094865" w="3778631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3429508" y="0"/>
                  </a:lnTo>
                  <a:cubicBezTo>
                    <a:pt x="3622294" y="0"/>
                    <a:pt x="3778631" y="156337"/>
                    <a:pt x="3778631" y="349123"/>
                  </a:cubicBezTo>
                  <a:lnTo>
                    <a:pt x="3778631" y="1745742"/>
                  </a:lnTo>
                  <a:cubicBezTo>
                    <a:pt x="3778631" y="1938528"/>
                    <a:pt x="3622294" y="2094865"/>
                    <a:pt x="3429508" y="2094865"/>
                  </a:cubicBezTo>
                  <a:lnTo>
                    <a:pt x="349123" y="2094865"/>
                  </a:lnTo>
                  <a:cubicBezTo>
                    <a:pt x="156337" y="2094865"/>
                    <a:pt x="0" y="1938528"/>
                    <a:pt x="0" y="1745742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778656" cy="209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27577" y="6441548"/>
            <a:ext cx="14021276" cy="1571138"/>
            <a:chOff x="0" y="0"/>
            <a:chExt cx="18695035" cy="20948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695036" cy="2094863"/>
            </a:xfrm>
            <a:custGeom>
              <a:avLst/>
              <a:gdLst/>
              <a:ahLst/>
              <a:cxnLst/>
              <a:rect r="r" b="b" t="t" l="l"/>
              <a:pathLst>
                <a:path h="2094863" w="18695036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18345913" y="0"/>
                  </a:lnTo>
                  <a:cubicBezTo>
                    <a:pt x="18538699" y="0"/>
                    <a:pt x="18695036" y="156337"/>
                    <a:pt x="18695036" y="349123"/>
                  </a:cubicBezTo>
                  <a:lnTo>
                    <a:pt x="18695036" y="1745741"/>
                  </a:lnTo>
                  <a:cubicBezTo>
                    <a:pt x="18695036" y="1938527"/>
                    <a:pt x="18538699" y="2094863"/>
                    <a:pt x="18345913" y="2094863"/>
                  </a:cubicBezTo>
                  <a:lnTo>
                    <a:pt x="349123" y="2094863"/>
                  </a:lnTo>
                  <a:cubicBezTo>
                    <a:pt x="156337" y="2094863"/>
                    <a:pt x="0" y="1938526"/>
                    <a:pt x="0" y="1745741"/>
                  </a:cubicBezTo>
                  <a:close/>
                </a:path>
              </a:pathLst>
            </a:custGeom>
            <a:solidFill>
              <a:srgbClr val="0B2C43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8695035" cy="209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外資／專業交易具規模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市場具高周轉、短線交易特徵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高速做市具經濟性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3783" y="8184842"/>
            <a:ext cx="5400894" cy="706355"/>
            <a:chOff x="0" y="0"/>
            <a:chExt cx="7201192" cy="9418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01153" cy="941832"/>
            </a:xfrm>
            <a:custGeom>
              <a:avLst/>
              <a:gdLst/>
              <a:ahLst/>
              <a:cxnLst/>
              <a:rect r="r" b="b" t="t" l="l"/>
              <a:pathLst>
                <a:path h="941832" w="7201153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044182" y="0"/>
                  </a:lnTo>
                  <a:cubicBezTo>
                    <a:pt x="7130923" y="0"/>
                    <a:pt x="7201153" y="70231"/>
                    <a:pt x="7201153" y="156972"/>
                  </a:cubicBezTo>
                  <a:lnTo>
                    <a:pt x="7201153" y="784860"/>
                  </a:lnTo>
                  <a:cubicBezTo>
                    <a:pt x="7201153" y="871601"/>
                    <a:pt x="7130923" y="941832"/>
                    <a:pt x="7044182" y="941832"/>
                  </a:cubicBezTo>
                  <a:lnTo>
                    <a:pt x="156972" y="941832"/>
                  </a:lnTo>
                  <a:cubicBezTo>
                    <a:pt x="70231" y="941832"/>
                    <a:pt x="0" y="871474"/>
                    <a:pt x="0" y="784860"/>
                  </a:cubicBezTo>
                  <a:close/>
                </a:path>
              </a:pathLst>
            </a:custGeom>
            <a:solidFill>
              <a:srgbClr val="071522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201192" cy="94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2146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 解決「串接」問題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45460" y="8184842"/>
            <a:ext cx="5400894" cy="706355"/>
            <a:chOff x="0" y="0"/>
            <a:chExt cx="7201192" cy="9418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01153" cy="941832"/>
            </a:xfrm>
            <a:custGeom>
              <a:avLst/>
              <a:gdLst/>
              <a:ahLst/>
              <a:cxnLst/>
              <a:rect r="r" b="b" t="t" l="l"/>
              <a:pathLst>
                <a:path h="941832" w="7201153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044182" y="0"/>
                  </a:lnTo>
                  <a:cubicBezTo>
                    <a:pt x="7130923" y="0"/>
                    <a:pt x="7201153" y="70231"/>
                    <a:pt x="7201153" y="156972"/>
                  </a:cubicBezTo>
                  <a:lnTo>
                    <a:pt x="7201153" y="784860"/>
                  </a:lnTo>
                  <a:cubicBezTo>
                    <a:pt x="7201153" y="871601"/>
                    <a:pt x="7130923" y="941832"/>
                    <a:pt x="7044182" y="941832"/>
                  </a:cubicBezTo>
                  <a:lnTo>
                    <a:pt x="156972" y="941832"/>
                  </a:lnTo>
                  <a:cubicBezTo>
                    <a:pt x="70231" y="941832"/>
                    <a:pt x="0" y="871474"/>
                    <a:pt x="0" y="784860"/>
                  </a:cubicBezTo>
                  <a:close/>
                </a:path>
              </a:pathLst>
            </a:custGeom>
            <a:solidFill>
              <a:srgbClr val="071522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201192" cy="94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2146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解決「執行」問題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987146" y="8184842"/>
            <a:ext cx="5400894" cy="706355"/>
            <a:chOff x="0" y="0"/>
            <a:chExt cx="7201192" cy="9418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1153" cy="941832"/>
            </a:xfrm>
            <a:custGeom>
              <a:avLst/>
              <a:gdLst/>
              <a:ahLst/>
              <a:cxnLst/>
              <a:rect r="r" b="b" t="t" l="l"/>
              <a:pathLst>
                <a:path h="941832" w="7201153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044182" y="0"/>
                  </a:lnTo>
                  <a:cubicBezTo>
                    <a:pt x="7130923" y="0"/>
                    <a:pt x="7201153" y="70231"/>
                    <a:pt x="7201153" y="156972"/>
                  </a:cubicBezTo>
                  <a:lnTo>
                    <a:pt x="7201153" y="784860"/>
                  </a:lnTo>
                  <a:cubicBezTo>
                    <a:pt x="7201153" y="871601"/>
                    <a:pt x="7130923" y="941832"/>
                    <a:pt x="7044182" y="941832"/>
                  </a:cubicBezTo>
                  <a:lnTo>
                    <a:pt x="156972" y="941832"/>
                  </a:lnTo>
                  <a:cubicBezTo>
                    <a:pt x="70231" y="941832"/>
                    <a:pt x="0" y="871474"/>
                    <a:pt x="0" y="784860"/>
                  </a:cubicBezTo>
                  <a:close/>
                </a:path>
              </a:pathLst>
            </a:custGeom>
            <a:solidFill>
              <a:srgbClr val="071522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201192" cy="94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2146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解決「速度」問題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13794" y="9306716"/>
            <a:ext cx="16815235" cy="480431"/>
            <a:chOff x="0" y="0"/>
            <a:chExt cx="22420313" cy="6405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420315" cy="640580"/>
            </a:xfrm>
            <a:custGeom>
              <a:avLst/>
              <a:gdLst/>
              <a:ahLst/>
              <a:cxnLst/>
              <a:rect r="r" b="b" t="t" l="l"/>
              <a:pathLst>
                <a:path h="640580" w="22420315">
                  <a:moveTo>
                    <a:pt x="0" y="0"/>
                  </a:moveTo>
                  <a:lnTo>
                    <a:pt x="22420315" y="0"/>
                  </a:lnTo>
                  <a:lnTo>
                    <a:pt x="2242031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2420313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7"/>
                </a:lnSpc>
              </a:pPr>
              <a:r>
                <a:rPr lang="en-US" sz="1981">
                  <a:solidFill>
                    <a:srgbClr val="AAB8C5"/>
                  </a:solidFill>
                  <a:latin typeface="Noto Sans"/>
                  <a:ea typeface="Noto Sans"/>
                  <a:cs typeface="Noto Sans"/>
                  <a:sym typeface="Noto Sans"/>
                </a:rPr>
                <a:t>下一章：以這三組條件檢驗台灣市場成熟度，而非只判斷技術能不能做。</a:t>
              </a:r>
            </a:p>
          </p:txBody>
        </p:sp>
      </p:grpSp>
      <p:sp>
        <p:nvSpPr>
          <p:cNvPr name="Freeform 45" id="45" descr="資料來源：SEC、SEBI、KRX、Koscom、Federal Reserve 與本研究整理。"/>
          <p:cNvSpPr/>
          <p:nvPr/>
        </p:nvSpPr>
        <p:spPr>
          <a:xfrm flipH="false" flipV="false" rot="0">
            <a:off x="714375" y="9829800"/>
            <a:ext cx="16744950" cy="266700"/>
          </a:xfrm>
          <a:custGeom>
            <a:avLst/>
            <a:gdLst/>
            <a:ahLst/>
            <a:cxnLst/>
            <a:rect r="r" b="b" t="t" l="l"/>
            <a:pathLst>
              <a:path h="266700" w="16744950">
                <a:moveTo>
                  <a:pt x="0" y="0"/>
                </a:moveTo>
                <a:lnTo>
                  <a:pt x="16744950" y="0"/>
                </a:lnTo>
                <a:lnTo>
                  <a:pt x="16744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資料來源：FinTechSpace；富果、XQ、Shioaji 官方資料；金管會《證券商設置標準》；TWSE 電子式交易與 API 規範。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OpenAPI｜台灣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50006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目前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需求仍小，但 AI以及第三方業者可能讓 API 從交易工具變成基礎設施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236317"/>
            <a:ext cx="15707444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第三方已有產品與客群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2026：FinTechSpace 62 家進駐夥伴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富果會員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30 萬+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；XQ 已串接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20+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券商；玩股網：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43.5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註冊會員；CMoney 籌碼K線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80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MAU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Agent 正形成新的金融服務入口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(1)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永豐Shioaji Pro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內建 AI Agent可以連接行情、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支援 Claude API、OpenAI API、Codex。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(2)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富果把 MarketData API 做成 MCP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，讓 AI Agent 可以直接與富果 API 互動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794" y="6478477"/>
            <a:ext cx="16746607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完整交易能力具高監管與建置門檻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第三方可以自己做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UI、AI、分析、策略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，但若自行提供：開戶 / KYC、帳戶、風控、交易所連線、下單、交割必須跨入受監管的證券經紀基礎設施。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證券經紀商最低實收資本額：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 億元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經紀商營業保證金：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5,000 萬元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Exchange Connectivity：須取得證交所／集保電腦連線承諾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794" y="4198847"/>
            <a:ext cx="529009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2.第三方已形成差異化交易服務需求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3794" y="4633030"/>
            <a:ext cx="784495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策略自動化：XQ、FinLab、MultiCharts 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多券商整合：XQ、CTsystem 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金融數據應用：富果、CMoney、TEJ、FinMind 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金融工具：富果 MCP、FinLab AI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資料來源：FinTechSpace；富果、XQ、Shioaji 官方資料；金管會《證券商設置標準》；TWSE 電子式交易與 API 規範。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OpenAPI｜台灣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500061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目前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需求仍小，但 AI以及第三方業者可能讓 API 從交易工具變成基礎設施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331383"/>
            <a:ext cx="9354797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1.需求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已出現，但仍屬利基市場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：(2026)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成交約 8,995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億元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占整體市場僅約 0.35%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9823" y="1331383"/>
            <a:ext cx="975092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同業持續投入，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服務已普及於多家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永豐｜Shioaji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富邦｜Fubon Neo API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元大｜SPARK API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3794" y="2676015"/>
            <a:ext cx="6190938" cy="2952304"/>
          </a:xfrm>
          <a:custGeom>
            <a:avLst/>
            <a:gdLst/>
            <a:ahLst/>
            <a:cxnLst/>
            <a:rect r="r" b="b" t="t" l="l"/>
            <a:pathLst>
              <a:path h="2952304" w="6190938">
                <a:moveTo>
                  <a:pt x="0" y="0"/>
                </a:moveTo>
                <a:lnTo>
                  <a:pt x="6190938" y="0"/>
                </a:lnTo>
                <a:lnTo>
                  <a:pt x="6190938" y="2952304"/>
                </a:lnTo>
                <a:lnTo>
                  <a:pt x="0" y="2952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3794" y="5697331"/>
            <a:ext cx="6190938" cy="2940696"/>
          </a:xfrm>
          <a:custGeom>
            <a:avLst/>
            <a:gdLst/>
            <a:ahLst/>
            <a:cxnLst/>
            <a:rect r="r" b="b" t="t" l="l"/>
            <a:pathLst>
              <a:path h="2940696" w="6190938">
                <a:moveTo>
                  <a:pt x="0" y="0"/>
                </a:moveTo>
                <a:lnTo>
                  <a:pt x="6190938" y="0"/>
                </a:lnTo>
                <a:lnTo>
                  <a:pt x="6190938" y="2940696"/>
                </a:lnTo>
                <a:lnTo>
                  <a:pt x="0" y="2940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599823" y="3949494"/>
            <a:ext cx="975092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券商X第三方平台合作模式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已有實際案例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XQ × 多家券商：策略交易與下單整合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玉山 × 富果：曾合作交易 API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59902" y="6417318"/>
            <a:ext cx="9694802" cy="2220709"/>
            <a:chOff x="0" y="0"/>
            <a:chExt cx="6310839" cy="14455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10637" cy="1445496"/>
            </a:xfrm>
            <a:custGeom>
              <a:avLst/>
              <a:gdLst/>
              <a:ahLst/>
              <a:cxnLst/>
              <a:rect r="r" b="b" t="t" l="l"/>
              <a:pathLst>
                <a:path h="1445496" w="6310637">
                  <a:moveTo>
                    <a:pt x="0" y="133414"/>
                  </a:moveTo>
                  <a:cubicBezTo>
                    <a:pt x="0" y="59681"/>
                    <a:pt x="133686" y="0"/>
                    <a:pt x="298847" y="0"/>
                  </a:cubicBezTo>
                  <a:lnTo>
                    <a:pt x="6011790" y="0"/>
                  </a:lnTo>
                  <a:cubicBezTo>
                    <a:pt x="6176951" y="0"/>
                    <a:pt x="6310637" y="59681"/>
                    <a:pt x="6310637" y="133414"/>
                  </a:cubicBezTo>
                  <a:lnTo>
                    <a:pt x="6310637" y="1312082"/>
                  </a:lnTo>
                  <a:cubicBezTo>
                    <a:pt x="6310637" y="1385815"/>
                    <a:pt x="6176951" y="1445496"/>
                    <a:pt x="6011790" y="1445496"/>
                  </a:cubicBezTo>
                  <a:lnTo>
                    <a:pt x="298847" y="1445496"/>
                  </a:lnTo>
                  <a:cubicBezTo>
                    <a:pt x="133686" y="1445496"/>
                    <a:pt x="0" y="1385815"/>
                    <a:pt x="0" y="1312082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648164" y="6854649"/>
            <a:ext cx="8718279" cy="134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b="true" sz="297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市場條件</a:t>
            </a:r>
            <a:r>
              <a:rPr lang="en-US" b="true" sz="297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已具備、同業布局已展開，但交易滲透率仍低，建議及早布局 Open API，以第三方合作及小規模建置為優先，待實際交易需求擴大後再增加投入。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資料來源：TWSE／TPEx／TAIFEX 市場統計；勞動基金運用局《投資政策書》；TWSE 交易制度；國泰證券年報。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Broker algo｜台灣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401105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Broker Algo 需求已成立，核心價值在大單拆分與交易成本控制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476030"/>
            <a:ext cx="935479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法人／外資交易 Flow 具規模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外資占現貨成交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35.3%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法人＋外資合計占現貨成交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47.9%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法人占期貨市場交易約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53.6%（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2025）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794" y="3419130"/>
            <a:ext cx="16746607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Execution Complexity：部分成立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大額交易需求具規模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：20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 年台股鉅額交易成交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金額約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1.04 兆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元，顯示大型訂單 Flow 確實存在。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流動性碎片化程度低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：台灣上市股票主要集中於 TWSE、上櫃股票集中於 TPEx，不像美國同一檔股票分散於多個交易場所，跨 Venue Routing 需求較弱。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具多種執行方式，但複雜度有限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：TWSE 提供一般交易、盤後定價、鉅額逐筆／配對、零股等不同交易機制。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794" y="5762280"/>
            <a:ext cx="1654550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3.機構重視交易成本控制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大型法人已有明確 Best Execution 要求：勞動基金表示交易執行須追求「最佳執行效益」，並考量集中／分散下單成本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制度允許 Broker 介入執行決策：法人可授權券商在指定區間內，決定價格與下單時間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券商已實際投入 Algo Execution：國泰證券年報表示「建置法人演算發交易模組」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57141" y="8162580"/>
            <a:ext cx="16373718" cy="1395440"/>
            <a:chOff x="0" y="0"/>
            <a:chExt cx="10658485" cy="9083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58142" cy="908315"/>
            </a:xfrm>
            <a:custGeom>
              <a:avLst/>
              <a:gdLst/>
              <a:ahLst/>
              <a:cxnLst/>
              <a:rect r="r" b="b" t="t" l="l"/>
              <a:pathLst>
                <a:path h="908315" w="10658142">
                  <a:moveTo>
                    <a:pt x="0" y="83834"/>
                  </a:moveTo>
                  <a:cubicBezTo>
                    <a:pt x="0" y="37502"/>
                    <a:pt x="225784" y="0"/>
                    <a:pt x="504727" y="0"/>
                  </a:cubicBezTo>
                  <a:lnTo>
                    <a:pt x="10153415" y="0"/>
                  </a:lnTo>
                  <a:cubicBezTo>
                    <a:pt x="10432359" y="0"/>
                    <a:pt x="10658142" y="37502"/>
                    <a:pt x="10658142" y="83834"/>
                  </a:cubicBezTo>
                  <a:lnTo>
                    <a:pt x="10658142" y="824481"/>
                  </a:lnTo>
                  <a:cubicBezTo>
                    <a:pt x="10658142" y="870813"/>
                    <a:pt x="10432359" y="908315"/>
                    <a:pt x="10153415" y="908315"/>
                  </a:cubicBezTo>
                  <a:lnTo>
                    <a:pt x="504727" y="908315"/>
                  </a:lnTo>
                  <a:cubicBezTo>
                    <a:pt x="225784" y="908315"/>
                    <a:pt x="0" y="870813"/>
                    <a:pt x="0" y="824481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32931" y="8460250"/>
            <a:ext cx="1622213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 Broker Algo 已具明確需求基礎：法人交易量規模大、交易成本控制需求明確，但因流動性碎片化程度低，價值更集中在大額拆單與執行品質優化，而非跨市場 Routing，實際 Algo 採用規模尚待驗證。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資料來源：TAIFEX 市場統計、研究與造市者名單；TWSE／TPEx 統計；財政部《證券交易稅條例》《期貨交易稅條例》。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HFT｜台灣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308772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台灣具備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HFT 發展條件，但高速交易經濟性更集中於衍生品市場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331383"/>
            <a:ext cx="1216324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法人／專業交易 Flow 具規模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目前有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股票現貨、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期貨、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選擇權造市者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演算法交易約占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87%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委託量，反映高頻報價／撤單行為已相當普遍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外資／造市者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&gt;90%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使用專線下單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外資、證券自營商約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交易戶具有演算法交易特徵；期貨自營商近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90%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TWSE Co-Location 機櫃已飽和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0256" y="3731683"/>
            <a:ext cx="9750925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台灣市場是否具高周轉、短線交易特徵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現貨短線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交易已成常態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當沖成交值約占市場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 成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。2025/12：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37.1%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（2025/12；韓國 KOSPI 約 40.1%（2024 上半年））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市場換手率高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TWSE 週轉率：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118.5%（韓國 145.4%）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TPEx：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270.6%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13794" y="6553200"/>
            <a:ext cx="11520205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高速做市具經濟性嗎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衍生品具備較好的高速交易 Economics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股價類期貨交易稅僅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0.002%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造市者達成義務後可享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經手費／結算費減免或獎勵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現股則受到交易摩擦限制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股票證交稅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0.3%，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提供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經手費折讓＋造市獎勵降低成本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（經手費最高約 60% 折讓，並有額外造市獎金最高一季約100萬）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權證避險交易甚至在 2023 年將稅率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由 0.3% 降至 0.1%。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8881237" y="6079836"/>
            <a:ext cx="9187668" cy="2104543"/>
            <a:chOff x="0" y="0"/>
            <a:chExt cx="6310839" cy="14455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0637" cy="1445496"/>
            </a:xfrm>
            <a:custGeom>
              <a:avLst/>
              <a:gdLst/>
              <a:ahLst/>
              <a:cxnLst/>
              <a:rect r="r" b="b" t="t" l="l"/>
              <a:pathLst>
                <a:path h="1445496" w="6310637">
                  <a:moveTo>
                    <a:pt x="0" y="133414"/>
                  </a:moveTo>
                  <a:cubicBezTo>
                    <a:pt x="0" y="59681"/>
                    <a:pt x="133686" y="0"/>
                    <a:pt x="298847" y="0"/>
                  </a:cubicBezTo>
                  <a:lnTo>
                    <a:pt x="6011790" y="0"/>
                  </a:lnTo>
                  <a:cubicBezTo>
                    <a:pt x="6176951" y="0"/>
                    <a:pt x="6310637" y="59681"/>
                    <a:pt x="6310637" y="133414"/>
                  </a:cubicBezTo>
                  <a:lnTo>
                    <a:pt x="6310637" y="1312082"/>
                  </a:lnTo>
                  <a:cubicBezTo>
                    <a:pt x="6310637" y="1385815"/>
                    <a:pt x="6176951" y="1445496"/>
                    <a:pt x="6011790" y="1445496"/>
                  </a:cubicBezTo>
                  <a:lnTo>
                    <a:pt x="298847" y="1445496"/>
                  </a:lnTo>
                  <a:cubicBezTo>
                    <a:pt x="133686" y="1445496"/>
                    <a:pt x="0" y="1385815"/>
                    <a:pt x="0" y="1312082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255668" y="6482182"/>
            <a:ext cx="8438806" cy="129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b="true" sz="2868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專業交易高度自動化、</a:t>
            </a:r>
            <a:r>
              <a:rPr lang="en-US" b="true" sz="2868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台灣市場具高周轉與短線特徵，且做市需求已形成；但現股交易摩擦較高，使高速策略的經濟性更偏向期貨、選擇權等低成本市場。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534" y="395402"/>
            <a:ext cx="94564" cy="307324"/>
            <a:chOff x="0" y="0"/>
            <a:chExt cx="126086" cy="4097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1" cy="409829"/>
            </a:xfrm>
            <a:custGeom>
              <a:avLst/>
              <a:gdLst/>
              <a:ahLst/>
              <a:cxnLst/>
              <a:rect r="r" b="b" t="t" l="l"/>
              <a:pathLst>
                <a:path h="409829" w="126111">
                  <a:moveTo>
                    <a:pt x="0" y="0"/>
                  </a:moveTo>
                  <a:lnTo>
                    <a:pt x="126111" y="0"/>
                  </a:lnTo>
                  <a:lnTo>
                    <a:pt x="126111" y="409829"/>
                  </a:lnTo>
                  <a:lnTo>
                    <a:pt x="0" y="409829"/>
                  </a:lnTo>
                  <a:close/>
                </a:path>
              </a:pathLst>
            </a:custGeom>
            <a:solidFill>
              <a:srgbClr val="F6C247"/>
            </a:solidFill>
            <a:ln w="19065" cap="sq">
              <a:solidFill>
                <a:srgbClr val="F6C2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09873" y="260804"/>
            <a:ext cx="6863363" cy="452980"/>
            <a:chOff x="0" y="0"/>
            <a:chExt cx="9151150" cy="6039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51149" cy="603976"/>
            </a:xfrm>
            <a:custGeom>
              <a:avLst/>
              <a:gdLst/>
              <a:ahLst/>
              <a:cxnLst/>
              <a:rect r="r" b="b" t="t" l="l"/>
              <a:pathLst>
                <a:path h="603976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28" r="0" b="-2452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51150" cy="603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0"/>
                </a:lnSpc>
              </a:pPr>
              <a:r>
                <a:rPr lang="en-US" sz="249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第三章 / 台灣市場發展條件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089774" y="247079"/>
            <a:ext cx="658882" cy="411804"/>
            <a:chOff x="0" y="0"/>
            <a:chExt cx="878510" cy="549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8510" cy="549069"/>
            </a:xfrm>
            <a:custGeom>
              <a:avLst/>
              <a:gdLst/>
              <a:ahLst/>
              <a:cxnLst/>
              <a:rect r="r" b="b" t="t" l="l"/>
              <a:pathLst>
                <a:path h="54906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0" t="0" r="-3019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7851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1"/>
                </a:lnSpc>
              </a:pPr>
              <a:r>
                <a:rPr lang="en-US" sz="1951" b="true">
                  <a:solidFill>
                    <a:srgbClr val="BACED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 / 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6520" y="768696"/>
            <a:ext cx="17158402" cy="672608"/>
            <a:chOff x="0" y="0"/>
            <a:chExt cx="22877869" cy="8968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77873" cy="896813"/>
            </a:xfrm>
            <a:custGeom>
              <a:avLst/>
              <a:gdLst/>
              <a:ahLst/>
              <a:cxnLst/>
              <a:rect r="r" b="b" t="t" l="l"/>
              <a:pathLst>
                <a:path h="896813" w="22877873">
                  <a:moveTo>
                    <a:pt x="0" y="0"/>
                  </a:moveTo>
                  <a:lnTo>
                    <a:pt x="22877873" y="0"/>
                  </a:lnTo>
                  <a:lnTo>
                    <a:pt x="22877873" y="896813"/>
                  </a:lnTo>
                  <a:lnTo>
                    <a:pt x="0" y="8968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067" r="0" b="-44706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2877869" cy="887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1"/>
                </a:lnSpc>
              </a:pPr>
              <a:r>
                <a:rPr lang="en-US" sz="4143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台灣已有實際案例：業者如何提供三種交易服務？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3980" y="1537392"/>
            <a:ext cx="17089774" cy="425529"/>
            <a:chOff x="0" y="0"/>
            <a:chExt cx="22786365" cy="5673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786363" cy="567371"/>
            </a:xfrm>
            <a:custGeom>
              <a:avLst/>
              <a:gdLst/>
              <a:ahLst/>
              <a:cxnLst/>
              <a:rect r="r" b="b" t="t" l="l"/>
              <a:pathLst>
                <a:path h="567371" w="22786363">
                  <a:moveTo>
                    <a:pt x="0" y="0"/>
                  </a:moveTo>
                  <a:lnTo>
                    <a:pt x="22786363" y="0"/>
                  </a:lnTo>
                  <a:lnTo>
                    <a:pt x="22786363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544" r="0" b="-7325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78636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9"/>
                </a:lnSpc>
              </a:pPr>
              <a:r>
                <a:rPr lang="en-US" sz="189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呈現台灣業者的合作方式與技術做法；已有服務供給，不等於客戶採用規模已成熟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2700">
            <a:off x="583578" y="2054247"/>
            <a:ext cx="17158030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583578" y="2285686"/>
            <a:ext cx="5558942" cy="6643354"/>
            <a:chOff x="0" y="0"/>
            <a:chExt cx="7411923" cy="88578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11847" cy="8857742"/>
            </a:xfrm>
            <a:custGeom>
              <a:avLst/>
              <a:gdLst/>
              <a:ahLst/>
              <a:cxnLst/>
              <a:rect r="r" b="b" t="t" l="l"/>
              <a:pathLst>
                <a:path h="8857742" w="7411847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7155053" y="0"/>
                  </a:lnTo>
                  <a:cubicBezTo>
                    <a:pt x="7296912" y="0"/>
                    <a:pt x="7411847" y="114935"/>
                    <a:pt x="7411847" y="256794"/>
                  </a:cubicBezTo>
                  <a:lnTo>
                    <a:pt x="7411847" y="8600948"/>
                  </a:lnTo>
                  <a:cubicBezTo>
                    <a:pt x="7411847" y="8742807"/>
                    <a:pt x="7296912" y="8857742"/>
                    <a:pt x="7155053" y="8857742"/>
                  </a:cubicBezTo>
                  <a:lnTo>
                    <a:pt x="256794" y="8857742"/>
                  </a:lnTo>
                  <a:cubicBezTo>
                    <a:pt x="114935" y="8857742"/>
                    <a:pt x="0" y="8742807"/>
                    <a:pt x="0" y="8600948"/>
                  </a:cubicBezTo>
                  <a:close/>
                </a:path>
              </a:pathLst>
            </a:custGeom>
            <a:solidFill>
              <a:srgbClr val="16334F"/>
            </a:solidFill>
            <a:ln w="13345" cap="sq">
              <a:solidFill>
                <a:srgbClr val="355B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0720" y="2282828"/>
            <a:ext cx="104175" cy="6649069"/>
            <a:chOff x="0" y="0"/>
            <a:chExt cx="138900" cy="88654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938" cy="8865489"/>
            </a:xfrm>
            <a:custGeom>
              <a:avLst/>
              <a:gdLst/>
              <a:ahLst/>
              <a:cxnLst/>
              <a:rect r="r" b="b" t="t" l="l"/>
              <a:pathLst>
                <a:path h="8865489" w="138938">
                  <a:moveTo>
                    <a:pt x="0" y="0"/>
                  </a:moveTo>
                  <a:lnTo>
                    <a:pt x="138938" y="0"/>
                  </a:lnTo>
                  <a:lnTo>
                    <a:pt x="138938" y="8865489"/>
                  </a:lnTo>
                  <a:lnTo>
                    <a:pt x="0" y="8865489"/>
                  </a:lnTo>
                  <a:close/>
                </a:path>
              </a:pathLst>
            </a:custGeom>
            <a:solidFill>
              <a:srgbClr val="00BBDD"/>
            </a:solidFill>
            <a:ln w="19065" cap="sq">
              <a:solidFill>
                <a:srgbClr val="00BB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362529" y="2285686"/>
            <a:ext cx="5558942" cy="6643354"/>
            <a:chOff x="0" y="0"/>
            <a:chExt cx="7411923" cy="8857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11847" cy="8857742"/>
            </a:xfrm>
            <a:custGeom>
              <a:avLst/>
              <a:gdLst/>
              <a:ahLst/>
              <a:cxnLst/>
              <a:rect r="r" b="b" t="t" l="l"/>
              <a:pathLst>
                <a:path h="8857742" w="7411847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7155053" y="0"/>
                  </a:lnTo>
                  <a:cubicBezTo>
                    <a:pt x="7296912" y="0"/>
                    <a:pt x="7411847" y="114935"/>
                    <a:pt x="7411847" y="256794"/>
                  </a:cubicBezTo>
                  <a:lnTo>
                    <a:pt x="7411847" y="8600948"/>
                  </a:lnTo>
                  <a:cubicBezTo>
                    <a:pt x="7411847" y="8742807"/>
                    <a:pt x="7296912" y="8857742"/>
                    <a:pt x="7155053" y="8857742"/>
                  </a:cubicBezTo>
                  <a:lnTo>
                    <a:pt x="256794" y="8857742"/>
                  </a:lnTo>
                  <a:cubicBezTo>
                    <a:pt x="114935" y="8857742"/>
                    <a:pt x="0" y="8742807"/>
                    <a:pt x="0" y="8600948"/>
                  </a:cubicBezTo>
                  <a:close/>
                </a:path>
              </a:pathLst>
            </a:custGeom>
            <a:solidFill>
              <a:srgbClr val="16334F"/>
            </a:solidFill>
            <a:ln w="13345" cap="sq">
              <a:solidFill>
                <a:srgbClr val="355B7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359671" y="2282828"/>
            <a:ext cx="104175" cy="6649069"/>
            <a:chOff x="0" y="0"/>
            <a:chExt cx="138900" cy="88654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8938" cy="8865489"/>
            </a:xfrm>
            <a:custGeom>
              <a:avLst/>
              <a:gdLst/>
              <a:ahLst/>
              <a:cxnLst/>
              <a:rect r="r" b="b" t="t" l="l"/>
              <a:pathLst>
                <a:path h="8865489" w="138938">
                  <a:moveTo>
                    <a:pt x="0" y="0"/>
                  </a:moveTo>
                  <a:lnTo>
                    <a:pt x="138938" y="0"/>
                  </a:lnTo>
                  <a:lnTo>
                    <a:pt x="138938" y="8865489"/>
                  </a:lnTo>
                  <a:lnTo>
                    <a:pt x="0" y="8865489"/>
                  </a:lnTo>
                  <a:close/>
                </a:path>
              </a:pathLst>
            </a:custGeom>
            <a:solidFill>
              <a:srgbClr val="00BBDD"/>
            </a:solidFill>
            <a:ln w="19065" cap="sq">
              <a:solidFill>
                <a:srgbClr val="00BBD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141479" y="2285686"/>
            <a:ext cx="5558942" cy="6643354"/>
            <a:chOff x="0" y="0"/>
            <a:chExt cx="7411923" cy="88578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11847" cy="8857742"/>
            </a:xfrm>
            <a:custGeom>
              <a:avLst/>
              <a:gdLst/>
              <a:ahLst/>
              <a:cxnLst/>
              <a:rect r="r" b="b" t="t" l="l"/>
              <a:pathLst>
                <a:path h="8857742" w="7411847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7155053" y="0"/>
                  </a:lnTo>
                  <a:cubicBezTo>
                    <a:pt x="7296912" y="0"/>
                    <a:pt x="7411847" y="114935"/>
                    <a:pt x="7411847" y="256794"/>
                  </a:cubicBezTo>
                  <a:lnTo>
                    <a:pt x="7411847" y="8600948"/>
                  </a:lnTo>
                  <a:cubicBezTo>
                    <a:pt x="7411847" y="8742807"/>
                    <a:pt x="7296912" y="8857742"/>
                    <a:pt x="7155053" y="8857742"/>
                  </a:cubicBezTo>
                  <a:lnTo>
                    <a:pt x="256794" y="8857742"/>
                  </a:lnTo>
                  <a:cubicBezTo>
                    <a:pt x="114935" y="8857742"/>
                    <a:pt x="0" y="8742807"/>
                    <a:pt x="0" y="8600948"/>
                  </a:cubicBezTo>
                  <a:close/>
                </a:path>
              </a:pathLst>
            </a:custGeom>
            <a:solidFill>
              <a:srgbClr val="16334F"/>
            </a:solidFill>
            <a:ln w="13345" cap="sq">
              <a:solidFill>
                <a:srgbClr val="355B7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138622" y="2282828"/>
            <a:ext cx="104175" cy="6649069"/>
            <a:chOff x="0" y="0"/>
            <a:chExt cx="138900" cy="88654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8938" cy="8865489"/>
            </a:xfrm>
            <a:custGeom>
              <a:avLst/>
              <a:gdLst/>
              <a:ahLst/>
              <a:cxnLst/>
              <a:rect r="r" b="b" t="t" l="l"/>
              <a:pathLst>
                <a:path h="8865489" w="138938">
                  <a:moveTo>
                    <a:pt x="0" y="0"/>
                  </a:moveTo>
                  <a:lnTo>
                    <a:pt x="138938" y="0"/>
                  </a:lnTo>
                  <a:lnTo>
                    <a:pt x="138938" y="8865489"/>
                  </a:lnTo>
                  <a:lnTo>
                    <a:pt x="0" y="8865489"/>
                  </a:lnTo>
                  <a:close/>
                </a:path>
              </a:pathLst>
            </a:custGeom>
            <a:solidFill>
              <a:srgbClr val="00BBDD"/>
            </a:solidFill>
            <a:ln w="19065" cap="sq">
              <a:solidFill>
                <a:srgbClr val="00BBD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51059" y="2511990"/>
            <a:ext cx="4969078" cy="425529"/>
            <a:chOff x="0" y="0"/>
            <a:chExt cx="6625438" cy="5673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1059" y="3061059"/>
            <a:ext cx="4969078" cy="425529"/>
            <a:chOff x="0" y="0"/>
            <a:chExt cx="6625438" cy="5673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281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券商與第三方合作串接交易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10560">
            <a:off x="843420" y="364654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851059" y="3843480"/>
            <a:ext cx="4955343" cy="411804"/>
            <a:chOff x="0" y="0"/>
            <a:chExt cx="6607124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富邦證券 × 富果｜2025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059" y="4323921"/>
            <a:ext cx="4886716" cy="960872"/>
            <a:chOff x="0" y="0"/>
            <a:chExt cx="6515621" cy="12811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15619" cy="1281161"/>
            </a:xfrm>
            <a:custGeom>
              <a:avLst/>
              <a:gdLst/>
              <a:ahLst/>
              <a:cxnLst/>
              <a:rect r="r" b="b" t="t" l="l"/>
              <a:pathLst>
                <a:path h="1281161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515621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合作推出 Python API，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支援行情、下單與 DMA 串接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10560">
            <a:off x="843420" y="555456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851059" y="5765225"/>
            <a:ext cx="4955343" cy="411804"/>
            <a:chOff x="0" y="0"/>
            <a:chExt cx="6607124" cy="5490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富果 API｜截至 2024/10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51059" y="6273117"/>
            <a:ext cx="4886716" cy="905961"/>
            <a:chOff x="0" y="0"/>
            <a:chExt cx="6515621" cy="12079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15619" cy="1207952"/>
            </a:xfrm>
            <a:custGeom>
              <a:avLst/>
              <a:gdLst/>
              <a:ahLst/>
              <a:cxnLst/>
              <a:rect r="r" b="b" t="t" l="l"/>
              <a:pathLst>
                <a:path h="1207952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01" r="0" b="-551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515621" cy="1207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使用人數較前一年同期增近 40%；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API 處理交易金額約為 3 倍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7612" y="7773524"/>
            <a:ext cx="4864598" cy="870118"/>
            <a:chOff x="0" y="0"/>
            <a:chExt cx="6486131" cy="116015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86144" cy="1160145"/>
            </a:xfrm>
            <a:custGeom>
              <a:avLst/>
              <a:gdLst/>
              <a:ahLst/>
              <a:cxnLst/>
              <a:rect r="r" b="b" t="t" l="l"/>
              <a:pathLst>
                <a:path h="1160145" w="6486144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6373876" y="0"/>
                  </a:lnTo>
                  <a:cubicBezTo>
                    <a:pt x="6435852" y="0"/>
                    <a:pt x="6486144" y="50292"/>
                    <a:pt x="6486144" y="112268"/>
                  </a:cubicBezTo>
                  <a:lnTo>
                    <a:pt x="6486144" y="1047877"/>
                  </a:lnTo>
                  <a:cubicBezTo>
                    <a:pt x="6486144" y="1109853"/>
                    <a:pt x="6435852" y="1160145"/>
                    <a:pt x="6373876" y="1160145"/>
                  </a:cubicBezTo>
                  <a:lnTo>
                    <a:pt x="112268" y="1160145"/>
                  </a:lnTo>
                  <a:cubicBezTo>
                    <a:pt x="50292" y="1160145"/>
                    <a:pt x="0" y="1109853"/>
                    <a:pt x="0" y="1047877"/>
                  </a:cubicBezTo>
                  <a:close/>
                </a:path>
              </a:pathLst>
            </a:custGeom>
            <a:solidFill>
              <a:srgbClr val="0D2A46"/>
            </a:solidFill>
            <a:ln w="19065" cap="sq">
              <a:solidFill>
                <a:srgbClr val="0D2A46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84412" y="7920323"/>
            <a:ext cx="713794" cy="329441"/>
            <a:chOff x="0" y="0"/>
            <a:chExt cx="951725" cy="43925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1720" cy="439255"/>
            </a:xfrm>
            <a:custGeom>
              <a:avLst/>
              <a:gdLst/>
              <a:ahLst/>
              <a:cxnLst/>
              <a:rect r="r" b="b" t="t" l="l"/>
              <a:pathLst>
                <a:path h="439255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6" t="0" r="-921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51725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9"/>
                </a:lnSpc>
              </a:pPr>
              <a:r>
                <a:rPr lang="en-US" sz="1666" b="true">
                  <a:solidFill>
                    <a:srgbClr val="00BBD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判斷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08010" y="7851686"/>
            <a:ext cx="3692490" cy="658882"/>
            <a:chOff x="0" y="0"/>
            <a:chExt cx="4923320" cy="87851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923318" cy="878510"/>
            </a:xfrm>
            <a:custGeom>
              <a:avLst/>
              <a:gdLst/>
              <a:ahLst/>
              <a:cxnLst/>
              <a:rect r="r" b="b" t="t" l="l"/>
              <a:pathLst>
                <a:path h="878510" w="4923318">
                  <a:moveTo>
                    <a:pt x="0" y="0"/>
                  </a:moveTo>
                  <a:lnTo>
                    <a:pt x="4923318" y="0"/>
                  </a:lnTo>
                  <a:lnTo>
                    <a:pt x="4923318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97" r="0" b="-591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923320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FAFCFF"/>
                  </a:solidFill>
                  <a:latin typeface="Noto Sans"/>
                  <a:ea typeface="Noto Sans"/>
                  <a:cs typeface="Noto Sans"/>
                  <a:sym typeface="Noto Sans"/>
                </a:rPr>
                <a:t>歷史使用成長，不歸因於 2025 新合作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630010" y="2511990"/>
            <a:ext cx="4969078" cy="425529"/>
            <a:chOff x="0" y="0"/>
            <a:chExt cx="6625438" cy="5673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30010" y="3061059"/>
            <a:ext cx="4969078" cy="425529"/>
            <a:chOff x="0" y="0"/>
            <a:chExt cx="6625438" cy="5673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281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法人執行能力與技術供應商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10560">
            <a:off x="6622371" y="364654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6630010" y="3843480"/>
            <a:ext cx="4955343" cy="411804"/>
            <a:chOff x="0" y="0"/>
            <a:chExt cx="6607124" cy="5490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富邦證券｜2019 年報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630010" y="4323921"/>
            <a:ext cx="4886716" cy="960872"/>
            <a:chOff x="0" y="0"/>
            <a:chExt cx="6515621" cy="128116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15619" cy="1281161"/>
            </a:xfrm>
            <a:custGeom>
              <a:avLst/>
              <a:gdLst/>
              <a:ahLst/>
              <a:cxnLst/>
              <a:rect r="r" b="b" t="t" l="l"/>
              <a:pathLst>
                <a:path h="1281161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6515621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強化演算法執行，結合海外平台，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爭取法人一籃子電子交易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 rot="10560">
            <a:off x="6622371" y="555456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6630010" y="5765225"/>
            <a:ext cx="4955343" cy="411804"/>
            <a:chOff x="0" y="0"/>
            <a:chExt cx="6607124" cy="5490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凱衛 × QRAFT｜2024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630010" y="6204480"/>
            <a:ext cx="4886716" cy="1221676"/>
            <a:chOff x="0" y="0"/>
            <a:chExt cx="6515621" cy="162890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515619" cy="1628905"/>
            </a:xfrm>
            <a:custGeom>
              <a:avLst/>
              <a:gdLst/>
              <a:ahLst/>
              <a:cxnLst/>
              <a:rect r="r" b="b" t="t" l="l"/>
              <a:pathLst>
                <a:path h="1628905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628905"/>
                  </a:lnTo>
                  <a:lnTo>
                    <a:pt x="0" y="1628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6515621" cy="1628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凱衛（台灣金融系統商）推廣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QRAFT（韓國 AI 公司）的 AXE；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可介接 OMS，支援 VWAP／TWAP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716563" y="7773524"/>
            <a:ext cx="4864598" cy="870118"/>
            <a:chOff x="0" y="0"/>
            <a:chExt cx="6486131" cy="116015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86144" cy="1160145"/>
            </a:xfrm>
            <a:custGeom>
              <a:avLst/>
              <a:gdLst/>
              <a:ahLst/>
              <a:cxnLst/>
              <a:rect r="r" b="b" t="t" l="l"/>
              <a:pathLst>
                <a:path h="1160145" w="6486144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6373876" y="0"/>
                  </a:lnTo>
                  <a:cubicBezTo>
                    <a:pt x="6435852" y="0"/>
                    <a:pt x="6486144" y="50292"/>
                    <a:pt x="6486144" y="112268"/>
                  </a:cubicBezTo>
                  <a:lnTo>
                    <a:pt x="6486144" y="1047877"/>
                  </a:lnTo>
                  <a:cubicBezTo>
                    <a:pt x="6486144" y="1109853"/>
                    <a:pt x="6435852" y="1160145"/>
                    <a:pt x="6373876" y="1160145"/>
                  </a:cubicBezTo>
                  <a:lnTo>
                    <a:pt x="112268" y="1160145"/>
                  </a:lnTo>
                  <a:cubicBezTo>
                    <a:pt x="50292" y="1160145"/>
                    <a:pt x="0" y="1109853"/>
                    <a:pt x="0" y="1047877"/>
                  </a:cubicBezTo>
                  <a:close/>
                </a:path>
              </a:pathLst>
            </a:custGeom>
            <a:solidFill>
              <a:srgbClr val="0D2A46"/>
            </a:solidFill>
            <a:ln w="19065" cap="sq">
              <a:solidFill>
                <a:srgbClr val="0D2A46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6863363" y="7920323"/>
            <a:ext cx="713794" cy="329441"/>
            <a:chOff x="0" y="0"/>
            <a:chExt cx="951725" cy="43925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51720" cy="439255"/>
            </a:xfrm>
            <a:custGeom>
              <a:avLst/>
              <a:gdLst/>
              <a:ahLst/>
              <a:cxnLst/>
              <a:rect r="r" b="b" t="t" l="l"/>
              <a:pathLst>
                <a:path h="439255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6" t="0" r="-9217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951725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9"/>
                </a:lnSpc>
              </a:pPr>
              <a:r>
                <a:rPr lang="en-US" sz="1666" b="true">
                  <a:solidFill>
                    <a:srgbClr val="00BBD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判斷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686961" y="7851686"/>
            <a:ext cx="3692490" cy="658882"/>
            <a:chOff x="0" y="0"/>
            <a:chExt cx="4923320" cy="87851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923318" cy="878510"/>
            </a:xfrm>
            <a:custGeom>
              <a:avLst/>
              <a:gdLst/>
              <a:ahLst/>
              <a:cxnLst/>
              <a:rect r="r" b="b" t="t" l="l"/>
              <a:pathLst>
                <a:path h="878510" w="4923318">
                  <a:moveTo>
                    <a:pt x="0" y="0"/>
                  </a:moveTo>
                  <a:lnTo>
                    <a:pt x="4923318" y="0"/>
                  </a:lnTo>
                  <a:lnTo>
                    <a:pt x="4923318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97" r="0" b="-5919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923320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FAFCFF"/>
                  </a:solidFill>
                  <a:latin typeface="Noto Sans"/>
                  <a:ea typeface="Noto Sans"/>
                  <a:cs typeface="Noto Sans"/>
                  <a:sym typeface="Noto Sans"/>
                </a:rPr>
                <a:t>技術已有供給；法人採用量待驗證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408960" y="2511990"/>
            <a:ext cx="4969078" cy="425529"/>
            <a:chOff x="0" y="0"/>
            <a:chExt cx="6625438" cy="56737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相關服務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408960" y="3061059"/>
            <a:ext cx="4969078" cy="425529"/>
            <a:chOff x="0" y="0"/>
            <a:chExt cx="6625438" cy="56737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281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業者提供低延遲交易接入</a:t>
              </a:r>
            </a:p>
          </p:txBody>
        </p:sp>
      </p:grpSp>
      <p:sp>
        <p:nvSpPr>
          <p:cNvPr name="AutoShape 91" id="91"/>
          <p:cNvSpPr/>
          <p:nvPr/>
        </p:nvSpPr>
        <p:spPr>
          <a:xfrm rot="10560">
            <a:off x="12401321" y="364654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2" id="92"/>
          <p:cNvGrpSpPr/>
          <p:nvPr/>
        </p:nvGrpSpPr>
        <p:grpSpPr>
          <a:xfrm rot="0">
            <a:off x="12408960" y="3843480"/>
            <a:ext cx="4955343" cy="411804"/>
            <a:chOff x="0" y="0"/>
            <a:chExt cx="6607124" cy="54907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統一期貨｜高頻交易方案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408960" y="4323921"/>
            <a:ext cx="4886716" cy="960872"/>
            <a:chOff x="0" y="0"/>
            <a:chExt cx="6515621" cy="128116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515619" cy="1281161"/>
            </a:xfrm>
            <a:custGeom>
              <a:avLst/>
              <a:gdLst/>
              <a:ahLst/>
              <a:cxnLst/>
              <a:rect r="r" b="b" t="t" l="l"/>
              <a:pathLst>
                <a:path h="1281161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6515621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DMA 獨立專線、高階主機與網路、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Co-Location 及 Speedy 通訊</a:t>
              </a:r>
            </a:p>
          </p:txBody>
        </p:sp>
      </p:grpSp>
      <p:sp>
        <p:nvSpPr>
          <p:cNvPr name="AutoShape 98" id="98"/>
          <p:cNvSpPr/>
          <p:nvPr/>
        </p:nvSpPr>
        <p:spPr>
          <a:xfrm rot="10560">
            <a:off x="12401321" y="555456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12408960" y="5765225"/>
            <a:ext cx="4955343" cy="411804"/>
            <a:chOff x="0" y="0"/>
            <a:chExt cx="6607124" cy="5490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富邦證券｜2025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408960" y="6273117"/>
            <a:ext cx="4949245" cy="1015778"/>
            <a:chOff x="0" y="0"/>
            <a:chExt cx="6598993" cy="135437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598991" cy="1354374"/>
            </a:xfrm>
            <a:custGeom>
              <a:avLst/>
              <a:gdLst/>
              <a:ahLst/>
              <a:cxnLst/>
              <a:rect r="r" b="b" t="t" l="l"/>
              <a:pathLst>
                <a:path h="1354374" w="6598991">
                  <a:moveTo>
                    <a:pt x="0" y="0"/>
                  </a:moveTo>
                  <a:lnTo>
                    <a:pt x="6598991" y="0"/>
                  </a:lnTo>
                  <a:lnTo>
                    <a:pt x="6598991" y="1354374"/>
                  </a:lnTo>
                  <a:lnTo>
                    <a:pt x="0" y="13543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8" r="1263" b="-4373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6598993" cy="1354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投資千萬元級硬體、升級接單主機，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FPGA 強化行情處理並支援 DMA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495514" y="7773524"/>
            <a:ext cx="4864598" cy="870118"/>
            <a:chOff x="0" y="0"/>
            <a:chExt cx="6486131" cy="116015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486144" cy="1160145"/>
            </a:xfrm>
            <a:custGeom>
              <a:avLst/>
              <a:gdLst/>
              <a:ahLst/>
              <a:cxnLst/>
              <a:rect r="r" b="b" t="t" l="l"/>
              <a:pathLst>
                <a:path h="1160145" w="6486144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6373876" y="0"/>
                  </a:lnTo>
                  <a:cubicBezTo>
                    <a:pt x="6435852" y="0"/>
                    <a:pt x="6486144" y="50292"/>
                    <a:pt x="6486144" y="112268"/>
                  </a:cubicBezTo>
                  <a:lnTo>
                    <a:pt x="6486144" y="1047877"/>
                  </a:lnTo>
                  <a:cubicBezTo>
                    <a:pt x="6486144" y="1109853"/>
                    <a:pt x="6435852" y="1160145"/>
                    <a:pt x="6373876" y="1160145"/>
                  </a:cubicBezTo>
                  <a:lnTo>
                    <a:pt x="112268" y="1160145"/>
                  </a:lnTo>
                  <a:cubicBezTo>
                    <a:pt x="50292" y="1160145"/>
                    <a:pt x="0" y="1109853"/>
                    <a:pt x="0" y="1047877"/>
                  </a:cubicBezTo>
                  <a:close/>
                </a:path>
              </a:pathLst>
            </a:custGeom>
            <a:solidFill>
              <a:srgbClr val="0D2A46"/>
            </a:solidFill>
            <a:ln w="19065" cap="sq">
              <a:solidFill>
                <a:srgbClr val="0D2A46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642313" y="7920323"/>
            <a:ext cx="713794" cy="329441"/>
            <a:chOff x="0" y="0"/>
            <a:chExt cx="951725" cy="43925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51720" cy="439255"/>
            </a:xfrm>
            <a:custGeom>
              <a:avLst/>
              <a:gdLst/>
              <a:ahLst/>
              <a:cxnLst/>
              <a:rect r="r" b="b" t="t" l="l"/>
              <a:pathLst>
                <a:path h="439255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6" t="0" r="-9217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951725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9"/>
                </a:lnSpc>
              </a:pPr>
              <a:r>
                <a:rPr lang="en-US" sz="1666" b="true">
                  <a:solidFill>
                    <a:srgbClr val="00BBD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判斷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465912" y="7851686"/>
            <a:ext cx="3692490" cy="658882"/>
            <a:chOff x="0" y="0"/>
            <a:chExt cx="4923320" cy="87851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923318" cy="878510"/>
            </a:xfrm>
            <a:custGeom>
              <a:avLst/>
              <a:gdLst/>
              <a:ahLst/>
              <a:cxnLst/>
              <a:rect r="r" b="b" t="t" l="l"/>
              <a:pathLst>
                <a:path h="878510" w="4923318">
                  <a:moveTo>
                    <a:pt x="0" y="0"/>
                  </a:moveTo>
                  <a:lnTo>
                    <a:pt x="4923318" y="0"/>
                  </a:lnTo>
                  <a:lnTo>
                    <a:pt x="4923318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97" r="0" b="-5919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4923320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FAFCFF"/>
                  </a:solidFill>
                  <a:latin typeface="Noto Sans"/>
                  <a:ea typeface="Noto Sans"/>
                  <a:cs typeface="Noto Sans"/>
                  <a:sym typeface="Noto Sans"/>
                </a:rPr>
                <a:t>已提供低延遲能力；不等於 HFT 占比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83578" y="9149048"/>
            <a:ext cx="17158021" cy="617325"/>
            <a:chOff x="0" y="0"/>
            <a:chExt cx="22877361" cy="8231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877399" cy="823087"/>
            </a:xfrm>
            <a:custGeom>
              <a:avLst/>
              <a:gdLst/>
              <a:ahLst/>
              <a:cxnLst/>
              <a:rect r="r" b="b" t="t" l="l"/>
              <a:pathLst>
                <a:path h="823087" w="22877399">
                  <a:moveTo>
                    <a:pt x="0" y="0"/>
                  </a:moveTo>
                  <a:lnTo>
                    <a:pt x="22877399" y="0"/>
                  </a:lnTo>
                  <a:lnTo>
                    <a:pt x="22877399" y="823087"/>
                  </a:lnTo>
                  <a:lnTo>
                    <a:pt x="0" y="823087"/>
                  </a:lnTo>
                  <a:close/>
                </a:path>
              </a:pathLst>
            </a:custGeom>
            <a:solidFill>
              <a:srgbClr val="06172B"/>
            </a:solidFill>
            <a:ln w="13345" cap="sq">
              <a:solidFill>
                <a:srgbClr val="00BBDD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823608" y="9244946"/>
            <a:ext cx="16705421" cy="398078"/>
            <a:chOff x="0" y="0"/>
            <a:chExt cx="22273895" cy="5307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2273898" cy="530767"/>
            </a:xfrm>
            <a:custGeom>
              <a:avLst/>
              <a:gdLst/>
              <a:ahLst/>
              <a:cxnLst/>
              <a:rect r="r" b="b" t="t" l="l"/>
              <a:pathLst>
                <a:path h="530767" w="22273898">
                  <a:moveTo>
                    <a:pt x="0" y="0"/>
                  </a:moveTo>
                  <a:lnTo>
                    <a:pt x="22273898" y="0"/>
                  </a:lnTo>
                  <a:lnTo>
                    <a:pt x="2227389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7699" r="0" b="-76770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22273895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59"/>
                </a:lnSpc>
              </a:pPr>
              <a:r>
                <a:rPr lang="en-US" sz="196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核心觀察：台灣已有具體服務案例，但 Open API 的使用成長與 Broker Algo／HFT 的供給證據應分開解讀。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631431" y="9842059"/>
            <a:ext cx="16993686" cy="247079"/>
            <a:chOff x="0" y="0"/>
            <a:chExt cx="22658248" cy="32943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2658246" cy="329441"/>
            </a:xfrm>
            <a:custGeom>
              <a:avLst/>
              <a:gdLst/>
              <a:ahLst/>
              <a:cxnLst/>
              <a:rect r="r" b="b" t="t" l="l"/>
              <a:pathLst>
                <a:path h="329441" w="22658246">
                  <a:moveTo>
                    <a:pt x="0" y="0"/>
                  </a:moveTo>
                  <a:lnTo>
                    <a:pt x="22658246" y="0"/>
                  </a:lnTo>
                  <a:lnTo>
                    <a:pt x="2265824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138" r="0" b="-129013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22658248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>
                  <a:solidFill>
                    <a:srgbClr val="7896AF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資料：富果訪談（2024/10）；富邦證券（2019 年報、2025）；凱衛×QRAFT（2024）；統一期貨官網。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DAHSIRxGof4</dc:identifier>
  <dcterms:modified xsi:type="dcterms:W3CDTF">2011-08-01T06:04:30Z</dcterms:modified>
  <cp:revision>1</cp:revision>
  <dc:title>Blue Black Tech Programmer Presentation</dc:title>
</cp:coreProperties>
</file>