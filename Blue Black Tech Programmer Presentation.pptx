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8288000" cy="10287000"/>
  <p:notesSz cx="6858000" cy="9144000"/>
  <p:embeddedFontLst>
    <p:embeddedFont>
      <p:font typeface="HK Modular" charset="1" panose="00000800000000000000"/>
      <p:regular r:id="rId28"/>
    </p:embeddedFont>
    <p:embeddedFont>
      <p:font typeface="Raleway" charset="1" panose="00000000000000000000"/>
      <p:regular r:id="rId29"/>
    </p:embeddedFont>
    <p:embeddedFont>
      <p:font typeface="Raleway Bold" charset="1" panose="00000000000000000000"/>
      <p:regular r:id="rId30"/>
    </p:embeddedFont>
    <p:embeddedFont>
      <p:font typeface="Garet" charset="1" panose="00000000000000000000"/>
      <p:regular r:id="rId31"/>
    </p:embeddedFont>
    <p:embeddedFont>
      <p:font typeface="Garet Bold" charset="1" panose="00000000000000000000"/>
      <p:regular r:id="rId32"/>
    </p:embeddedFont>
    <p:embeddedFont>
      <p:font typeface="Tomorrow Bold" charset="1" panose="00000000000000000000"/>
      <p:regular r:id="rId33"/>
    </p:embeddedFont>
    <p:embeddedFont>
      <p:font typeface="Tomorrow" charset="1" panose="00000000000000000000"/>
      <p:regular r:id="rId34"/>
    </p:embeddedFont>
    <p:embeddedFont>
      <p:font typeface="Arimo" charset="1" panose="020B0604020202020204"/>
      <p:regular r:id="rId35"/>
    </p:embeddedFont>
    <p:embeddedFont>
      <p:font typeface="Calibri (MS) Bold" charset="1" panose="020F0702030404030204"/>
      <p:regular r:id="rId39"/>
    </p:embeddedFont>
    <p:embeddedFont>
      <p:font typeface="Calibri (MS) Italics" charset="1" panose="020F05020202040A0204"/>
      <p:regular r:id="rId40"/>
    </p:embeddedFont>
    <p:embeddedFont>
      <p:font typeface="Calibri (MS)" charset="1" panose="020F0502020204030204"/>
      <p:regular r:id="rId41"/>
    </p:embeddedFont>
    <p:embeddedFont>
      <p:font typeface="ほのかアンティーク丸" charset="1" panose="02000600000000000000"/>
      <p:regular r:id="rId48"/>
    </p:embeddedFont>
    <p:embeddedFont>
      <p:font typeface="Arial Bold" charset="1" panose="020B0704020202020204"/>
      <p:regular r:id="rId52"/>
    </p:embeddedFont>
    <p:embeddedFont>
      <p:font typeface="Arial" charset="1" panose="020B0604020202020204"/>
      <p:regular r:id="rId5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notesMasters/notesMaster1.xml" Type="http://schemas.openxmlformats.org/officeDocument/2006/relationships/notesMaster"/><Relationship Id="rId37" Target="theme/theme2.xml" Type="http://schemas.openxmlformats.org/officeDocument/2006/relationships/theme"/><Relationship Id="rId38" Target="notesSlides/notesSlide1.xml" Type="http://schemas.openxmlformats.org/officeDocument/2006/relationships/notesSlide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notesSlides/notesSlide2.xml" Type="http://schemas.openxmlformats.org/officeDocument/2006/relationships/notesSlide"/><Relationship Id="rId43" Target="notesSlides/notesSlide3.xml" Type="http://schemas.openxmlformats.org/officeDocument/2006/relationships/notesSlide"/><Relationship Id="rId44" Target="notesSlides/notesSlide4.xml" Type="http://schemas.openxmlformats.org/officeDocument/2006/relationships/notesSlide"/><Relationship Id="rId45" Target="notesSlides/notesSlide5.xml" Type="http://schemas.openxmlformats.org/officeDocument/2006/relationships/notesSlide"/><Relationship Id="rId46" Target="notesSlides/notesSlide6.xml" Type="http://schemas.openxmlformats.org/officeDocument/2006/relationships/notesSlide"/><Relationship Id="rId47" Target="notesSlides/notesSlide7.xml" Type="http://schemas.openxmlformats.org/officeDocument/2006/relationships/notesSlide"/><Relationship Id="rId48" Target="fonts/font48.fntdata" Type="http://schemas.openxmlformats.org/officeDocument/2006/relationships/font"/><Relationship Id="rId49" Target="notesSlides/notesSlide8.xml" Type="http://schemas.openxmlformats.org/officeDocument/2006/relationships/notesSlide"/><Relationship Id="rId5" Target="tableStyles.xml" Type="http://schemas.openxmlformats.org/officeDocument/2006/relationships/tableStyles"/><Relationship Id="rId50" Target="notesSlides/notesSlide9.xml" Type="http://schemas.openxmlformats.org/officeDocument/2006/relationships/notesSlide"/><Relationship Id="rId51" Target="notesSlides/notesSlide10.xml" Type="http://schemas.openxmlformats.org/officeDocument/2006/relationships/notesSlide"/><Relationship Id="rId52" Target="fonts/font52.fntdata" Type="http://schemas.openxmlformats.org/officeDocument/2006/relationships/font"/><Relationship Id="rId53" Target="fonts/font53.fntdata" Type="http://schemas.openxmlformats.org/officeDocument/2006/relationships/font"/><Relationship Id="rId54" Target="notesSlides/notesSlide11.xml" Type="http://schemas.openxmlformats.org/officeDocument/2006/relationships/notesSlide"/><Relationship Id="rId55" Target="notesSlides/notesSlide12.xml" Type="http://schemas.openxmlformats.org/officeDocument/2006/relationships/notesSlide"/><Relationship Id="rId56" Target="notesSlides/notesSlide13.xml" Type="http://schemas.openxmlformats.org/officeDocument/2006/relationships/notesSlide"/><Relationship Id="rId57" Target="notesSlides/notesSlide14.xml" Type="http://schemas.openxmlformats.org/officeDocument/2006/relationships/notesSlide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[Sources]</a:t>
            </a:r>
          </a:p>
          <a:p>
            <a:r>
              <a:rPr lang="en-US"/>
              <a:t>SEC Concept Release 2010；SEC Algo Trading Report 2020；SEC Reg NMS / Rule 15c3-5；IBKR History。</a:t>
            </a:r>
          </a:p>
          <a:p>
            <a:r>
              <a:rPr lang="en-US"/>
              <a:t>[/Sources]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[Sources]</a:t>
            </a:r>
          </a:p>
          <a:p>
            <a:r>
              <a:rPr lang="en-US"/>
              <a:t>JSDA Fact Book；MOF Japan STT abolition；JPX annual reports / arrowhead 4.0；Japan FSA HST trends。</a:t>
            </a:r>
          </a:p>
          <a:p>
            <a:r>
              <a:rPr lang="en-US"/>
              <a:t>[/Sources]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[Sources]</a:t>
            </a:r>
          </a:p>
          <a:p>
            <a:r>
              <a:rPr lang="en-US"/>
              <a:t>Korea Times 2008；FSC ELW / HFT / NXT；KCMI / KRX；KRX EXTURE+ public release。</a:t>
            </a:r>
          </a:p>
          <a:p>
            <a:r>
              <a:rPr lang="en-US"/>
              <a:t>[/Sources]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[Sources]</a:t>
            </a:r>
          </a:p>
          <a:p>
            <a:r>
              <a:rPr lang="en-US"/>
              <a:t>SGX Annual Reports / results；SGX Rulebook DMA / Sponsored Access；SGX REACH / Connectivity disclosures。</a:t>
            </a:r>
          </a:p>
          <a:p>
            <a:r>
              <a:rPr lang="en-US"/>
              <a:t>[/Sources]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[Sources]</a:t>
            </a:r>
          </a:p>
          <a:p>
            <a:r>
              <a:rPr lang="en-US"/>
              <a:t>SEBI Annual Reports / circulars；NSE / SEBI 2025–26 Annual Report；NSE Client Direct API documents。</a:t>
            </a:r>
          </a:p>
          <a:p>
            <a:r>
              <a:rPr lang="en-US"/>
              <a:t>[/Sources]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[Sources]</a:t>
            </a:r>
          </a:p>
          <a:p>
            <a:r>
              <a:rPr lang="en-US"/>
              <a:t>Cross-country synthesis based on the five preceding country pages and their cited sources.</a:t>
            </a:r>
          </a:p>
          <a:p>
            <a:r>
              <a:rPr lang="en-US"/>
              <a:t>[/Sources]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../media/image10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image10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../media/image10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Relationship Id="rId4" Target="../media/image10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Relationship Id="rId4" Target="../media/image10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Relationship Id="rId4" Target="../media/image10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Relationship Id="rId4" Target="../media/image10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jpeg" Type="http://schemas.openxmlformats.org/officeDocument/2006/relationships/image"/><Relationship Id="rId4" Target="../media/image10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881113" y="733563"/>
            <a:ext cx="14719524" cy="8819874"/>
            <a:chOff x="0" y="0"/>
            <a:chExt cx="3876747" cy="232293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876747" cy="2322930"/>
            </a:xfrm>
            <a:custGeom>
              <a:avLst/>
              <a:gdLst/>
              <a:ahLst/>
              <a:cxnLst/>
              <a:rect r="r" b="b" t="t" l="l"/>
              <a:pathLst>
                <a:path h="2322930" w="3876747">
                  <a:moveTo>
                    <a:pt x="0" y="0"/>
                  </a:moveTo>
                  <a:lnTo>
                    <a:pt x="3876747" y="0"/>
                  </a:lnTo>
                  <a:lnTo>
                    <a:pt x="3876747" y="2322930"/>
                  </a:lnTo>
                  <a:lnTo>
                    <a:pt x="0" y="2322930"/>
                  </a:lnTo>
                  <a:close/>
                </a:path>
              </a:pathLst>
            </a:custGeom>
            <a:gradFill rotWithShape="true">
              <a:gsLst>
                <a:gs pos="0">
                  <a:srgbClr val="515269">
                    <a:alpha val="100000"/>
                  </a:srgbClr>
                </a:gs>
                <a:gs pos="100000">
                  <a:srgbClr val="00012E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3876747" cy="2294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81113" y="733563"/>
            <a:ext cx="14719524" cy="1028129"/>
            <a:chOff x="0" y="0"/>
            <a:chExt cx="3876747" cy="27078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76747" cy="270783"/>
            </a:xfrm>
            <a:custGeom>
              <a:avLst/>
              <a:gdLst/>
              <a:ahLst/>
              <a:cxnLst/>
              <a:rect r="r" b="b" t="t" l="l"/>
              <a:pathLst>
                <a:path h="270783" w="3876747">
                  <a:moveTo>
                    <a:pt x="0" y="0"/>
                  </a:moveTo>
                  <a:lnTo>
                    <a:pt x="3876747" y="0"/>
                  </a:lnTo>
                  <a:lnTo>
                    <a:pt x="3876747" y="270783"/>
                  </a:lnTo>
                  <a:lnTo>
                    <a:pt x="0" y="270783"/>
                  </a:lnTo>
                  <a:close/>
                </a:path>
              </a:pathLst>
            </a:custGeom>
            <a:gradFill rotWithShape="true">
              <a:gsLst>
                <a:gs pos="0">
                  <a:srgbClr val="00012E">
                    <a:alpha val="74000"/>
                  </a:srgbClr>
                </a:gs>
                <a:gs pos="100000">
                  <a:srgbClr val="150082">
                    <a:alpha val="74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3876747" cy="2422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81113" y="733563"/>
            <a:ext cx="1438140" cy="1028129"/>
            <a:chOff x="0" y="0"/>
            <a:chExt cx="378769" cy="27078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78769" cy="270783"/>
            </a:xfrm>
            <a:custGeom>
              <a:avLst/>
              <a:gdLst/>
              <a:ahLst/>
              <a:cxnLst/>
              <a:rect r="r" b="b" t="t" l="l"/>
              <a:pathLst>
                <a:path h="270783" w="378769">
                  <a:moveTo>
                    <a:pt x="0" y="0"/>
                  </a:moveTo>
                  <a:lnTo>
                    <a:pt x="378769" y="0"/>
                  </a:lnTo>
                  <a:lnTo>
                    <a:pt x="378769" y="270783"/>
                  </a:lnTo>
                  <a:lnTo>
                    <a:pt x="0" y="270783"/>
                  </a:lnTo>
                  <a:close/>
                </a:path>
              </a:pathLst>
            </a:custGeom>
            <a:gradFill rotWithShape="true">
              <a:gsLst>
                <a:gs pos="0">
                  <a:srgbClr val="00012E">
                    <a:alpha val="100000"/>
                  </a:srgbClr>
                </a:gs>
                <a:gs pos="100000">
                  <a:srgbClr val="15008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28575"/>
              <a:ext cx="378769" cy="2422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true" flipV="false" rot="0">
            <a:off x="2388763" y="1103477"/>
            <a:ext cx="422840" cy="288300"/>
          </a:xfrm>
          <a:custGeom>
            <a:avLst/>
            <a:gdLst/>
            <a:ahLst/>
            <a:cxnLst/>
            <a:rect r="r" b="b" t="t" l="l"/>
            <a:pathLst>
              <a:path h="288300" w="422840">
                <a:moveTo>
                  <a:pt x="422840" y="0"/>
                </a:moveTo>
                <a:lnTo>
                  <a:pt x="0" y="0"/>
                </a:lnTo>
                <a:lnTo>
                  <a:pt x="0" y="288300"/>
                </a:lnTo>
                <a:lnTo>
                  <a:pt x="422840" y="288300"/>
                </a:lnTo>
                <a:lnTo>
                  <a:pt x="42284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101100" y="2414749"/>
            <a:ext cx="1976873" cy="1362005"/>
          </a:xfrm>
          <a:custGeom>
            <a:avLst/>
            <a:gdLst/>
            <a:ahLst/>
            <a:cxnLst/>
            <a:rect r="r" b="b" t="t" l="l"/>
            <a:pathLst>
              <a:path h="1362005" w="1976873">
                <a:moveTo>
                  <a:pt x="0" y="0"/>
                </a:moveTo>
                <a:lnTo>
                  <a:pt x="1976873" y="0"/>
                </a:lnTo>
                <a:lnTo>
                  <a:pt x="1976873" y="1362005"/>
                </a:lnTo>
                <a:lnTo>
                  <a:pt x="0" y="13620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263917" y="4043538"/>
            <a:ext cx="12079506" cy="1452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41"/>
              </a:lnSpc>
              <a:spcBef>
                <a:spcPct val="0"/>
              </a:spcBef>
            </a:pPr>
            <a:r>
              <a:rPr lang="en-US" sz="10416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程式交易市場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138326" y="5507232"/>
            <a:ext cx="11902421" cy="1452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41"/>
              </a:lnSpc>
              <a:spcBef>
                <a:spcPct val="0"/>
              </a:spcBef>
            </a:pPr>
            <a:r>
              <a:rPr lang="en-US" sz="10416">
                <a:solidFill>
                  <a:srgbClr val="00BBDE"/>
                </a:solidFill>
                <a:latin typeface="HK Modular"/>
                <a:ea typeface="HK Modular"/>
                <a:cs typeface="HK Modular"/>
                <a:sym typeface="HK Modular"/>
              </a:rPr>
              <a:t>的形成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881113" y="733563"/>
            <a:ext cx="14719524" cy="8819874"/>
            <a:chOff x="0" y="0"/>
            <a:chExt cx="3876747" cy="232293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876747" cy="2322930"/>
            </a:xfrm>
            <a:custGeom>
              <a:avLst/>
              <a:gdLst/>
              <a:ahLst/>
              <a:cxnLst/>
              <a:rect r="r" b="b" t="t" l="l"/>
              <a:pathLst>
                <a:path h="2322930" w="3876747">
                  <a:moveTo>
                    <a:pt x="0" y="0"/>
                  </a:moveTo>
                  <a:lnTo>
                    <a:pt x="3876747" y="0"/>
                  </a:lnTo>
                  <a:lnTo>
                    <a:pt x="3876747" y="2322930"/>
                  </a:lnTo>
                  <a:lnTo>
                    <a:pt x="0" y="2322930"/>
                  </a:lnTo>
                  <a:close/>
                </a:path>
              </a:pathLst>
            </a:custGeom>
            <a:gradFill rotWithShape="true">
              <a:gsLst>
                <a:gs pos="0">
                  <a:srgbClr val="515269">
                    <a:alpha val="100000"/>
                  </a:srgbClr>
                </a:gs>
                <a:gs pos="100000">
                  <a:srgbClr val="00012E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3876747" cy="2294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81113" y="733563"/>
            <a:ext cx="14719524" cy="1028129"/>
            <a:chOff x="0" y="0"/>
            <a:chExt cx="3876747" cy="27078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76747" cy="270783"/>
            </a:xfrm>
            <a:custGeom>
              <a:avLst/>
              <a:gdLst/>
              <a:ahLst/>
              <a:cxnLst/>
              <a:rect r="r" b="b" t="t" l="l"/>
              <a:pathLst>
                <a:path h="270783" w="3876747">
                  <a:moveTo>
                    <a:pt x="0" y="0"/>
                  </a:moveTo>
                  <a:lnTo>
                    <a:pt x="3876747" y="0"/>
                  </a:lnTo>
                  <a:lnTo>
                    <a:pt x="3876747" y="270783"/>
                  </a:lnTo>
                  <a:lnTo>
                    <a:pt x="0" y="270783"/>
                  </a:lnTo>
                  <a:close/>
                </a:path>
              </a:pathLst>
            </a:custGeom>
            <a:gradFill rotWithShape="true">
              <a:gsLst>
                <a:gs pos="0">
                  <a:srgbClr val="00012E">
                    <a:alpha val="74000"/>
                  </a:srgbClr>
                </a:gs>
                <a:gs pos="100000">
                  <a:srgbClr val="150082">
                    <a:alpha val="74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3876747" cy="2422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81113" y="733563"/>
            <a:ext cx="1438140" cy="1028129"/>
            <a:chOff x="0" y="0"/>
            <a:chExt cx="378769" cy="27078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78769" cy="270783"/>
            </a:xfrm>
            <a:custGeom>
              <a:avLst/>
              <a:gdLst/>
              <a:ahLst/>
              <a:cxnLst/>
              <a:rect r="r" b="b" t="t" l="l"/>
              <a:pathLst>
                <a:path h="270783" w="378769">
                  <a:moveTo>
                    <a:pt x="0" y="0"/>
                  </a:moveTo>
                  <a:lnTo>
                    <a:pt x="378769" y="0"/>
                  </a:lnTo>
                  <a:lnTo>
                    <a:pt x="378769" y="270783"/>
                  </a:lnTo>
                  <a:lnTo>
                    <a:pt x="0" y="270783"/>
                  </a:lnTo>
                  <a:close/>
                </a:path>
              </a:pathLst>
            </a:custGeom>
            <a:gradFill rotWithShape="true">
              <a:gsLst>
                <a:gs pos="0">
                  <a:srgbClr val="00012E">
                    <a:alpha val="100000"/>
                  </a:srgbClr>
                </a:gs>
                <a:gs pos="100000">
                  <a:srgbClr val="15008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28575"/>
              <a:ext cx="378769" cy="2422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true" flipV="false" rot="0">
            <a:off x="2388763" y="1103477"/>
            <a:ext cx="422840" cy="288300"/>
          </a:xfrm>
          <a:custGeom>
            <a:avLst/>
            <a:gdLst/>
            <a:ahLst/>
            <a:cxnLst/>
            <a:rect r="r" b="b" t="t" l="l"/>
            <a:pathLst>
              <a:path h="288300" w="422840">
                <a:moveTo>
                  <a:pt x="422840" y="0"/>
                </a:moveTo>
                <a:lnTo>
                  <a:pt x="0" y="0"/>
                </a:lnTo>
                <a:lnTo>
                  <a:pt x="0" y="288300"/>
                </a:lnTo>
                <a:lnTo>
                  <a:pt x="422840" y="288300"/>
                </a:lnTo>
                <a:lnTo>
                  <a:pt x="42284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101100" y="2414749"/>
            <a:ext cx="1976873" cy="1362005"/>
          </a:xfrm>
          <a:custGeom>
            <a:avLst/>
            <a:gdLst/>
            <a:ahLst/>
            <a:cxnLst/>
            <a:rect r="r" b="b" t="t" l="l"/>
            <a:pathLst>
              <a:path h="1362005" w="1976873">
                <a:moveTo>
                  <a:pt x="0" y="0"/>
                </a:moveTo>
                <a:lnTo>
                  <a:pt x="1976873" y="0"/>
                </a:lnTo>
                <a:lnTo>
                  <a:pt x="1976873" y="1362005"/>
                </a:lnTo>
                <a:lnTo>
                  <a:pt x="0" y="13620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263917" y="4043538"/>
            <a:ext cx="12079506" cy="1452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41"/>
              </a:lnSpc>
              <a:spcBef>
                <a:spcPct val="0"/>
              </a:spcBef>
            </a:pPr>
            <a:r>
              <a:rPr lang="en-US" sz="10416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程式交易市場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138326" y="5507232"/>
            <a:ext cx="11902421" cy="1452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41"/>
              </a:lnSpc>
              <a:spcBef>
                <a:spcPct val="0"/>
              </a:spcBef>
            </a:pPr>
            <a:r>
              <a:rPr lang="en-US" sz="10416">
                <a:solidFill>
                  <a:srgbClr val="00BBDE"/>
                </a:solidFill>
                <a:latin typeface="HK Modular"/>
                <a:ea typeface="HK Modular"/>
                <a:cs typeface="HK Modular"/>
                <a:sym typeface="HK Modular"/>
              </a:rPr>
              <a:t>的定義與服務分層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3097933" y="8299927"/>
            <a:ext cx="21744694" cy="1253510"/>
            <a:chOff x="0" y="0"/>
            <a:chExt cx="5726998" cy="33014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726998" cy="330143"/>
            </a:xfrm>
            <a:custGeom>
              <a:avLst/>
              <a:gdLst/>
              <a:ahLst/>
              <a:cxnLst/>
              <a:rect r="r" b="b" t="t" l="l"/>
              <a:pathLst>
                <a:path h="330143" w="5726998">
                  <a:moveTo>
                    <a:pt x="0" y="0"/>
                  </a:moveTo>
                  <a:lnTo>
                    <a:pt x="5726998" y="0"/>
                  </a:lnTo>
                  <a:lnTo>
                    <a:pt x="5726998" y="330143"/>
                  </a:lnTo>
                  <a:lnTo>
                    <a:pt x="0" y="330143"/>
                  </a:lnTo>
                  <a:close/>
                </a:path>
              </a:pathLst>
            </a:custGeom>
            <a:gradFill rotWithShape="true">
              <a:gsLst>
                <a:gs pos="0">
                  <a:srgbClr val="515269">
                    <a:alpha val="100000"/>
                  </a:srgbClr>
                </a:gs>
                <a:gs pos="100000">
                  <a:srgbClr val="00012E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5726998" cy="3015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3315069"/>
            <a:ext cx="4829040" cy="3561779"/>
            <a:chOff x="0" y="0"/>
            <a:chExt cx="1271846" cy="93808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71846" cy="938082"/>
            </a:xfrm>
            <a:custGeom>
              <a:avLst/>
              <a:gdLst/>
              <a:ahLst/>
              <a:cxnLst/>
              <a:rect r="r" b="b" t="t" l="l"/>
              <a:pathLst>
                <a:path h="938082" w="1271846">
                  <a:moveTo>
                    <a:pt x="0" y="0"/>
                  </a:moveTo>
                  <a:lnTo>
                    <a:pt x="1271846" y="0"/>
                  </a:lnTo>
                  <a:lnTo>
                    <a:pt x="1271846" y="938082"/>
                  </a:lnTo>
                  <a:lnTo>
                    <a:pt x="0" y="938082"/>
                  </a:lnTo>
                  <a:close/>
                </a:path>
              </a:pathLst>
            </a:custGeom>
            <a:ln w="28575" cap="sq">
              <a:gradFill>
                <a:gsLst>
                  <a:gs pos="0">
                    <a:srgbClr val="ABC5FD">
                      <a:alpha val="100000"/>
                    </a:srgbClr>
                  </a:gs>
                  <a:gs pos="100000">
                    <a:srgbClr val="795A8D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1271846" cy="9095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430260" y="3291298"/>
            <a:ext cx="4829040" cy="3561779"/>
            <a:chOff x="0" y="0"/>
            <a:chExt cx="1271846" cy="93808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71846" cy="938082"/>
            </a:xfrm>
            <a:custGeom>
              <a:avLst/>
              <a:gdLst/>
              <a:ahLst/>
              <a:cxnLst/>
              <a:rect r="r" b="b" t="t" l="l"/>
              <a:pathLst>
                <a:path h="938082" w="1271846">
                  <a:moveTo>
                    <a:pt x="0" y="0"/>
                  </a:moveTo>
                  <a:lnTo>
                    <a:pt x="1271846" y="0"/>
                  </a:lnTo>
                  <a:lnTo>
                    <a:pt x="1271846" y="938082"/>
                  </a:lnTo>
                  <a:lnTo>
                    <a:pt x="0" y="938082"/>
                  </a:lnTo>
                  <a:close/>
                </a:path>
              </a:pathLst>
            </a:custGeom>
            <a:ln w="28575" cap="sq">
              <a:gradFill>
                <a:gsLst>
                  <a:gs pos="0">
                    <a:srgbClr val="ABC5FD">
                      <a:alpha val="100000"/>
                    </a:srgbClr>
                  </a:gs>
                  <a:gs pos="100000">
                    <a:srgbClr val="795A8D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28575"/>
              <a:ext cx="1271846" cy="9095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742760" y="3315069"/>
            <a:ext cx="4827147" cy="3514238"/>
            <a:chOff x="0" y="0"/>
            <a:chExt cx="1271347" cy="92556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71347" cy="925561"/>
            </a:xfrm>
            <a:custGeom>
              <a:avLst/>
              <a:gdLst/>
              <a:ahLst/>
              <a:cxnLst/>
              <a:rect r="r" b="b" t="t" l="l"/>
              <a:pathLst>
                <a:path h="925561" w="1271347">
                  <a:moveTo>
                    <a:pt x="0" y="0"/>
                  </a:moveTo>
                  <a:lnTo>
                    <a:pt x="1271347" y="0"/>
                  </a:lnTo>
                  <a:lnTo>
                    <a:pt x="1271347" y="925561"/>
                  </a:lnTo>
                  <a:lnTo>
                    <a:pt x="0" y="925561"/>
                  </a:lnTo>
                  <a:close/>
                </a:path>
              </a:pathLst>
            </a:custGeom>
            <a:gradFill rotWithShape="true">
              <a:gsLst>
                <a:gs pos="0">
                  <a:srgbClr val="00012E">
                    <a:alpha val="100000"/>
                  </a:srgbClr>
                </a:gs>
                <a:gs pos="100000">
                  <a:srgbClr val="15008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28575"/>
              <a:ext cx="1271347" cy="896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108401" y="7159802"/>
            <a:ext cx="16230600" cy="263747"/>
          </a:xfrm>
          <a:custGeom>
            <a:avLst/>
            <a:gdLst/>
            <a:ahLst/>
            <a:cxnLst/>
            <a:rect r="r" b="b" t="t" l="l"/>
            <a:pathLst>
              <a:path h="263747" w="16230600">
                <a:moveTo>
                  <a:pt x="0" y="0"/>
                </a:moveTo>
                <a:lnTo>
                  <a:pt x="16230600" y="0"/>
                </a:lnTo>
                <a:lnTo>
                  <a:pt x="16230600" y="263748"/>
                </a:lnTo>
                <a:lnTo>
                  <a:pt x="0" y="2637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652929" y="425928"/>
            <a:ext cx="5201388" cy="1643399"/>
            <a:chOff x="0" y="0"/>
            <a:chExt cx="6935183" cy="2191198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57150"/>
              <a:ext cx="5345723" cy="10511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829"/>
                </a:lnSpc>
                <a:spcBef>
                  <a:spcPct val="0"/>
                </a:spcBef>
              </a:pPr>
              <a:r>
                <a:rPr lang="en-US" sz="5499">
                  <a:solidFill>
                    <a:srgbClr val="FFFFFF"/>
                  </a:solidFill>
                  <a:latin typeface="HK Modular"/>
                  <a:ea typeface="HK Modular"/>
                  <a:cs typeface="HK Modular"/>
                  <a:sym typeface="HK Modular"/>
                </a:rPr>
                <a:t>市場定義和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1140061"/>
              <a:ext cx="6935183" cy="10511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829"/>
                </a:lnSpc>
                <a:spcBef>
                  <a:spcPct val="0"/>
                </a:spcBef>
              </a:pPr>
              <a:r>
                <a:rPr lang="en-US" sz="5499">
                  <a:solidFill>
                    <a:srgbClr val="00BBDE"/>
                  </a:solidFill>
                  <a:latin typeface="HK Modular"/>
                  <a:ea typeface="HK Modular"/>
                  <a:cs typeface="HK Modular"/>
                  <a:sym typeface="HK Modular"/>
                </a:rPr>
                <a:t>服務分層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188103" y="4353570"/>
            <a:ext cx="4665004" cy="82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0"/>
              </a:lnSpc>
            </a:pPr>
            <a:r>
              <a:rPr lang="en-US" sz="20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個人投資人自行串接行情、帳務與交易功能，建立自動化交易策略。</a:t>
            </a:r>
          </a:p>
          <a:p>
            <a:pPr algn="l">
              <a:lnSpc>
                <a:spcPts val="2120"/>
              </a:lnSpc>
              <a:spcBef>
                <a:spcPct val="0"/>
              </a:spcBef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189313" y="3471627"/>
            <a:ext cx="2413310" cy="359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5"/>
              </a:lnSpc>
              <a:spcBef>
                <a:spcPct val="0"/>
              </a:spcBef>
            </a:pPr>
            <a:r>
              <a:rPr lang="en-US" b="true" sz="2533">
                <a:solidFill>
                  <a:srgbClr val="00BBDE"/>
                </a:solidFill>
                <a:latin typeface="Raleway Bold"/>
                <a:ea typeface="Raleway Bold"/>
                <a:cs typeface="Raleway Bold"/>
                <a:sym typeface="Raleway Bold"/>
              </a:rPr>
              <a:t>散戶OPEN API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912061" y="4317365"/>
            <a:ext cx="4488544" cy="82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0"/>
              </a:lnSpc>
            </a:pPr>
            <a:r>
              <a:rPr lang="en-US" sz="20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提供法人穩定、規模化且重視執行品質的電子交易服務。</a:t>
            </a:r>
          </a:p>
          <a:p>
            <a:pPr algn="l">
              <a:lnSpc>
                <a:spcPts val="2120"/>
              </a:lnSpc>
              <a:spcBef>
                <a:spcPct val="0"/>
              </a:spcBef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6912061" y="3471627"/>
            <a:ext cx="4488544" cy="1026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5"/>
              </a:lnSpc>
            </a:pPr>
            <a:r>
              <a:rPr lang="en-US" sz="2533" b="true">
                <a:solidFill>
                  <a:srgbClr val="00BBDE"/>
                </a:solidFill>
                <a:latin typeface="Raleway Bold"/>
                <a:ea typeface="Raleway Bold"/>
                <a:cs typeface="Raleway Bold"/>
                <a:sym typeface="Raleway Bold"/>
              </a:rPr>
              <a:t>法人 ELECTRONIC TRADING</a:t>
            </a:r>
          </a:p>
          <a:p>
            <a:pPr algn="l">
              <a:lnSpc>
                <a:spcPts val="2685"/>
              </a:lnSpc>
            </a:pPr>
            <a:r>
              <a:rPr lang="en-US" sz="2533" b="true">
                <a:solidFill>
                  <a:srgbClr val="00BBDE"/>
                </a:solidFill>
                <a:latin typeface="Raleway Bold"/>
                <a:ea typeface="Raleway Bold"/>
                <a:cs typeface="Raleway Bold"/>
                <a:sym typeface="Raleway Bold"/>
              </a:rPr>
              <a:t>Professional Execution</a:t>
            </a:r>
          </a:p>
          <a:p>
            <a:pPr algn="l">
              <a:lnSpc>
                <a:spcPts val="2685"/>
              </a:lnSpc>
              <a:spcBef>
                <a:spcPct val="0"/>
              </a:spcBef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12515294" y="4337983"/>
            <a:ext cx="4744006" cy="757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3"/>
              </a:lnSpc>
            </a:pPr>
            <a:r>
              <a:rPr lang="en-US" sz="183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為延遲高度敏感的專業交易者，提供高速連線與交易基礎設施。</a:t>
            </a:r>
          </a:p>
          <a:p>
            <a:pPr algn="l">
              <a:lnSpc>
                <a:spcPts val="2120"/>
              </a:lnSpc>
              <a:spcBef>
                <a:spcPct val="0"/>
              </a:spcBef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12514893" y="3421383"/>
            <a:ext cx="4678824" cy="1026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5"/>
              </a:lnSpc>
            </a:pPr>
            <a:r>
              <a:rPr lang="en-US" sz="2533" b="true">
                <a:solidFill>
                  <a:srgbClr val="00BBDE"/>
                </a:solidFill>
                <a:latin typeface="Raleway Bold"/>
                <a:ea typeface="Raleway Bold"/>
                <a:cs typeface="Raleway Bold"/>
                <a:sym typeface="Raleway Bold"/>
              </a:rPr>
              <a:t>HFT / LOW LATENCY</a:t>
            </a:r>
          </a:p>
          <a:p>
            <a:pPr algn="l">
              <a:lnSpc>
                <a:spcPts val="2685"/>
              </a:lnSpc>
            </a:pPr>
            <a:r>
              <a:rPr lang="en-US" sz="2533" b="true">
                <a:solidFill>
                  <a:srgbClr val="00BBDE"/>
                </a:solidFill>
                <a:latin typeface="Raleway Bold"/>
                <a:ea typeface="Raleway Bold"/>
                <a:cs typeface="Raleway Bold"/>
                <a:sym typeface="Raleway Bold"/>
              </a:rPr>
              <a:t>TRADING INFRASTRUCTURE</a:t>
            </a:r>
          </a:p>
          <a:p>
            <a:pPr algn="l">
              <a:lnSpc>
                <a:spcPts val="2685"/>
              </a:lnSpc>
              <a:spcBef>
                <a:spcPct val="0"/>
              </a:spcBef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1188103" y="5711859"/>
            <a:ext cx="4829040" cy="965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08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代表能力：REST API｜WebSocket｜SDK</a:t>
            </a:r>
          </a:p>
          <a:p>
            <a:pPr algn="l">
              <a:lnSpc>
                <a:spcPts val="1908"/>
              </a:lnSpc>
              <a:spcBef>
                <a:spcPct val="0"/>
              </a:spcBef>
            </a:pPr>
          </a:p>
          <a:p>
            <a:pPr algn="l">
              <a:lnSpc>
                <a:spcPts val="1908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競爭焦點：易用性・功能完整度・Developer Experience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895491" y="5721384"/>
            <a:ext cx="4656420" cy="965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08"/>
              </a:lnSpc>
            </a:pPr>
            <a:r>
              <a:rPr lang="en-US" sz="18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代表能力：FIX｜DMA｜Broker Algo | SOR</a:t>
            </a:r>
          </a:p>
          <a:p>
            <a:pPr algn="l">
              <a:lnSpc>
                <a:spcPts val="1908"/>
              </a:lnSpc>
            </a:pPr>
            <a:r>
              <a:rPr lang="en-US" sz="18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競爭焦點：Execution Quality・Reliability・Risk Control</a:t>
            </a:r>
          </a:p>
          <a:p>
            <a:pPr algn="l">
              <a:lnSpc>
                <a:spcPts val="1908"/>
              </a:lnSpc>
              <a:spcBef>
                <a:spcPct val="0"/>
              </a:spcBef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12515294" y="5711859"/>
            <a:ext cx="4744006" cy="965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08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代表能力：Co-location｜Cross-connect｜低延遲行情</a:t>
            </a:r>
          </a:p>
          <a:p>
            <a:pPr algn="l">
              <a:lnSpc>
                <a:spcPts val="1908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競爭焦點：Latency・Determinism・Infrastructure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89313" y="7686963"/>
            <a:ext cx="16230600" cy="317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3"/>
              </a:lnSpc>
              <a:spcBef>
                <a:spcPct val="0"/>
              </a:spcBef>
            </a:pPr>
            <a:r>
              <a:rPr lang="en-US" sz="233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客戶專業度・交易複雜度・Latency Sensitivity 提高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358061" y="955762"/>
            <a:ext cx="9005888" cy="8375476"/>
          </a:xfrm>
          <a:custGeom>
            <a:avLst/>
            <a:gdLst/>
            <a:ahLst/>
            <a:cxnLst/>
            <a:rect r="r" b="b" t="t" l="l"/>
            <a:pathLst>
              <a:path h="8375476" w="9005888">
                <a:moveTo>
                  <a:pt x="0" y="0"/>
                </a:moveTo>
                <a:lnTo>
                  <a:pt x="9005887" y="0"/>
                </a:lnTo>
                <a:lnTo>
                  <a:pt x="9005887" y="8375476"/>
                </a:lnTo>
                <a:lnTo>
                  <a:pt x="0" y="83754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49190" y="478316"/>
            <a:ext cx="6136178" cy="774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29"/>
              </a:lnSpc>
              <a:spcBef>
                <a:spcPct val="0"/>
              </a:spcBef>
            </a:pPr>
            <a:r>
              <a:rPr lang="en-US" sz="5499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券商能力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49190" y="1300024"/>
            <a:ext cx="5201388" cy="774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29"/>
              </a:lnSpc>
              <a:spcBef>
                <a:spcPct val="0"/>
              </a:spcBef>
            </a:pPr>
            <a:r>
              <a:rPr lang="en-US" sz="5499">
                <a:solidFill>
                  <a:srgbClr val="00BBDE"/>
                </a:solidFill>
                <a:latin typeface="HK Modular"/>
                <a:ea typeface="HK Modular"/>
                <a:cs typeface="HK Modular"/>
                <a:sym typeface="HK Modular"/>
              </a:rPr>
              <a:t>金字塔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792915" y="6884830"/>
            <a:ext cx="6136178" cy="51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50"/>
              </a:lnSpc>
              <a:spcBef>
                <a:spcPct val="0"/>
              </a:spcBef>
            </a:pPr>
            <a:r>
              <a:rPr lang="en-US" b="true" sz="3632">
                <a:gradFill>
                  <a:gsLst>
                    <a:gs pos="0">
                      <a:srgbClr val="00012E">
                        <a:alpha val="100000"/>
                      </a:srgbClr>
                    </a:gs>
                    <a:gs pos="100000">
                      <a:srgbClr val="150082">
                        <a:alpha val="100000"/>
                      </a:srgbClr>
                    </a:gs>
                  </a:gsLst>
                  <a:lin ang="0"/>
                </a:gradFill>
                <a:latin typeface="Garet Bold"/>
                <a:ea typeface="Garet Bold"/>
                <a:cs typeface="Garet Bold"/>
                <a:sym typeface="Garet Bold"/>
              </a:rPr>
              <a:t>OPEN API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358061" y="9079571"/>
            <a:ext cx="9005888" cy="251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3"/>
              </a:lnSpc>
              <a:spcBef>
                <a:spcPct val="0"/>
              </a:spcBef>
            </a:pPr>
            <a:r>
              <a:rPr lang="en-US" b="true" sz="1833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BASE = ACCESS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358061" y="7789821"/>
            <a:ext cx="9005888" cy="62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3"/>
              </a:lnSpc>
              <a:spcBef>
                <a:spcPct val="0"/>
              </a:spcBef>
            </a:pPr>
            <a:r>
              <a:rPr lang="en-US" sz="233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Order API｜Market Data API｜Account API｜</a:t>
            </a:r>
          </a:p>
          <a:p>
            <a:pPr algn="ctr">
              <a:lnSpc>
                <a:spcPts val="2473"/>
              </a:lnSpc>
              <a:spcBef>
                <a:spcPct val="0"/>
              </a:spcBef>
            </a:pPr>
            <a:r>
              <a:rPr lang="en-US" sz="233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REST / WebSocket / SDK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358061" y="3742444"/>
            <a:ext cx="9005888" cy="916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2"/>
              </a:lnSpc>
              <a:spcBef>
                <a:spcPct val="0"/>
              </a:spcBef>
            </a:pPr>
            <a:r>
              <a:rPr lang="en-US" b="true" sz="3333">
                <a:gradFill>
                  <a:gsLst>
                    <a:gs pos="0">
                      <a:srgbClr val="00012E">
                        <a:alpha val="100000"/>
                      </a:srgbClr>
                    </a:gs>
                    <a:gs pos="100000">
                      <a:srgbClr val="150082">
                        <a:alpha val="100000"/>
                      </a:srgbClr>
                    </a:gs>
                  </a:gsLst>
                  <a:lin ang="0"/>
                </a:gradFill>
                <a:latin typeface="Garet Bold"/>
                <a:ea typeface="Garet Bold"/>
                <a:cs typeface="Garet Bold"/>
                <a:sym typeface="Garet Bold"/>
              </a:rPr>
              <a:t>ELECTRONIC </a:t>
            </a:r>
          </a:p>
          <a:p>
            <a:pPr algn="ctr">
              <a:lnSpc>
                <a:spcPts val="3532"/>
              </a:lnSpc>
              <a:spcBef>
                <a:spcPct val="0"/>
              </a:spcBef>
            </a:pPr>
            <a:r>
              <a:rPr lang="en-US" b="true" sz="3333">
                <a:gradFill>
                  <a:gsLst>
                    <a:gs pos="0">
                      <a:srgbClr val="00012E">
                        <a:alpha val="100000"/>
                      </a:srgbClr>
                    </a:gs>
                    <a:gs pos="100000">
                      <a:srgbClr val="150082">
                        <a:alpha val="100000"/>
                      </a:srgbClr>
                    </a:gs>
                  </a:gsLst>
                  <a:lin ang="0"/>
                </a:gradFill>
                <a:latin typeface="Garet Bold"/>
                <a:ea typeface="Garet Bold"/>
                <a:cs typeface="Garet Bold"/>
                <a:sym typeface="Garet Bold"/>
              </a:rPr>
              <a:t>TRADING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615390" y="4837009"/>
            <a:ext cx="4491228" cy="62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3"/>
              </a:lnSpc>
              <a:spcBef>
                <a:spcPct val="0"/>
              </a:spcBef>
            </a:pPr>
            <a:r>
              <a:rPr lang="en-US" sz="233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Execution | </a:t>
            </a:r>
            <a:r>
              <a:rPr lang="en-US" sz="233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FIX｜DMA｜Broker Algo｜Risk Control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399910" y="6041577"/>
            <a:ext cx="9005888" cy="251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3"/>
              </a:lnSpc>
              <a:spcBef>
                <a:spcPct val="0"/>
              </a:spcBef>
            </a:pPr>
            <a:r>
              <a:rPr lang="en-US" b="true" sz="1833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MIDDLE = EXECUTION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11548" y="1671293"/>
            <a:ext cx="782613" cy="402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2"/>
              </a:lnSpc>
              <a:spcBef>
                <a:spcPct val="0"/>
              </a:spcBef>
            </a:pPr>
            <a:r>
              <a:rPr lang="en-US" b="true" sz="2833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HFT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615390" y="3015163"/>
            <a:ext cx="4574927" cy="251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3"/>
              </a:lnSpc>
              <a:spcBef>
                <a:spcPct val="0"/>
              </a:spcBef>
            </a:pPr>
            <a:r>
              <a:rPr lang="en-US" b="true" sz="1833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TOP = INFRASTRUCTURE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747533" y="2211682"/>
            <a:ext cx="4310642" cy="62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3"/>
              </a:lnSpc>
              <a:spcBef>
                <a:spcPct val="0"/>
              </a:spcBef>
            </a:pPr>
            <a:r>
              <a:rPr lang="en-US" sz="233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Co-location｜Cross-connect｜Low-latency Feed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986831" y="1928618"/>
          <a:ext cx="14314337" cy="7152109"/>
        </p:xfrm>
        <a:graphic>
          <a:graphicData uri="http://schemas.openxmlformats.org/drawingml/2006/table">
            <a:tbl>
              <a:tblPr/>
              <a:tblGrid>
                <a:gridCol w="3578584"/>
                <a:gridCol w="3578584"/>
                <a:gridCol w="3578584"/>
                <a:gridCol w="3578584"/>
              </a:tblGrid>
              <a:tr h="115980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1B027E"/>
                          </a:solidFill>
                          <a:latin typeface="Tomorrow Bold"/>
                          <a:ea typeface="Tomorrow Bold"/>
                          <a:cs typeface="Tomorrow Bold"/>
                          <a:sym typeface="Tomorrow Bold"/>
                        </a:rPr>
                        <a:t>比</a:t>
                      </a:r>
                      <a:r>
                        <a:rPr lang="en-US" sz="1800" b="true">
                          <a:solidFill>
                            <a:srgbClr val="1B027E"/>
                          </a:solidFill>
                          <a:latin typeface="Tomorrow Bold"/>
                          <a:ea typeface="Tomorrow Bold"/>
                          <a:cs typeface="Tomorrow Bold"/>
                          <a:sym typeface="Tomorrow Bold"/>
                        </a:rPr>
                        <a:t>較面向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99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1B027E"/>
                          </a:solidFill>
                          <a:latin typeface="Tomorrow Bold"/>
                          <a:ea typeface="Tomorrow Bold"/>
                          <a:cs typeface="Tomorrow Bold"/>
                          <a:sym typeface="Tomorrow Bold"/>
                        </a:rPr>
                        <a:t>散戶Open API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99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1B027E"/>
                          </a:solidFill>
                          <a:latin typeface="Tomorrow Bold"/>
                          <a:ea typeface="Tomorrow Bold"/>
                          <a:cs typeface="Tomorrow Bold"/>
                          <a:sym typeface="Tomorrow Bold"/>
                        </a:rPr>
                        <a:t>HTF/Low Latency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99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1B027E"/>
                          </a:solidFill>
                          <a:latin typeface="Tomorrow Bold"/>
                          <a:ea typeface="Tomorrow Bold"/>
                          <a:cs typeface="Tomorrow Bold"/>
                          <a:sym typeface="Tomorrow Bold"/>
                        </a:rPr>
                        <a:t>法人Electronic trading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99FF"/>
                    </a:solidFill>
                  </a:tcPr>
                </a:tc>
              </a:tr>
              <a:tr h="149807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1B027E"/>
                          </a:solidFill>
                          <a:latin typeface="Tomorrow Bold"/>
                          <a:ea typeface="Tomorrow Bold"/>
                          <a:cs typeface="Tomorrow Bold"/>
                          <a:sym typeface="Tomorrow Bold"/>
                        </a:rPr>
                        <a:t>主要客群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C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B027E"/>
                          </a:solidFill>
                          <a:latin typeface="Tomorrow"/>
                          <a:ea typeface="Tomorrow"/>
                          <a:cs typeface="Tomorrow"/>
                          <a:sym typeface="Tomorrow"/>
                        </a:rPr>
                        <a:t>個人程式交易者</a:t>
                      </a:r>
                      <a:endParaRPr lang="en-US" sz="1100"/>
                    </a:p>
                    <a:p>
                      <a:pPr algn="ctr">
                        <a:lnSpc>
                          <a:spcPts val="2520"/>
                        </a:lnSpc>
                      </a:pPr>
                      <a:r>
                        <a:rPr lang="en-US" sz="1800">
                          <a:solidFill>
                            <a:srgbClr val="1B027E"/>
                          </a:solidFill>
                          <a:latin typeface="Tomorrow"/>
                          <a:ea typeface="Tomorrow"/>
                          <a:cs typeface="Tomorrow"/>
                          <a:sym typeface="Tomorrow"/>
                        </a:rPr>
                        <a:t>小型量化團隊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B027E"/>
                          </a:solidFill>
                          <a:latin typeface="Tomorrow"/>
                          <a:ea typeface="Tomorrow"/>
                          <a:cs typeface="Tomorrow"/>
                          <a:sym typeface="Tomorrow"/>
                        </a:rPr>
                        <a:t>HFT、做市商</a:t>
                      </a:r>
                      <a:endParaRPr lang="en-US" sz="1100"/>
                    </a:p>
                    <a:p>
                      <a:pPr algn="ctr">
                        <a:lnSpc>
                          <a:spcPts val="2520"/>
                        </a:lnSpc>
                      </a:pPr>
                      <a:r>
                        <a:rPr lang="en-US" sz="1800">
                          <a:solidFill>
                            <a:srgbClr val="1B027E"/>
                          </a:solidFill>
                          <a:latin typeface="Tomorrow"/>
                          <a:ea typeface="Tomorrow"/>
                          <a:cs typeface="Tomorrow"/>
                          <a:sym typeface="Tomorrow"/>
                        </a:rPr>
                        <a:t>自營、專業量化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1B027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外資、資產管理</a:t>
                      </a:r>
                      <a:endParaRPr lang="en-US" sz="1100"/>
                    </a:p>
                    <a:p>
                      <a:pPr algn="ctr">
                        <a:lnSpc>
                          <a:spcPts val="2519"/>
                        </a:lnSpc>
                      </a:pPr>
                      <a:r>
                        <a:rPr lang="en-US" sz="1799">
                          <a:solidFill>
                            <a:srgbClr val="1B027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量化基金、機構交易桌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</a:tr>
              <a:tr h="149807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1B027E"/>
                          </a:solidFill>
                          <a:latin typeface="Tomorrow Bold"/>
                          <a:ea typeface="Tomorrow Bold"/>
                          <a:cs typeface="Tomorrow Bold"/>
                          <a:sym typeface="Tomorrow Bold"/>
                        </a:rPr>
                        <a:t>客戶目標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C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1B027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自動化策略</a:t>
                      </a:r>
                      <a:endParaRPr lang="en-US" sz="1100"/>
                    </a:p>
                    <a:p>
                      <a:pPr algn="ctr">
                        <a:lnSpc>
                          <a:spcPts val="2519"/>
                        </a:lnSpc>
                      </a:pPr>
                      <a:r>
                        <a:rPr lang="en-US" sz="1799">
                          <a:solidFill>
                            <a:srgbClr val="1B027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自行串接交易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B027E"/>
                          </a:solidFill>
                          <a:latin typeface="Tomorrow"/>
                          <a:ea typeface="Tomorrow"/>
                          <a:cs typeface="Tomorrow"/>
                          <a:sym typeface="Tomorrow"/>
                        </a:rPr>
                        <a:t>最小化延遲</a:t>
                      </a:r>
                      <a:endParaRPr lang="en-US" sz="1100"/>
                    </a:p>
                    <a:p>
                      <a:pPr algn="ctr">
                        <a:lnSpc>
                          <a:spcPts val="2520"/>
                        </a:lnSpc>
                      </a:pPr>
                      <a:r>
                        <a:rPr lang="en-US" sz="1800">
                          <a:solidFill>
                            <a:srgbClr val="1B027E"/>
                          </a:solidFill>
                          <a:latin typeface="Tomorrow"/>
                          <a:ea typeface="Tomorrow"/>
                          <a:cs typeface="Tomorrow"/>
                          <a:sym typeface="Tomorrow"/>
                        </a:rPr>
                        <a:t>提高執行確定性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1B027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提升執行效率</a:t>
                      </a:r>
                      <a:endParaRPr lang="en-US" sz="1100"/>
                    </a:p>
                    <a:p>
                      <a:pPr algn="ctr">
                        <a:lnSpc>
                          <a:spcPts val="2519"/>
                        </a:lnSpc>
                      </a:pPr>
                      <a:r>
                        <a:rPr lang="en-US" sz="1799">
                          <a:solidFill>
                            <a:srgbClr val="1B027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穩定處理大量交</a:t>
                      </a:r>
                      <a:r>
                        <a:rPr lang="en-US" sz="1799">
                          <a:solidFill>
                            <a:srgbClr val="1B027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易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</a:tr>
              <a:tr h="149807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1B027E"/>
                          </a:solidFill>
                          <a:latin typeface="Tomorrow Bold"/>
                          <a:ea typeface="Tomorrow Bold"/>
                          <a:cs typeface="Tomorrow Bold"/>
                          <a:sym typeface="Tomorrow Bold"/>
                        </a:rPr>
                        <a:t>核心服務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C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1B027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API、SDK</a:t>
                      </a:r>
                      <a:endParaRPr lang="en-US" sz="1100"/>
                    </a:p>
                    <a:p>
                      <a:pPr algn="ctr">
                        <a:lnSpc>
                          <a:spcPts val="2519"/>
                        </a:lnSpc>
                      </a:pPr>
                      <a:r>
                        <a:rPr lang="en-US" sz="1799">
                          <a:solidFill>
                            <a:srgbClr val="1B027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行情／帳務／下單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B027E"/>
                          </a:solidFill>
                          <a:latin typeface="Tomorrow"/>
                          <a:ea typeface="Tomorrow"/>
                          <a:cs typeface="Tomorrow"/>
                          <a:sym typeface="Tomorrow"/>
                        </a:rPr>
                        <a:t>Co-location</a:t>
                      </a:r>
                      <a:endParaRPr lang="en-US" sz="1100"/>
                    </a:p>
                    <a:p>
                      <a:pPr algn="ctr">
                        <a:lnSpc>
                          <a:spcPts val="2520"/>
                        </a:lnSpc>
                      </a:pPr>
                      <a:r>
                        <a:rPr lang="en-US" sz="1800">
                          <a:solidFill>
                            <a:srgbClr val="1B027E"/>
                          </a:solidFill>
                          <a:latin typeface="Tomorrow"/>
                          <a:ea typeface="Tomorrow"/>
                          <a:cs typeface="Tomorrow"/>
                          <a:sym typeface="Tomorrow"/>
                        </a:rPr>
                        <a:t>Cross-connect、低延遲行情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1B027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FIX、DMA, </a:t>
                      </a:r>
                      <a:r>
                        <a:rPr lang="en-US" sz="1799">
                          <a:solidFill>
                            <a:srgbClr val="1B027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Broker Algo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</a:tr>
              <a:tr h="149807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1B027E"/>
                          </a:solidFill>
                          <a:latin typeface="Tomorrow Bold"/>
                          <a:ea typeface="Tomorrow Bold"/>
                          <a:cs typeface="Tomorrow Bold"/>
                          <a:sym typeface="Tomorrow Bold"/>
                        </a:rPr>
                        <a:t>競爭核心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C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B027E"/>
                          </a:solidFill>
                          <a:latin typeface="Tomorrow"/>
                          <a:ea typeface="Tomorrow"/>
                          <a:cs typeface="Tomorrow"/>
                          <a:sym typeface="Tomorrow"/>
                        </a:rPr>
                        <a:t>易用性</a:t>
                      </a:r>
                      <a:endParaRPr lang="en-US" sz="1100"/>
                    </a:p>
                    <a:p>
                      <a:pPr algn="ctr">
                        <a:lnSpc>
                          <a:spcPts val="2520"/>
                        </a:lnSpc>
                      </a:pPr>
                      <a:r>
                        <a:rPr lang="en-US" sz="1800">
                          <a:solidFill>
                            <a:srgbClr val="1B027E"/>
                          </a:solidFill>
                          <a:latin typeface="Tomorrow"/>
                          <a:ea typeface="Tomorrow"/>
                          <a:cs typeface="Tomorrow"/>
                          <a:sym typeface="Tomorrow"/>
                        </a:rPr>
                        <a:t>功能完整度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B027E"/>
                          </a:solidFill>
                          <a:latin typeface="Tomorrow"/>
                          <a:ea typeface="Tomorrow"/>
                          <a:cs typeface="Tomorrow"/>
                          <a:sym typeface="Tomorrow"/>
                        </a:rPr>
                        <a:t>Latency</a:t>
                      </a:r>
                      <a:endParaRPr lang="en-US" sz="1100"/>
                    </a:p>
                    <a:p>
                      <a:pPr algn="ctr">
                        <a:lnSpc>
                          <a:spcPts val="2520"/>
                        </a:lnSpc>
                      </a:pPr>
                      <a:r>
                        <a:rPr lang="en-US" sz="1800">
                          <a:solidFill>
                            <a:srgbClr val="1B027E"/>
                          </a:solidFill>
                          <a:latin typeface="Tomorrow"/>
                          <a:ea typeface="Tomorrow"/>
                          <a:cs typeface="Tomorrow"/>
                          <a:sym typeface="Tomorrow"/>
                        </a:rPr>
                        <a:t>網路與交易基礎設施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B027E"/>
                          </a:solidFill>
                          <a:latin typeface="Tomorrow"/>
                          <a:ea typeface="Tomorrow"/>
                          <a:cs typeface="Tomorrow"/>
                          <a:sym typeface="Tomorrow"/>
                        </a:rPr>
                        <a:t>Execution Quality</a:t>
                      </a:r>
                      <a:endParaRPr lang="en-US" sz="1100"/>
                    </a:p>
                    <a:p>
                      <a:pPr algn="ctr">
                        <a:lnSpc>
                          <a:spcPts val="2520"/>
                        </a:lnSpc>
                      </a:pPr>
                      <a:r>
                        <a:rPr lang="en-US" sz="1800">
                          <a:solidFill>
                            <a:srgbClr val="1B027E"/>
                          </a:solidFill>
                          <a:latin typeface="Tomorrow"/>
                          <a:ea typeface="Tomorrow"/>
                          <a:cs typeface="Tomorrow"/>
                          <a:sym typeface="Tomorrow"/>
                        </a:rPr>
                        <a:t>穩定性、風控與服務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-1573517" y="260753"/>
            <a:ext cx="9502284" cy="774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29"/>
              </a:lnSpc>
              <a:spcBef>
                <a:spcPct val="0"/>
              </a:spcBef>
            </a:pPr>
            <a:r>
              <a:rPr lang="en-US" sz="5499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三類市場需求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881113" y="733563"/>
            <a:ext cx="14719524" cy="8819874"/>
            <a:chOff x="0" y="0"/>
            <a:chExt cx="3876747" cy="232293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876747" cy="2322930"/>
            </a:xfrm>
            <a:custGeom>
              <a:avLst/>
              <a:gdLst/>
              <a:ahLst/>
              <a:cxnLst/>
              <a:rect r="r" b="b" t="t" l="l"/>
              <a:pathLst>
                <a:path h="2322930" w="3876747">
                  <a:moveTo>
                    <a:pt x="0" y="0"/>
                  </a:moveTo>
                  <a:lnTo>
                    <a:pt x="3876747" y="0"/>
                  </a:lnTo>
                  <a:lnTo>
                    <a:pt x="3876747" y="2322930"/>
                  </a:lnTo>
                  <a:lnTo>
                    <a:pt x="0" y="2322930"/>
                  </a:lnTo>
                  <a:close/>
                </a:path>
              </a:pathLst>
            </a:custGeom>
            <a:gradFill rotWithShape="true">
              <a:gsLst>
                <a:gs pos="0">
                  <a:srgbClr val="515269">
                    <a:alpha val="100000"/>
                  </a:srgbClr>
                </a:gs>
                <a:gs pos="100000">
                  <a:srgbClr val="00012E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3876747" cy="2294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81113" y="733563"/>
            <a:ext cx="14719524" cy="1028129"/>
            <a:chOff x="0" y="0"/>
            <a:chExt cx="3876747" cy="27078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76747" cy="270783"/>
            </a:xfrm>
            <a:custGeom>
              <a:avLst/>
              <a:gdLst/>
              <a:ahLst/>
              <a:cxnLst/>
              <a:rect r="r" b="b" t="t" l="l"/>
              <a:pathLst>
                <a:path h="270783" w="3876747">
                  <a:moveTo>
                    <a:pt x="0" y="0"/>
                  </a:moveTo>
                  <a:lnTo>
                    <a:pt x="3876747" y="0"/>
                  </a:lnTo>
                  <a:lnTo>
                    <a:pt x="3876747" y="270783"/>
                  </a:lnTo>
                  <a:lnTo>
                    <a:pt x="0" y="270783"/>
                  </a:lnTo>
                  <a:close/>
                </a:path>
              </a:pathLst>
            </a:custGeom>
            <a:gradFill rotWithShape="true">
              <a:gsLst>
                <a:gs pos="0">
                  <a:srgbClr val="00012E">
                    <a:alpha val="74000"/>
                  </a:srgbClr>
                </a:gs>
                <a:gs pos="100000">
                  <a:srgbClr val="150082">
                    <a:alpha val="74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3876747" cy="2422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81113" y="733563"/>
            <a:ext cx="1438140" cy="1028129"/>
            <a:chOff x="0" y="0"/>
            <a:chExt cx="378769" cy="27078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78769" cy="270783"/>
            </a:xfrm>
            <a:custGeom>
              <a:avLst/>
              <a:gdLst/>
              <a:ahLst/>
              <a:cxnLst/>
              <a:rect r="r" b="b" t="t" l="l"/>
              <a:pathLst>
                <a:path h="270783" w="378769">
                  <a:moveTo>
                    <a:pt x="0" y="0"/>
                  </a:moveTo>
                  <a:lnTo>
                    <a:pt x="378769" y="0"/>
                  </a:lnTo>
                  <a:lnTo>
                    <a:pt x="378769" y="270783"/>
                  </a:lnTo>
                  <a:lnTo>
                    <a:pt x="0" y="270783"/>
                  </a:lnTo>
                  <a:close/>
                </a:path>
              </a:pathLst>
            </a:custGeom>
            <a:gradFill rotWithShape="true">
              <a:gsLst>
                <a:gs pos="0">
                  <a:srgbClr val="00012E">
                    <a:alpha val="100000"/>
                  </a:srgbClr>
                </a:gs>
                <a:gs pos="100000">
                  <a:srgbClr val="15008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28575"/>
              <a:ext cx="378769" cy="2422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true" flipV="false" rot="0">
            <a:off x="2388763" y="1103477"/>
            <a:ext cx="422840" cy="288300"/>
          </a:xfrm>
          <a:custGeom>
            <a:avLst/>
            <a:gdLst/>
            <a:ahLst/>
            <a:cxnLst/>
            <a:rect r="r" b="b" t="t" l="l"/>
            <a:pathLst>
              <a:path h="288300" w="422840">
                <a:moveTo>
                  <a:pt x="422840" y="0"/>
                </a:moveTo>
                <a:lnTo>
                  <a:pt x="0" y="0"/>
                </a:lnTo>
                <a:lnTo>
                  <a:pt x="0" y="288300"/>
                </a:lnTo>
                <a:lnTo>
                  <a:pt x="422840" y="288300"/>
                </a:lnTo>
                <a:lnTo>
                  <a:pt x="42284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101100" y="2414749"/>
            <a:ext cx="1976873" cy="1362005"/>
          </a:xfrm>
          <a:custGeom>
            <a:avLst/>
            <a:gdLst/>
            <a:ahLst/>
            <a:cxnLst/>
            <a:rect r="r" b="b" t="t" l="l"/>
            <a:pathLst>
              <a:path h="1362005" w="1976873">
                <a:moveTo>
                  <a:pt x="0" y="0"/>
                </a:moveTo>
                <a:lnTo>
                  <a:pt x="1976873" y="0"/>
                </a:lnTo>
                <a:lnTo>
                  <a:pt x="1976873" y="1362005"/>
                </a:lnTo>
                <a:lnTo>
                  <a:pt x="0" y="13620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263917" y="4043538"/>
            <a:ext cx="12079506" cy="1452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41"/>
              </a:lnSpc>
              <a:spcBef>
                <a:spcPct val="0"/>
              </a:spcBef>
            </a:pPr>
            <a:r>
              <a:rPr lang="en-US" sz="10416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海外程式交易市場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138326" y="5507232"/>
            <a:ext cx="11902421" cy="1452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41"/>
              </a:lnSpc>
              <a:spcBef>
                <a:spcPct val="0"/>
              </a:spcBef>
            </a:pPr>
            <a:r>
              <a:rPr lang="en-US" sz="10416">
                <a:solidFill>
                  <a:srgbClr val="00BBDE"/>
                </a:solidFill>
                <a:latin typeface="HK Modular"/>
                <a:ea typeface="HK Modular"/>
                <a:cs typeface="HK Modular"/>
                <a:sym typeface="HK Modular"/>
              </a:rPr>
              <a:t>與交易環境演進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71525" y="414338"/>
            <a:ext cx="71438" cy="1028700"/>
            <a:chOff x="0" y="0"/>
            <a:chExt cx="95250" cy="1371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5250" cy="1371600"/>
            </a:xfrm>
            <a:custGeom>
              <a:avLst/>
              <a:gdLst/>
              <a:ahLst/>
              <a:cxnLst/>
              <a:rect r="r" b="b" t="t" l="l"/>
              <a:pathLst>
                <a:path h="1371600" w="95250">
                  <a:moveTo>
                    <a:pt x="0" y="0"/>
                  </a:moveTo>
                  <a:lnTo>
                    <a:pt x="95250" y="0"/>
                  </a:lnTo>
                  <a:lnTo>
                    <a:pt x="9525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F2C94C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120140" y="383857"/>
            <a:ext cx="3192214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sz="38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UNITED STATES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20140" y="1136332"/>
            <a:ext cx="1275234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4" b="true">
                <a:solidFill>
                  <a:srgbClr val="9A73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STARTING POINT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806065" y="1064895"/>
            <a:ext cx="141046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1"/>
              </a:lnSpc>
            </a:pPr>
            <a:r>
              <a:rPr lang="en-US" sz="2009" i="true">
                <a:solidFill>
                  <a:srgbClr val="DCE3EE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電子化與多交易場所競爭，使「如何在分散市場中找到並執行最佳價格」成為新的 execution 問題。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71525" y="1728788"/>
            <a:ext cx="16744950" cy="14288"/>
            <a:chOff x="0" y="0"/>
            <a:chExt cx="22326600" cy="190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326600" cy="19050"/>
            </a:xfrm>
            <a:custGeom>
              <a:avLst/>
              <a:gdLst/>
              <a:ahLst/>
              <a:cxnLst/>
              <a:rect r="r" b="b" t="t" l="l"/>
              <a:pathLst>
                <a:path h="19050" w="22326600">
                  <a:moveTo>
                    <a:pt x="0" y="0"/>
                  </a:moveTo>
                  <a:lnTo>
                    <a:pt x="22326600" y="0"/>
                  </a:lnTo>
                  <a:lnTo>
                    <a:pt x="22326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8DCE2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62965" y="1879283"/>
            <a:ext cx="178921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6"/>
              </a:lnSpc>
            </a:pPr>
            <a:r>
              <a:rPr lang="en-US" sz="1447" b="true">
                <a:solidFill>
                  <a:srgbClr val="AEB8C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DEVELOPMENT STAGES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168554" y="2341245"/>
            <a:ext cx="293043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9"/>
              </a:lnSpc>
            </a:pPr>
            <a:r>
              <a:rPr lang="en-US" sz="2549" b="true">
                <a:solidFill>
                  <a:srgbClr val="AEB8C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→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997854" y="2341245"/>
            <a:ext cx="293043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9"/>
              </a:lnSpc>
            </a:pPr>
            <a:r>
              <a:rPr lang="en-US" sz="2549" b="true">
                <a:solidFill>
                  <a:srgbClr val="AEB8C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→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257925" y="2257425"/>
            <a:ext cx="14288" cy="5557838"/>
            <a:chOff x="0" y="0"/>
            <a:chExt cx="19050" cy="74104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050" cy="7410450"/>
            </a:xfrm>
            <a:custGeom>
              <a:avLst/>
              <a:gdLst/>
              <a:ahLst/>
              <a:cxnLst/>
              <a:rect r="r" b="b" t="t" l="l"/>
              <a:pathLst>
                <a:path h="7410450" w="19050">
                  <a:moveTo>
                    <a:pt x="0" y="0"/>
                  </a:moveTo>
                  <a:lnTo>
                    <a:pt x="19050" y="0"/>
                  </a:lnTo>
                  <a:lnTo>
                    <a:pt x="19050" y="7410450"/>
                  </a:lnTo>
                  <a:lnTo>
                    <a:pt x="0" y="7410450"/>
                  </a:lnTo>
                  <a:close/>
                </a:path>
              </a:pathLst>
            </a:custGeom>
            <a:solidFill>
              <a:srgbClr val="D8DCE2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2087225" y="2257425"/>
            <a:ext cx="14288" cy="5557838"/>
            <a:chOff x="0" y="0"/>
            <a:chExt cx="19050" cy="74104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050" cy="7410450"/>
            </a:xfrm>
            <a:custGeom>
              <a:avLst/>
              <a:gdLst/>
              <a:ahLst/>
              <a:cxnLst/>
              <a:rect r="r" b="b" t="t" l="l"/>
              <a:pathLst>
                <a:path h="7410450" w="19050">
                  <a:moveTo>
                    <a:pt x="0" y="0"/>
                  </a:moveTo>
                  <a:lnTo>
                    <a:pt x="19050" y="0"/>
                  </a:lnTo>
                  <a:lnTo>
                    <a:pt x="19050" y="7410450"/>
                  </a:lnTo>
                  <a:lnTo>
                    <a:pt x="0" y="7410450"/>
                  </a:lnTo>
                  <a:close/>
                </a:path>
              </a:pathLst>
            </a:custGeom>
            <a:solidFill>
              <a:srgbClr val="D8DCE2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862965" y="2203133"/>
            <a:ext cx="415156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9"/>
              </a:lnSpc>
            </a:pPr>
            <a:r>
              <a:rPr lang="en-US" sz="3224" b="true">
                <a:solidFill>
                  <a:srgbClr val="F2C94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20215" y="2250758"/>
            <a:ext cx="40462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8"/>
              </a:lnSpc>
            </a:pPr>
            <a:r>
              <a:rPr lang="en-US" sz="203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ELECTRONIC MARKET FORMATION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771525" y="2886075"/>
            <a:ext cx="5086350" cy="14288"/>
            <a:chOff x="0" y="0"/>
            <a:chExt cx="6781800" cy="1905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781800" cy="19050"/>
            </a:xfrm>
            <a:custGeom>
              <a:avLst/>
              <a:gdLst/>
              <a:ahLst/>
              <a:cxnLst/>
              <a:rect r="r" b="b" t="t" l="l"/>
              <a:pathLst>
                <a:path h="19050" w="6781800">
                  <a:moveTo>
                    <a:pt x="0" y="0"/>
                  </a:moveTo>
                  <a:lnTo>
                    <a:pt x="6781800" y="0"/>
                  </a:lnTo>
                  <a:lnTo>
                    <a:pt x="67818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8DCE2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771525" y="2857500"/>
            <a:ext cx="628650" cy="57150"/>
            <a:chOff x="0" y="0"/>
            <a:chExt cx="838200" cy="762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38200" cy="76200"/>
            </a:xfrm>
            <a:custGeom>
              <a:avLst/>
              <a:gdLst/>
              <a:ahLst/>
              <a:cxnLst/>
              <a:rect r="r" b="b" t="t" l="l"/>
              <a:pathLst>
                <a:path h="762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F2C94C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862965" y="3088958"/>
            <a:ext cx="1904851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8"/>
              </a:lnSpc>
            </a:pPr>
            <a:r>
              <a:rPr lang="en-US" sz="1357" b="true">
                <a:solidFill>
                  <a:srgbClr val="AEB8C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MARKET PROBLEM / NEED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62965" y="3308033"/>
            <a:ext cx="4846320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7"/>
              </a:lnSpc>
            </a:pPr>
            <a:r>
              <a:rPr lang="en-US" sz="1739">
                <a:solidFill>
                  <a:srgbClr val="E8EDF5"/>
                </a:solidFill>
                <a:latin typeface="Calibri (MS)"/>
                <a:ea typeface="Calibri (MS)"/>
                <a:cs typeface="Calibri (MS)"/>
                <a:sym typeface="Calibri (MS)"/>
              </a:rPr>
              <a:t>市場仍以人工與集中式交易為主，但電子化場所與報價競爭快速增加。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62965" y="4050983"/>
            <a:ext cx="84906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4"/>
              </a:lnSpc>
            </a:pPr>
            <a:r>
              <a:rPr lang="en-US" sz="1537" b="true">
                <a:solidFill>
                  <a:srgbClr val="AEB8C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RESPONSE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771525" y="4329112"/>
            <a:ext cx="42862" cy="842962"/>
            <a:chOff x="0" y="0"/>
            <a:chExt cx="57150" cy="11239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7150" cy="1123950"/>
            </a:xfrm>
            <a:custGeom>
              <a:avLst/>
              <a:gdLst/>
              <a:ahLst/>
              <a:cxnLst/>
              <a:rect r="r" b="b" t="t" l="l"/>
              <a:pathLst>
                <a:path h="1123950" w="57150">
                  <a:moveTo>
                    <a:pt x="0" y="0"/>
                  </a:moveTo>
                  <a:lnTo>
                    <a:pt x="57150" y="0"/>
                  </a:lnTo>
                  <a:lnTo>
                    <a:pt x="57150" y="1123950"/>
                  </a:lnTo>
                  <a:lnTo>
                    <a:pt x="0" y="1123950"/>
                  </a:lnTo>
                  <a:close/>
                </a:path>
              </a:pathLst>
            </a:custGeom>
            <a:solidFill>
              <a:srgbClr val="6E5AA8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020127" y="4331970"/>
            <a:ext cx="670768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3"/>
              </a:lnSpc>
            </a:pPr>
            <a:r>
              <a:rPr lang="en-US" sz="1469" b="true">
                <a:solidFill>
                  <a:srgbClr val="C9BE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[POLICY]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20127" y="4536758"/>
            <a:ext cx="2667595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7"/>
              </a:lnSpc>
            </a:pPr>
            <a:r>
              <a:rPr lang="en-US" sz="177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1997｜Order Handling Rules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20127" y="4874895"/>
            <a:ext cx="474630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3"/>
              </a:lnSpc>
            </a:pPr>
            <a:r>
              <a:rPr lang="en-US" sz="1594">
                <a:solidFill>
                  <a:srgbClr val="DCE3EE"/>
                </a:solidFill>
                <a:latin typeface="Calibri (MS)"/>
                <a:ea typeface="Calibri (MS)"/>
                <a:cs typeface="Calibri (MS)"/>
                <a:sym typeface="Calibri (MS)"/>
              </a:rPr>
              <a:t>報價透明與 ECN 接入擴大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771525" y="5214938"/>
            <a:ext cx="42862" cy="842962"/>
            <a:chOff x="0" y="0"/>
            <a:chExt cx="57150" cy="112395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7150" cy="1123950"/>
            </a:xfrm>
            <a:custGeom>
              <a:avLst/>
              <a:gdLst/>
              <a:ahLst/>
              <a:cxnLst/>
              <a:rect r="r" b="b" t="t" l="l"/>
              <a:pathLst>
                <a:path h="1123950" w="57150">
                  <a:moveTo>
                    <a:pt x="0" y="0"/>
                  </a:moveTo>
                  <a:lnTo>
                    <a:pt x="57150" y="0"/>
                  </a:lnTo>
                  <a:lnTo>
                    <a:pt x="57150" y="1123950"/>
                  </a:lnTo>
                  <a:lnTo>
                    <a:pt x="0" y="1123950"/>
                  </a:lnTo>
                  <a:close/>
                </a:path>
              </a:pathLst>
            </a:custGeom>
            <a:solidFill>
              <a:srgbClr val="6E5AA8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020127" y="5217795"/>
            <a:ext cx="670768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3"/>
              </a:lnSpc>
            </a:pPr>
            <a:r>
              <a:rPr lang="en-US" sz="1469" b="true">
                <a:solidFill>
                  <a:srgbClr val="C9BE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[POLICY]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20127" y="5422582"/>
            <a:ext cx="1432917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7"/>
              </a:lnSpc>
            </a:pPr>
            <a:r>
              <a:rPr lang="en-US" sz="177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1998｜Reg ATS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20127" y="5760720"/>
            <a:ext cx="474630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3"/>
              </a:lnSpc>
            </a:pPr>
            <a:r>
              <a:rPr lang="en-US" sz="1594">
                <a:solidFill>
                  <a:srgbClr val="DCE3EE"/>
                </a:solidFill>
                <a:latin typeface="Calibri (MS)"/>
                <a:ea typeface="Calibri (MS)"/>
                <a:cs typeface="Calibri (MS)"/>
                <a:sym typeface="Calibri (MS)"/>
              </a:rPr>
              <a:t>多交易場所競爭制度化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771525" y="6100762"/>
            <a:ext cx="42862" cy="842962"/>
            <a:chOff x="0" y="0"/>
            <a:chExt cx="57150" cy="112395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7150" cy="1123950"/>
            </a:xfrm>
            <a:custGeom>
              <a:avLst/>
              <a:gdLst/>
              <a:ahLst/>
              <a:cxnLst/>
              <a:rect r="r" b="b" t="t" l="l"/>
              <a:pathLst>
                <a:path h="1123950" w="57150">
                  <a:moveTo>
                    <a:pt x="0" y="0"/>
                  </a:moveTo>
                  <a:lnTo>
                    <a:pt x="57150" y="0"/>
                  </a:lnTo>
                  <a:lnTo>
                    <a:pt x="57150" y="1123950"/>
                  </a:lnTo>
                  <a:lnTo>
                    <a:pt x="0" y="1123950"/>
                  </a:lnTo>
                  <a:close/>
                </a:path>
              </a:pathLst>
            </a:custGeom>
            <a:solidFill>
              <a:srgbClr val="2F6B9A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020127" y="6103620"/>
            <a:ext cx="78745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3"/>
              </a:lnSpc>
            </a:pPr>
            <a:r>
              <a:rPr lang="en-US" sz="1469" b="true">
                <a:solidFill>
                  <a:srgbClr val="7DD3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[MARKET]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20127" y="6308408"/>
            <a:ext cx="2066032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7"/>
              </a:lnSpc>
            </a:pPr>
            <a:r>
              <a:rPr lang="en-US" sz="177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2001｜Decimalization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20127" y="6646545"/>
            <a:ext cx="474630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3"/>
              </a:lnSpc>
            </a:pPr>
            <a:r>
              <a:rPr lang="en-US" sz="1594">
                <a:solidFill>
                  <a:srgbClr val="DCE3EE"/>
                </a:solidFill>
                <a:latin typeface="Calibri (MS)"/>
                <a:ea typeface="Calibri (MS)"/>
                <a:cs typeface="Calibri (MS)"/>
                <a:sym typeface="Calibri (MS)"/>
              </a:rPr>
              <a:t>價差收斂，電子撮合更具吸引力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764381" y="6993731"/>
            <a:ext cx="5100638" cy="957262"/>
            <a:chOff x="0" y="0"/>
            <a:chExt cx="6800850" cy="127635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800850" cy="1276350"/>
            </a:xfrm>
            <a:custGeom>
              <a:avLst/>
              <a:gdLst/>
              <a:ahLst/>
              <a:cxnLst/>
              <a:rect r="r" b="b" t="t" l="l"/>
              <a:pathLst>
                <a:path h="1276350" w="6800850">
                  <a:moveTo>
                    <a:pt x="0" y="0"/>
                  </a:moveTo>
                  <a:lnTo>
                    <a:pt x="6800850" y="0"/>
                  </a:lnTo>
                  <a:lnTo>
                    <a:pt x="6800850" y="1276350"/>
                  </a:lnTo>
                  <a:lnTo>
                    <a:pt x="0" y="1276350"/>
                  </a:lnTo>
                  <a:close/>
                </a:path>
              </a:pathLst>
            </a:custGeom>
            <a:solidFill>
              <a:srgbClr val="FFF7D6"/>
            </a:solidFill>
            <a:ln w="14288" cap="sq">
              <a:solidFill>
                <a:srgbClr val="F2C94C"/>
              </a:solidFill>
              <a:prstDash val="solid"/>
              <a:miter/>
            </a:ln>
          </p:spPr>
        </p:sp>
      </p:grpSp>
      <p:sp>
        <p:nvSpPr>
          <p:cNvPr name="TextBox 43" id="43"/>
          <p:cNvSpPr txBox="true"/>
          <p:nvPr/>
        </p:nvSpPr>
        <p:spPr>
          <a:xfrm rot="0">
            <a:off x="1034415" y="7108508"/>
            <a:ext cx="881509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16"/>
              </a:lnSpc>
              <a:spcBef>
                <a:spcPct val="0"/>
              </a:spcBef>
            </a:pPr>
            <a:r>
              <a:rPr lang="en-US" b="true" sz="1346" strike="noStrike" u="none">
                <a:solidFill>
                  <a:srgbClr val="7A5C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TRANSITION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34415" y="7346632"/>
            <a:ext cx="456057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52"/>
              </a:lnSpc>
              <a:spcBef>
                <a:spcPct val="0"/>
              </a:spcBef>
            </a:pPr>
            <a:r>
              <a:rPr lang="en-US" b="true" sz="1627" strike="noStrike" u="none">
                <a:solidFill>
                  <a:srgbClr val="20242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Electronic venues → Fragmentation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6692265" y="2203133"/>
            <a:ext cx="415156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9"/>
              </a:lnSpc>
            </a:pPr>
            <a:r>
              <a:rPr lang="en-US" sz="3224" b="true">
                <a:solidFill>
                  <a:srgbClr val="F2C94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7549515" y="2241233"/>
            <a:ext cx="404622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9"/>
              </a:lnSpc>
            </a:pPr>
            <a:r>
              <a:rPr lang="en-US" sz="2324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AUTOMATED EXECUTION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6600825" y="2886075"/>
            <a:ext cx="5086350" cy="14288"/>
            <a:chOff x="0" y="0"/>
            <a:chExt cx="6781800" cy="1905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781800" cy="19050"/>
            </a:xfrm>
            <a:custGeom>
              <a:avLst/>
              <a:gdLst/>
              <a:ahLst/>
              <a:cxnLst/>
              <a:rect r="r" b="b" t="t" l="l"/>
              <a:pathLst>
                <a:path h="19050" w="6781800">
                  <a:moveTo>
                    <a:pt x="0" y="0"/>
                  </a:moveTo>
                  <a:lnTo>
                    <a:pt x="6781800" y="0"/>
                  </a:lnTo>
                  <a:lnTo>
                    <a:pt x="67818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8DCE2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6600825" y="2857500"/>
            <a:ext cx="628650" cy="57150"/>
            <a:chOff x="0" y="0"/>
            <a:chExt cx="838200" cy="762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38200" cy="76200"/>
            </a:xfrm>
            <a:custGeom>
              <a:avLst/>
              <a:gdLst/>
              <a:ahLst/>
              <a:cxnLst/>
              <a:rect r="r" b="b" t="t" l="l"/>
              <a:pathLst>
                <a:path h="762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F2C94C"/>
            </a:solidFill>
          </p:spPr>
        </p:sp>
      </p:grpSp>
      <p:sp>
        <p:nvSpPr>
          <p:cNvPr name="TextBox 51" id="51"/>
          <p:cNvSpPr txBox="true"/>
          <p:nvPr/>
        </p:nvSpPr>
        <p:spPr>
          <a:xfrm rot="0">
            <a:off x="6692265" y="3088958"/>
            <a:ext cx="1904851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8"/>
              </a:lnSpc>
            </a:pPr>
            <a:r>
              <a:rPr lang="en-US" sz="1357" b="true">
                <a:solidFill>
                  <a:srgbClr val="AEB8C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MARKET PROBLEM / NEED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6692265" y="3308033"/>
            <a:ext cx="4846320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7"/>
              </a:lnSpc>
            </a:pPr>
            <a:r>
              <a:rPr lang="en-US" sz="1739">
                <a:solidFill>
                  <a:srgbClr val="E8EDF5"/>
                </a:solidFill>
                <a:latin typeface="Calibri (MS)"/>
                <a:ea typeface="Calibri (MS)"/>
                <a:cs typeface="Calibri (MS)"/>
                <a:sym typeface="Calibri (MS)"/>
              </a:rPr>
              <a:t>流動性分散後，人工尋價與跨市場執行的效率快速下降。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6692265" y="4050983"/>
            <a:ext cx="84906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4"/>
              </a:lnSpc>
            </a:pPr>
            <a:r>
              <a:rPr lang="en-US" sz="1537" b="true">
                <a:solidFill>
                  <a:srgbClr val="AEB8C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RESPONSE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6600825" y="4329112"/>
            <a:ext cx="42862" cy="842962"/>
            <a:chOff x="0" y="0"/>
            <a:chExt cx="57150" cy="112395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7150" cy="1123950"/>
            </a:xfrm>
            <a:custGeom>
              <a:avLst/>
              <a:gdLst/>
              <a:ahLst/>
              <a:cxnLst/>
              <a:rect r="r" b="b" t="t" l="l"/>
              <a:pathLst>
                <a:path h="1123950" w="57150">
                  <a:moveTo>
                    <a:pt x="0" y="0"/>
                  </a:moveTo>
                  <a:lnTo>
                    <a:pt x="57150" y="0"/>
                  </a:lnTo>
                  <a:lnTo>
                    <a:pt x="57150" y="1123950"/>
                  </a:lnTo>
                  <a:lnTo>
                    <a:pt x="0" y="1123950"/>
                  </a:lnTo>
                  <a:close/>
                </a:path>
              </a:pathLst>
            </a:custGeom>
            <a:solidFill>
              <a:srgbClr val="6E5AA8"/>
            </a:solidFill>
          </p:spPr>
        </p:sp>
      </p:grpSp>
      <p:sp>
        <p:nvSpPr>
          <p:cNvPr name="TextBox 56" id="56"/>
          <p:cNvSpPr txBox="true"/>
          <p:nvPr/>
        </p:nvSpPr>
        <p:spPr>
          <a:xfrm rot="0">
            <a:off x="6849428" y="4331970"/>
            <a:ext cx="670768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3"/>
              </a:lnSpc>
            </a:pPr>
            <a:r>
              <a:rPr lang="en-US" sz="1469" b="true">
                <a:solidFill>
                  <a:srgbClr val="C9BE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[POLICY]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6849428" y="4536758"/>
            <a:ext cx="1530102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7"/>
              </a:lnSpc>
            </a:pPr>
            <a:r>
              <a:rPr lang="en-US" sz="177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2005｜Reg NMS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6849428" y="4874895"/>
            <a:ext cx="474630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3"/>
              </a:lnSpc>
            </a:pPr>
            <a:r>
              <a:rPr lang="en-US" sz="1594">
                <a:solidFill>
                  <a:srgbClr val="DCE3EE"/>
                </a:solidFill>
                <a:latin typeface="Calibri (MS)"/>
                <a:ea typeface="Calibri (MS)"/>
                <a:cs typeface="Calibri (MS)"/>
                <a:sym typeface="Calibri (MS)"/>
              </a:rPr>
              <a:t>跨市場報價保護與市場連結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6600825" y="5214938"/>
            <a:ext cx="42862" cy="842962"/>
            <a:chOff x="0" y="0"/>
            <a:chExt cx="57150" cy="112395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7150" cy="1123950"/>
            </a:xfrm>
            <a:custGeom>
              <a:avLst/>
              <a:gdLst/>
              <a:ahLst/>
              <a:cxnLst/>
              <a:rect r="r" b="b" t="t" l="l"/>
              <a:pathLst>
                <a:path h="1123950" w="57150">
                  <a:moveTo>
                    <a:pt x="0" y="0"/>
                  </a:moveTo>
                  <a:lnTo>
                    <a:pt x="57150" y="0"/>
                  </a:lnTo>
                  <a:lnTo>
                    <a:pt x="57150" y="1123950"/>
                  </a:lnTo>
                  <a:lnTo>
                    <a:pt x="0" y="1123950"/>
                  </a:lnTo>
                  <a:close/>
                </a:path>
              </a:pathLst>
            </a:custGeom>
            <a:solidFill>
              <a:srgbClr val="B7791F"/>
            </a:solidFill>
          </p:spPr>
        </p:sp>
      </p:grpSp>
      <p:sp>
        <p:nvSpPr>
          <p:cNvPr name="TextBox 61" id="61"/>
          <p:cNvSpPr txBox="true"/>
          <p:nvPr/>
        </p:nvSpPr>
        <p:spPr>
          <a:xfrm rot="0">
            <a:off x="6849428" y="5217795"/>
            <a:ext cx="112901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3"/>
              </a:lnSpc>
            </a:pPr>
            <a:r>
              <a:rPr lang="en-US" sz="1469" b="true">
                <a:solidFill>
                  <a:srgbClr val="FFD38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[INSTITUTION]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6849428" y="5422582"/>
            <a:ext cx="2257574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7"/>
              </a:lnSpc>
            </a:pPr>
            <a:r>
              <a:rPr lang="en-US" sz="177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Broker Algo / FIX / DMA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6849428" y="5760720"/>
            <a:ext cx="474630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3"/>
              </a:lnSpc>
            </a:pPr>
            <a:r>
              <a:rPr lang="en-US" sz="1594">
                <a:solidFill>
                  <a:srgbClr val="DCE3EE"/>
                </a:solidFill>
                <a:latin typeface="Calibri (MS)"/>
                <a:ea typeface="Calibri (MS)"/>
                <a:cs typeface="Calibri (MS)"/>
                <a:sym typeface="Calibri (MS)"/>
              </a:rPr>
              <a:t>自動拆單與電子接入成為執行服務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6600825" y="6100762"/>
            <a:ext cx="42862" cy="842962"/>
            <a:chOff x="0" y="0"/>
            <a:chExt cx="57150" cy="112395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57150" cy="1123950"/>
            </a:xfrm>
            <a:custGeom>
              <a:avLst/>
              <a:gdLst/>
              <a:ahLst/>
              <a:cxnLst/>
              <a:rect r="r" b="b" t="t" l="l"/>
              <a:pathLst>
                <a:path h="1123950" w="57150">
                  <a:moveTo>
                    <a:pt x="0" y="0"/>
                  </a:moveTo>
                  <a:lnTo>
                    <a:pt x="57150" y="0"/>
                  </a:lnTo>
                  <a:lnTo>
                    <a:pt x="57150" y="1123950"/>
                  </a:lnTo>
                  <a:lnTo>
                    <a:pt x="0" y="1123950"/>
                  </a:lnTo>
                  <a:close/>
                </a:path>
              </a:pathLst>
            </a:custGeom>
            <a:solidFill>
              <a:srgbClr val="B7791F"/>
            </a:solidFill>
          </p:spPr>
        </p:sp>
      </p:grpSp>
      <p:sp>
        <p:nvSpPr>
          <p:cNvPr name="TextBox 66" id="66"/>
          <p:cNvSpPr txBox="true"/>
          <p:nvPr/>
        </p:nvSpPr>
        <p:spPr>
          <a:xfrm rot="0">
            <a:off x="6849428" y="6103620"/>
            <a:ext cx="112901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3"/>
              </a:lnSpc>
            </a:pPr>
            <a:r>
              <a:rPr lang="en-US" sz="1469" b="true">
                <a:solidFill>
                  <a:srgbClr val="FFD38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[INSTITUTION]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6849428" y="6308408"/>
            <a:ext cx="1846213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7"/>
              </a:lnSpc>
            </a:pPr>
            <a:r>
              <a:rPr lang="en-US" sz="177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Smart Order Router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6849428" y="6646545"/>
            <a:ext cx="474630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3"/>
              </a:lnSpc>
            </a:pPr>
            <a:r>
              <a:rPr lang="en-US" sz="1594">
                <a:solidFill>
                  <a:srgbClr val="DCE3EE"/>
                </a:solidFill>
                <a:latin typeface="Calibri (MS)"/>
                <a:ea typeface="Calibri (MS)"/>
                <a:cs typeface="Calibri (MS)"/>
                <a:sym typeface="Calibri (MS)"/>
              </a:rPr>
              <a:t>在分散流動性間自動尋價與路由</a:t>
            </a:r>
          </a:p>
        </p:txBody>
      </p:sp>
      <p:grpSp>
        <p:nvGrpSpPr>
          <p:cNvPr name="Group 69" id="69"/>
          <p:cNvGrpSpPr/>
          <p:nvPr/>
        </p:nvGrpSpPr>
        <p:grpSpPr>
          <a:xfrm rot="0">
            <a:off x="6593681" y="6993731"/>
            <a:ext cx="5100638" cy="957262"/>
            <a:chOff x="0" y="0"/>
            <a:chExt cx="6800850" cy="127635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6800850" cy="1276350"/>
            </a:xfrm>
            <a:custGeom>
              <a:avLst/>
              <a:gdLst/>
              <a:ahLst/>
              <a:cxnLst/>
              <a:rect r="r" b="b" t="t" l="l"/>
              <a:pathLst>
                <a:path h="1276350" w="6800850">
                  <a:moveTo>
                    <a:pt x="0" y="0"/>
                  </a:moveTo>
                  <a:lnTo>
                    <a:pt x="6800850" y="0"/>
                  </a:lnTo>
                  <a:lnTo>
                    <a:pt x="6800850" y="1276350"/>
                  </a:lnTo>
                  <a:lnTo>
                    <a:pt x="0" y="1276350"/>
                  </a:lnTo>
                  <a:close/>
                </a:path>
              </a:pathLst>
            </a:custGeom>
            <a:solidFill>
              <a:srgbClr val="FFF7D6"/>
            </a:solidFill>
            <a:ln w="14288" cap="sq">
              <a:solidFill>
                <a:srgbClr val="F2C94C"/>
              </a:solidFill>
              <a:prstDash val="solid"/>
              <a:miter/>
            </a:ln>
          </p:spPr>
        </p:sp>
      </p:grpSp>
      <p:sp>
        <p:nvSpPr>
          <p:cNvPr name="TextBox 71" id="71"/>
          <p:cNvSpPr txBox="true"/>
          <p:nvPr/>
        </p:nvSpPr>
        <p:spPr>
          <a:xfrm rot="0">
            <a:off x="6863715" y="7108508"/>
            <a:ext cx="881509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16"/>
              </a:lnSpc>
              <a:spcBef>
                <a:spcPct val="0"/>
              </a:spcBef>
            </a:pPr>
            <a:r>
              <a:rPr lang="en-US" b="true" sz="1346" strike="noStrike" u="none">
                <a:solidFill>
                  <a:srgbClr val="7A5C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TRANSITION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6863715" y="7346632"/>
            <a:ext cx="456057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52"/>
              </a:lnSpc>
              <a:spcBef>
                <a:spcPct val="0"/>
              </a:spcBef>
            </a:pPr>
            <a:r>
              <a:rPr lang="en-US" b="true" sz="1627" strike="noStrike" u="none">
                <a:solidFill>
                  <a:srgbClr val="20242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Fragmentation → Automated Execution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2521565" y="2203133"/>
            <a:ext cx="415156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9"/>
              </a:lnSpc>
            </a:pPr>
            <a:r>
              <a:rPr lang="en-US" sz="3224" b="true">
                <a:solidFill>
                  <a:srgbClr val="F2C94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3378815" y="2241233"/>
            <a:ext cx="404622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9"/>
              </a:lnSpc>
            </a:pPr>
            <a:r>
              <a:rPr lang="en-US" sz="2324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LOW LATENCY &amp; HFT</a:t>
            </a:r>
          </a:p>
        </p:txBody>
      </p:sp>
      <p:grpSp>
        <p:nvGrpSpPr>
          <p:cNvPr name="Group 75" id="75"/>
          <p:cNvGrpSpPr/>
          <p:nvPr/>
        </p:nvGrpSpPr>
        <p:grpSpPr>
          <a:xfrm rot="0">
            <a:off x="12430125" y="2886075"/>
            <a:ext cx="5086350" cy="14288"/>
            <a:chOff x="0" y="0"/>
            <a:chExt cx="6781800" cy="1905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781800" cy="19050"/>
            </a:xfrm>
            <a:custGeom>
              <a:avLst/>
              <a:gdLst/>
              <a:ahLst/>
              <a:cxnLst/>
              <a:rect r="r" b="b" t="t" l="l"/>
              <a:pathLst>
                <a:path h="19050" w="6781800">
                  <a:moveTo>
                    <a:pt x="0" y="0"/>
                  </a:moveTo>
                  <a:lnTo>
                    <a:pt x="6781800" y="0"/>
                  </a:lnTo>
                  <a:lnTo>
                    <a:pt x="67818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8DCE2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2430125" y="2857500"/>
            <a:ext cx="628650" cy="57150"/>
            <a:chOff x="0" y="0"/>
            <a:chExt cx="838200" cy="762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838200" cy="76200"/>
            </a:xfrm>
            <a:custGeom>
              <a:avLst/>
              <a:gdLst/>
              <a:ahLst/>
              <a:cxnLst/>
              <a:rect r="r" b="b" t="t" l="l"/>
              <a:pathLst>
                <a:path h="762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F2C94C"/>
            </a:solidFill>
          </p:spPr>
        </p:sp>
      </p:grpSp>
      <p:sp>
        <p:nvSpPr>
          <p:cNvPr name="TextBox 79" id="79"/>
          <p:cNvSpPr txBox="true"/>
          <p:nvPr/>
        </p:nvSpPr>
        <p:spPr>
          <a:xfrm rot="0">
            <a:off x="12521565" y="3088958"/>
            <a:ext cx="1904851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8"/>
              </a:lnSpc>
            </a:pPr>
            <a:r>
              <a:rPr lang="en-US" sz="1357" b="true">
                <a:solidFill>
                  <a:srgbClr val="AEB8C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MARKET PROBLEM / NEED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2521565" y="3308033"/>
            <a:ext cx="4846320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7"/>
              </a:lnSpc>
            </a:pPr>
            <a:r>
              <a:rPr lang="en-US" sz="1739">
                <a:solidFill>
                  <a:srgbClr val="E8EDF5"/>
                </a:solidFill>
                <a:latin typeface="Calibri (MS)"/>
                <a:ea typeface="Calibri (MS)"/>
                <a:cs typeface="Calibri (MS)"/>
                <a:sym typeface="Calibri (MS)"/>
              </a:rPr>
              <a:t>交易高度電子化後，毫秒級速度開始影響 execution quality 與競爭優勢。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2521565" y="4050983"/>
            <a:ext cx="84906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4"/>
              </a:lnSpc>
            </a:pPr>
            <a:r>
              <a:rPr lang="en-US" sz="1537" b="true">
                <a:solidFill>
                  <a:srgbClr val="AEB8C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RESPONSE</a:t>
            </a:r>
          </a:p>
        </p:txBody>
      </p:sp>
      <p:grpSp>
        <p:nvGrpSpPr>
          <p:cNvPr name="Group 82" id="82"/>
          <p:cNvGrpSpPr/>
          <p:nvPr/>
        </p:nvGrpSpPr>
        <p:grpSpPr>
          <a:xfrm rot="0">
            <a:off x="12430125" y="4329112"/>
            <a:ext cx="42862" cy="842962"/>
            <a:chOff x="0" y="0"/>
            <a:chExt cx="57150" cy="112395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57150" cy="1123950"/>
            </a:xfrm>
            <a:custGeom>
              <a:avLst/>
              <a:gdLst/>
              <a:ahLst/>
              <a:cxnLst/>
              <a:rect r="r" b="b" t="t" l="l"/>
              <a:pathLst>
                <a:path h="1123950" w="57150">
                  <a:moveTo>
                    <a:pt x="0" y="0"/>
                  </a:moveTo>
                  <a:lnTo>
                    <a:pt x="57150" y="0"/>
                  </a:lnTo>
                  <a:lnTo>
                    <a:pt x="57150" y="1123950"/>
                  </a:lnTo>
                  <a:lnTo>
                    <a:pt x="0" y="1123950"/>
                  </a:lnTo>
                  <a:close/>
                </a:path>
              </a:pathLst>
            </a:custGeom>
            <a:solidFill>
              <a:srgbClr val="6E5AA8"/>
            </a:solidFill>
          </p:spPr>
        </p:sp>
      </p:grpSp>
      <p:sp>
        <p:nvSpPr>
          <p:cNvPr name="TextBox 84" id="84"/>
          <p:cNvSpPr txBox="true"/>
          <p:nvPr/>
        </p:nvSpPr>
        <p:spPr>
          <a:xfrm rot="0">
            <a:off x="12678728" y="4331970"/>
            <a:ext cx="976759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3"/>
              </a:lnSpc>
            </a:pPr>
            <a:r>
              <a:rPr lang="en-US" sz="1469" b="true">
                <a:solidFill>
                  <a:srgbClr val="C9BE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[EXCHANGE]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2678728" y="4536758"/>
            <a:ext cx="3324076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7"/>
              </a:lnSpc>
            </a:pPr>
            <a:r>
              <a:rPr lang="en-US" sz="177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Co-location / Proprietary Data Feed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2678728" y="4874895"/>
            <a:ext cx="474630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3"/>
              </a:lnSpc>
            </a:pPr>
            <a:r>
              <a:rPr lang="en-US" sz="1594">
                <a:solidFill>
                  <a:srgbClr val="DCE3EE"/>
                </a:solidFill>
                <a:latin typeface="Calibri (MS)"/>
                <a:ea typeface="Calibri (MS)"/>
                <a:cs typeface="Calibri (MS)"/>
                <a:sym typeface="Calibri (MS)"/>
              </a:rPr>
              <a:t>速度與專用資料開始具有交易價值</a:t>
            </a:r>
          </a:p>
        </p:txBody>
      </p:sp>
      <p:grpSp>
        <p:nvGrpSpPr>
          <p:cNvPr name="Group 87" id="87"/>
          <p:cNvGrpSpPr/>
          <p:nvPr/>
        </p:nvGrpSpPr>
        <p:grpSpPr>
          <a:xfrm rot="0">
            <a:off x="12430125" y="5214938"/>
            <a:ext cx="42862" cy="842962"/>
            <a:chOff x="0" y="0"/>
            <a:chExt cx="57150" cy="112395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57150" cy="1123950"/>
            </a:xfrm>
            <a:custGeom>
              <a:avLst/>
              <a:gdLst/>
              <a:ahLst/>
              <a:cxnLst/>
              <a:rect r="r" b="b" t="t" l="l"/>
              <a:pathLst>
                <a:path h="1123950" w="57150">
                  <a:moveTo>
                    <a:pt x="0" y="0"/>
                  </a:moveTo>
                  <a:lnTo>
                    <a:pt x="57150" y="0"/>
                  </a:lnTo>
                  <a:lnTo>
                    <a:pt x="57150" y="1123950"/>
                  </a:lnTo>
                  <a:lnTo>
                    <a:pt x="0" y="1123950"/>
                  </a:lnTo>
                  <a:close/>
                </a:path>
              </a:pathLst>
            </a:custGeom>
            <a:solidFill>
              <a:srgbClr val="2F6B9A"/>
            </a:solidFill>
          </p:spPr>
        </p:sp>
      </p:grpSp>
      <p:sp>
        <p:nvSpPr>
          <p:cNvPr name="TextBox 89" id="89"/>
          <p:cNvSpPr txBox="true"/>
          <p:nvPr/>
        </p:nvSpPr>
        <p:spPr>
          <a:xfrm rot="0">
            <a:off x="12678728" y="5217795"/>
            <a:ext cx="78745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3"/>
              </a:lnSpc>
            </a:pPr>
            <a:r>
              <a:rPr lang="en-US" sz="1469" b="true">
                <a:solidFill>
                  <a:srgbClr val="7DD3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[MARKET]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12678728" y="5422582"/>
            <a:ext cx="179963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7"/>
              </a:lnSpc>
            </a:pPr>
            <a:r>
              <a:rPr lang="en-US" sz="177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2010｜HFT Growth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12678728" y="5760720"/>
            <a:ext cx="474630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3"/>
              </a:lnSpc>
            </a:pPr>
            <a:r>
              <a:rPr lang="en-US" sz="1594">
                <a:solidFill>
                  <a:srgbClr val="DCE3EE"/>
                </a:solidFill>
                <a:latin typeface="Calibri (MS)"/>
                <a:ea typeface="Calibri (MS)"/>
                <a:cs typeface="Calibri (MS)"/>
                <a:sym typeface="Calibri (MS)"/>
              </a:rPr>
              <a:t>HFT 通常占美股成交量 50% 以上</a:t>
            </a:r>
          </a:p>
        </p:txBody>
      </p:sp>
      <p:grpSp>
        <p:nvGrpSpPr>
          <p:cNvPr name="Group 92" id="92"/>
          <p:cNvGrpSpPr/>
          <p:nvPr/>
        </p:nvGrpSpPr>
        <p:grpSpPr>
          <a:xfrm rot="0">
            <a:off x="12430125" y="6100762"/>
            <a:ext cx="42862" cy="842962"/>
            <a:chOff x="0" y="0"/>
            <a:chExt cx="57150" cy="112395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57150" cy="1123950"/>
            </a:xfrm>
            <a:custGeom>
              <a:avLst/>
              <a:gdLst/>
              <a:ahLst/>
              <a:cxnLst/>
              <a:rect r="r" b="b" t="t" l="l"/>
              <a:pathLst>
                <a:path h="1123950" w="57150">
                  <a:moveTo>
                    <a:pt x="0" y="0"/>
                  </a:moveTo>
                  <a:lnTo>
                    <a:pt x="57150" y="0"/>
                  </a:lnTo>
                  <a:lnTo>
                    <a:pt x="57150" y="1123950"/>
                  </a:lnTo>
                  <a:lnTo>
                    <a:pt x="0" y="1123950"/>
                  </a:lnTo>
                  <a:close/>
                </a:path>
              </a:pathLst>
            </a:custGeom>
            <a:solidFill>
              <a:srgbClr val="6E5AA8"/>
            </a:solidFill>
          </p:spPr>
        </p:sp>
      </p:grpSp>
      <p:sp>
        <p:nvSpPr>
          <p:cNvPr name="TextBox 94" id="94"/>
          <p:cNvSpPr txBox="true"/>
          <p:nvPr/>
        </p:nvSpPr>
        <p:spPr>
          <a:xfrm rot="0">
            <a:off x="12678728" y="6103620"/>
            <a:ext cx="670768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3"/>
              </a:lnSpc>
            </a:pPr>
            <a:r>
              <a:rPr lang="en-US" sz="1469" b="true">
                <a:solidFill>
                  <a:srgbClr val="C9BE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[POLICY]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12678728" y="6308408"/>
            <a:ext cx="2503587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7"/>
              </a:lnSpc>
            </a:pPr>
            <a:r>
              <a:rPr lang="en-US" sz="177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2010｜Market Access Rule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12678728" y="6646545"/>
            <a:ext cx="474630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3"/>
              </a:lnSpc>
            </a:pPr>
            <a:r>
              <a:rPr lang="en-US" sz="1594">
                <a:solidFill>
                  <a:srgbClr val="DCE3EE"/>
                </a:solidFill>
                <a:latin typeface="Calibri (MS)"/>
                <a:ea typeface="Calibri (MS)"/>
                <a:cs typeface="Calibri (MS)"/>
                <a:sym typeface="Calibri (MS)"/>
              </a:rPr>
              <a:t>建立 pre-trade risk control</a:t>
            </a:r>
          </a:p>
        </p:txBody>
      </p:sp>
      <p:grpSp>
        <p:nvGrpSpPr>
          <p:cNvPr name="Group 97" id="97"/>
          <p:cNvGrpSpPr/>
          <p:nvPr/>
        </p:nvGrpSpPr>
        <p:grpSpPr>
          <a:xfrm rot="0">
            <a:off x="12422981" y="6993731"/>
            <a:ext cx="5100638" cy="957262"/>
            <a:chOff x="0" y="0"/>
            <a:chExt cx="6800850" cy="127635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6800850" cy="1276350"/>
            </a:xfrm>
            <a:custGeom>
              <a:avLst/>
              <a:gdLst/>
              <a:ahLst/>
              <a:cxnLst/>
              <a:rect r="r" b="b" t="t" l="l"/>
              <a:pathLst>
                <a:path h="1276350" w="6800850">
                  <a:moveTo>
                    <a:pt x="0" y="0"/>
                  </a:moveTo>
                  <a:lnTo>
                    <a:pt x="6800850" y="0"/>
                  </a:lnTo>
                  <a:lnTo>
                    <a:pt x="6800850" y="1276350"/>
                  </a:lnTo>
                  <a:lnTo>
                    <a:pt x="0" y="1276350"/>
                  </a:lnTo>
                  <a:close/>
                </a:path>
              </a:pathLst>
            </a:custGeom>
            <a:solidFill>
              <a:srgbClr val="FFF7D6"/>
            </a:solidFill>
            <a:ln w="14288" cap="sq">
              <a:solidFill>
                <a:srgbClr val="F2C94C"/>
              </a:solidFill>
              <a:prstDash val="solid"/>
              <a:miter/>
            </a:ln>
          </p:spPr>
        </p:sp>
      </p:grpSp>
      <p:sp>
        <p:nvSpPr>
          <p:cNvPr name="TextBox 99" id="99"/>
          <p:cNvSpPr txBox="true"/>
          <p:nvPr/>
        </p:nvSpPr>
        <p:spPr>
          <a:xfrm rot="0">
            <a:off x="12693015" y="7108508"/>
            <a:ext cx="881509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16"/>
              </a:lnSpc>
              <a:spcBef>
                <a:spcPct val="0"/>
              </a:spcBef>
            </a:pPr>
            <a:r>
              <a:rPr lang="en-US" b="true" sz="1346" strike="noStrike" u="none">
                <a:solidFill>
                  <a:srgbClr val="7A5C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TRANSITION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12693015" y="7346632"/>
            <a:ext cx="456057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52"/>
              </a:lnSpc>
              <a:spcBef>
                <a:spcPct val="0"/>
              </a:spcBef>
            </a:pPr>
            <a:r>
              <a:rPr lang="en-US" b="true" sz="1627" strike="noStrike" u="none">
                <a:solidFill>
                  <a:srgbClr val="20242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Latency competition → Risk Control</a:t>
            </a:r>
          </a:p>
        </p:txBody>
      </p:sp>
      <p:grpSp>
        <p:nvGrpSpPr>
          <p:cNvPr name="Group 101" id="101"/>
          <p:cNvGrpSpPr/>
          <p:nvPr/>
        </p:nvGrpSpPr>
        <p:grpSpPr>
          <a:xfrm rot="0">
            <a:off x="771525" y="8143875"/>
            <a:ext cx="16744950" cy="1114425"/>
            <a:chOff x="0" y="0"/>
            <a:chExt cx="22326600" cy="148590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22326600" cy="1485900"/>
            </a:xfrm>
            <a:custGeom>
              <a:avLst/>
              <a:gdLst/>
              <a:ahLst/>
              <a:cxnLst/>
              <a:rect r="r" b="b" t="t" l="l"/>
              <a:pathLst>
                <a:path h="1485900" w="22326600">
                  <a:moveTo>
                    <a:pt x="0" y="0"/>
                  </a:moveTo>
                  <a:lnTo>
                    <a:pt x="22326600" y="0"/>
                  </a:lnTo>
                  <a:lnTo>
                    <a:pt x="22326600" y="1485900"/>
                  </a:lnTo>
                  <a:lnTo>
                    <a:pt x="0" y="1485900"/>
                  </a:lnTo>
                  <a:close/>
                </a:path>
              </a:pathLst>
            </a:custGeom>
            <a:solidFill>
              <a:srgbClr val="20242B"/>
            </a:solid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771525" y="8143875"/>
            <a:ext cx="2171700" cy="1114425"/>
            <a:chOff x="0" y="0"/>
            <a:chExt cx="2895600" cy="148590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2895600" cy="1485900"/>
            </a:xfrm>
            <a:custGeom>
              <a:avLst/>
              <a:gdLst/>
              <a:ahLst/>
              <a:cxnLst/>
              <a:rect r="r" b="b" t="t" l="l"/>
              <a:pathLst>
                <a:path h="1485900" w="2895600">
                  <a:moveTo>
                    <a:pt x="0" y="0"/>
                  </a:moveTo>
                  <a:lnTo>
                    <a:pt x="2895600" y="0"/>
                  </a:lnTo>
                  <a:lnTo>
                    <a:pt x="2895600" y="1485900"/>
                  </a:lnTo>
                  <a:lnTo>
                    <a:pt x="0" y="1485900"/>
                  </a:lnTo>
                  <a:close/>
                </a:path>
              </a:pathLst>
            </a:custGeom>
            <a:solidFill>
              <a:srgbClr val="F2C94C"/>
            </a:solidFill>
          </p:spPr>
        </p:sp>
      </p:grpSp>
      <p:sp>
        <p:nvSpPr>
          <p:cNvPr name="TextBox 105" id="105"/>
          <p:cNvSpPr txBox="true"/>
          <p:nvPr/>
        </p:nvSpPr>
        <p:spPr>
          <a:xfrm rot="0">
            <a:off x="1120140" y="8337232"/>
            <a:ext cx="1460182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8"/>
              </a:lnSpc>
            </a:pPr>
            <a:r>
              <a:rPr lang="en-US" sz="1706" b="true">
                <a:solidFill>
                  <a:srgbClr val="20242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FORMATION</a:t>
            </a:r>
          </a:p>
          <a:p>
            <a:pPr algn="l">
              <a:lnSpc>
                <a:spcPts val="2048"/>
              </a:lnSpc>
            </a:pPr>
            <a:r>
              <a:rPr lang="en-US" sz="1706" b="true">
                <a:solidFill>
                  <a:srgbClr val="20242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PATH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3348990" y="8399145"/>
            <a:ext cx="1367599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20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Electronic Market → Fragmentation → Automated Execution → Low Latency → HFT / Risk Control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891540" y="9484995"/>
            <a:ext cx="16504920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6"/>
              </a:lnSpc>
            </a:pPr>
            <a:r>
              <a:rPr lang="en-US" sz="1222">
                <a:solidFill>
                  <a:srgbClr val="AEB8C8"/>
                </a:solidFill>
                <a:latin typeface="Calibri (MS)"/>
                <a:ea typeface="Calibri (MS)"/>
                <a:cs typeface="Calibri (MS)"/>
                <a:sym typeface="Calibri (MS)"/>
              </a:rPr>
              <a:t>資料來源：SEC Concept Release 2010；SEC Algo Trading Report 2020；SEC Reg NMS / Rule 15c3-5；IBKR History。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71525" y="414338"/>
            <a:ext cx="71438" cy="1028700"/>
            <a:chOff x="0" y="0"/>
            <a:chExt cx="95250" cy="1371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5250" cy="1371600"/>
            </a:xfrm>
            <a:custGeom>
              <a:avLst/>
              <a:gdLst/>
              <a:ahLst/>
              <a:cxnLst/>
              <a:rect r="r" b="b" t="t" l="l"/>
              <a:pathLst>
                <a:path h="1371600" w="95250">
                  <a:moveTo>
                    <a:pt x="0" y="0"/>
                  </a:moveTo>
                  <a:lnTo>
                    <a:pt x="95250" y="0"/>
                  </a:lnTo>
                  <a:lnTo>
                    <a:pt x="9525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F2C94C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120140" y="383857"/>
            <a:ext cx="1353741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sz="38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JAPAN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20140" y="1136332"/>
            <a:ext cx="1275234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4" b="true">
                <a:solidFill>
                  <a:srgbClr val="9A73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STARTING POINT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806065" y="1064895"/>
            <a:ext cx="141046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11"/>
              </a:lnSpc>
              <a:spcBef>
                <a:spcPct val="0"/>
              </a:spcBef>
            </a:pPr>
            <a:r>
              <a:rPr lang="en-US" sz="2009" i="true" strike="noStrike" u="none">
                <a:solidFill>
                  <a:srgbClr val="DCE3EE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泡沫後金融重整與跨境競爭，使日本打破固定佣金與受管制的券商結構；電子交易是自由化的結果，而非 Algo／HFT 的起點。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71525" y="1728788"/>
            <a:ext cx="16744950" cy="14288"/>
            <a:chOff x="0" y="0"/>
            <a:chExt cx="22326600" cy="190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326600" cy="19050"/>
            </a:xfrm>
            <a:custGeom>
              <a:avLst/>
              <a:gdLst/>
              <a:ahLst/>
              <a:cxnLst/>
              <a:rect r="r" b="b" t="t" l="l"/>
              <a:pathLst>
                <a:path h="19050" w="22326600">
                  <a:moveTo>
                    <a:pt x="0" y="0"/>
                  </a:moveTo>
                  <a:lnTo>
                    <a:pt x="22326600" y="0"/>
                  </a:lnTo>
                  <a:lnTo>
                    <a:pt x="22326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8DCE2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62965" y="1879283"/>
            <a:ext cx="178921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6"/>
              </a:lnSpc>
            </a:pPr>
            <a:r>
              <a:rPr lang="en-US" sz="1447" b="true">
                <a:solidFill>
                  <a:srgbClr val="AEB8C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DEVELOPMENT STAGES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168554" y="2341245"/>
            <a:ext cx="293043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9"/>
              </a:lnSpc>
            </a:pPr>
            <a:r>
              <a:rPr lang="en-US" sz="2549" b="true">
                <a:solidFill>
                  <a:srgbClr val="AEB8C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→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997854" y="2341245"/>
            <a:ext cx="293043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9"/>
              </a:lnSpc>
            </a:pPr>
            <a:r>
              <a:rPr lang="en-US" sz="2549" b="true">
                <a:solidFill>
                  <a:srgbClr val="AEB8C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→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257925" y="2257425"/>
            <a:ext cx="14288" cy="5557838"/>
            <a:chOff x="0" y="0"/>
            <a:chExt cx="19050" cy="74104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050" cy="7410450"/>
            </a:xfrm>
            <a:custGeom>
              <a:avLst/>
              <a:gdLst/>
              <a:ahLst/>
              <a:cxnLst/>
              <a:rect r="r" b="b" t="t" l="l"/>
              <a:pathLst>
                <a:path h="7410450" w="19050">
                  <a:moveTo>
                    <a:pt x="0" y="0"/>
                  </a:moveTo>
                  <a:lnTo>
                    <a:pt x="19050" y="0"/>
                  </a:lnTo>
                  <a:lnTo>
                    <a:pt x="19050" y="7410450"/>
                  </a:lnTo>
                  <a:lnTo>
                    <a:pt x="0" y="7410450"/>
                  </a:lnTo>
                  <a:close/>
                </a:path>
              </a:pathLst>
            </a:custGeom>
            <a:solidFill>
              <a:srgbClr val="D8DCE2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2087225" y="2257425"/>
            <a:ext cx="14288" cy="5557838"/>
            <a:chOff x="0" y="0"/>
            <a:chExt cx="19050" cy="74104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050" cy="7410450"/>
            </a:xfrm>
            <a:custGeom>
              <a:avLst/>
              <a:gdLst/>
              <a:ahLst/>
              <a:cxnLst/>
              <a:rect r="r" b="b" t="t" l="l"/>
              <a:pathLst>
                <a:path h="7410450" w="19050">
                  <a:moveTo>
                    <a:pt x="0" y="0"/>
                  </a:moveTo>
                  <a:lnTo>
                    <a:pt x="19050" y="0"/>
                  </a:lnTo>
                  <a:lnTo>
                    <a:pt x="19050" y="7410450"/>
                  </a:lnTo>
                  <a:lnTo>
                    <a:pt x="0" y="7410450"/>
                  </a:lnTo>
                  <a:close/>
                </a:path>
              </a:pathLst>
            </a:custGeom>
            <a:solidFill>
              <a:srgbClr val="D8DCE2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862965" y="2203133"/>
            <a:ext cx="415156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9"/>
              </a:lnSpc>
            </a:pPr>
            <a:r>
              <a:rPr lang="en-US" sz="3224" b="true">
                <a:solidFill>
                  <a:srgbClr val="F2C94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20215" y="2241233"/>
            <a:ext cx="404622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9"/>
              </a:lnSpc>
            </a:pPr>
            <a:r>
              <a:rPr lang="en-US" sz="2324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MARKET LIBERALIZATION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771525" y="2886075"/>
            <a:ext cx="5086350" cy="14288"/>
            <a:chOff x="0" y="0"/>
            <a:chExt cx="6781800" cy="1905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781800" cy="19050"/>
            </a:xfrm>
            <a:custGeom>
              <a:avLst/>
              <a:gdLst/>
              <a:ahLst/>
              <a:cxnLst/>
              <a:rect r="r" b="b" t="t" l="l"/>
              <a:pathLst>
                <a:path h="19050" w="6781800">
                  <a:moveTo>
                    <a:pt x="0" y="0"/>
                  </a:moveTo>
                  <a:lnTo>
                    <a:pt x="6781800" y="0"/>
                  </a:lnTo>
                  <a:lnTo>
                    <a:pt x="67818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8DCE2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771525" y="2857500"/>
            <a:ext cx="628650" cy="57150"/>
            <a:chOff x="0" y="0"/>
            <a:chExt cx="838200" cy="762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38200" cy="76200"/>
            </a:xfrm>
            <a:custGeom>
              <a:avLst/>
              <a:gdLst/>
              <a:ahLst/>
              <a:cxnLst/>
              <a:rect r="r" b="b" t="t" l="l"/>
              <a:pathLst>
                <a:path h="762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F2C94C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862965" y="3088958"/>
            <a:ext cx="1904851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8"/>
              </a:lnSpc>
            </a:pPr>
            <a:r>
              <a:rPr lang="en-US" sz="1357" b="true">
                <a:solidFill>
                  <a:srgbClr val="AEB8C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MARKET PROBLEM / NEED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62965" y="3308033"/>
            <a:ext cx="4846320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87"/>
              </a:lnSpc>
              <a:spcBef>
                <a:spcPct val="0"/>
              </a:spcBef>
            </a:pPr>
            <a:r>
              <a:rPr lang="en-US" sz="1739" strike="noStrike" u="none">
                <a:solidFill>
                  <a:srgbClr val="E8EDF5"/>
                </a:solidFill>
                <a:latin typeface="Calibri (MS)"/>
                <a:ea typeface="Calibri (MS)"/>
                <a:cs typeface="Calibri (MS)"/>
                <a:sym typeface="Calibri (MS)"/>
              </a:rPr>
              <a:t>固定佣金與受管制的券商結構限制價格競爭，也削弱東京市場吸引資金與新進業者的能力。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62965" y="4050983"/>
            <a:ext cx="84906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4"/>
              </a:lnSpc>
            </a:pPr>
            <a:r>
              <a:rPr lang="en-US" sz="1537" b="true">
                <a:solidFill>
                  <a:srgbClr val="AEB8C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RESPONSE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771525" y="4329112"/>
            <a:ext cx="42862" cy="842962"/>
            <a:chOff x="0" y="0"/>
            <a:chExt cx="57150" cy="11239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7150" cy="1123950"/>
            </a:xfrm>
            <a:custGeom>
              <a:avLst/>
              <a:gdLst/>
              <a:ahLst/>
              <a:cxnLst/>
              <a:rect r="r" b="b" t="t" l="l"/>
              <a:pathLst>
                <a:path h="1123950" w="57150">
                  <a:moveTo>
                    <a:pt x="0" y="0"/>
                  </a:moveTo>
                  <a:lnTo>
                    <a:pt x="57150" y="0"/>
                  </a:lnTo>
                  <a:lnTo>
                    <a:pt x="57150" y="1123950"/>
                  </a:lnTo>
                  <a:lnTo>
                    <a:pt x="0" y="1123950"/>
                  </a:lnTo>
                  <a:close/>
                </a:path>
              </a:pathLst>
            </a:custGeom>
            <a:solidFill>
              <a:srgbClr val="6E5AA8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020127" y="4331970"/>
            <a:ext cx="670768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3"/>
              </a:lnSpc>
            </a:pPr>
            <a:r>
              <a:rPr lang="en-US" sz="1469" b="true">
                <a:solidFill>
                  <a:srgbClr val="C9BE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[POLICY]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20128" y="4536758"/>
            <a:ext cx="4142036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7"/>
              </a:lnSpc>
            </a:pPr>
            <a:r>
              <a:rPr lang="en-US" sz="177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1999｜Brokerage Commission Liberalization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20127" y="4874895"/>
            <a:ext cx="474630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3"/>
              </a:lnSpc>
            </a:pPr>
            <a:r>
              <a:rPr lang="en-US" sz="1594">
                <a:solidFill>
                  <a:srgbClr val="DCE3EE"/>
                </a:solidFill>
                <a:latin typeface="Calibri (MS)"/>
                <a:ea typeface="Calibri (MS)"/>
                <a:cs typeface="Calibri (MS)"/>
                <a:sym typeface="Calibri (MS)"/>
              </a:rPr>
              <a:t>解除佣金管制，促進價格與服務競爭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771525" y="5214938"/>
            <a:ext cx="42862" cy="842962"/>
            <a:chOff x="0" y="0"/>
            <a:chExt cx="57150" cy="112395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7150" cy="1123950"/>
            </a:xfrm>
            <a:custGeom>
              <a:avLst/>
              <a:gdLst/>
              <a:ahLst/>
              <a:cxnLst/>
              <a:rect r="r" b="b" t="t" l="l"/>
              <a:pathLst>
                <a:path h="1123950" w="57150">
                  <a:moveTo>
                    <a:pt x="0" y="0"/>
                  </a:moveTo>
                  <a:lnTo>
                    <a:pt x="57150" y="0"/>
                  </a:lnTo>
                  <a:lnTo>
                    <a:pt x="57150" y="1123950"/>
                  </a:lnTo>
                  <a:lnTo>
                    <a:pt x="0" y="1123950"/>
                  </a:lnTo>
                  <a:close/>
                </a:path>
              </a:pathLst>
            </a:custGeom>
            <a:solidFill>
              <a:srgbClr val="6E5AA8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020127" y="5217795"/>
            <a:ext cx="670768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3"/>
              </a:lnSpc>
            </a:pPr>
            <a:r>
              <a:rPr lang="en-US" sz="1469" b="true">
                <a:solidFill>
                  <a:srgbClr val="C9BE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[POLICY]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20127" y="5422582"/>
            <a:ext cx="1924943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7"/>
              </a:lnSpc>
            </a:pPr>
            <a:r>
              <a:rPr lang="en-US" sz="177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1999｜STT Abolition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20127" y="5760720"/>
            <a:ext cx="474630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3"/>
              </a:lnSpc>
            </a:pPr>
            <a:r>
              <a:rPr lang="en-US" sz="1594">
                <a:solidFill>
                  <a:srgbClr val="DCE3EE"/>
                </a:solidFill>
                <a:latin typeface="Calibri (MS)"/>
                <a:ea typeface="Calibri (MS)"/>
                <a:cs typeface="Calibri (MS)"/>
                <a:sym typeface="Calibri (MS)"/>
              </a:rPr>
              <a:t>降低股票交易摩擦與交易成本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771525" y="6100762"/>
            <a:ext cx="42862" cy="842962"/>
            <a:chOff x="0" y="0"/>
            <a:chExt cx="57150" cy="112395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7150" cy="1123950"/>
            </a:xfrm>
            <a:custGeom>
              <a:avLst/>
              <a:gdLst/>
              <a:ahLst/>
              <a:cxnLst/>
              <a:rect r="r" b="b" t="t" l="l"/>
              <a:pathLst>
                <a:path h="1123950" w="57150">
                  <a:moveTo>
                    <a:pt x="0" y="0"/>
                  </a:moveTo>
                  <a:lnTo>
                    <a:pt x="57150" y="0"/>
                  </a:lnTo>
                  <a:lnTo>
                    <a:pt x="57150" y="1123950"/>
                  </a:lnTo>
                  <a:lnTo>
                    <a:pt x="0" y="1123950"/>
                  </a:lnTo>
                  <a:close/>
                </a:path>
              </a:pathLst>
            </a:custGeom>
            <a:solidFill>
              <a:srgbClr val="B7791F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020127" y="6103620"/>
            <a:ext cx="195962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3"/>
              </a:lnSpc>
            </a:pPr>
            <a:r>
              <a:rPr lang="en-US" sz="1469" b="true">
                <a:solidFill>
                  <a:srgbClr val="FFD38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[INSTITUTION / MARKET]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20127" y="6308408"/>
            <a:ext cx="2389584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7"/>
              </a:lnSpc>
            </a:pPr>
            <a:r>
              <a:rPr lang="en-US" sz="177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Online Brokerage Growth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20127" y="6646545"/>
            <a:ext cx="474630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3"/>
              </a:lnSpc>
            </a:pPr>
            <a:r>
              <a:rPr lang="en-US" sz="1594">
                <a:solidFill>
                  <a:srgbClr val="DCE3EE"/>
                </a:solidFill>
                <a:latin typeface="Calibri (MS)"/>
                <a:ea typeface="Calibri (MS)"/>
                <a:cs typeface="Calibri (MS)"/>
                <a:sym typeface="Calibri (MS)"/>
              </a:rPr>
              <a:t>低佣金競爭帶動 Retail online trading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764381" y="6993731"/>
            <a:ext cx="5100638" cy="957262"/>
            <a:chOff x="0" y="0"/>
            <a:chExt cx="6800850" cy="127635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800850" cy="1276350"/>
            </a:xfrm>
            <a:custGeom>
              <a:avLst/>
              <a:gdLst/>
              <a:ahLst/>
              <a:cxnLst/>
              <a:rect r="r" b="b" t="t" l="l"/>
              <a:pathLst>
                <a:path h="1276350" w="6800850">
                  <a:moveTo>
                    <a:pt x="0" y="0"/>
                  </a:moveTo>
                  <a:lnTo>
                    <a:pt x="6800850" y="0"/>
                  </a:lnTo>
                  <a:lnTo>
                    <a:pt x="6800850" y="1276350"/>
                  </a:lnTo>
                  <a:lnTo>
                    <a:pt x="0" y="1276350"/>
                  </a:lnTo>
                  <a:close/>
                </a:path>
              </a:pathLst>
            </a:custGeom>
            <a:solidFill>
              <a:srgbClr val="FFF7D6"/>
            </a:solidFill>
            <a:ln w="14288" cap="sq">
              <a:solidFill>
                <a:srgbClr val="F2C94C"/>
              </a:solidFill>
              <a:prstDash val="solid"/>
              <a:miter/>
            </a:ln>
          </p:spPr>
        </p:sp>
      </p:grpSp>
      <p:sp>
        <p:nvSpPr>
          <p:cNvPr name="TextBox 43" id="43"/>
          <p:cNvSpPr txBox="true"/>
          <p:nvPr/>
        </p:nvSpPr>
        <p:spPr>
          <a:xfrm rot="0">
            <a:off x="1034415" y="7108508"/>
            <a:ext cx="881509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16"/>
              </a:lnSpc>
              <a:spcBef>
                <a:spcPct val="0"/>
              </a:spcBef>
            </a:pPr>
            <a:r>
              <a:rPr lang="en-US" b="true" sz="1346" strike="noStrike" u="none">
                <a:solidFill>
                  <a:srgbClr val="7A5C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TRANSITION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34415" y="7346632"/>
            <a:ext cx="456057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52"/>
              </a:lnSpc>
              <a:spcBef>
                <a:spcPct val="0"/>
              </a:spcBef>
            </a:pPr>
            <a:r>
              <a:rPr lang="en-US" b="true" sz="1627" strike="noStrike" u="none">
                <a:solidFill>
                  <a:srgbClr val="20242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Liberalization → Electronic Trading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6692265" y="2203133"/>
            <a:ext cx="415156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9"/>
              </a:lnSpc>
            </a:pPr>
            <a:r>
              <a:rPr lang="en-US" sz="3224" b="true">
                <a:solidFill>
                  <a:srgbClr val="F2C94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7549515" y="2250758"/>
            <a:ext cx="4046220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8"/>
              </a:lnSpc>
            </a:pPr>
            <a:r>
              <a:rPr lang="en-US" sz="203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ELECTRONIC &amp; LOW-LATENCY TRADING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6600825" y="2886075"/>
            <a:ext cx="5086350" cy="14288"/>
            <a:chOff x="0" y="0"/>
            <a:chExt cx="6781800" cy="1905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781800" cy="19050"/>
            </a:xfrm>
            <a:custGeom>
              <a:avLst/>
              <a:gdLst/>
              <a:ahLst/>
              <a:cxnLst/>
              <a:rect r="r" b="b" t="t" l="l"/>
              <a:pathLst>
                <a:path h="19050" w="6781800">
                  <a:moveTo>
                    <a:pt x="0" y="0"/>
                  </a:moveTo>
                  <a:lnTo>
                    <a:pt x="6781800" y="0"/>
                  </a:lnTo>
                  <a:lnTo>
                    <a:pt x="67818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8DCE2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6600825" y="2857500"/>
            <a:ext cx="628650" cy="57150"/>
            <a:chOff x="0" y="0"/>
            <a:chExt cx="838200" cy="762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38200" cy="76200"/>
            </a:xfrm>
            <a:custGeom>
              <a:avLst/>
              <a:gdLst/>
              <a:ahLst/>
              <a:cxnLst/>
              <a:rect r="r" b="b" t="t" l="l"/>
              <a:pathLst>
                <a:path h="762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F2C94C"/>
            </a:solidFill>
          </p:spPr>
        </p:sp>
      </p:grpSp>
      <p:sp>
        <p:nvSpPr>
          <p:cNvPr name="TextBox 51" id="51"/>
          <p:cNvSpPr txBox="true"/>
          <p:nvPr/>
        </p:nvSpPr>
        <p:spPr>
          <a:xfrm rot="0">
            <a:off x="6692265" y="3088958"/>
            <a:ext cx="1904851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8"/>
              </a:lnSpc>
            </a:pPr>
            <a:r>
              <a:rPr lang="en-US" sz="1357" b="true">
                <a:solidFill>
                  <a:srgbClr val="AEB8C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MARKET PROBLEM / NEED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6692265" y="3308033"/>
            <a:ext cx="4846320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7"/>
              </a:lnSpc>
            </a:pPr>
            <a:r>
              <a:rPr lang="en-US" sz="1739">
                <a:solidFill>
                  <a:srgbClr val="E8EDF5"/>
                </a:solidFill>
                <a:latin typeface="Calibri (MS)"/>
                <a:ea typeface="Calibri (MS)"/>
                <a:cs typeface="Calibri (MS)"/>
                <a:sym typeface="Calibri (MS)"/>
              </a:rPr>
              <a:t>Electronic / Algo orders 增加後，速度、容量與可靠性開始影響 execution quality。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6692265" y="4050983"/>
            <a:ext cx="84906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4"/>
              </a:lnSpc>
            </a:pPr>
            <a:r>
              <a:rPr lang="en-US" sz="1537" b="true">
                <a:solidFill>
                  <a:srgbClr val="AEB8C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RESPONSE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6600825" y="4329112"/>
            <a:ext cx="42862" cy="842962"/>
            <a:chOff x="0" y="0"/>
            <a:chExt cx="57150" cy="112395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7150" cy="1123950"/>
            </a:xfrm>
            <a:custGeom>
              <a:avLst/>
              <a:gdLst/>
              <a:ahLst/>
              <a:cxnLst/>
              <a:rect r="r" b="b" t="t" l="l"/>
              <a:pathLst>
                <a:path h="1123950" w="57150">
                  <a:moveTo>
                    <a:pt x="0" y="0"/>
                  </a:moveTo>
                  <a:lnTo>
                    <a:pt x="57150" y="0"/>
                  </a:lnTo>
                  <a:lnTo>
                    <a:pt x="57150" y="1123950"/>
                  </a:lnTo>
                  <a:lnTo>
                    <a:pt x="0" y="1123950"/>
                  </a:lnTo>
                  <a:close/>
                </a:path>
              </a:pathLst>
            </a:custGeom>
            <a:solidFill>
              <a:srgbClr val="6E5AA8"/>
            </a:solidFill>
          </p:spPr>
        </p:sp>
      </p:grpSp>
      <p:sp>
        <p:nvSpPr>
          <p:cNvPr name="TextBox 56" id="56"/>
          <p:cNvSpPr txBox="true"/>
          <p:nvPr/>
        </p:nvSpPr>
        <p:spPr>
          <a:xfrm rot="0">
            <a:off x="6849428" y="4331970"/>
            <a:ext cx="976759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3"/>
              </a:lnSpc>
            </a:pPr>
            <a:r>
              <a:rPr lang="en-US" sz="1469" b="true">
                <a:solidFill>
                  <a:srgbClr val="C9BE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[EXCHANGE]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6849428" y="4536758"/>
            <a:ext cx="2125266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7"/>
              </a:lnSpc>
            </a:pPr>
            <a:r>
              <a:rPr lang="en-US" sz="177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2009｜TSE Co-location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6849428" y="4874895"/>
            <a:ext cx="474630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3"/>
              </a:lnSpc>
            </a:pPr>
            <a:r>
              <a:rPr lang="en-US" sz="1594">
                <a:solidFill>
                  <a:srgbClr val="DCE3EE"/>
                </a:solidFill>
                <a:latin typeface="Calibri (MS)"/>
                <a:ea typeface="Calibri (MS)"/>
                <a:cs typeface="Calibri (MS)"/>
                <a:sym typeface="Calibri (MS)"/>
              </a:rPr>
              <a:t>回應自動化交易者的低延遲需求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6600825" y="5214938"/>
            <a:ext cx="42862" cy="842962"/>
            <a:chOff x="0" y="0"/>
            <a:chExt cx="57150" cy="112395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7150" cy="1123950"/>
            </a:xfrm>
            <a:custGeom>
              <a:avLst/>
              <a:gdLst/>
              <a:ahLst/>
              <a:cxnLst/>
              <a:rect r="r" b="b" t="t" l="l"/>
              <a:pathLst>
                <a:path h="1123950" w="57150">
                  <a:moveTo>
                    <a:pt x="0" y="0"/>
                  </a:moveTo>
                  <a:lnTo>
                    <a:pt x="57150" y="0"/>
                  </a:lnTo>
                  <a:lnTo>
                    <a:pt x="57150" y="1123950"/>
                  </a:lnTo>
                  <a:lnTo>
                    <a:pt x="0" y="1123950"/>
                  </a:lnTo>
                  <a:close/>
                </a:path>
              </a:pathLst>
            </a:custGeom>
            <a:solidFill>
              <a:srgbClr val="6E5AA8"/>
            </a:solidFill>
          </p:spPr>
        </p:sp>
      </p:grpSp>
      <p:sp>
        <p:nvSpPr>
          <p:cNvPr name="TextBox 61" id="61"/>
          <p:cNvSpPr txBox="true"/>
          <p:nvPr/>
        </p:nvSpPr>
        <p:spPr>
          <a:xfrm rot="0">
            <a:off x="6849428" y="5217795"/>
            <a:ext cx="976759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3"/>
              </a:lnSpc>
            </a:pPr>
            <a:r>
              <a:rPr lang="en-US" sz="1469" b="true">
                <a:solidFill>
                  <a:srgbClr val="C9BE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[EXCHANGE]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6849428" y="5422582"/>
            <a:ext cx="170691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7"/>
              </a:lnSpc>
            </a:pPr>
            <a:r>
              <a:rPr lang="en-US" sz="177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2010｜arrowhead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6849428" y="5760720"/>
            <a:ext cx="474630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3"/>
              </a:lnSpc>
            </a:pPr>
            <a:r>
              <a:rPr lang="en-US" sz="1594">
                <a:solidFill>
                  <a:srgbClr val="DCE3EE"/>
                </a:solidFill>
                <a:latin typeface="Calibri (MS)"/>
                <a:ea typeface="Calibri (MS)"/>
                <a:cs typeface="Calibri (MS)"/>
                <a:sym typeface="Calibri (MS)"/>
              </a:rPr>
              <a:t>提升撮合速度、容量與可靠性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6600825" y="6100762"/>
            <a:ext cx="42862" cy="842962"/>
            <a:chOff x="0" y="0"/>
            <a:chExt cx="57150" cy="112395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57150" cy="1123950"/>
            </a:xfrm>
            <a:custGeom>
              <a:avLst/>
              <a:gdLst/>
              <a:ahLst/>
              <a:cxnLst/>
              <a:rect r="r" b="b" t="t" l="l"/>
              <a:pathLst>
                <a:path h="1123950" w="57150">
                  <a:moveTo>
                    <a:pt x="0" y="0"/>
                  </a:moveTo>
                  <a:lnTo>
                    <a:pt x="57150" y="0"/>
                  </a:lnTo>
                  <a:lnTo>
                    <a:pt x="57150" y="1123950"/>
                  </a:lnTo>
                  <a:lnTo>
                    <a:pt x="0" y="1123950"/>
                  </a:lnTo>
                  <a:close/>
                </a:path>
              </a:pathLst>
            </a:custGeom>
            <a:solidFill>
              <a:srgbClr val="2F6B9A"/>
            </a:solidFill>
          </p:spPr>
        </p:sp>
      </p:grpSp>
      <p:sp>
        <p:nvSpPr>
          <p:cNvPr name="TextBox 66" id="66"/>
          <p:cNvSpPr txBox="true"/>
          <p:nvPr/>
        </p:nvSpPr>
        <p:spPr>
          <a:xfrm rot="0">
            <a:off x="6849428" y="6103620"/>
            <a:ext cx="78745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3"/>
              </a:lnSpc>
            </a:pPr>
            <a:r>
              <a:rPr lang="en-US" sz="1469" b="true">
                <a:solidFill>
                  <a:srgbClr val="7DD3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[MARKET]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6849428" y="6308408"/>
            <a:ext cx="248037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7"/>
              </a:lnSpc>
            </a:pPr>
            <a:r>
              <a:rPr lang="en-US" sz="177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Algo / HFT Participation ↑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6849428" y="6646545"/>
            <a:ext cx="474630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3"/>
              </a:lnSpc>
            </a:pPr>
            <a:r>
              <a:rPr lang="en-US" sz="1594">
                <a:solidFill>
                  <a:srgbClr val="DCE3EE"/>
                </a:solidFill>
                <a:latin typeface="Calibri (MS)"/>
                <a:ea typeface="Calibri (MS)"/>
                <a:cs typeface="Calibri (MS)"/>
                <a:sym typeface="Calibri (MS)"/>
              </a:rPr>
              <a:t>電子化委託持續增加</a:t>
            </a:r>
          </a:p>
        </p:txBody>
      </p:sp>
      <p:grpSp>
        <p:nvGrpSpPr>
          <p:cNvPr name="Group 69" id="69"/>
          <p:cNvGrpSpPr/>
          <p:nvPr/>
        </p:nvGrpSpPr>
        <p:grpSpPr>
          <a:xfrm rot="0">
            <a:off x="6593681" y="6993731"/>
            <a:ext cx="5100638" cy="957262"/>
            <a:chOff x="0" y="0"/>
            <a:chExt cx="6800850" cy="127635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6800850" cy="1276350"/>
            </a:xfrm>
            <a:custGeom>
              <a:avLst/>
              <a:gdLst/>
              <a:ahLst/>
              <a:cxnLst/>
              <a:rect r="r" b="b" t="t" l="l"/>
              <a:pathLst>
                <a:path h="1276350" w="6800850">
                  <a:moveTo>
                    <a:pt x="0" y="0"/>
                  </a:moveTo>
                  <a:lnTo>
                    <a:pt x="6800850" y="0"/>
                  </a:lnTo>
                  <a:lnTo>
                    <a:pt x="6800850" y="1276350"/>
                  </a:lnTo>
                  <a:lnTo>
                    <a:pt x="0" y="1276350"/>
                  </a:lnTo>
                  <a:close/>
                </a:path>
              </a:pathLst>
            </a:custGeom>
            <a:solidFill>
              <a:srgbClr val="FFF7D6"/>
            </a:solidFill>
            <a:ln w="14288" cap="sq">
              <a:solidFill>
                <a:srgbClr val="F2C94C"/>
              </a:solidFill>
              <a:prstDash val="solid"/>
              <a:miter/>
            </a:ln>
          </p:spPr>
        </p:sp>
      </p:grpSp>
      <p:sp>
        <p:nvSpPr>
          <p:cNvPr name="TextBox 71" id="71"/>
          <p:cNvSpPr txBox="true"/>
          <p:nvPr/>
        </p:nvSpPr>
        <p:spPr>
          <a:xfrm rot="0">
            <a:off x="6863715" y="7108508"/>
            <a:ext cx="881509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16"/>
              </a:lnSpc>
              <a:spcBef>
                <a:spcPct val="0"/>
              </a:spcBef>
            </a:pPr>
            <a:r>
              <a:rPr lang="en-US" b="true" sz="1346" strike="noStrike" u="none">
                <a:solidFill>
                  <a:srgbClr val="7A5C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TRANSITION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6863715" y="7346632"/>
            <a:ext cx="456057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52"/>
              </a:lnSpc>
              <a:spcBef>
                <a:spcPct val="0"/>
              </a:spcBef>
            </a:pPr>
            <a:r>
              <a:rPr lang="en-US" b="true" sz="1627" strike="noStrike" u="none">
                <a:solidFill>
                  <a:srgbClr val="20242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Electronic growth → Latency demand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2521565" y="2203133"/>
            <a:ext cx="415156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9"/>
              </a:lnSpc>
            </a:pPr>
            <a:r>
              <a:rPr lang="en-US" sz="3224" b="true">
                <a:solidFill>
                  <a:srgbClr val="F2C94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3378815" y="2250758"/>
            <a:ext cx="40462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8"/>
              </a:lnSpc>
            </a:pPr>
            <a:r>
              <a:rPr lang="en-US" sz="203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HFT MATURITY &amp; REGULATION</a:t>
            </a:r>
          </a:p>
        </p:txBody>
      </p:sp>
      <p:grpSp>
        <p:nvGrpSpPr>
          <p:cNvPr name="Group 75" id="75"/>
          <p:cNvGrpSpPr/>
          <p:nvPr/>
        </p:nvGrpSpPr>
        <p:grpSpPr>
          <a:xfrm rot="0">
            <a:off x="12430125" y="2886075"/>
            <a:ext cx="5086350" cy="14288"/>
            <a:chOff x="0" y="0"/>
            <a:chExt cx="6781800" cy="1905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781800" cy="19050"/>
            </a:xfrm>
            <a:custGeom>
              <a:avLst/>
              <a:gdLst/>
              <a:ahLst/>
              <a:cxnLst/>
              <a:rect r="r" b="b" t="t" l="l"/>
              <a:pathLst>
                <a:path h="19050" w="6781800">
                  <a:moveTo>
                    <a:pt x="0" y="0"/>
                  </a:moveTo>
                  <a:lnTo>
                    <a:pt x="6781800" y="0"/>
                  </a:lnTo>
                  <a:lnTo>
                    <a:pt x="67818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8DCE2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2430125" y="2857500"/>
            <a:ext cx="628650" cy="57150"/>
            <a:chOff x="0" y="0"/>
            <a:chExt cx="838200" cy="762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838200" cy="76200"/>
            </a:xfrm>
            <a:custGeom>
              <a:avLst/>
              <a:gdLst/>
              <a:ahLst/>
              <a:cxnLst/>
              <a:rect r="r" b="b" t="t" l="l"/>
              <a:pathLst>
                <a:path h="762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F2C94C"/>
            </a:solidFill>
          </p:spPr>
        </p:sp>
      </p:grpSp>
      <p:sp>
        <p:nvSpPr>
          <p:cNvPr name="TextBox 79" id="79"/>
          <p:cNvSpPr txBox="true"/>
          <p:nvPr/>
        </p:nvSpPr>
        <p:spPr>
          <a:xfrm rot="0">
            <a:off x="12521565" y="3088958"/>
            <a:ext cx="1904851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8"/>
              </a:lnSpc>
            </a:pPr>
            <a:r>
              <a:rPr lang="en-US" sz="1357" b="true">
                <a:solidFill>
                  <a:srgbClr val="AEB8C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MARKET PROBLEM / NEED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2521565" y="3308033"/>
            <a:ext cx="4846320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7"/>
              </a:lnSpc>
            </a:pPr>
            <a:r>
              <a:rPr lang="en-US" sz="1739">
                <a:solidFill>
                  <a:srgbClr val="E8EDF5"/>
                </a:solidFill>
                <a:latin typeface="Calibri (MS)"/>
                <a:ea typeface="Calibri (MS)"/>
                <a:cs typeface="Calibri (MS)"/>
                <a:sym typeface="Calibri (MS)"/>
              </a:rPr>
              <a:t>高速交易成為重要市場力量後，監管者需要辨識交易者、策略與風控。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2521565" y="4050983"/>
            <a:ext cx="84906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4"/>
              </a:lnSpc>
            </a:pPr>
            <a:r>
              <a:rPr lang="en-US" sz="1537" b="true">
                <a:solidFill>
                  <a:srgbClr val="AEB8C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RESPONSE</a:t>
            </a:r>
          </a:p>
        </p:txBody>
      </p:sp>
      <p:grpSp>
        <p:nvGrpSpPr>
          <p:cNvPr name="Group 82" id="82"/>
          <p:cNvGrpSpPr/>
          <p:nvPr/>
        </p:nvGrpSpPr>
        <p:grpSpPr>
          <a:xfrm rot="0">
            <a:off x="12430125" y="4329112"/>
            <a:ext cx="42862" cy="842962"/>
            <a:chOff x="0" y="0"/>
            <a:chExt cx="57150" cy="112395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57150" cy="1123950"/>
            </a:xfrm>
            <a:custGeom>
              <a:avLst/>
              <a:gdLst/>
              <a:ahLst/>
              <a:cxnLst/>
              <a:rect r="r" b="b" t="t" l="l"/>
              <a:pathLst>
                <a:path h="1123950" w="57150">
                  <a:moveTo>
                    <a:pt x="0" y="0"/>
                  </a:moveTo>
                  <a:lnTo>
                    <a:pt x="57150" y="0"/>
                  </a:lnTo>
                  <a:lnTo>
                    <a:pt x="57150" y="1123950"/>
                  </a:lnTo>
                  <a:lnTo>
                    <a:pt x="0" y="1123950"/>
                  </a:lnTo>
                  <a:close/>
                </a:path>
              </a:pathLst>
            </a:custGeom>
            <a:solidFill>
              <a:srgbClr val="6E5AA8"/>
            </a:solidFill>
          </p:spPr>
        </p:sp>
      </p:grpSp>
      <p:sp>
        <p:nvSpPr>
          <p:cNvPr name="TextBox 84" id="84"/>
          <p:cNvSpPr txBox="true"/>
          <p:nvPr/>
        </p:nvSpPr>
        <p:spPr>
          <a:xfrm rot="0">
            <a:off x="12678728" y="4331970"/>
            <a:ext cx="670768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3"/>
              </a:lnSpc>
            </a:pPr>
            <a:r>
              <a:rPr lang="en-US" sz="1469" b="true">
                <a:solidFill>
                  <a:srgbClr val="C9BE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[POLICY]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2678728" y="4536758"/>
            <a:ext cx="2227659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7"/>
              </a:lnSpc>
            </a:pPr>
            <a:r>
              <a:rPr lang="en-US" sz="177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2018｜HST Registration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2678728" y="4874895"/>
            <a:ext cx="474630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3"/>
              </a:lnSpc>
            </a:pPr>
            <a:r>
              <a:rPr lang="en-US" sz="1594">
                <a:solidFill>
                  <a:srgbClr val="DCE3EE"/>
                </a:solidFill>
                <a:latin typeface="Calibri (MS)"/>
                <a:ea typeface="Calibri (MS)"/>
                <a:cs typeface="Calibri (MS)"/>
                <a:sym typeface="Calibri (MS)"/>
              </a:rPr>
              <a:t>建立高速交易者登記與監理制度</a:t>
            </a:r>
          </a:p>
        </p:txBody>
      </p:sp>
      <p:grpSp>
        <p:nvGrpSpPr>
          <p:cNvPr name="Group 87" id="87"/>
          <p:cNvGrpSpPr/>
          <p:nvPr/>
        </p:nvGrpSpPr>
        <p:grpSpPr>
          <a:xfrm rot="0">
            <a:off x="12430125" y="5672138"/>
            <a:ext cx="42862" cy="842962"/>
            <a:chOff x="0" y="0"/>
            <a:chExt cx="57150" cy="112395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57150" cy="1123950"/>
            </a:xfrm>
            <a:custGeom>
              <a:avLst/>
              <a:gdLst/>
              <a:ahLst/>
              <a:cxnLst/>
              <a:rect r="r" b="b" t="t" l="l"/>
              <a:pathLst>
                <a:path h="1123950" w="57150">
                  <a:moveTo>
                    <a:pt x="0" y="0"/>
                  </a:moveTo>
                  <a:lnTo>
                    <a:pt x="57150" y="0"/>
                  </a:lnTo>
                  <a:lnTo>
                    <a:pt x="57150" y="1123950"/>
                  </a:lnTo>
                  <a:lnTo>
                    <a:pt x="0" y="1123950"/>
                  </a:lnTo>
                  <a:close/>
                </a:path>
              </a:pathLst>
            </a:custGeom>
            <a:solidFill>
              <a:srgbClr val="6E5AA8"/>
            </a:solidFill>
          </p:spPr>
        </p:sp>
      </p:grpSp>
      <p:sp>
        <p:nvSpPr>
          <p:cNvPr name="TextBox 89" id="89"/>
          <p:cNvSpPr txBox="true"/>
          <p:nvPr/>
        </p:nvSpPr>
        <p:spPr>
          <a:xfrm rot="0">
            <a:off x="12678728" y="5674995"/>
            <a:ext cx="976759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3"/>
              </a:lnSpc>
            </a:pPr>
            <a:r>
              <a:rPr lang="en-US" sz="1469" b="true">
                <a:solidFill>
                  <a:srgbClr val="C9BE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[EXCHANGE]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12678728" y="5879782"/>
            <a:ext cx="204594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7"/>
              </a:lnSpc>
            </a:pPr>
            <a:r>
              <a:rPr lang="en-US" sz="177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2024｜arrowhead 4.0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12678728" y="6217920"/>
            <a:ext cx="474630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3"/>
              </a:lnSpc>
            </a:pPr>
            <a:r>
              <a:rPr lang="en-US" sz="1594">
                <a:solidFill>
                  <a:srgbClr val="DCE3EE"/>
                </a:solidFill>
                <a:latin typeface="Calibri (MS)"/>
                <a:ea typeface="Calibri (MS)"/>
                <a:cs typeface="Calibri (MS)"/>
                <a:sym typeface="Calibri (MS)"/>
              </a:rPr>
              <a:t>提升 resilience、market quality 與便利性</a:t>
            </a:r>
          </a:p>
        </p:txBody>
      </p:sp>
      <p:grpSp>
        <p:nvGrpSpPr>
          <p:cNvPr name="Group 92" id="92"/>
          <p:cNvGrpSpPr/>
          <p:nvPr/>
        </p:nvGrpSpPr>
        <p:grpSpPr>
          <a:xfrm rot="0">
            <a:off x="12422981" y="6993731"/>
            <a:ext cx="5100638" cy="957262"/>
            <a:chOff x="0" y="0"/>
            <a:chExt cx="6800850" cy="127635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6800850" cy="1276350"/>
            </a:xfrm>
            <a:custGeom>
              <a:avLst/>
              <a:gdLst/>
              <a:ahLst/>
              <a:cxnLst/>
              <a:rect r="r" b="b" t="t" l="l"/>
              <a:pathLst>
                <a:path h="1276350" w="6800850">
                  <a:moveTo>
                    <a:pt x="0" y="0"/>
                  </a:moveTo>
                  <a:lnTo>
                    <a:pt x="6800850" y="0"/>
                  </a:lnTo>
                  <a:lnTo>
                    <a:pt x="6800850" y="1276350"/>
                  </a:lnTo>
                  <a:lnTo>
                    <a:pt x="0" y="1276350"/>
                  </a:lnTo>
                  <a:close/>
                </a:path>
              </a:pathLst>
            </a:custGeom>
            <a:solidFill>
              <a:srgbClr val="FFF7D6"/>
            </a:solidFill>
            <a:ln w="14288" cap="sq">
              <a:solidFill>
                <a:srgbClr val="F2C94C"/>
              </a:solidFill>
              <a:prstDash val="solid"/>
              <a:miter/>
            </a:ln>
          </p:spPr>
        </p:sp>
      </p:grpSp>
      <p:sp>
        <p:nvSpPr>
          <p:cNvPr name="TextBox 94" id="94"/>
          <p:cNvSpPr txBox="true"/>
          <p:nvPr/>
        </p:nvSpPr>
        <p:spPr>
          <a:xfrm rot="0">
            <a:off x="12693015" y="7108508"/>
            <a:ext cx="881509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16"/>
              </a:lnSpc>
              <a:spcBef>
                <a:spcPct val="0"/>
              </a:spcBef>
            </a:pPr>
            <a:r>
              <a:rPr lang="en-US" b="true" sz="1346" strike="noStrike" u="none">
                <a:solidFill>
                  <a:srgbClr val="7A5C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TRANSITION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12693015" y="7346632"/>
            <a:ext cx="456057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52"/>
              </a:lnSpc>
              <a:spcBef>
                <a:spcPct val="0"/>
              </a:spcBef>
            </a:pPr>
            <a:r>
              <a:rPr lang="en-US" b="true" sz="1627" strike="noStrike" u="none">
                <a:solidFill>
                  <a:srgbClr val="20242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HFT maturity → Governance</a:t>
            </a:r>
          </a:p>
        </p:txBody>
      </p:sp>
      <p:grpSp>
        <p:nvGrpSpPr>
          <p:cNvPr name="Group 96" id="96"/>
          <p:cNvGrpSpPr/>
          <p:nvPr/>
        </p:nvGrpSpPr>
        <p:grpSpPr>
          <a:xfrm rot="0">
            <a:off x="771525" y="8143875"/>
            <a:ext cx="16744950" cy="1114425"/>
            <a:chOff x="0" y="0"/>
            <a:chExt cx="22326600" cy="148590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22326600" cy="1485900"/>
            </a:xfrm>
            <a:custGeom>
              <a:avLst/>
              <a:gdLst/>
              <a:ahLst/>
              <a:cxnLst/>
              <a:rect r="r" b="b" t="t" l="l"/>
              <a:pathLst>
                <a:path h="1485900" w="22326600">
                  <a:moveTo>
                    <a:pt x="0" y="0"/>
                  </a:moveTo>
                  <a:lnTo>
                    <a:pt x="22326600" y="0"/>
                  </a:lnTo>
                  <a:lnTo>
                    <a:pt x="22326600" y="1485900"/>
                  </a:lnTo>
                  <a:lnTo>
                    <a:pt x="0" y="1485900"/>
                  </a:lnTo>
                  <a:close/>
                </a:path>
              </a:pathLst>
            </a:custGeom>
            <a:solidFill>
              <a:srgbClr val="20242B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771525" y="8143875"/>
            <a:ext cx="2171700" cy="1114425"/>
            <a:chOff x="0" y="0"/>
            <a:chExt cx="2895600" cy="148590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2895600" cy="1485900"/>
            </a:xfrm>
            <a:custGeom>
              <a:avLst/>
              <a:gdLst/>
              <a:ahLst/>
              <a:cxnLst/>
              <a:rect r="r" b="b" t="t" l="l"/>
              <a:pathLst>
                <a:path h="1485900" w="2895600">
                  <a:moveTo>
                    <a:pt x="0" y="0"/>
                  </a:moveTo>
                  <a:lnTo>
                    <a:pt x="2895600" y="0"/>
                  </a:lnTo>
                  <a:lnTo>
                    <a:pt x="2895600" y="1485900"/>
                  </a:lnTo>
                  <a:lnTo>
                    <a:pt x="0" y="1485900"/>
                  </a:lnTo>
                  <a:close/>
                </a:path>
              </a:pathLst>
            </a:custGeom>
            <a:solidFill>
              <a:srgbClr val="F2C94C"/>
            </a:solidFill>
          </p:spPr>
        </p:sp>
      </p:grpSp>
      <p:sp>
        <p:nvSpPr>
          <p:cNvPr name="TextBox 100" id="100"/>
          <p:cNvSpPr txBox="true"/>
          <p:nvPr/>
        </p:nvSpPr>
        <p:spPr>
          <a:xfrm rot="0">
            <a:off x="1120140" y="8337232"/>
            <a:ext cx="1460182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8"/>
              </a:lnSpc>
            </a:pPr>
            <a:r>
              <a:rPr lang="en-US" sz="1706" b="true">
                <a:solidFill>
                  <a:srgbClr val="20242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FORMATION</a:t>
            </a:r>
          </a:p>
          <a:p>
            <a:pPr algn="l">
              <a:lnSpc>
                <a:spcPts val="2048"/>
              </a:lnSpc>
            </a:pPr>
            <a:r>
              <a:rPr lang="en-US" sz="1706" b="true">
                <a:solidFill>
                  <a:srgbClr val="20242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PATH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3348990" y="8399145"/>
            <a:ext cx="1367599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20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Liberalization → Electronic Trading → Latency Demand → Low-Latency Infrastructure → HFT → Regulation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891540" y="9484995"/>
            <a:ext cx="16504920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6"/>
              </a:lnSpc>
            </a:pPr>
            <a:r>
              <a:rPr lang="en-US" sz="1222">
                <a:solidFill>
                  <a:srgbClr val="AEB8C8"/>
                </a:solidFill>
                <a:latin typeface="Calibri (MS)"/>
                <a:ea typeface="Calibri (MS)"/>
                <a:cs typeface="Calibri (MS)"/>
                <a:sym typeface="Calibri (MS)"/>
              </a:rPr>
              <a:t>資料來源：JSDA Fact Book；MOF Japan STT abolition；JPX annual reports / arrowhead 4.0；Japan FSA HST trends。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71525" y="414338"/>
            <a:ext cx="71438" cy="1028700"/>
            <a:chOff x="0" y="0"/>
            <a:chExt cx="95250" cy="1371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5250" cy="1371600"/>
            </a:xfrm>
            <a:custGeom>
              <a:avLst/>
              <a:gdLst/>
              <a:ahLst/>
              <a:cxnLst/>
              <a:rect r="r" b="b" t="t" l="l"/>
              <a:pathLst>
                <a:path h="1371600" w="95250">
                  <a:moveTo>
                    <a:pt x="0" y="0"/>
                  </a:moveTo>
                  <a:lnTo>
                    <a:pt x="95250" y="0"/>
                  </a:lnTo>
                  <a:lnTo>
                    <a:pt x="9525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F2C94C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120140" y="383857"/>
            <a:ext cx="1426071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sz="38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KOREA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20140" y="1136332"/>
            <a:ext cx="1275234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4" b="true">
                <a:solidFill>
                  <a:srgbClr val="9A73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STARTING POINT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806065" y="1064895"/>
            <a:ext cx="141046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11"/>
              </a:lnSpc>
              <a:spcBef>
                <a:spcPct val="0"/>
              </a:spcBef>
            </a:pPr>
            <a:r>
              <a:rPr lang="en-US" sz="2009" i="true" strike="noStrike" u="none">
                <a:solidFill>
                  <a:srgbClr val="DCE3EE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KRX 全面電子化、外資開放與高流動性的 KOSPI 200 衍生品，使大型 Basket、套利與避險委託需要自動化執行。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71525" y="1728788"/>
            <a:ext cx="16744950" cy="14288"/>
            <a:chOff x="0" y="0"/>
            <a:chExt cx="22326600" cy="190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326600" cy="19050"/>
            </a:xfrm>
            <a:custGeom>
              <a:avLst/>
              <a:gdLst/>
              <a:ahLst/>
              <a:cxnLst/>
              <a:rect r="r" b="b" t="t" l="l"/>
              <a:pathLst>
                <a:path h="19050" w="22326600">
                  <a:moveTo>
                    <a:pt x="0" y="0"/>
                  </a:moveTo>
                  <a:lnTo>
                    <a:pt x="22326600" y="0"/>
                  </a:lnTo>
                  <a:lnTo>
                    <a:pt x="22326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8DCE2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62965" y="1879283"/>
            <a:ext cx="178921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6"/>
              </a:lnSpc>
            </a:pPr>
            <a:r>
              <a:rPr lang="en-US" sz="1447" b="true">
                <a:solidFill>
                  <a:srgbClr val="AEB8C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DEVELOPMENT STAGES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168554" y="2341245"/>
            <a:ext cx="293043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9"/>
              </a:lnSpc>
            </a:pPr>
            <a:r>
              <a:rPr lang="en-US" sz="2549" b="true">
                <a:solidFill>
                  <a:srgbClr val="AEB8C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→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997854" y="2341245"/>
            <a:ext cx="293043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9"/>
              </a:lnSpc>
            </a:pPr>
            <a:r>
              <a:rPr lang="en-US" sz="2549" b="true">
                <a:solidFill>
                  <a:srgbClr val="AEB8C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→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257925" y="2257425"/>
            <a:ext cx="14288" cy="5557838"/>
            <a:chOff x="0" y="0"/>
            <a:chExt cx="19050" cy="74104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050" cy="7410450"/>
            </a:xfrm>
            <a:custGeom>
              <a:avLst/>
              <a:gdLst/>
              <a:ahLst/>
              <a:cxnLst/>
              <a:rect r="r" b="b" t="t" l="l"/>
              <a:pathLst>
                <a:path h="7410450" w="19050">
                  <a:moveTo>
                    <a:pt x="0" y="0"/>
                  </a:moveTo>
                  <a:lnTo>
                    <a:pt x="19050" y="0"/>
                  </a:lnTo>
                  <a:lnTo>
                    <a:pt x="19050" y="7410450"/>
                  </a:lnTo>
                  <a:lnTo>
                    <a:pt x="0" y="7410450"/>
                  </a:lnTo>
                  <a:close/>
                </a:path>
              </a:pathLst>
            </a:custGeom>
            <a:solidFill>
              <a:srgbClr val="D8DCE2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2087225" y="2257425"/>
            <a:ext cx="14288" cy="5557838"/>
            <a:chOff x="0" y="0"/>
            <a:chExt cx="19050" cy="74104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050" cy="7410450"/>
            </a:xfrm>
            <a:custGeom>
              <a:avLst/>
              <a:gdLst/>
              <a:ahLst/>
              <a:cxnLst/>
              <a:rect r="r" b="b" t="t" l="l"/>
              <a:pathLst>
                <a:path h="7410450" w="19050">
                  <a:moveTo>
                    <a:pt x="0" y="0"/>
                  </a:moveTo>
                  <a:lnTo>
                    <a:pt x="19050" y="0"/>
                  </a:lnTo>
                  <a:lnTo>
                    <a:pt x="19050" y="7410450"/>
                  </a:lnTo>
                  <a:lnTo>
                    <a:pt x="0" y="7410450"/>
                  </a:lnTo>
                  <a:close/>
                </a:path>
              </a:pathLst>
            </a:custGeom>
            <a:solidFill>
              <a:srgbClr val="D8DCE2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862965" y="2203133"/>
            <a:ext cx="415156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9"/>
              </a:lnSpc>
            </a:pPr>
            <a:r>
              <a:rPr lang="en-US" sz="3224" b="true">
                <a:solidFill>
                  <a:srgbClr val="F2C94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75169" y="2238375"/>
            <a:ext cx="4707582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89"/>
              </a:lnSpc>
              <a:spcBef>
                <a:spcPct val="0"/>
              </a:spcBef>
            </a:pPr>
            <a:r>
              <a:rPr lang="en-US" b="true" sz="2324" strike="noStrike" u="non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PROFESSIONAL EXECUTION DEMAND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771525" y="2886075"/>
            <a:ext cx="5086350" cy="14288"/>
            <a:chOff x="0" y="0"/>
            <a:chExt cx="6781800" cy="1905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781800" cy="19050"/>
            </a:xfrm>
            <a:custGeom>
              <a:avLst/>
              <a:gdLst/>
              <a:ahLst/>
              <a:cxnLst/>
              <a:rect r="r" b="b" t="t" l="l"/>
              <a:pathLst>
                <a:path h="19050" w="6781800">
                  <a:moveTo>
                    <a:pt x="0" y="0"/>
                  </a:moveTo>
                  <a:lnTo>
                    <a:pt x="6781800" y="0"/>
                  </a:lnTo>
                  <a:lnTo>
                    <a:pt x="67818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8DCE2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771525" y="2857500"/>
            <a:ext cx="628650" cy="57150"/>
            <a:chOff x="0" y="0"/>
            <a:chExt cx="838200" cy="762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38200" cy="76200"/>
            </a:xfrm>
            <a:custGeom>
              <a:avLst/>
              <a:gdLst/>
              <a:ahLst/>
              <a:cxnLst/>
              <a:rect r="r" b="b" t="t" l="l"/>
              <a:pathLst>
                <a:path h="762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F2C94C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862965" y="3088958"/>
            <a:ext cx="1904851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8"/>
              </a:lnSpc>
            </a:pPr>
            <a:r>
              <a:rPr lang="en-US" sz="1357" b="true">
                <a:solidFill>
                  <a:srgbClr val="AEB8C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MARKET PROBLEM / NEED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62965" y="3308033"/>
            <a:ext cx="4846320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87"/>
              </a:lnSpc>
              <a:spcBef>
                <a:spcPct val="0"/>
              </a:spcBef>
            </a:pPr>
            <a:r>
              <a:rPr lang="en-US" sz="1739" strike="noStrike" u="none">
                <a:solidFill>
                  <a:srgbClr val="E8EDF5"/>
                </a:solidFill>
                <a:latin typeface="Calibri (MS)"/>
                <a:ea typeface="Calibri (MS)"/>
                <a:cs typeface="Calibri (MS)"/>
                <a:sym typeface="Calibri (MS)"/>
              </a:rPr>
              <a:t>大型 Basket 與現貨—衍生品套利難以人工同步執行，機構需要降低 Market Impact 與 Tracking Error。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62965" y="4050983"/>
            <a:ext cx="84906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4"/>
              </a:lnSpc>
            </a:pPr>
            <a:r>
              <a:rPr lang="en-US" sz="1537" b="true">
                <a:solidFill>
                  <a:srgbClr val="AEB8C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RESPONSE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771525" y="4329112"/>
            <a:ext cx="42862" cy="842962"/>
            <a:chOff x="0" y="0"/>
            <a:chExt cx="57150" cy="11239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7150" cy="1123950"/>
            </a:xfrm>
            <a:custGeom>
              <a:avLst/>
              <a:gdLst/>
              <a:ahLst/>
              <a:cxnLst/>
              <a:rect r="r" b="b" t="t" l="l"/>
              <a:pathLst>
                <a:path h="1123950" w="57150">
                  <a:moveTo>
                    <a:pt x="0" y="0"/>
                  </a:moveTo>
                  <a:lnTo>
                    <a:pt x="57150" y="0"/>
                  </a:lnTo>
                  <a:lnTo>
                    <a:pt x="57150" y="1123950"/>
                  </a:lnTo>
                  <a:lnTo>
                    <a:pt x="0" y="1123950"/>
                  </a:lnTo>
                  <a:close/>
                </a:path>
              </a:pathLst>
            </a:custGeom>
            <a:solidFill>
              <a:srgbClr val="2F6B9A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020127" y="4331970"/>
            <a:ext cx="78745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3"/>
              </a:lnSpc>
            </a:pPr>
            <a:r>
              <a:rPr lang="en-US" sz="1469" b="true">
                <a:solidFill>
                  <a:srgbClr val="7DD3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[MARKET]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20128" y="4536758"/>
            <a:ext cx="3052167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7"/>
              </a:lnSpc>
            </a:pPr>
            <a:r>
              <a:rPr lang="en-US" sz="177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2008｜Institutional Algo Trading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20127" y="4874895"/>
            <a:ext cx="474630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13"/>
              </a:lnSpc>
              <a:spcBef>
                <a:spcPct val="0"/>
              </a:spcBef>
            </a:pPr>
            <a:r>
              <a:rPr lang="en-US" sz="1594" strike="noStrike" u="none">
                <a:solidFill>
                  <a:srgbClr val="DCE3EE"/>
                </a:solidFill>
                <a:latin typeface="Calibri (MS)"/>
                <a:ea typeface="Calibri (MS)"/>
                <a:cs typeface="Calibri (MS)"/>
                <a:sym typeface="Calibri (MS)"/>
              </a:rPr>
              <a:t>外資與機構導入 Basket／Arbitrage 執行 Algo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771525" y="5672138"/>
            <a:ext cx="42862" cy="842962"/>
            <a:chOff x="0" y="0"/>
            <a:chExt cx="57150" cy="112395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7150" cy="1123950"/>
            </a:xfrm>
            <a:custGeom>
              <a:avLst/>
              <a:gdLst/>
              <a:ahLst/>
              <a:cxnLst/>
              <a:rect r="r" b="b" t="t" l="l"/>
              <a:pathLst>
                <a:path h="1123950" w="57150">
                  <a:moveTo>
                    <a:pt x="0" y="0"/>
                  </a:moveTo>
                  <a:lnTo>
                    <a:pt x="57150" y="0"/>
                  </a:lnTo>
                  <a:lnTo>
                    <a:pt x="57150" y="1123950"/>
                  </a:lnTo>
                  <a:lnTo>
                    <a:pt x="0" y="1123950"/>
                  </a:lnTo>
                  <a:close/>
                </a:path>
              </a:pathLst>
            </a:custGeom>
            <a:solidFill>
              <a:srgbClr val="B7791F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020127" y="5674995"/>
            <a:ext cx="112901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3"/>
              </a:lnSpc>
            </a:pPr>
            <a:r>
              <a:rPr lang="en-US" sz="1469" b="true">
                <a:solidFill>
                  <a:srgbClr val="FFD38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[INSTITUTION]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20127" y="5879782"/>
            <a:ext cx="215294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7"/>
              </a:lnSpc>
            </a:pPr>
            <a:r>
              <a:rPr lang="en-US" sz="177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Broker Dedicated Lines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20127" y="6217920"/>
            <a:ext cx="474630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3"/>
              </a:lnSpc>
            </a:pPr>
            <a:r>
              <a:rPr lang="en-US" sz="1594">
                <a:solidFill>
                  <a:srgbClr val="DCE3EE"/>
                </a:solidFill>
                <a:latin typeface="Calibri (MS)"/>
                <a:ea typeface="Calibri (MS)"/>
                <a:cs typeface="Calibri (MS)"/>
                <a:sym typeface="Calibri (MS)"/>
              </a:rPr>
              <a:t>為速度敏感客戶提供更快路由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764381" y="6993731"/>
            <a:ext cx="5100638" cy="957262"/>
            <a:chOff x="0" y="0"/>
            <a:chExt cx="6800850" cy="127635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800850" cy="1276350"/>
            </a:xfrm>
            <a:custGeom>
              <a:avLst/>
              <a:gdLst/>
              <a:ahLst/>
              <a:cxnLst/>
              <a:rect r="r" b="b" t="t" l="l"/>
              <a:pathLst>
                <a:path h="1276350" w="6800850">
                  <a:moveTo>
                    <a:pt x="0" y="0"/>
                  </a:moveTo>
                  <a:lnTo>
                    <a:pt x="6800850" y="0"/>
                  </a:lnTo>
                  <a:lnTo>
                    <a:pt x="6800850" y="1276350"/>
                  </a:lnTo>
                  <a:lnTo>
                    <a:pt x="0" y="1276350"/>
                  </a:lnTo>
                  <a:close/>
                </a:path>
              </a:pathLst>
            </a:custGeom>
            <a:solidFill>
              <a:srgbClr val="FFF7D6"/>
            </a:solidFill>
            <a:ln w="14288" cap="sq">
              <a:solidFill>
                <a:srgbClr val="F2C94C"/>
              </a:solidFill>
              <a:prstDash val="solid"/>
              <a:miter/>
            </a:ln>
          </p:spPr>
        </p:sp>
      </p:grpSp>
      <p:sp>
        <p:nvSpPr>
          <p:cNvPr name="TextBox 38" id="38"/>
          <p:cNvSpPr txBox="true"/>
          <p:nvPr/>
        </p:nvSpPr>
        <p:spPr>
          <a:xfrm rot="0">
            <a:off x="1034415" y="7108508"/>
            <a:ext cx="881509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16"/>
              </a:lnSpc>
              <a:spcBef>
                <a:spcPct val="0"/>
              </a:spcBef>
            </a:pPr>
            <a:r>
              <a:rPr lang="en-US" b="true" sz="1346" strike="noStrike" u="none">
                <a:solidFill>
                  <a:srgbClr val="7A5C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TRANSITION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34415" y="7346632"/>
            <a:ext cx="456057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52"/>
              </a:lnSpc>
              <a:spcBef>
                <a:spcPct val="0"/>
              </a:spcBef>
            </a:pPr>
            <a:r>
              <a:rPr lang="en-US" b="true" sz="1627" strike="noStrike" u="none">
                <a:solidFill>
                  <a:srgbClr val="20242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Professional flow → Automated execution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692265" y="2203133"/>
            <a:ext cx="415156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9"/>
              </a:lnSpc>
            </a:pPr>
            <a:r>
              <a:rPr lang="en-US" sz="3224" b="true">
                <a:solidFill>
                  <a:srgbClr val="F2C94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549515" y="2241233"/>
            <a:ext cx="404622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9"/>
              </a:lnSpc>
            </a:pPr>
            <a:r>
              <a:rPr lang="en-US" sz="2324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SPEED COMPETITION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6600825" y="2886075"/>
            <a:ext cx="5086350" cy="14288"/>
            <a:chOff x="0" y="0"/>
            <a:chExt cx="6781800" cy="1905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781800" cy="19050"/>
            </a:xfrm>
            <a:custGeom>
              <a:avLst/>
              <a:gdLst/>
              <a:ahLst/>
              <a:cxnLst/>
              <a:rect r="r" b="b" t="t" l="l"/>
              <a:pathLst>
                <a:path h="19050" w="6781800">
                  <a:moveTo>
                    <a:pt x="0" y="0"/>
                  </a:moveTo>
                  <a:lnTo>
                    <a:pt x="6781800" y="0"/>
                  </a:lnTo>
                  <a:lnTo>
                    <a:pt x="67818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8DCE2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600825" y="2857500"/>
            <a:ext cx="628650" cy="57150"/>
            <a:chOff x="0" y="0"/>
            <a:chExt cx="838200" cy="762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38200" cy="76200"/>
            </a:xfrm>
            <a:custGeom>
              <a:avLst/>
              <a:gdLst/>
              <a:ahLst/>
              <a:cxnLst/>
              <a:rect r="r" b="b" t="t" l="l"/>
              <a:pathLst>
                <a:path h="762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F2C94C"/>
            </a:solidFill>
          </p:spPr>
        </p:sp>
      </p:grpSp>
      <p:sp>
        <p:nvSpPr>
          <p:cNvPr name="TextBox 46" id="46"/>
          <p:cNvSpPr txBox="true"/>
          <p:nvPr/>
        </p:nvSpPr>
        <p:spPr>
          <a:xfrm rot="0">
            <a:off x="6692265" y="3088958"/>
            <a:ext cx="1904851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8"/>
              </a:lnSpc>
            </a:pPr>
            <a:r>
              <a:rPr lang="en-US" sz="1357" b="true">
                <a:solidFill>
                  <a:srgbClr val="AEB8C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MARKET PROBLEM / NEED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6692265" y="3308033"/>
            <a:ext cx="4846320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7"/>
              </a:lnSpc>
            </a:pPr>
            <a:r>
              <a:rPr lang="en-US" sz="1739">
                <a:solidFill>
                  <a:srgbClr val="E8EDF5"/>
                </a:solidFill>
                <a:latin typeface="Calibri (MS)"/>
                <a:ea typeface="Calibri (MS)"/>
                <a:cs typeface="Calibri (MS)"/>
                <a:sym typeface="Calibri (MS)"/>
              </a:rPr>
              <a:t>速度需求增加後，高速接入的商業價值與參與者差異同步放大。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6692265" y="4050983"/>
            <a:ext cx="84906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4"/>
              </a:lnSpc>
            </a:pPr>
            <a:r>
              <a:rPr lang="en-US" sz="1537" b="true">
                <a:solidFill>
                  <a:srgbClr val="AEB8C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RESPONSE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6600825" y="4329112"/>
            <a:ext cx="42862" cy="842962"/>
            <a:chOff x="0" y="0"/>
            <a:chExt cx="57150" cy="112395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7150" cy="1123950"/>
            </a:xfrm>
            <a:custGeom>
              <a:avLst/>
              <a:gdLst/>
              <a:ahLst/>
              <a:cxnLst/>
              <a:rect r="r" b="b" t="t" l="l"/>
              <a:pathLst>
                <a:path h="1123950" w="57150">
                  <a:moveTo>
                    <a:pt x="0" y="0"/>
                  </a:moveTo>
                  <a:lnTo>
                    <a:pt x="57150" y="0"/>
                  </a:lnTo>
                  <a:lnTo>
                    <a:pt x="57150" y="1123950"/>
                  </a:lnTo>
                  <a:lnTo>
                    <a:pt x="0" y="1123950"/>
                  </a:lnTo>
                  <a:close/>
                </a:path>
              </a:pathLst>
            </a:custGeom>
            <a:solidFill>
              <a:srgbClr val="2F6B9A"/>
            </a:solidFill>
          </p:spPr>
        </p:sp>
      </p:grpSp>
      <p:sp>
        <p:nvSpPr>
          <p:cNvPr name="TextBox 51" id="51"/>
          <p:cNvSpPr txBox="true"/>
          <p:nvPr/>
        </p:nvSpPr>
        <p:spPr>
          <a:xfrm rot="0">
            <a:off x="6849428" y="4331970"/>
            <a:ext cx="78745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3"/>
              </a:lnSpc>
            </a:pPr>
            <a:r>
              <a:rPr lang="en-US" sz="1469" b="true">
                <a:solidFill>
                  <a:srgbClr val="7DD3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[MARKET]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6849428" y="4536758"/>
            <a:ext cx="2902297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7"/>
              </a:lnSpc>
            </a:pPr>
            <a:r>
              <a:rPr lang="en-US" sz="177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2011｜ELW Speed Controversy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6849428" y="4874895"/>
            <a:ext cx="474630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3"/>
              </a:lnSpc>
            </a:pPr>
            <a:r>
              <a:rPr lang="en-US" sz="1594">
                <a:solidFill>
                  <a:srgbClr val="DCE3EE"/>
                </a:solidFill>
                <a:latin typeface="Calibri (MS)"/>
                <a:ea typeface="Calibri (MS)"/>
                <a:cs typeface="Calibri (MS)"/>
                <a:sym typeface="Calibri (MS)"/>
              </a:rPr>
              <a:t>高速接入差異使公平性問題浮現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6600825" y="5214938"/>
            <a:ext cx="42862" cy="842962"/>
            <a:chOff x="0" y="0"/>
            <a:chExt cx="57150" cy="112395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7150" cy="1123950"/>
            </a:xfrm>
            <a:custGeom>
              <a:avLst/>
              <a:gdLst/>
              <a:ahLst/>
              <a:cxnLst/>
              <a:rect r="r" b="b" t="t" l="l"/>
              <a:pathLst>
                <a:path h="1123950" w="57150">
                  <a:moveTo>
                    <a:pt x="0" y="0"/>
                  </a:moveTo>
                  <a:lnTo>
                    <a:pt x="57150" y="0"/>
                  </a:lnTo>
                  <a:lnTo>
                    <a:pt x="57150" y="1123950"/>
                  </a:lnTo>
                  <a:lnTo>
                    <a:pt x="0" y="1123950"/>
                  </a:lnTo>
                  <a:close/>
                </a:path>
              </a:pathLst>
            </a:custGeom>
            <a:solidFill>
              <a:srgbClr val="6E5AA8"/>
            </a:solidFill>
          </p:spPr>
        </p:sp>
      </p:grpSp>
      <p:sp>
        <p:nvSpPr>
          <p:cNvPr name="TextBox 56" id="56"/>
          <p:cNvSpPr txBox="true"/>
          <p:nvPr/>
        </p:nvSpPr>
        <p:spPr>
          <a:xfrm rot="0">
            <a:off x="6849428" y="5217795"/>
            <a:ext cx="976759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3"/>
              </a:lnSpc>
            </a:pPr>
            <a:r>
              <a:rPr lang="en-US" sz="1469" b="true">
                <a:solidFill>
                  <a:srgbClr val="C9BE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[EXCHANGE]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6849428" y="5422582"/>
            <a:ext cx="192553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7"/>
              </a:lnSpc>
            </a:pPr>
            <a:r>
              <a:rPr lang="en-US" sz="177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KRX NEW / EXTURE+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6849428" y="5760720"/>
            <a:ext cx="474630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3"/>
              </a:lnSpc>
            </a:pPr>
            <a:r>
              <a:rPr lang="en-US" sz="1594">
                <a:solidFill>
                  <a:srgbClr val="DCE3EE"/>
                </a:solidFill>
                <a:latin typeface="Calibri (MS)"/>
                <a:ea typeface="Calibri (MS)"/>
                <a:cs typeface="Calibri (MS)"/>
                <a:sym typeface="Calibri (MS)"/>
              </a:rPr>
              <a:t>升級撮合速度、容量與低延遲能力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6600825" y="6100762"/>
            <a:ext cx="42862" cy="842962"/>
            <a:chOff x="0" y="0"/>
            <a:chExt cx="57150" cy="112395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7150" cy="1123950"/>
            </a:xfrm>
            <a:custGeom>
              <a:avLst/>
              <a:gdLst/>
              <a:ahLst/>
              <a:cxnLst/>
              <a:rect r="r" b="b" t="t" l="l"/>
              <a:pathLst>
                <a:path h="1123950" w="57150">
                  <a:moveTo>
                    <a:pt x="0" y="0"/>
                  </a:moveTo>
                  <a:lnTo>
                    <a:pt x="57150" y="0"/>
                  </a:lnTo>
                  <a:lnTo>
                    <a:pt x="57150" y="1123950"/>
                  </a:lnTo>
                  <a:lnTo>
                    <a:pt x="0" y="1123950"/>
                  </a:lnTo>
                  <a:close/>
                </a:path>
              </a:pathLst>
            </a:custGeom>
            <a:solidFill>
              <a:srgbClr val="B7791F"/>
            </a:solidFill>
          </p:spPr>
        </p:sp>
      </p:grpSp>
      <p:sp>
        <p:nvSpPr>
          <p:cNvPr name="TextBox 61" id="61"/>
          <p:cNvSpPr txBox="true"/>
          <p:nvPr/>
        </p:nvSpPr>
        <p:spPr>
          <a:xfrm rot="0">
            <a:off x="6849428" y="6103620"/>
            <a:ext cx="112901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3"/>
              </a:lnSpc>
            </a:pPr>
            <a:r>
              <a:rPr lang="en-US" sz="1469" b="true">
                <a:solidFill>
                  <a:srgbClr val="FFD38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[INSTITUTION]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6849428" y="6308408"/>
            <a:ext cx="1917204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7"/>
              </a:lnSpc>
            </a:pPr>
            <a:r>
              <a:rPr lang="en-US" sz="177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DMA / Faster Access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6849428" y="6646545"/>
            <a:ext cx="474630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3"/>
              </a:lnSpc>
            </a:pPr>
            <a:r>
              <a:rPr lang="en-US" sz="1594">
                <a:solidFill>
                  <a:srgbClr val="DCE3EE"/>
                </a:solidFill>
                <a:latin typeface="Calibri (MS)"/>
                <a:ea typeface="Calibri (MS)"/>
                <a:cs typeface="Calibri (MS)"/>
                <a:sym typeface="Calibri (MS)"/>
              </a:rPr>
              <a:t>海外機構透過券商直接接入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6593681" y="6993731"/>
            <a:ext cx="5100638" cy="957262"/>
            <a:chOff x="0" y="0"/>
            <a:chExt cx="6800850" cy="127635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800850" cy="1276350"/>
            </a:xfrm>
            <a:custGeom>
              <a:avLst/>
              <a:gdLst/>
              <a:ahLst/>
              <a:cxnLst/>
              <a:rect r="r" b="b" t="t" l="l"/>
              <a:pathLst>
                <a:path h="1276350" w="6800850">
                  <a:moveTo>
                    <a:pt x="0" y="0"/>
                  </a:moveTo>
                  <a:lnTo>
                    <a:pt x="6800850" y="0"/>
                  </a:lnTo>
                  <a:lnTo>
                    <a:pt x="6800850" y="1276350"/>
                  </a:lnTo>
                  <a:lnTo>
                    <a:pt x="0" y="1276350"/>
                  </a:lnTo>
                  <a:close/>
                </a:path>
              </a:pathLst>
            </a:custGeom>
            <a:solidFill>
              <a:srgbClr val="FFF7D6"/>
            </a:solidFill>
            <a:ln w="14288" cap="sq">
              <a:solidFill>
                <a:srgbClr val="F2C94C"/>
              </a:solidFill>
              <a:prstDash val="solid"/>
              <a:miter/>
            </a:ln>
          </p:spPr>
        </p:sp>
      </p:grpSp>
      <p:sp>
        <p:nvSpPr>
          <p:cNvPr name="TextBox 66" id="66"/>
          <p:cNvSpPr txBox="true"/>
          <p:nvPr/>
        </p:nvSpPr>
        <p:spPr>
          <a:xfrm rot="0">
            <a:off x="6863715" y="7108508"/>
            <a:ext cx="881509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16"/>
              </a:lnSpc>
              <a:spcBef>
                <a:spcPct val="0"/>
              </a:spcBef>
            </a:pPr>
            <a:r>
              <a:rPr lang="en-US" b="true" sz="1346" strike="noStrike" u="none">
                <a:solidFill>
                  <a:srgbClr val="7A5C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TRANSITION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6863715" y="7346632"/>
            <a:ext cx="456057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52"/>
              </a:lnSpc>
              <a:spcBef>
                <a:spcPct val="0"/>
              </a:spcBef>
            </a:pPr>
            <a:r>
              <a:rPr lang="en-US" b="true" sz="1627" strike="noStrike" u="none">
                <a:solidFill>
                  <a:srgbClr val="20242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Speed competition → Formalization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2521565" y="2203133"/>
            <a:ext cx="415156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9"/>
              </a:lnSpc>
            </a:pPr>
            <a:r>
              <a:rPr lang="en-US" sz="3224" b="true">
                <a:solidFill>
                  <a:srgbClr val="F2C94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3378815" y="2250758"/>
            <a:ext cx="4046220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38"/>
              </a:lnSpc>
              <a:spcBef>
                <a:spcPct val="0"/>
              </a:spcBef>
            </a:pPr>
            <a:r>
              <a:rPr lang="en-US" b="true" sz="2032" strike="noStrike" u="non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FORMALIZATION &amp; MARKET EXPANSION</a:t>
            </a:r>
          </a:p>
        </p:txBody>
      </p:sp>
      <p:grpSp>
        <p:nvGrpSpPr>
          <p:cNvPr name="Group 70" id="70"/>
          <p:cNvGrpSpPr/>
          <p:nvPr/>
        </p:nvGrpSpPr>
        <p:grpSpPr>
          <a:xfrm rot="0">
            <a:off x="12430125" y="2886075"/>
            <a:ext cx="5086350" cy="14288"/>
            <a:chOff x="0" y="0"/>
            <a:chExt cx="6781800" cy="1905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6781800" cy="19050"/>
            </a:xfrm>
            <a:custGeom>
              <a:avLst/>
              <a:gdLst/>
              <a:ahLst/>
              <a:cxnLst/>
              <a:rect r="r" b="b" t="t" l="l"/>
              <a:pathLst>
                <a:path h="19050" w="6781800">
                  <a:moveTo>
                    <a:pt x="0" y="0"/>
                  </a:moveTo>
                  <a:lnTo>
                    <a:pt x="6781800" y="0"/>
                  </a:lnTo>
                  <a:lnTo>
                    <a:pt x="67818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8DCE2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2430125" y="2857500"/>
            <a:ext cx="628650" cy="57150"/>
            <a:chOff x="0" y="0"/>
            <a:chExt cx="838200" cy="762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838200" cy="76200"/>
            </a:xfrm>
            <a:custGeom>
              <a:avLst/>
              <a:gdLst/>
              <a:ahLst/>
              <a:cxnLst/>
              <a:rect r="r" b="b" t="t" l="l"/>
              <a:pathLst>
                <a:path h="762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F2C94C"/>
            </a:solidFill>
          </p:spPr>
        </p:sp>
      </p:grpSp>
      <p:sp>
        <p:nvSpPr>
          <p:cNvPr name="TextBox 74" id="74"/>
          <p:cNvSpPr txBox="true"/>
          <p:nvPr/>
        </p:nvSpPr>
        <p:spPr>
          <a:xfrm rot="0">
            <a:off x="12521565" y="3088958"/>
            <a:ext cx="1904851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8"/>
              </a:lnSpc>
            </a:pPr>
            <a:r>
              <a:rPr lang="en-US" sz="1357" b="true">
                <a:solidFill>
                  <a:srgbClr val="AEB8C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MARKET PROBLEM / NEED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2521565" y="3308033"/>
            <a:ext cx="4846320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87"/>
              </a:lnSpc>
              <a:spcBef>
                <a:spcPct val="0"/>
              </a:spcBef>
            </a:pPr>
            <a:r>
              <a:rPr lang="en-US" sz="1739" strike="noStrike" u="none">
                <a:solidFill>
                  <a:srgbClr val="E8EDF5"/>
                </a:solidFill>
                <a:latin typeface="Calibri (MS)"/>
                <a:ea typeface="Calibri (MS)"/>
                <a:cs typeface="Calibri (MS)"/>
                <a:sym typeface="Calibri (MS)"/>
              </a:rPr>
              <a:t>HFT 風控與 Venue Competition 是平行發展，分別推動監理與跨市場執行能力。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2521565" y="4050983"/>
            <a:ext cx="84906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4"/>
              </a:lnSpc>
            </a:pPr>
            <a:r>
              <a:rPr lang="en-US" sz="1537" b="true">
                <a:solidFill>
                  <a:srgbClr val="AEB8C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RESPONSE</a:t>
            </a:r>
          </a:p>
        </p:txBody>
      </p:sp>
      <p:grpSp>
        <p:nvGrpSpPr>
          <p:cNvPr name="Group 77" id="77"/>
          <p:cNvGrpSpPr/>
          <p:nvPr/>
        </p:nvGrpSpPr>
        <p:grpSpPr>
          <a:xfrm rot="0">
            <a:off x="12430125" y="4329112"/>
            <a:ext cx="42862" cy="842962"/>
            <a:chOff x="0" y="0"/>
            <a:chExt cx="57150" cy="112395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7150" cy="1123950"/>
            </a:xfrm>
            <a:custGeom>
              <a:avLst/>
              <a:gdLst/>
              <a:ahLst/>
              <a:cxnLst/>
              <a:rect r="r" b="b" t="t" l="l"/>
              <a:pathLst>
                <a:path h="1123950" w="57150">
                  <a:moveTo>
                    <a:pt x="0" y="0"/>
                  </a:moveTo>
                  <a:lnTo>
                    <a:pt x="57150" y="0"/>
                  </a:lnTo>
                  <a:lnTo>
                    <a:pt x="57150" y="1123950"/>
                  </a:lnTo>
                  <a:lnTo>
                    <a:pt x="0" y="1123950"/>
                  </a:lnTo>
                  <a:close/>
                </a:path>
              </a:pathLst>
            </a:custGeom>
            <a:solidFill>
              <a:srgbClr val="6E5AA8"/>
            </a:solidFill>
          </p:spPr>
        </p:sp>
      </p:grpSp>
      <p:sp>
        <p:nvSpPr>
          <p:cNvPr name="TextBox 79" id="79"/>
          <p:cNvSpPr txBox="true"/>
          <p:nvPr/>
        </p:nvSpPr>
        <p:spPr>
          <a:xfrm rot="0">
            <a:off x="12678728" y="4331970"/>
            <a:ext cx="670768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3"/>
              </a:lnSpc>
            </a:pPr>
            <a:r>
              <a:rPr lang="en-US" sz="1469" b="true">
                <a:solidFill>
                  <a:srgbClr val="C9BE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[POLICY]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2678728" y="4536758"/>
            <a:ext cx="2224683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7"/>
              </a:lnSpc>
            </a:pPr>
            <a:r>
              <a:rPr lang="en-US" sz="177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2023｜HFT Registration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2678728" y="4874895"/>
            <a:ext cx="474630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13"/>
              </a:lnSpc>
              <a:spcBef>
                <a:spcPct val="0"/>
              </a:spcBef>
            </a:pPr>
            <a:r>
              <a:rPr lang="en-US" sz="1594" strike="noStrike" u="none">
                <a:solidFill>
                  <a:srgbClr val="DCE3EE"/>
                </a:solidFill>
                <a:latin typeface="Calibri (MS)"/>
                <a:ea typeface="Calibri (MS)"/>
                <a:cs typeface="Calibri (MS)"/>
                <a:sym typeface="Calibri (MS)"/>
              </a:rPr>
              <a:t>因 HFT 規模與風險建立 Trader ID 與券商風控</a:t>
            </a:r>
          </a:p>
        </p:txBody>
      </p:sp>
      <p:grpSp>
        <p:nvGrpSpPr>
          <p:cNvPr name="Group 82" id="82"/>
          <p:cNvGrpSpPr/>
          <p:nvPr/>
        </p:nvGrpSpPr>
        <p:grpSpPr>
          <a:xfrm rot="0">
            <a:off x="12430125" y="5214938"/>
            <a:ext cx="42862" cy="842962"/>
            <a:chOff x="0" y="0"/>
            <a:chExt cx="57150" cy="112395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57150" cy="1123950"/>
            </a:xfrm>
            <a:custGeom>
              <a:avLst/>
              <a:gdLst/>
              <a:ahLst/>
              <a:cxnLst/>
              <a:rect r="r" b="b" t="t" l="l"/>
              <a:pathLst>
                <a:path h="1123950" w="57150">
                  <a:moveTo>
                    <a:pt x="0" y="0"/>
                  </a:moveTo>
                  <a:lnTo>
                    <a:pt x="57150" y="0"/>
                  </a:lnTo>
                  <a:lnTo>
                    <a:pt x="57150" y="1123950"/>
                  </a:lnTo>
                  <a:lnTo>
                    <a:pt x="0" y="1123950"/>
                  </a:lnTo>
                  <a:close/>
                </a:path>
              </a:pathLst>
            </a:custGeom>
            <a:solidFill>
              <a:srgbClr val="6E5AA8"/>
            </a:solidFill>
          </p:spPr>
        </p:sp>
      </p:grpSp>
      <p:sp>
        <p:nvSpPr>
          <p:cNvPr name="TextBox 84" id="84"/>
          <p:cNvSpPr txBox="true"/>
          <p:nvPr/>
        </p:nvSpPr>
        <p:spPr>
          <a:xfrm rot="0">
            <a:off x="12678728" y="5217795"/>
            <a:ext cx="976759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3"/>
              </a:lnSpc>
            </a:pPr>
            <a:r>
              <a:rPr lang="en-US" sz="1469" b="true">
                <a:solidFill>
                  <a:srgbClr val="C9BE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[EXCHANGE]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2678728" y="5422582"/>
            <a:ext cx="1549301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7"/>
              </a:lnSpc>
            </a:pPr>
            <a:r>
              <a:rPr lang="en-US" sz="177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2025｜Nextrade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2678728" y="5760720"/>
            <a:ext cx="474630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13"/>
              </a:lnSpc>
              <a:spcBef>
                <a:spcPct val="0"/>
              </a:spcBef>
            </a:pPr>
            <a:r>
              <a:rPr lang="en-US" sz="1594" strike="noStrike" u="none">
                <a:solidFill>
                  <a:srgbClr val="DCE3EE"/>
                </a:solidFill>
                <a:latin typeface="Calibri (MS)"/>
                <a:ea typeface="Calibri (MS)"/>
                <a:cs typeface="Calibri (MS)"/>
                <a:sym typeface="Calibri (MS)"/>
              </a:rPr>
              <a:t>導入 Venue Competition，形成 KRX＋NXT 多市場</a:t>
            </a:r>
          </a:p>
        </p:txBody>
      </p:sp>
      <p:grpSp>
        <p:nvGrpSpPr>
          <p:cNvPr name="Group 87" id="87"/>
          <p:cNvGrpSpPr/>
          <p:nvPr/>
        </p:nvGrpSpPr>
        <p:grpSpPr>
          <a:xfrm rot="0">
            <a:off x="12430125" y="6100762"/>
            <a:ext cx="42862" cy="842962"/>
            <a:chOff x="0" y="0"/>
            <a:chExt cx="57150" cy="112395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57150" cy="1123950"/>
            </a:xfrm>
            <a:custGeom>
              <a:avLst/>
              <a:gdLst/>
              <a:ahLst/>
              <a:cxnLst/>
              <a:rect r="r" b="b" t="t" l="l"/>
              <a:pathLst>
                <a:path h="1123950" w="57150">
                  <a:moveTo>
                    <a:pt x="0" y="0"/>
                  </a:moveTo>
                  <a:lnTo>
                    <a:pt x="57150" y="0"/>
                  </a:lnTo>
                  <a:lnTo>
                    <a:pt x="57150" y="1123950"/>
                  </a:lnTo>
                  <a:lnTo>
                    <a:pt x="0" y="1123950"/>
                  </a:lnTo>
                  <a:close/>
                </a:path>
              </a:pathLst>
            </a:custGeom>
            <a:solidFill>
              <a:srgbClr val="B7791F"/>
            </a:solidFill>
          </p:spPr>
        </p:sp>
      </p:grpSp>
      <p:sp>
        <p:nvSpPr>
          <p:cNvPr name="TextBox 89" id="89"/>
          <p:cNvSpPr txBox="true"/>
          <p:nvPr/>
        </p:nvSpPr>
        <p:spPr>
          <a:xfrm rot="0">
            <a:off x="12678728" y="6103620"/>
            <a:ext cx="112901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3"/>
              </a:lnSpc>
            </a:pPr>
            <a:r>
              <a:rPr lang="en-US" sz="1469" b="true">
                <a:solidFill>
                  <a:srgbClr val="FFD38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[INSTITUTION]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12678728" y="6308408"/>
            <a:ext cx="1958132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7"/>
              </a:lnSpc>
            </a:pPr>
            <a:r>
              <a:rPr lang="en-US" sz="177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Best Execution / SOR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12678728" y="6646545"/>
            <a:ext cx="474630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13"/>
              </a:lnSpc>
              <a:spcBef>
                <a:spcPct val="0"/>
              </a:spcBef>
            </a:pPr>
            <a:r>
              <a:rPr lang="en-US" sz="1594" strike="noStrike" u="none">
                <a:solidFill>
                  <a:srgbClr val="DCE3EE"/>
                </a:solidFill>
                <a:latin typeface="Calibri (MS)"/>
                <a:ea typeface="Calibri (MS)"/>
                <a:cs typeface="Calibri (MS)"/>
                <a:sym typeface="Calibri (MS)"/>
              </a:rPr>
              <a:t>多市場制度要求 Best Execution 與跨市場路由</a:t>
            </a:r>
          </a:p>
        </p:txBody>
      </p:sp>
      <p:grpSp>
        <p:nvGrpSpPr>
          <p:cNvPr name="Group 92" id="92"/>
          <p:cNvGrpSpPr/>
          <p:nvPr/>
        </p:nvGrpSpPr>
        <p:grpSpPr>
          <a:xfrm rot="0">
            <a:off x="12422981" y="6993731"/>
            <a:ext cx="5100638" cy="957262"/>
            <a:chOff x="0" y="0"/>
            <a:chExt cx="6800850" cy="127635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6800850" cy="1276350"/>
            </a:xfrm>
            <a:custGeom>
              <a:avLst/>
              <a:gdLst/>
              <a:ahLst/>
              <a:cxnLst/>
              <a:rect r="r" b="b" t="t" l="l"/>
              <a:pathLst>
                <a:path h="1276350" w="6800850">
                  <a:moveTo>
                    <a:pt x="0" y="0"/>
                  </a:moveTo>
                  <a:lnTo>
                    <a:pt x="6800850" y="0"/>
                  </a:lnTo>
                  <a:lnTo>
                    <a:pt x="6800850" y="1276350"/>
                  </a:lnTo>
                  <a:lnTo>
                    <a:pt x="0" y="1276350"/>
                  </a:lnTo>
                  <a:close/>
                </a:path>
              </a:pathLst>
            </a:custGeom>
            <a:solidFill>
              <a:srgbClr val="FFF7D6"/>
            </a:solidFill>
            <a:ln w="14288" cap="sq">
              <a:solidFill>
                <a:srgbClr val="F2C94C"/>
              </a:solidFill>
              <a:prstDash val="solid"/>
              <a:miter/>
            </a:ln>
          </p:spPr>
        </p:sp>
      </p:grpSp>
      <p:sp>
        <p:nvSpPr>
          <p:cNvPr name="TextBox 94" id="94"/>
          <p:cNvSpPr txBox="true"/>
          <p:nvPr/>
        </p:nvSpPr>
        <p:spPr>
          <a:xfrm rot="0">
            <a:off x="12693015" y="7108508"/>
            <a:ext cx="881509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16"/>
              </a:lnSpc>
              <a:spcBef>
                <a:spcPct val="0"/>
              </a:spcBef>
            </a:pPr>
            <a:r>
              <a:rPr lang="en-US" b="true" sz="1346" strike="noStrike" u="none">
                <a:solidFill>
                  <a:srgbClr val="7A5C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TRANSITION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12693015" y="7346632"/>
            <a:ext cx="456057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52"/>
              </a:lnSpc>
              <a:spcBef>
                <a:spcPct val="0"/>
              </a:spcBef>
            </a:pPr>
            <a:r>
              <a:rPr lang="en-US" b="true" sz="1627" strike="noStrike" u="none">
                <a:solidFill>
                  <a:srgbClr val="20242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HFT governance + Venue competition</a:t>
            </a:r>
          </a:p>
        </p:txBody>
      </p:sp>
      <p:grpSp>
        <p:nvGrpSpPr>
          <p:cNvPr name="Group 96" id="96"/>
          <p:cNvGrpSpPr/>
          <p:nvPr/>
        </p:nvGrpSpPr>
        <p:grpSpPr>
          <a:xfrm rot="0">
            <a:off x="771525" y="8143875"/>
            <a:ext cx="16744950" cy="1114425"/>
            <a:chOff x="0" y="0"/>
            <a:chExt cx="22326600" cy="148590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22326600" cy="1485900"/>
            </a:xfrm>
            <a:custGeom>
              <a:avLst/>
              <a:gdLst/>
              <a:ahLst/>
              <a:cxnLst/>
              <a:rect r="r" b="b" t="t" l="l"/>
              <a:pathLst>
                <a:path h="1485900" w="22326600">
                  <a:moveTo>
                    <a:pt x="0" y="0"/>
                  </a:moveTo>
                  <a:lnTo>
                    <a:pt x="22326600" y="0"/>
                  </a:lnTo>
                  <a:lnTo>
                    <a:pt x="22326600" y="1485900"/>
                  </a:lnTo>
                  <a:lnTo>
                    <a:pt x="0" y="1485900"/>
                  </a:lnTo>
                  <a:close/>
                </a:path>
              </a:pathLst>
            </a:custGeom>
            <a:solidFill>
              <a:srgbClr val="20242B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771525" y="8143875"/>
            <a:ext cx="2171700" cy="1114425"/>
            <a:chOff x="0" y="0"/>
            <a:chExt cx="2895600" cy="148590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2895600" cy="1485900"/>
            </a:xfrm>
            <a:custGeom>
              <a:avLst/>
              <a:gdLst/>
              <a:ahLst/>
              <a:cxnLst/>
              <a:rect r="r" b="b" t="t" l="l"/>
              <a:pathLst>
                <a:path h="1485900" w="2895600">
                  <a:moveTo>
                    <a:pt x="0" y="0"/>
                  </a:moveTo>
                  <a:lnTo>
                    <a:pt x="2895600" y="0"/>
                  </a:lnTo>
                  <a:lnTo>
                    <a:pt x="2895600" y="1485900"/>
                  </a:lnTo>
                  <a:lnTo>
                    <a:pt x="0" y="1485900"/>
                  </a:lnTo>
                  <a:close/>
                </a:path>
              </a:pathLst>
            </a:custGeom>
            <a:solidFill>
              <a:srgbClr val="F2C94C"/>
            </a:solidFill>
          </p:spPr>
        </p:sp>
      </p:grpSp>
      <p:sp>
        <p:nvSpPr>
          <p:cNvPr name="TextBox 100" id="100"/>
          <p:cNvSpPr txBox="true"/>
          <p:nvPr/>
        </p:nvSpPr>
        <p:spPr>
          <a:xfrm rot="0">
            <a:off x="1120140" y="8337232"/>
            <a:ext cx="1460182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8"/>
              </a:lnSpc>
            </a:pPr>
            <a:r>
              <a:rPr lang="en-US" sz="1706" b="true">
                <a:solidFill>
                  <a:srgbClr val="20242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FORMATION</a:t>
            </a:r>
          </a:p>
          <a:p>
            <a:pPr algn="l">
              <a:lnSpc>
                <a:spcPts val="2048"/>
              </a:lnSpc>
            </a:pPr>
            <a:r>
              <a:rPr lang="en-US" sz="1706" b="true">
                <a:solidFill>
                  <a:srgbClr val="20242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PATH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3348990" y="8399145"/>
            <a:ext cx="13675995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9"/>
              </a:lnSpc>
              <a:spcBef>
                <a:spcPct val="0"/>
              </a:spcBef>
            </a:pPr>
            <a:r>
              <a:rPr lang="en-US" b="true" sz="2099" strike="noStrike" u="non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Electronic Market + Derivatives / Foreign Flow → Algo / DMA → Speed Competition → HFT Governance + Venue Competition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891540" y="9484995"/>
            <a:ext cx="16504920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6"/>
              </a:lnSpc>
            </a:pPr>
            <a:r>
              <a:rPr lang="en-US" sz="1222">
                <a:solidFill>
                  <a:srgbClr val="AEB8C8"/>
                </a:solidFill>
                <a:latin typeface="Calibri (MS)"/>
                <a:ea typeface="Calibri (MS)"/>
                <a:cs typeface="Calibri (MS)"/>
                <a:sym typeface="Calibri (MS)"/>
              </a:rPr>
              <a:t>資料來源：Korea Times 2008；FSC ELW / HFT / NXT；KCMI / KRX；KRX EXTURE+ public release。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71525" y="414338"/>
            <a:ext cx="71438" cy="1028700"/>
            <a:chOff x="0" y="0"/>
            <a:chExt cx="95250" cy="1371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5250" cy="1371600"/>
            </a:xfrm>
            <a:custGeom>
              <a:avLst/>
              <a:gdLst/>
              <a:ahLst/>
              <a:cxnLst/>
              <a:rect r="r" b="b" t="t" l="l"/>
              <a:pathLst>
                <a:path h="1371600" w="95250">
                  <a:moveTo>
                    <a:pt x="0" y="0"/>
                  </a:moveTo>
                  <a:lnTo>
                    <a:pt x="95250" y="0"/>
                  </a:lnTo>
                  <a:lnTo>
                    <a:pt x="9525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F2C94C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120140" y="383857"/>
            <a:ext cx="2426494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sz="38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SINGAPORE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20140" y="1136332"/>
            <a:ext cx="1275234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4" b="true">
                <a:solidFill>
                  <a:srgbClr val="9A73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STARTING POINT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806065" y="1064895"/>
            <a:ext cx="14104620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11"/>
              </a:lnSpc>
              <a:spcBef>
                <a:spcPct val="0"/>
              </a:spcBef>
            </a:pPr>
            <a:r>
              <a:rPr lang="en-US" sz="2009" i="true" strike="noStrike" u="none">
                <a:solidFill>
                  <a:srgbClr val="DCE3EE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本地證券 Flow 規模有限，SGX 又定位為交易亞洲曝險的 Regional Gateway；全球機構可選擇其他 Venue，因此必須主動爭取 Global Liquidity。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71525" y="1728788"/>
            <a:ext cx="16744950" cy="14288"/>
            <a:chOff x="0" y="0"/>
            <a:chExt cx="22326600" cy="190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326600" cy="19050"/>
            </a:xfrm>
            <a:custGeom>
              <a:avLst/>
              <a:gdLst/>
              <a:ahLst/>
              <a:cxnLst/>
              <a:rect r="r" b="b" t="t" l="l"/>
              <a:pathLst>
                <a:path h="19050" w="22326600">
                  <a:moveTo>
                    <a:pt x="0" y="0"/>
                  </a:moveTo>
                  <a:lnTo>
                    <a:pt x="22326600" y="0"/>
                  </a:lnTo>
                  <a:lnTo>
                    <a:pt x="22326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8DCE2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62965" y="1879283"/>
            <a:ext cx="178921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6"/>
              </a:lnSpc>
            </a:pPr>
            <a:r>
              <a:rPr lang="en-US" sz="1447" b="true">
                <a:solidFill>
                  <a:srgbClr val="AEB8C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DEVELOPMENT STAGES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168554" y="2341245"/>
            <a:ext cx="293043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9"/>
              </a:lnSpc>
            </a:pPr>
            <a:r>
              <a:rPr lang="en-US" sz="2549" b="true">
                <a:solidFill>
                  <a:srgbClr val="AEB8C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→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997854" y="2341245"/>
            <a:ext cx="293043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9"/>
              </a:lnSpc>
            </a:pPr>
            <a:r>
              <a:rPr lang="en-US" sz="2549" b="true">
                <a:solidFill>
                  <a:srgbClr val="AEB8C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→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257925" y="2257425"/>
            <a:ext cx="14288" cy="5557838"/>
            <a:chOff x="0" y="0"/>
            <a:chExt cx="19050" cy="74104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050" cy="7410450"/>
            </a:xfrm>
            <a:custGeom>
              <a:avLst/>
              <a:gdLst/>
              <a:ahLst/>
              <a:cxnLst/>
              <a:rect r="r" b="b" t="t" l="l"/>
              <a:pathLst>
                <a:path h="7410450" w="19050">
                  <a:moveTo>
                    <a:pt x="0" y="0"/>
                  </a:moveTo>
                  <a:lnTo>
                    <a:pt x="19050" y="0"/>
                  </a:lnTo>
                  <a:lnTo>
                    <a:pt x="19050" y="7410450"/>
                  </a:lnTo>
                  <a:lnTo>
                    <a:pt x="0" y="7410450"/>
                  </a:lnTo>
                  <a:close/>
                </a:path>
              </a:pathLst>
            </a:custGeom>
            <a:solidFill>
              <a:srgbClr val="D8DCE2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2087225" y="2257425"/>
            <a:ext cx="14288" cy="5557838"/>
            <a:chOff x="0" y="0"/>
            <a:chExt cx="19050" cy="74104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050" cy="7410450"/>
            </a:xfrm>
            <a:custGeom>
              <a:avLst/>
              <a:gdLst/>
              <a:ahLst/>
              <a:cxnLst/>
              <a:rect r="r" b="b" t="t" l="l"/>
              <a:pathLst>
                <a:path h="7410450" w="19050">
                  <a:moveTo>
                    <a:pt x="0" y="0"/>
                  </a:moveTo>
                  <a:lnTo>
                    <a:pt x="19050" y="0"/>
                  </a:lnTo>
                  <a:lnTo>
                    <a:pt x="19050" y="7410450"/>
                  </a:lnTo>
                  <a:lnTo>
                    <a:pt x="0" y="7410450"/>
                  </a:lnTo>
                  <a:close/>
                </a:path>
              </a:pathLst>
            </a:custGeom>
            <a:solidFill>
              <a:srgbClr val="D8DCE2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862965" y="2203133"/>
            <a:ext cx="415156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9"/>
              </a:lnSpc>
            </a:pPr>
            <a:r>
              <a:rPr lang="en-US" sz="3224" b="true">
                <a:solidFill>
                  <a:srgbClr val="F2C94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20215" y="2241233"/>
            <a:ext cx="404622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89"/>
              </a:lnSpc>
              <a:spcBef>
                <a:spcPct val="0"/>
              </a:spcBef>
            </a:pPr>
            <a:r>
              <a:rPr lang="en-US" b="true" sz="2324" strike="noStrike" u="non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COMPETE FOR GLOBAL LIQUIDITY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771525" y="2886075"/>
            <a:ext cx="5086350" cy="14288"/>
            <a:chOff x="0" y="0"/>
            <a:chExt cx="6781800" cy="1905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781800" cy="19050"/>
            </a:xfrm>
            <a:custGeom>
              <a:avLst/>
              <a:gdLst/>
              <a:ahLst/>
              <a:cxnLst/>
              <a:rect r="r" b="b" t="t" l="l"/>
              <a:pathLst>
                <a:path h="19050" w="6781800">
                  <a:moveTo>
                    <a:pt x="0" y="0"/>
                  </a:moveTo>
                  <a:lnTo>
                    <a:pt x="6781800" y="0"/>
                  </a:lnTo>
                  <a:lnTo>
                    <a:pt x="67818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8DCE2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771525" y="2857500"/>
            <a:ext cx="628650" cy="57150"/>
            <a:chOff x="0" y="0"/>
            <a:chExt cx="838200" cy="762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38200" cy="76200"/>
            </a:xfrm>
            <a:custGeom>
              <a:avLst/>
              <a:gdLst/>
              <a:ahLst/>
              <a:cxnLst/>
              <a:rect r="r" b="b" t="t" l="l"/>
              <a:pathLst>
                <a:path h="762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F2C94C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862965" y="3088958"/>
            <a:ext cx="1904851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8"/>
              </a:lnSpc>
            </a:pPr>
            <a:r>
              <a:rPr lang="en-US" sz="1357" b="true">
                <a:solidFill>
                  <a:srgbClr val="AEB8C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MARKET PROBLEM / NEED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62965" y="3308033"/>
            <a:ext cx="4846320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87"/>
              </a:lnSpc>
              <a:spcBef>
                <a:spcPct val="0"/>
              </a:spcBef>
            </a:pPr>
            <a:r>
              <a:rPr lang="en-US" sz="1739" strike="noStrike" u="none">
                <a:solidFill>
                  <a:srgbClr val="E8EDF5"/>
                </a:solidFill>
                <a:latin typeface="Calibri (MS)"/>
                <a:ea typeface="Calibri (MS)"/>
                <a:cs typeface="Calibri (MS)"/>
                <a:sym typeface="Calibri (MS)"/>
              </a:rPr>
              <a:t>本地成交量難以支撐區域交易中心規模，離岸亞洲衍生品必須吸引 Global Institutions 與 Market Makers。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62965" y="4050983"/>
            <a:ext cx="84906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4"/>
              </a:lnSpc>
            </a:pPr>
            <a:r>
              <a:rPr lang="en-US" sz="1537" b="true">
                <a:solidFill>
                  <a:srgbClr val="AEB8C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RESPONSE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771525" y="4329112"/>
            <a:ext cx="42862" cy="842962"/>
            <a:chOff x="0" y="0"/>
            <a:chExt cx="57150" cy="11239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7150" cy="1123950"/>
            </a:xfrm>
            <a:custGeom>
              <a:avLst/>
              <a:gdLst/>
              <a:ahLst/>
              <a:cxnLst/>
              <a:rect r="r" b="b" t="t" l="l"/>
              <a:pathLst>
                <a:path h="1123950" w="57150">
                  <a:moveTo>
                    <a:pt x="0" y="0"/>
                  </a:moveTo>
                  <a:lnTo>
                    <a:pt x="57150" y="0"/>
                  </a:lnTo>
                  <a:lnTo>
                    <a:pt x="57150" y="1123950"/>
                  </a:lnTo>
                  <a:lnTo>
                    <a:pt x="0" y="1123950"/>
                  </a:lnTo>
                  <a:close/>
                </a:path>
              </a:pathLst>
            </a:custGeom>
            <a:solidFill>
              <a:srgbClr val="6E5AA8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020127" y="4331970"/>
            <a:ext cx="976759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3"/>
              </a:lnSpc>
            </a:pPr>
            <a:r>
              <a:rPr lang="en-US" sz="1469" b="true">
                <a:solidFill>
                  <a:srgbClr val="C9BE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[EXCHANGE]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20128" y="4536758"/>
            <a:ext cx="2929384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27"/>
              </a:lnSpc>
              <a:spcBef>
                <a:spcPct val="0"/>
              </a:spcBef>
            </a:pPr>
            <a:r>
              <a:rPr lang="en-US" b="true" sz="1772" strike="noStrike" u="non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Global Members / Algo Traders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20127" y="4874895"/>
            <a:ext cx="474630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13"/>
              </a:lnSpc>
              <a:spcBef>
                <a:spcPct val="0"/>
              </a:spcBef>
            </a:pPr>
            <a:r>
              <a:rPr lang="en-US" sz="1594" strike="noStrike" u="none">
                <a:solidFill>
                  <a:srgbClr val="DCE3EE"/>
                </a:solidFill>
                <a:latin typeface="Calibri (MS)"/>
                <a:ea typeface="Calibri (MS)"/>
                <a:cs typeface="Calibri (MS)"/>
                <a:sym typeface="Calibri (MS)"/>
              </a:rPr>
              <a:t>以海外會員與專業交易者擴大 Liquidity Pool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771525" y="5672138"/>
            <a:ext cx="42862" cy="842962"/>
            <a:chOff x="0" y="0"/>
            <a:chExt cx="57150" cy="112395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7150" cy="1123950"/>
            </a:xfrm>
            <a:custGeom>
              <a:avLst/>
              <a:gdLst/>
              <a:ahLst/>
              <a:cxnLst/>
              <a:rect r="r" b="b" t="t" l="l"/>
              <a:pathLst>
                <a:path h="1123950" w="57150">
                  <a:moveTo>
                    <a:pt x="0" y="0"/>
                  </a:moveTo>
                  <a:lnTo>
                    <a:pt x="57150" y="0"/>
                  </a:lnTo>
                  <a:lnTo>
                    <a:pt x="57150" y="1123950"/>
                  </a:lnTo>
                  <a:lnTo>
                    <a:pt x="0" y="1123950"/>
                  </a:lnTo>
                  <a:close/>
                </a:path>
              </a:pathLst>
            </a:custGeom>
            <a:solidFill>
              <a:srgbClr val="6E5AA8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020127" y="5674995"/>
            <a:ext cx="976759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3"/>
              </a:lnSpc>
            </a:pPr>
            <a:r>
              <a:rPr lang="en-US" sz="1469" b="true">
                <a:solidFill>
                  <a:srgbClr val="C9BE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[EXCHANGE]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20127" y="5879782"/>
            <a:ext cx="1818233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7"/>
              </a:lnSpc>
            </a:pPr>
            <a:r>
              <a:rPr lang="en-US" sz="177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Bid Size / Proximity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20127" y="6217920"/>
            <a:ext cx="474630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3"/>
              </a:lnSpc>
            </a:pPr>
            <a:r>
              <a:rPr lang="en-US" sz="1594">
                <a:solidFill>
                  <a:srgbClr val="DCE3EE"/>
                </a:solidFill>
                <a:latin typeface="Calibri (MS)"/>
                <a:ea typeface="Calibri (MS)"/>
                <a:cs typeface="Calibri (MS)"/>
                <a:sym typeface="Calibri (MS)"/>
              </a:rPr>
              <a:t>降低交易摩擦與專業客群接入成本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764381" y="6993731"/>
            <a:ext cx="5100638" cy="957262"/>
            <a:chOff x="0" y="0"/>
            <a:chExt cx="6800850" cy="127635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800850" cy="1276350"/>
            </a:xfrm>
            <a:custGeom>
              <a:avLst/>
              <a:gdLst/>
              <a:ahLst/>
              <a:cxnLst/>
              <a:rect r="r" b="b" t="t" l="l"/>
              <a:pathLst>
                <a:path h="1276350" w="6800850">
                  <a:moveTo>
                    <a:pt x="0" y="0"/>
                  </a:moveTo>
                  <a:lnTo>
                    <a:pt x="6800850" y="0"/>
                  </a:lnTo>
                  <a:lnTo>
                    <a:pt x="6800850" y="1276350"/>
                  </a:lnTo>
                  <a:lnTo>
                    <a:pt x="0" y="1276350"/>
                  </a:lnTo>
                  <a:close/>
                </a:path>
              </a:pathLst>
            </a:custGeom>
            <a:solidFill>
              <a:srgbClr val="FFF7D6"/>
            </a:solidFill>
            <a:ln w="14288" cap="sq">
              <a:solidFill>
                <a:srgbClr val="F2C94C"/>
              </a:solidFill>
              <a:prstDash val="solid"/>
              <a:miter/>
            </a:ln>
          </p:spPr>
        </p:sp>
      </p:grpSp>
      <p:sp>
        <p:nvSpPr>
          <p:cNvPr name="TextBox 38" id="38"/>
          <p:cNvSpPr txBox="true"/>
          <p:nvPr/>
        </p:nvSpPr>
        <p:spPr>
          <a:xfrm rot="0">
            <a:off x="1034415" y="7108508"/>
            <a:ext cx="881509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16"/>
              </a:lnSpc>
              <a:spcBef>
                <a:spcPct val="0"/>
              </a:spcBef>
            </a:pPr>
            <a:r>
              <a:rPr lang="en-US" b="true" sz="1346" strike="noStrike" u="none">
                <a:solidFill>
                  <a:srgbClr val="7A5C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TRANSITION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34415" y="7346632"/>
            <a:ext cx="456057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52"/>
              </a:lnSpc>
              <a:spcBef>
                <a:spcPct val="0"/>
              </a:spcBef>
            </a:pPr>
            <a:r>
              <a:rPr lang="en-US" b="true" sz="1627" strike="noStrike" u="none">
                <a:solidFill>
                  <a:srgbClr val="20242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Global liquidity competition → Infrastructure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692265" y="2203133"/>
            <a:ext cx="415156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9"/>
              </a:lnSpc>
            </a:pPr>
            <a:r>
              <a:rPr lang="en-US" sz="3224" b="true">
                <a:solidFill>
                  <a:srgbClr val="F2C94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549515" y="2241233"/>
            <a:ext cx="404622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9"/>
              </a:lnSpc>
            </a:pPr>
            <a:r>
              <a:rPr lang="en-US" sz="2324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BUILD INFRASTRUCTURE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6600825" y="2886075"/>
            <a:ext cx="5086350" cy="14288"/>
            <a:chOff x="0" y="0"/>
            <a:chExt cx="6781800" cy="1905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781800" cy="19050"/>
            </a:xfrm>
            <a:custGeom>
              <a:avLst/>
              <a:gdLst/>
              <a:ahLst/>
              <a:cxnLst/>
              <a:rect r="r" b="b" t="t" l="l"/>
              <a:pathLst>
                <a:path h="19050" w="6781800">
                  <a:moveTo>
                    <a:pt x="0" y="0"/>
                  </a:moveTo>
                  <a:lnTo>
                    <a:pt x="6781800" y="0"/>
                  </a:lnTo>
                  <a:lnTo>
                    <a:pt x="67818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8DCE2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600825" y="2857500"/>
            <a:ext cx="628650" cy="57150"/>
            <a:chOff x="0" y="0"/>
            <a:chExt cx="838200" cy="762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38200" cy="76200"/>
            </a:xfrm>
            <a:custGeom>
              <a:avLst/>
              <a:gdLst/>
              <a:ahLst/>
              <a:cxnLst/>
              <a:rect r="r" b="b" t="t" l="l"/>
              <a:pathLst>
                <a:path h="762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F2C94C"/>
            </a:solidFill>
          </p:spPr>
        </p:sp>
      </p:grpSp>
      <p:sp>
        <p:nvSpPr>
          <p:cNvPr name="TextBox 46" id="46"/>
          <p:cNvSpPr txBox="true"/>
          <p:nvPr/>
        </p:nvSpPr>
        <p:spPr>
          <a:xfrm rot="0">
            <a:off x="6692265" y="3088958"/>
            <a:ext cx="1904851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8"/>
              </a:lnSpc>
            </a:pPr>
            <a:r>
              <a:rPr lang="en-US" sz="1357" b="true">
                <a:solidFill>
                  <a:srgbClr val="AEB8C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MARKET PROBLEM / NEED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6692265" y="3308033"/>
            <a:ext cx="4846320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7"/>
              </a:lnSpc>
            </a:pPr>
            <a:r>
              <a:rPr lang="en-US" sz="1739">
                <a:solidFill>
                  <a:srgbClr val="E8EDF5"/>
                </a:solidFill>
                <a:latin typeface="Calibri (MS)"/>
                <a:ea typeface="Calibri (MS)"/>
                <a:cs typeface="Calibri (MS)"/>
                <a:sym typeface="Calibri (MS)"/>
              </a:rPr>
              <a:t>要吸引跨境專業 Flow，必須降低連線、執行與市場接入成本。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6692265" y="4050983"/>
            <a:ext cx="84906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4"/>
              </a:lnSpc>
            </a:pPr>
            <a:r>
              <a:rPr lang="en-US" sz="1537" b="true">
                <a:solidFill>
                  <a:srgbClr val="AEB8C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RESPONSE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6600825" y="4329112"/>
            <a:ext cx="42862" cy="842962"/>
            <a:chOff x="0" y="0"/>
            <a:chExt cx="57150" cy="112395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7150" cy="1123950"/>
            </a:xfrm>
            <a:custGeom>
              <a:avLst/>
              <a:gdLst/>
              <a:ahLst/>
              <a:cxnLst/>
              <a:rect r="r" b="b" t="t" l="l"/>
              <a:pathLst>
                <a:path h="1123950" w="57150">
                  <a:moveTo>
                    <a:pt x="0" y="0"/>
                  </a:moveTo>
                  <a:lnTo>
                    <a:pt x="57150" y="0"/>
                  </a:lnTo>
                  <a:lnTo>
                    <a:pt x="57150" y="1123950"/>
                  </a:lnTo>
                  <a:lnTo>
                    <a:pt x="0" y="1123950"/>
                  </a:lnTo>
                  <a:close/>
                </a:path>
              </a:pathLst>
            </a:custGeom>
            <a:solidFill>
              <a:srgbClr val="6E5AA8"/>
            </a:solidFill>
          </p:spPr>
        </p:sp>
      </p:grpSp>
      <p:sp>
        <p:nvSpPr>
          <p:cNvPr name="TextBox 51" id="51"/>
          <p:cNvSpPr txBox="true"/>
          <p:nvPr/>
        </p:nvSpPr>
        <p:spPr>
          <a:xfrm rot="0">
            <a:off x="6849428" y="4331970"/>
            <a:ext cx="976759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3"/>
              </a:lnSpc>
            </a:pPr>
            <a:r>
              <a:rPr lang="en-US" sz="1469" b="true">
                <a:solidFill>
                  <a:srgbClr val="C9BE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[EXCHANGE]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6849428" y="4536758"/>
            <a:ext cx="1897856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7"/>
              </a:lnSpc>
            </a:pPr>
            <a:r>
              <a:rPr lang="en-US" sz="177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REACH / Co-location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6849428" y="4874895"/>
            <a:ext cx="474630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13"/>
              </a:lnSpc>
              <a:spcBef>
                <a:spcPct val="0"/>
              </a:spcBef>
            </a:pPr>
            <a:r>
              <a:rPr lang="en-US" sz="1594" strike="noStrike" u="none">
                <a:solidFill>
                  <a:srgbClr val="DCE3EE"/>
                </a:solidFill>
                <a:latin typeface="Calibri (MS)"/>
                <a:ea typeface="Calibri (MS)"/>
                <a:cs typeface="Calibri (MS)"/>
                <a:sym typeface="Calibri (MS)"/>
              </a:rPr>
              <a:t>提供低延遲撮合、Co-location 與全球 Hub 接入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6600825" y="5214938"/>
            <a:ext cx="42862" cy="842962"/>
            <a:chOff x="0" y="0"/>
            <a:chExt cx="57150" cy="112395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7150" cy="1123950"/>
            </a:xfrm>
            <a:custGeom>
              <a:avLst/>
              <a:gdLst/>
              <a:ahLst/>
              <a:cxnLst/>
              <a:rect r="r" b="b" t="t" l="l"/>
              <a:pathLst>
                <a:path h="1123950" w="57150">
                  <a:moveTo>
                    <a:pt x="0" y="0"/>
                  </a:moveTo>
                  <a:lnTo>
                    <a:pt x="57150" y="0"/>
                  </a:lnTo>
                  <a:lnTo>
                    <a:pt x="57150" y="1123950"/>
                  </a:lnTo>
                  <a:lnTo>
                    <a:pt x="0" y="1123950"/>
                  </a:lnTo>
                  <a:close/>
                </a:path>
              </a:pathLst>
            </a:custGeom>
            <a:solidFill>
              <a:srgbClr val="6E5AA8"/>
            </a:solidFill>
          </p:spPr>
        </p:sp>
      </p:grpSp>
      <p:sp>
        <p:nvSpPr>
          <p:cNvPr name="TextBox 56" id="56"/>
          <p:cNvSpPr txBox="true"/>
          <p:nvPr/>
        </p:nvSpPr>
        <p:spPr>
          <a:xfrm rot="0">
            <a:off x="6849428" y="5217795"/>
            <a:ext cx="1415504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63"/>
              </a:lnSpc>
              <a:spcBef>
                <a:spcPct val="0"/>
              </a:spcBef>
            </a:pPr>
            <a:r>
              <a:rPr lang="en-US" b="true" sz="1469" strike="noStrike" u="none">
                <a:solidFill>
                  <a:srgbClr val="C9BE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[EXCHANGE RULE]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6849428" y="5422582"/>
            <a:ext cx="2335411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7"/>
              </a:lnSpc>
            </a:pPr>
            <a:r>
              <a:rPr lang="en-US" sz="177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DMA / Sponsored Access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6849428" y="5760720"/>
            <a:ext cx="474630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3"/>
              </a:lnSpc>
            </a:pPr>
            <a:r>
              <a:rPr lang="en-US" sz="1594">
                <a:solidFill>
                  <a:srgbClr val="DCE3EE"/>
                </a:solidFill>
                <a:latin typeface="Calibri (MS)"/>
                <a:ea typeface="Calibri (MS)"/>
                <a:cs typeface="Calibri (MS)"/>
                <a:sym typeface="Calibri (MS)"/>
              </a:rPr>
              <a:t>直接接入制度化並落實會員風控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6600825" y="6100762"/>
            <a:ext cx="42862" cy="842962"/>
            <a:chOff x="0" y="0"/>
            <a:chExt cx="57150" cy="112395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7150" cy="1123950"/>
            </a:xfrm>
            <a:custGeom>
              <a:avLst/>
              <a:gdLst/>
              <a:ahLst/>
              <a:cxnLst/>
              <a:rect r="r" b="b" t="t" l="l"/>
              <a:pathLst>
                <a:path h="1123950" w="57150">
                  <a:moveTo>
                    <a:pt x="0" y="0"/>
                  </a:moveTo>
                  <a:lnTo>
                    <a:pt x="57150" y="0"/>
                  </a:lnTo>
                  <a:lnTo>
                    <a:pt x="57150" y="1123950"/>
                  </a:lnTo>
                  <a:lnTo>
                    <a:pt x="0" y="1123950"/>
                  </a:lnTo>
                  <a:close/>
                </a:path>
              </a:pathLst>
            </a:custGeom>
            <a:solidFill>
              <a:srgbClr val="B7791F"/>
            </a:solidFill>
          </p:spPr>
        </p:sp>
      </p:grpSp>
      <p:sp>
        <p:nvSpPr>
          <p:cNvPr name="TextBox 61" id="61"/>
          <p:cNvSpPr txBox="true"/>
          <p:nvPr/>
        </p:nvSpPr>
        <p:spPr>
          <a:xfrm rot="0">
            <a:off x="6849428" y="6103620"/>
            <a:ext cx="976759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63"/>
              </a:lnSpc>
              <a:spcBef>
                <a:spcPct val="0"/>
              </a:spcBef>
            </a:pPr>
            <a:r>
              <a:rPr lang="en-US" b="true" sz="1469" strike="noStrike" u="none">
                <a:solidFill>
                  <a:srgbClr val="FFD38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[EXCHANGE]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6849428" y="6308408"/>
            <a:ext cx="1956941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7"/>
              </a:lnSpc>
            </a:pPr>
            <a:r>
              <a:rPr lang="en-US" sz="177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ITCH / OUCH / TITAN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6849428" y="6646545"/>
            <a:ext cx="474630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3"/>
              </a:lnSpc>
            </a:pPr>
            <a:r>
              <a:rPr lang="en-US" sz="1594">
                <a:solidFill>
                  <a:srgbClr val="DCE3EE"/>
                </a:solidFill>
                <a:latin typeface="Calibri (MS)"/>
                <a:ea typeface="Calibri (MS)"/>
                <a:cs typeface="Calibri (MS)"/>
                <a:sym typeface="Calibri (MS)"/>
              </a:rPr>
              <a:t>專業交易介面與衍生品平台升級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6593681" y="6993731"/>
            <a:ext cx="5100638" cy="957262"/>
            <a:chOff x="0" y="0"/>
            <a:chExt cx="6800850" cy="127635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800850" cy="1276350"/>
            </a:xfrm>
            <a:custGeom>
              <a:avLst/>
              <a:gdLst/>
              <a:ahLst/>
              <a:cxnLst/>
              <a:rect r="r" b="b" t="t" l="l"/>
              <a:pathLst>
                <a:path h="1276350" w="6800850">
                  <a:moveTo>
                    <a:pt x="0" y="0"/>
                  </a:moveTo>
                  <a:lnTo>
                    <a:pt x="6800850" y="0"/>
                  </a:lnTo>
                  <a:lnTo>
                    <a:pt x="6800850" y="1276350"/>
                  </a:lnTo>
                  <a:lnTo>
                    <a:pt x="0" y="1276350"/>
                  </a:lnTo>
                  <a:close/>
                </a:path>
              </a:pathLst>
            </a:custGeom>
            <a:solidFill>
              <a:srgbClr val="FFF7D6"/>
            </a:solidFill>
            <a:ln w="14288" cap="sq">
              <a:solidFill>
                <a:srgbClr val="F2C94C"/>
              </a:solidFill>
              <a:prstDash val="solid"/>
              <a:miter/>
            </a:ln>
          </p:spPr>
        </p:sp>
      </p:grpSp>
      <p:sp>
        <p:nvSpPr>
          <p:cNvPr name="TextBox 66" id="66"/>
          <p:cNvSpPr txBox="true"/>
          <p:nvPr/>
        </p:nvSpPr>
        <p:spPr>
          <a:xfrm rot="0">
            <a:off x="6863715" y="7108508"/>
            <a:ext cx="881509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16"/>
              </a:lnSpc>
              <a:spcBef>
                <a:spcPct val="0"/>
              </a:spcBef>
            </a:pPr>
            <a:r>
              <a:rPr lang="en-US" b="true" sz="1346" strike="noStrike" u="none">
                <a:solidFill>
                  <a:srgbClr val="7A5C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TRANSITION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6863715" y="7346632"/>
            <a:ext cx="456057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52"/>
              </a:lnSpc>
              <a:spcBef>
                <a:spcPct val="0"/>
              </a:spcBef>
            </a:pPr>
            <a:r>
              <a:rPr lang="en-US" b="true" sz="1627" strike="noStrike" u="none">
                <a:solidFill>
                  <a:srgbClr val="20242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Infrastructure → Algo adoption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2521565" y="2203133"/>
            <a:ext cx="415156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9"/>
              </a:lnSpc>
            </a:pPr>
            <a:r>
              <a:rPr lang="en-US" sz="3224" b="true">
                <a:solidFill>
                  <a:srgbClr val="F2C94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3378815" y="2241233"/>
            <a:ext cx="404622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9"/>
              </a:lnSpc>
            </a:pPr>
            <a:r>
              <a:rPr lang="en-US" sz="2324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MONETIZE INFRASTRUCTURE</a:t>
            </a:r>
          </a:p>
        </p:txBody>
      </p:sp>
      <p:grpSp>
        <p:nvGrpSpPr>
          <p:cNvPr name="Group 70" id="70"/>
          <p:cNvGrpSpPr/>
          <p:nvPr/>
        </p:nvGrpSpPr>
        <p:grpSpPr>
          <a:xfrm rot="0">
            <a:off x="12430125" y="2886075"/>
            <a:ext cx="5086350" cy="14288"/>
            <a:chOff x="0" y="0"/>
            <a:chExt cx="6781800" cy="1905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6781800" cy="19050"/>
            </a:xfrm>
            <a:custGeom>
              <a:avLst/>
              <a:gdLst/>
              <a:ahLst/>
              <a:cxnLst/>
              <a:rect r="r" b="b" t="t" l="l"/>
              <a:pathLst>
                <a:path h="19050" w="6781800">
                  <a:moveTo>
                    <a:pt x="0" y="0"/>
                  </a:moveTo>
                  <a:lnTo>
                    <a:pt x="6781800" y="0"/>
                  </a:lnTo>
                  <a:lnTo>
                    <a:pt x="67818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8DCE2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2430125" y="2857500"/>
            <a:ext cx="628650" cy="57150"/>
            <a:chOff x="0" y="0"/>
            <a:chExt cx="838200" cy="762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838200" cy="76200"/>
            </a:xfrm>
            <a:custGeom>
              <a:avLst/>
              <a:gdLst/>
              <a:ahLst/>
              <a:cxnLst/>
              <a:rect r="r" b="b" t="t" l="l"/>
              <a:pathLst>
                <a:path h="762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F2C94C"/>
            </a:solidFill>
          </p:spPr>
        </p:sp>
      </p:grpSp>
      <p:sp>
        <p:nvSpPr>
          <p:cNvPr name="TextBox 74" id="74"/>
          <p:cNvSpPr txBox="true"/>
          <p:nvPr/>
        </p:nvSpPr>
        <p:spPr>
          <a:xfrm rot="0">
            <a:off x="12521565" y="3088958"/>
            <a:ext cx="1904851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8"/>
              </a:lnSpc>
            </a:pPr>
            <a:r>
              <a:rPr lang="en-US" sz="1357" b="true">
                <a:solidFill>
                  <a:srgbClr val="AEB8C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MARKET PROBLEM / NEED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2521565" y="3308033"/>
            <a:ext cx="4846320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7"/>
              </a:lnSpc>
            </a:pPr>
            <a:r>
              <a:rPr lang="en-US" sz="1739">
                <a:solidFill>
                  <a:srgbClr val="E8EDF5"/>
                </a:solidFill>
                <a:latin typeface="Calibri (MS)"/>
                <a:ea typeface="Calibri (MS)"/>
                <a:cs typeface="Calibri (MS)"/>
                <a:sym typeface="Calibri (MS)"/>
              </a:rPr>
              <a:t>專業 Flow 形成規模後，市場資料與連線服務具備持續付費需求。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2521565" y="4050983"/>
            <a:ext cx="84906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4"/>
              </a:lnSpc>
            </a:pPr>
            <a:r>
              <a:rPr lang="en-US" sz="1537" b="true">
                <a:solidFill>
                  <a:srgbClr val="AEB8C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RESPONSE</a:t>
            </a:r>
          </a:p>
        </p:txBody>
      </p:sp>
      <p:grpSp>
        <p:nvGrpSpPr>
          <p:cNvPr name="Group 77" id="77"/>
          <p:cNvGrpSpPr/>
          <p:nvPr/>
        </p:nvGrpSpPr>
        <p:grpSpPr>
          <a:xfrm rot="0">
            <a:off x="12430125" y="4329112"/>
            <a:ext cx="42862" cy="842962"/>
            <a:chOff x="0" y="0"/>
            <a:chExt cx="57150" cy="112395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7150" cy="1123950"/>
            </a:xfrm>
            <a:custGeom>
              <a:avLst/>
              <a:gdLst/>
              <a:ahLst/>
              <a:cxnLst/>
              <a:rect r="r" b="b" t="t" l="l"/>
              <a:pathLst>
                <a:path h="1123950" w="57150">
                  <a:moveTo>
                    <a:pt x="0" y="0"/>
                  </a:moveTo>
                  <a:lnTo>
                    <a:pt x="57150" y="0"/>
                  </a:lnTo>
                  <a:lnTo>
                    <a:pt x="57150" y="1123950"/>
                  </a:lnTo>
                  <a:lnTo>
                    <a:pt x="0" y="1123950"/>
                  </a:lnTo>
                  <a:close/>
                </a:path>
              </a:pathLst>
            </a:custGeom>
            <a:solidFill>
              <a:srgbClr val="6E5AA8"/>
            </a:solidFill>
          </p:spPr>
        </p:sp>
      </p:grpSp>
      <p:sp>
        <p:nvSpPr>
          <p:cNvPr name="TextBox 79" id="79"/>
          <p:cNvSpPr txBox="true"/>
          <p:nvPr/>
        </p:nvSpPr>
        <p:spPr>
          <a:xfrm rot="0">
            <a:off x="12678728" y="4331970"/>
            <a:ext cx="976759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3"/>
              </a:lnSpc>
            </a:pPr>
            <a:r>
              <a:rPr lang="en-US" sz="1469" b="true">
                <a:solidFill>
                  <a:srgbClr val="C9BE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[EXCHANGE]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2678728" y="4536758"/>
            <a:ext cx="2034183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7"/>
              </a:lnSpc>
            </a:pPr>
            <a:r>
              <a:rPr lang="en-US" sz="177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Connectivity Revenue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2678728" y="4874895"/>
            <a:ext cx="474630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3"/>
              </a:lnSpc>
            </a:pPr>
            <a:r>
              <a:rPr lang="en-US" sz="1594">
                <a:solidFill>
                  <a:srgbClr val="DCE3EE"/>
                </a:solidFill>
                <a:latin typeface="Calibri (MS)"/>
                <a:ea typeface="Calibri (MS)"/>
                <a:cs typeface="Calibri (MS)"/>
                <a:sym typeface="Calibri (MS)"/>
              </a:rPr>
              <a:t>低延遲連線開始形成可觀察收入</a:t>
            </a:r>
          </a:p>
        </p:txBody>
      </p:sp>
      <p:grpSp>
        <p:nvGrpSpPr>
          <p:cNvPr name="Group 82" id="82"/>
          <p:cNvGrpSpPr/>
          <p:nvPr/>
        </p:nvGrpSpPr>
        <p:grpSpPr>
          <a:xfrm rot="0">
            <a:off x="12430125" y="5214938"/>
            <a:ext cx="42862" cy="842962"/>
            <a:chOff x="0" y="0"/>
            <a:chExt cx="57150" cy="112395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57150" cy="1123950"/>
            </a:xfrm>
            <a:custGeom>
              <a:avLst/>
              <a:gdLst/>
              <a:ahLst/>
              <a:cxnLst/>
              <a:rect r="r" b="b" t="t" l="l"/>
              <a:pathLst>
                <a:path h="1123950" w="57150">
                  <a:moveTo>
                    <a:pt x="0" y="0"/>
                  </a:moveTo>
                  <a:lnTo>
                    <a:pt x="57150" y="0"/>
                  </a:lnTo>
                  <a:lnTo>
                    <a:pt x="57150" y="1123950"/>
                  </a:lnTo>
                  <a:lnTo>
                    <a:pt x="0" y="1123950"/>
                  </a:lnTo>
                  <a:close/>
                </a:path>
              </a:pathLst>
            </a:custGeom>
            <a:solidFill>
              <a:srgbClr val="2F6B9A"/>
            </a:solidFill>
          </p:spPr>
        </p:sp>
      </p:grpSp>
      <p:sp>
        <p:nvSpPr>
          <p:cNvPr name="TextBox 84" id="84"/>
          <p:cNvSpPr txBox="true"/>
          <p:nvPr/>
        </p:nvSpPr>
        <p:spPr>
          <a:xfrm rot="0">
            <a:off x="12678728" y="5217795"/>
            <a:ext cx="976759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63"/>
              </a:lnSpc>
              <a:spcBef>
                <a:spcPct val="0"/>
              </a:spcBef>
            </a:pPr>
            <a:r>
              <a:rPr lang="en-US" b="true" sz="1469" strike="noStrike" u="none">
                <a:solidFill>
                  <a:srgbClr val="7DD3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[EXCHANGE]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2678728" y="5422582"/>
            <a:ext cx="2045494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7"/>
              </a:lnSpc>
            </a:pPr>
            <a:r>
              <a:rPr lang="en-US" sz="177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Market Data Revenue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2678728" y="5760720"/>
            <a:ext cx="474630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3"/>
              </a:lnSpc>
            </a:pPr>
            <a:r>
              <a:rPr lang="en-US" sz="1594">
                <a:solidFill>
                  <a:srgbClr val="DCE3EE"/>
                </a:solidFill>
                <a:latin typeface="Calibri (MS)"/>
                <a:ea typeface="Calibri (MS)"/>
                <a:cs typeface="Calibri (MS)"/>
                <a:sym typeface="Calibri (MS)"/>
              </a:rPr>
              <a:t>專業交易資料服務形成規模</a:t>
            </a:r>
          </a:p>
        </p:txBody>
      </p:sp>
      <p:grpSp>
        <p:nvGrpSpPr>
          <p:cNvPr name="Group 87" id="87"/>
          <p:cNvGrpSpPr/>
          <p:nvPr/>
        </p:nvGrpSpPr>
        <p:grpSpPr>
          <a:xfrm rot="0">
            <a:off x="12430125" y="6100762"/>
            <a:ext cx="42862" cy="842962"/>
            <a:chOff x="0" y="0"/>
            <a:chExt cx="57150" cy="112395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57150" cy="1123950"/>
            </a:xfrm>
            <a:custGeom>
              <a:avLst/>
              <a:gdLst/>
              <a:ahLst/>
              <a:cxnLst/>
              <a:rect r="r" b="b" t="t" l="l"/>
              <a:pathLst>
                <a:path h="1123950" w="57150">
                  <a:moveTo>
                    <a:pt x="0" y="0"/>
                  </a:moveTo>
                  <a:lnTo>
                    <a:pt x="57150" y="0"/>
                  </a:lnTo>
                  <a:lnTo>
                    <a:pt x="57150" y="1123950"/>
                  </a:lnTo>
                  <a:lnTo>
                    <a:pt x="0" y="1123950"/>
                  </a:lnTo>
                  <a:close/>
                </a:path>
              </a:pathLst>
            </a:custGeom>
            <a:solidFill>
              <a:srgbClr val="6E5AA8"/>
            </a:solidFill>
          </p:spPr>
        </p:sp>
      </p:grpSp>
      <p:sp>
        <p:nvSpPr>
          <p:cNvPr name="TextBox 89" id="89"/>
          <p:cNvSpPr txBox="true"/>
          <p:nvPr/>
        </p:nvSpPr>
        <p:spPr>
          <a:xfrm rot="0">
            <a:off x="12678728" y="6103620"/>
            <a:ext cx="976759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3"/>
              </a:lnSpc>
            </a:pPr>
            <a:r>
              <a:rPr lang="en-US" sz="1469" b="true">
                <a:solidFill>
                  <a:srgbClr val="C9BE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[EXCHANGE]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12678728" y="6308408"/>
            <a:ext cx="1590526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7"/>
              </a:lnSpc>
            </a:pPr>
            <a:r>
              <a:rPr lang="en-US" sz="177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NextGen / Iris-ST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12678728" y="6646545"/>
            <a:ext cx="474630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3"/>
              </a:lnSpc>
            </a:pPr>
            <a:r>
              <a:rPr lang="en-US" sz="1594">
                <a:solidFill>
                  <a:srgbClr val="DCE3EE"/>
                </a:solidFill>
                <a:latin typeface="Calibri (MS)"/>
                <a:ea typeface="Calibri (MS)"/>
                <a:cs typeface="Calibri (MS)"/>
                <a:sym typeface="Calibri (MS)"/>
              </a:rPr>
              <a:t>持續投資下一代 CoLo 與交易系統</a:t>
            </a:r>
          </a:p>
        </p:txBody>
      </p:sp>
      <p:grpSp>
        <p:nvGrpSpPr>
          <p:cNvPr name="Group 92" id="92"/>
          <p:cNvGrpSpPr/>
          <p:nvPr/>
        </p:nvGrpSpPr>
        <p:grpSpPr>
          <a:xfrm rot="0">
            <a:off x="12422981" y="6993731"/>
            <a:ext cx="5100638" cy="957262"/>
            <a:chOff x="0" y="0"/>
            <a:chExt cx="6800850" cy="127635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6800850" cy="1276350"/>
            </a:xfrm>
            <a:custGeom>
              <a:avLst/>
              <a:gdLst/>
              <a:ahLst/>
              <a:cxnLst/>
              <a:rect r="r" b="b" t="t" l="l"/>
              <a:pathLst>
                <a:path h="1276350" w="6800850">
                  <a:moveTo>
                    <a:pt x="0" y="0"/>
                  </a:moveTo>
                  <a:lnTo>
                    <a:pt x="6800850" y="0"/>
                  </a:lnTo>
                  <a:lnTo>
                    <a:pt x="6800850" y="1276350"/>
                  </a:lnTo>
                  <a:lnTo>
                    <a:pt x="0" y="1276350"/>
                  </a:lnTo>
                  <a:close/>
                </a:path>
              </a:pathLst>
            </a:custGeom>
            <a:solidFill>
              <a:srgbClr val="FFF7D6"/>
            </a:solidFill>
            <a:ln w="14288" cap="sq">
              <a:solidFill>
                <a:srgbClr val="F2C94C"/>
              </a:solidFill>
              <a:prstDash val="solid"/>
              <a:miter/>
            </a:ln>
          </p:spPr>
        </p:sp>
      </p:grpSp>
      <p:sp>
        <p:nvSpPr>
          <p:cNvPr name="TextBox 94" id="94"/>
          <p:cNvSpPr txBox="true"/>
          <p:nvPr/>
        </p:nvSpPr>
        <p:spPr>
          <a:xfrm rot="0">
            <a:off x="12693015" y="7108508"/>
            <a:ext cx="881509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16"/>
              </a:lnSpc>
              <a:spcBef>
                <a:spcPct val="0"/>
              </a:spcBef>
            </a:pPr>
            <a:r>
              <a:rPr lang="en-US" b="true" sz="1346" strike="noStrike" u="none">
                <a:solidFill>
                  <a:srgbClr val="7A5C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TRANSITION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12693015" y="7346632"/>
            <a:ext cx="456057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52"/>
              </a:lnSpc>
              <a:spcBef>
                <a:spcPct val="0"/>
              </a:spcBef>
            </a:pPr>
            <a:r>
              <a:rPr lang="en-US" b="true" sz="1627" strike="noStrike" u="none">
                <a:solidFill>
                  <a:srgbClr val="20242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Connectivity + Data → Revenue</a:t>
            </a:r>
          </a:p>
        </p:txBody>
      </p:sp>
      <p:grpSp>
        <p:nvGrpSpPr>
          <p:cNvPr name="Group 96" id="96"/>
          <p:cNvGrpSpPr/>
          <p:nvPr/>
        </p:nvGrpSpPr>
        <p:grpSpPr>
          <a:xfrm rot="0">
            <a:off x="771525" y="8143875"/>
            <a:ext cx="16744950" cy="1114425"/>
            <a:chOff x="0" y="0"/>
            <a:chExt cx="22326600" cy="148590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22326600" cy="1485900"/>
            </a:xfrm>
            <a:custGeom>
              <a:avLst/>
              <a:gdLst/>
              <a:ahLst/>
              <a:cxnLst/>
              <a:rect r="r" b="b" t="t" l="l"/>
              <a:pathLst>
                <a:path h="1485900" w="22326600">
                  <a:moveTo>
                    <a:pt x="0" y="0"/>
                  </a:moveTo>
                  <a:lnTo>
                    <a:pt x="22326600" y="0"/>
                  </a:lnTo>
                  <a:lnTo>
                    <a:pt x="22326600" y="1485900"/>
                  </a:lnTo>
                  <a:lnTo>
                    <a:pt x="0" y="1485900"/>
                  </a:lnTo>
                  <a:close/>
                </a:path>
              </a:pathLst>
            </a:custGeom>
            <a:solidFill>
              <a:srgbClr val="20242B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771525" y="8143875"/>
            <a:ext cx="2171700" cy="1114425"/>
            <a:chOff x="0" y="0"/>
            <a:chExt cx="2895600" cy="148590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2895600" cy="1485900"/>
            </a:xfrm>
            <a:custGeom>
              <a:avLst/>
              <a:gdLst/>
              <a:ahLst/>
              <a:cxnLst/>
              <a:rect r="r" b="b" t="t" l="l"/>
              <a:pathLst>
                <a:path h="1485900" w="2895600">
                  <a:moveTo>
                    <a:pt x="0" y="0"/>
                  </a:moveTo>
                  <a:lnTo>
                    <a:pt x="2895600" y="0"/>
                  </a:lnTo>
                  <a:lnTo>
                    <a:pt x="2895600" y="1485900"/>
                  </a:lnTo>
                  <a:lnTo>
                    <a:pt x="0" y="1485900"/>
                  </a:lnTo>
                  <a:close/>
                </a:path>
              </a:pathLst>
            </a:custGeom>
            <a:solidFill>
              <a:srgbClr val="F2C94C"/>
            </a:solidFill>
          </p:spPr>
        </p:sp>
      </p:grpSp>
      <p:sp>
        <p:nvSpPr>
          <p:cNvPr name="TextBox 100" id="100"/>
          <p:cNvSpPr txBox="true"/>
          <p:nvPr/>
        </p:nvSpPr>
        <p:spPr>
          <a:xfrm rot="0">
            <a:off x="1120140" y="8337232"/>
            <a:ext cx="1460182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8"/>
              </a:lnSpc>
            </a:pPr>
            <a:r>
              <a:rPr lang="en-US" sz="1706" b="true">
                <a:solidFill>
                  <a:srgbClr val="20242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FORMATION</a:t>
            </a:r>
          </a:p>
          <a:p>
            <a:pPr algn="l">
              <a:lnSpc>
                <a:spcPts val="2048"/>
              </a:lnSpc>
            </a:pPr>
            <a:r>
              <a:rPr lang="en-US" sz="1706" b="true">
                <a:solidFill>
                  <a:srgbClr val="20242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PATH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3348990" y="8399145"/>
            <a:ext cx="1367599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9"/>
              </a:lnSpc>
              <a:spcBef>
                <a:spcPct val="0"/>
              </a:spcBef>
            </a:pPr>
            <a:r>
              <a:rPr lang="en-US" b="true" sz="2099" strike="noStrike" u="non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Regional Gateway → Global Liquidity Competition → Low-Latency Infrastructure → Connectivity / Data Revenue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891540" y="9484995"/>
            <a:ext cx="16504920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6"/>
              </a:lnSpc>
            </a:pPr>
            <a:r>
              <a:rPr lang="en-US" sz="1222">
                <a:solidFill>
                  <a:srgbClr val="AEB8C8"/>
                </a:solidFill>
                <a:latin typeface="Calibri (MS)"/>
                <a:ea typeface="Calibri (MS)"/>
                <a:cs typeface="Calibri (MS)"/>
                <a:sym typeface="Calibri (MS)"/>
              </a:rPr>
              <a:t>資料來源：SGX Annual Reports / results；SGX Rulebook DMA / Sponsored Access；SGX REACH / Connectivity disclosures。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71525" y="414338"/>
            <a:ext cx="71438" cy="1028700"/>
            <a:chOff x="0" y="0"/>
            <a:chExt cx="95250" cy="1371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5250" cy="1371600"/>
            </a:xfrm>
            <a:custGeom>
              <a:avLst/>
              <a:gdLst/>
              <a:ahLst/>
              <a:cxnLst/>
              <a:rect r="r" b="b" t="t" l="l"/>
              <a:pathLst>
                <a:path h="1371600" w="95250">
                  <a:moveTo>
                    <a:pt x="0" y="0"/>
                  </a:moveTo>
                  <a:lnTo>
                    <a:pt x="95250" y="0"/>
                  </a:lnTo>
                  <a:lnTo>
                    <a:pt x="9525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F2C94C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120140" y="383857"/>
            <a:ext cx="1202382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sz="38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INDIA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20140" y="1136332"/>
            <a:ext cx="1275234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4" b="true">
                <a:solidFill>
                  <a:srgbClr val="9A73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STARTING POINT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806065" y="1064895"/>
            <a:ext cx="141046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11"/>
              </a:lnSpc>
              <a:spcBef>
                <a:spcPct val="0"/>
              </a:spcBef>
            </a:pPr>
            <a:r>
              <a:rPr lang="en-US" sz="2009" i="true" strike="noStrike" u="none">
                <a:solidFill>
                  <a:srgbClr val="DCE3EE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NSE 以全國性、全電子與遠端接入，先解決地域與人工交易限制；電子接入成熟後，DMA、Algo 與低延遲需求才開始擴張。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71525" y="1728788"/>
            <a:ext cx="16744950" cy="14288"/>
            <a:chOff x="0" y="0"/>
            <a:chExt cx="22326600" cy="190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326600" cy="19050"/>
            </a:xfrm>
            <a:custGeom>
              <a:avLst/>
              <a:gdLst/>
              <a:ahLst/>
              <a:cxnLst/>
              <a:rect r="r" b="b" t="t" l="l"/>
              <a:pathLst>
                <a:path h="19050" w="22326600">
                  <a:moveTo>
                    <a:pt x="0" y="0"/>
                  </a:moveTo>
                  <a:lnTo>
                    <a:pt x="22326600" y="0"/>
                  </a:lnTo>
                  <a:lnTo>
                    <a:pt x="22326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8DCE2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62965" y="1879283"/>
            <a:ext cx="178921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6"/>
              </a:lnSpc>
            </a:pPr>
            <a:r>
              <a:rPr lang="en-US" sz="1447" b="true">
                <a:solidFill>
                  <a:srgbClr val="AEB8C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DEVELOPMENT STAGES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168554" y="2341245"/>
            <a:ext cx="293043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9"/>
              </a:lnSpc>
            </a:pPr>
            <a:r>
              <a:rPr lang="en-US" sz="2549" b="true">
                <a:solidFill>
                  <a:srgbClr val="AEB8C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→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997854" y="2341245"/>
            <a:ext cx="293043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9"/>
              </a:lnSpc>
            </a:pPr>
            <a:r>
              <a:rPr lang="en-US" sz="2549" b="true">
                <a:solidFill>
                  <a:srgbClr val="AEB8C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→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257925" y="2257425"/>
            <a:ext cx="14288" cy="5557838"/>
            <a:chOff x="0" y="0"/>
            <a:chExt cx="19050" cy="74104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050" cy="7410450"/>
            </a:xfrm>
            <a:custGeom>
              <a:avLst/>
              <a:gdLst/>
              <a:ahLst/>
              <a:cxnLst/>
              <a:rect r="r" b="b" t="t" l="l"/>
              <a:pathLst>
                <a:path h="7410450" w="19050">
                  <a:moveTo>
                    <a:pt x="0" y="0"/>
                  </a:moveTo>
                  <a:lnTo>
                    <a:pt x="19050" y="0"/>
                  </a:lnTo>
                  <a:lnTo>
                    <a:pt x="19050" y="7410450"/>
                  </a:lnTo>
                  <a:lnTo>
                    <a:pt x="0" y="7410450"/>
                  </a:lnTo>
                  <a:close/>
                </a:path>
              </a:pathLst>
            </a:custGeom>
            <a:solidFill>
              <a:srgbClr val="D8DCE2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2087225" y="2257425"/>
            <a:ext cx="14288" cy="5557838"/>
            <a:chOff x="0" y="0"/>
            <a:chExt cx="19050" cy="74104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050" cy="7410450"/>
            </a:xfrm>
            <a:custGeom>
              <a:avLst/>
              <a:gdLst/>
              <a:ahLst/>
              <a:cxnLst/>
              <a:rect r="r" b="b" t="t" l="l"/>
              <a:pathLst>
                <a:path h="7410450" w="19050">
                  <a:moveTo>
                    <a:pt x="0" y="0"/>
                  </a:moveTo>
                  <a:lnTo>
                    <a:pt x="19050" y="0"/>
                  </a:lnTo>
                  <a:lnTo>
                    <a:pt x="19050" y="7410450"/>
                  </a:lnTo>
                  <a:lnTo>
                    <a:pt x="0" y="7410450"/>
                  </a:lnTo>
                  <a:close/>
                </a:path>
              </a:pathLst>
            </a:custGeom>
            <a:solidFill>
              <a:srgbClr val="D8DCE2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862965" y="2203133"/>
            <a:ext cx="415156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9"/>
              </a:lnSpc>
            </a:pPr>
            <a:r>
              <a:rPr lang="en-US" sz="3224" b="true">
                <a:solidFill>
                  <a:srgbClr val="F2C94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20215" y="2241233"/>
            <a:ext cx="404622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9"/>
              </a:lnSpc>
            </a:pPr>
            <a:r>
              <a:rPr lang="en-US" sz="2324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ELECTRONIC ACCESS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771525" y="2886075"/>
            <a:ext cx="5086350" cy="14288"/>
            <a:chOff x="0" y="0"/>
            <a:chExt cx="6781800" cy="1905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781800" cy="19050"/>
            </a:xfrm>
            <a:custGeom>
              <a:avLst/>
              <a:gdLst/>
              <a:ahLst/>
              <a:cxnLst/>
              <a:rect r="r" b="b" t="t" l="l"/>
              <a:pathLst>
                <a:path h="19050" w="6781800">
                  <a:moveTo>
                    <a:pt x="0" y="0"/>
                  </a:moveTo>
                  <a:lnTo>
                    <a:pt x="6781800" y="0"/>
                  </a:lnTo>
                  <a:lnTo>
                    <a:pt x="67818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8DCE2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771525" y="2857500"/>
            <a:ext cx="628650" cy="57150"/>
            <a:chOff x="0" y="0"/>
            <a:chExt cx="838200" cy="762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38200" cy="76200"/>
            </a:xfrm>
            <a:custGeom>
              <a:avLst/>
              <a:gdLst/>
              <a:ahLst/>
              <a:cxnLst/>
              <a:rect r="r" b="b" t="t" l="l"/>
              <a:pathLst>
                <a:path h="762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F2C94C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862965" y="3088958"/>
            <a:ext cx="1904851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8"/>
              </a:lnSpc>
            </a:pPr>
            <a:r>
              <a:rPr lang="en-US" sz="1357" b="true">
                <a:solidFill>
                  <a:srgbClr val="AEB8C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MARKET PROBLEM / NEED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62965" y="3308033"/>
            <a:ext cx="4846320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87"/>
              </a:lnSpc>
              <a:spcBef>
                <a:spcPct val="0"/>
              </a:spcBef>
            </a:pPr>
            <a:r>
              <a:rPr lang="en-US" sz="1739" strike="noStrike" u="none">
                <a:solidFill>
                  <a:srgbClr val="E8EDF5"/>
                </a:solidFill>
                <a:latin typeface="Calibri (MS)"/>
                <a:ea typeface="Calibri (MS)"/>
                <a:cs typeface="Calibri (MS)"/>
                <a:sym typeface="Calibri (MS)"/>
              </a:rPr>
              <a:t>地域分散與人工交易限制市場覆蓋，印度需要可遠端接入且能大規模擴張的電子交易架構。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62965" y="4050983"/>
            <a:ext cx="84906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4"/>
              </a:lnSpc>
            </a:pPr>
            <a:r>
              <a:rPr lang="en-US" sz="1537" b="true">
                <a:solidFill>
                  <a:srgbClr val="AEB8C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RESPONSE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771525" y="4329112"/>
            <a:ext cx="42862" cy="842962"/>
            <a:chOff x="0" y="0"/>
            <a:chExt cx="57150" cy="11239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7150" cy="1123950"/>
            </a:xfrm>
            <a:custGeom>
              <a:avLst/>
              <a:gdLst/>
              <a:ahLst/>
              <a:cxnLst/>
              <a:rect r="r" b="b" t="t" l="l"/>
              <a:pathLst>
                <a:path h="1123950" w="57150">
                  <a:moveTo>
                    <a:pt x="0" y="0"/>
                  </a:moveTo>
                  <a:lnTo>
                    <a:pt x="57150" y="0"/>
                  </a:lnTo>
                  <a:lnTo>
                    <a:pt x="57150" y="1123950"/>
                  </a:lnTo>
                  <a:lnTo>
                    <a:pt x="0" y="1123950"/>
                  </a:lnTo>
                  <a:close/>
                </a:path>
              </a:pathLst>
            </a:custGeom>
            <a:solidFill>
              <a:srgbClr val="6E5AA8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020127" y="4331970"/>
            <a:ext cx="976759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3"/>
              </a:lnSpc>
            </a:pPr>
            <a:r>
              <a:rPr lang="en-US" sz="1469" b="true">
                <a:solidFill>
                  <a:srgbClr val="C9BE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[EXCHANGE]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20128" y="4536758"/>
            <a:ext cx="3105745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7"/>
              </a:lnSpc>
            </a:pPr>
            <a:r>
              <a:rPr lang="en-US" sz="177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1994｜NSE Screen-based Trading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20127" y="4874895"/>
            <a:ext cx="474630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3"/>
              </a:lnSpc>
            </a:pPr>
            <a:r>
              <a:rPr lang="en-US" sz="1594">
                <a:solidFill>
                  <a:srgbClr val="DCE3EE"/>
                </a:solidFill>
                <a:latin typeface="Calibri (MS)"/>
                <a:ea typeface="Calibri (MS)"/>
                <a:cs typeface="Calibri (MS)"/>
                <a:sym typeface="Calibri (MS)"/>
              </a:rPr>
              <a:t>建立大規模全電子交易市場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771525" y="5672138"/>
            <a:ext cx="42862" cy="842962"/>
            <a:chOff x="0" y="0"/>
            <a:chExt cx="57150" cy="112395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7150" cy="1123950"/>
            </a:xfrm>
            <a:custGeom>
              <a:avLst/>
              <a:gdLst/>
              <a:ahLst/>
              <a:cxnLst/>
              <a:rect r="r" b="b" t="t" l="l"/>
              <a:pathLst>
                <a:path h="1123950" w="57150">
                  <a:moveTo>
                    <a:pt x="0" y="0"/>
                  </a:moveTo>
                  <a:lnTo>
                    <a:pt x="57150" y="0"/>
                  </a:lnTo>
                  <a:lnTo>
                    <a:pt x="57150" y="1123950"/>
                  </a:lnTo>
                  <a:lnTo>
                    <a:pt x="0" y="1123950"/>
                  </a:lnTo>
                  <a:close/>
                </a:path>
              </a:pathLst>
            </a:custGeom>
            <a:solidFill>
              <a:srgbClr val="2F6B9A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020127" y="5674995"/>
            <a:ext cx="78745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3"/>
              </a:lnSpc>
            </a:pPr>
            <a:r>
              <a:rPr lang="en-US" sz="1469" b="true">
                <a:solidFill>
                  <a:srgbClr val="7DD3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[MARKET]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20128" y="5879782"/>
            <a:ext cx="220221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7"/>
              </a:lnSpc>
            </a:pPr>
            <a:r>
              <a:rPr lang="en-US" sz="177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2000｜Internet Trading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20127" y="6217920"/>
            <a:ext cx="474630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3"/>
              </a:lnSpc>
            </a:pPr>
            <a:r>
              <a:rPr lang="en-US" sz="1594">
                <a:solidFill>
                  <a:srgbClr val="DCE3EE"/>
                </a:solidFill>
                <a:latin typeface="Calibri (MS)"/>
                <a:ea typeface="Calibri (MS)"/>
                <a:cs typeface="Calibri (MS)"/>
                <a:sym typeface="Calibri (MS)"/>
              </a:rPr>
              <a:t>遠端接入擴大 Retail participation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764381" y="6993731"/>
            <a:ext cx="5100638" cy="957262"/>
            <a:chOff x="0" y="0"/>
            <a:chExt cx="6800850" cy="127635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800850" cy="1276350"/>
            </a:xfrm>
            <a:custGeom>
              <a:avLst/>
              <a:gdLst/>
              <a:ahLst/>
              <a:cxnLst/>
              <a:rect r="r" b="b" t="t" l="l"/>
              <a:pathLst>
                <a:path h="1276350" w="6800850">
                  <a:moveTo>
                    <a:pt x="0" y="0"/>
                  </a:moveTo>
                  <a:lnTo>
                    <a:pt x="6800850" y="0"/>
                  </a:lnTo>
                  <a:lnTo>
                    <a:pt x="6800850" y="1276350"/>
                  </a:lnTo>
                  <a:lnTo>
                    <a:pt x="0" y="1276350"/>
                  </a:lnTo>
                  <a:close/>
                </a:path>
              </a:pathLst>
            </a:custGeom>
            <a:solidFill>
              <a:srgbClr val="FFF7D6"/>
            </a:solidFill>
            <a:ln w="14288" cap="sq">
              <a:solidFill>
                <a:srgbClr val="F2C94C"/>
              </a:solidFill>
              <a:prstDash val="solid"/>
              <a:miter/>
            </a:ln>
          </p:spPr>
        </p:sp>
      </p:grpSp>
      <p:sp>
        <p:nvSpPr>
          <p:cNvPr name="TextBox 38" id="38"/>
          <p:cNvSpPr txBox="true"/>
          <p:nvPr/>
        </p:nvSpPr>
        <p:spPr>
          <a:xfrm rot="0">
            <a:off x="1034415" y="7108508"/>
            <a:ext cx="881509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16"/>
              </a:lnSpc>
              <a:spcBef>
                <a:spcPct val="0"/>
              </a:spcBef>
            </a:pPr>
            <a:r>
              <a:rPr lang="en-US" b="true" sz="1346" strike="noStrike" u="none">
                <a:solidFill>
                  <a:srgbClr val="7A5C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TRANSITION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34415" y="7346632"/>
            <a:ext cx="456057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52"/>
              </a:lnSpc>
              <a:spcBef>
                <a:spcPct val="0"/>
              </a:spcBef>
            </a:pPr>
            <a:r>
              <a:rPr lang="en-US" b="true" sz="1627" strike="noStrike" u="none">
                <a:solidFill>
                  <a:srgbClr val="20242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Electronic access → Scale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692265" y="2203133"/>
            <a:ext cx="415156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9"/>
              </a:lnSpc>
            </a:pPr>
            <a:r>
              <a:rPr lang="en-US" sz="3224" b="true">
                <a:solidFill>
                  <a:srgbClr val="F2C94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549515" y="2250758"/>
            <a:ext cx="40462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8"/>
              </a:lnSpc>
            </a:pPr>
            <a:r>
              <a:rPr lang="en-US" sz="203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INSTITUTIONAL ALGO EXPANSION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6600825" y="2886075"/>
            <a:ext cx="5086350" cy="14288"/>
            <a:chOff x="0" y="0"/>
            <a:chExt cx="6781800" cy="1905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781800" cy="19050"/>
            </a:xfrm>
            <a:custGeom>
              <a:avLst/>
              <a:gdLst/>
              <a:ahLst/>
              <a:cxnLst/>
              <a:rect r="r" b="b" t="t" l="l"/>
              <a:pathLst>
                <a:path h="19050" w="6781800">
                  <a:moveTo>
                    <a:pt x="0" y="0"/>
                  </a:moveTo>
                  <a:lnTo>
                    <a:pt x="6781800" y="0"/>
                  </a:lnTo>
                  <a:lnTo>
                    <a:pt x="67818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8DCE2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600825" y="2857500"/>
            <a:ext cx="628650" cy="57150"/>
            <a:chOff x="0" y="0"/>
            <a:chExt cx="838200" cy="762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38200" cy="76200"/>
            </a:xfrm>
            <a:custGeom>
              <a:avLst/>
              <a:gdLst/>
              <a:ahLst/>
              <a:cxnLst/>
              <a:rect r="r" b="b" t="t" l="l"/>
              <a:pathLst>
                <a:path h="762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F2C94C"/>
            </a:solidFill>
          </p:spPr>
        </p:sp>
      </p:grpSp>
      <p:sp>
        <p:nvSpPr>
          <p:cNvPr name="TextBox 46" id="46"/>
          <p:cNvSpPr txBox="true"/>
          <p:nvPr/>
        </p:nvSpPr>
        <p:spPr>
          <a:xfrm rot="0">
            <a:off x="6692265" y="3088958"/>
            <a:ext cx="1904851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8"/>
              </a:lnSpc>
            </a:pPr>
            <a:r>
              <a:rPr lang="en-US" sz="1357" b="true">
                <a:solidFill>
                  <a:srgbClr val="AEB8C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MARKET PROBLEM / NEED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6692265" y="3308033"/>
            <a:ext cx="4846320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7"/>
              </a:lnSpc>
            </a:pPr>
            <a:r>
              <a:rPr lang="en-US" sz="1739">
                <a:solidFill>
                  <a:srgbClr val="E8EDF5"/>
                </a:solidFill>
                <a:latin typeface="Calibri (MS)"/>
                <a:ea typeface="Calibri (MS)"/>
                <a:cs typeface="Calibri (MS)"/>
                <a:sym typeface="Calibri (MS)"/>
              </a:rPr>
              <a:t>機構 Algo 使用增加後，市場需要更直接、更快速的交易接入。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6692265" y="4050983"/>
            <a:ext cx="84906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4"/>
              </a:lnSpc>
            </a:pPr>
            <a:r>
              <a:rPr lang="en-US" sz="1537" b="true">
                <a:solidFill>
                  <a:srgbClr val="AEB8C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RESPONSE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6600825" y="4329112"/>
            <a:ext cx="42862" cy="842962"/>
            <a:chOff x="0" y="0"/>
            <a:chExt cx="57150" cy="112395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7150" cy="1123950"/>
            </a:xfrm>
            <a:custGeom>
              <a:avLst/>
              <a:gdLst/>
              <a:ahLst/>
              <a:cxnLst/>
              <a:rect r="r" b="b" t="t" l="l"/>
              <a:pathLst>
                <a:path h="1123950" w="57150">
                  <a:moveTo>
                    <a:pt x="0" y="0"/>
                  </a:moveTo>
                  <a:lnTo>
                    <a:pt x="57150" y="0"/>
                  </a:lnTo>
                  <a:lnTo>
                    <a:pt x="57150" y="1123950"/>
                  </a:lnTo>
                  <a:lnTo>
                    <a:pt x="0" y="1123950"/>
                  </a:lnTo>
                  <a:close/>
                </a:path>
              </a:pathLst>
            </a:custGeom>
            <a:solidFill>
              <a:srgbClr val="6E5AA8"/>
            </a:solidFill>
          </p:spPr>
        </p:sp>
      </p:grpSp>
      <p:sp>
        <p:nvSpPr>
          <p:cNvPr name="TextBox 51" id="51"/>
          <p:cNvSpPr txBox="true"/>
          <p:nvPr/>
        </p:nvSpPr>
        <p:spPr>
          <a:xfrm rot="0">
            <a:off x="6849428" y="4331970"/>
            <a:ext cx="670768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3"/>
              </a:lnSpc>
            </a:pPr>
            <a:r>
              <a:rPr lang="en-US" sz="1469" b="true">
                <a:solidFill>
                  <a:srgbClr val="C9BE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[POLICY]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6849428" y="4536758"/>
            <a:ext cx="2126456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7"/>
              </a:lnSpc>
            </a:pPr>
            <a:r>
              <a:rPr lang="en-US" sz="177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2008｜DMA Approved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6849428" y="4874895"/>
            <a:ext cx="474630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3"/>
              </a:lnSpc>
            </a:pPr>
            <a:r>
              <a:rPr lang="en-US" sz="1594">
                <a:solidFill>
                  <a:srgbClr val="DCE3EE"/>
                </a:solidFill>
                <a:latin typeface="Calibri (MS)"/>
                <a:ea typeface="Calibri (MS)"/>
                <a:cs typeface="Calibri (MS)"/>
                <a:sym typeface="Calibri (MS)"/>
              </a:rPr>
              <a:t>Institutional clients 取得直接市場接入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6600825" y="5214938"/>
            <a:ext cx="42862" cy="842962"/>
            <a:chOff x="0" y="0"/>
            <a:chExt cx="57150" cy="112395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7150" cy="1123950"/>
            </a:xfrm>
            <a:custGeom>
              <a:avLst/>
              <a:gdLst/>
              <a:ahLst/>
              <a:cxnLst/>
              <a:rect r="r" b="b" t="t" l="l"/>
              <a:pathLst>
                <a:path h="1123950" w="57150">
                  <a:moveTo>
                    <a:pt x="0" y="0"/>
                  </a:moveTo>
                  <a:lnTo>
                    <a:pt x="57150" y="0"/>
                  </a:lnTo>
                  <a:lnTo>
                    <a:pt x="57150" y="1123950"/>
                  </a:lnTo>
                  <a:lnTo>
                    <a:pt x="0" y="1123950"/>
                  </a:lnTo>
                  <a:close/>
                </a:path>
              </a:pathLst>
            </a:custGeom>
            <a:solidFill>
              <a:srgbClr val="6E5AA8"/>
            </a:solidFill>
          </p:spPr>
        </p:sp>
      </p:grpSp>
      <p:sp>
        <p:nvSpPr>
          <p:cNvPr name="TextBox 56" id="56"/>
          <p:cNvSpPr txBox="true"/>
          <p:nvPr/>
        </p:nvSpPr>
        <p:spPr>
          <a:xfrm rot="0">
            <a:off x="6849428" y="5217795"/>
            <a:ext cx="976759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3"/>
              </a:lnSpc>
            </a:pPr>
            <a:r>
              <a:rPr lang="en-US" sz="1469" b="true">
                <a:solidFill>
                  <a:srgbClr val="C9BE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[EXCHANGE]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6849428" y="5422582"/>
            <a:ext cx="148084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7"/>
              </a:lnSpc>
            </a:pPr>
            <a:r>
              <a:rPr lang="en-US" sz="177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NSE Co-location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6849428" y="5760720"/>
            <a:ext cx="474630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3"/>
              </a:lnSpc>
            </a:pPr>
            <a:r>
              <a:rPr lang="en-US" sz="1594">
                <a:solidFill>
                  <a:srgbClr val="DCE3EE"/>
                </a:solidFill>
                <a:latin typeface="Calibri (MS)"/>
                <a:ea typeface="Calibri (MS)"/>
                <a:cs typeface="Calibri (MS)"/>
                <a:sym typeface="Calibri (MS)"/>
              </a:rPr>
              <a:t>回應 Algo / HFT 的低延遲需求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6600825" y="6100762"/>
            <a:ext cx="42862" cy="842962"/>
            <a:chOff x="0" y="0"/>
            <a:chExt cx="57150" cy="112395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7150" cy="1123950"/>
            </a:xfrm>
            <a:custGeom>
              <a:avLst/>
              <a:gdLst/>
              <a:ahLst/>
              <a:cxnLst/>
              <a:rect r="r" b="b" t="t" l="l"/>
              <a:pathLst>
                <a:path h="1123950" w="57150">
                  <a:moveTo>
                    <a:pt x="0" y="0"/>
                  </a:moveTo>
                  <a:lnTo>
                    <a:pt x="57150" y="0"/>
                  </a:lnTo>
                  <a:lnTo>
                    <a:pt x="57150" y="1123950"/>
                  </a:lnTo>
                  <a:lnTo>
                    <a:pt x="0" y="1123950"/>
                  </a:lnTo>
                  <a:close/>
                </a:path>
              </a:pathLst>
            </a:custGeom>
            <a:solidFill>
              <a:srgbClr val="6E5AA8"/>
            </a:solidFill>
          </p:spPr>
        </p:sp>
      </p:grpSp>
      <p:sp>
        <p:nvSpPr>
          <p:cNvPr name="TextBox 61" id="61"/>
          <p:cNvSpPr txBox="true"/>
          <p:nvPr/>
        </p:nvSpPr>
        <p:spPr>
          <a:xfrm rot="0">
            <a:off x="6849428" y="6103620"/>
            <a:ext cx="670768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3"/>
              </a:lnSpc>
            </a:pPr>
            <a:r>
              <a:rPr lang="en-US" sz="1469" b="true">
                <a:solidFill>
                  <a:srgbClr val="C9BE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[POLICY]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6849428" y="6308408"/>
            <a:ext cx="2139255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7"/>
              </a:lnSpc>
            </a:pPr>
            <a:r>
              <a:rPr lang="en-US" sz="177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2012｜Algo Guidelines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6849428" y="6646545"/>
            <a:ext cx="474630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3"/>
              </a:lnSpc>
            </a:pPr>
            <a:r>
              <a:rPr lang="en-US" sz="1594">
                <a:solidFill>
                  <a:srgbClr val="DCE3EE"/>
                </a:solidFill>
                <a:latin typeface="Calibri (MS)"/>
                <a:ea typeface="Calibri (MS)"/>
                <a:cs typeface="Calibri (MS)"/>
                <a:sym typeface="Calibri (MS)"/>
              </a:rPr>
              <a:t>因 Algo 使用增加建立風控規範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6593681" y="6993731"/>
            <a:ext cx="5100638" cy="957262"/>
            <a:chOff x="0" y="0"/>
            <a:chExt cx="6800850" cy="127635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800850" cy="1276350"/>
            </a:xfrm>
            <a:custGeom>
              <a:avLst/>
              <a:gdLst/>
              <a:ahLst/>
              <a:cxnLst/>
              <a:rect r="r" b="b" t="t" l="l"/>
              <a:pathLst>
                <a:path h="1276350" w="6800850">
                  <a:moveTo>
                    <a:pt x="0" y="0"/>
                  </a:moveTo>
                  <a:lnTo>
                    <a:pt x="6800850" y="0"/>
                  </a:lnTo>
                  <a:lnTo>
                    <a:pt x="6800850" y="1276350"/>
                  </a:lnTo>
                  <a:lnTo>
                    <a:pt x="0" y="1276350"/>
                  </a:lnTo>
                  <a:close/>
                </a:path>
              </a:pathLst>
            </a:custGeom>
            <a:solidFill>
              <a:srgbClr val="FFF7D6"/>
            </a:solidFill>
            <a:ln w="14288" cap="sq">
              <a:solidFill>
                <a:srgbClr val="F2C94C"/>
              </a:solidFill>
              <a:prstDash val="solid"/>
              <a:miter/>
            </a:ln>
          </p:spPr>
        </p:sp>
      </p:grpSp>
      <p:sp>
        <p:nvSpPr>
          <p:cNvPr name="TextBox 66" id="66"/>
          <p:cNvSpPr txBox="true"/>
          <p:nvPr/>
        </p:nvSpPr>
        <p:spPr>
          <a:xfrm rot="0">
            <a:off x="6863715" y="7108508"/>
            <a:ext cx="881509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16"/>
              </a:lnSpc>
              <a:spcBef>
                <a:spcPct val="0"/>
              </a:spcBef>
            </a:pPr>
            <a:r>
              <a:rPr lang="en-US" b="true" sz="1346" strike="noStrike" u="none">
                <a:solidFill>
                  <a:srgbClr val="7A5C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TRANSITION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6863715" y="7346632"/>
            <a:ext cx="456057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52"/>
              </a:lnSpc>
              <a:spcBef>
                <a:spcPct val="0"/>
              </a:spcBef>
            </a:pPr>
            <a:r>
              <a:rPr lang="en-US" b="true" sz="1627" strike="noStrike" u="none">
                <a:solidFill>
                  <a:srgbClr val="20242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Institutional Algo → DMA / CoLo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2521565" y="2203133"/>
            <a:ext cx="415156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9"/>
              </a:lnSpc>
            </a:pPr>
            <a:r>
              <a:rPr lang="en-US" sz="3224" b="true">
                <a:solidFill>
                  <a:srgbClr val="F2C94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3378815" y="2250758"/>
            <a:ext cx="40462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8"/>
              </a:lnSpc>
            </a:pPr>
            <a:r>
              <a:rPr lang="en-US" sz="203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REGULATED EXPANSION TO RETAIL</a:t>
            </a:r>
          </a:p>
        </p:txBody>
      </p:sp>
      <p:grpSp>
        <p:nvGrpSpPr>
          <p:cNvPr name="Group 70" id="70"/>
          <p:cNvGrpSpPr/>
          <p:nvPr/>
        </p:nvGrpSpPr>
        <p:grpSpPr>
          <a:xfrm rot="0">
            <a:off x="12430125" y="2886075"/>
            <a:ext cx="5086350" cy="14288"/>
            <a:chOff x="0" y="0"/>
            <a:chExt cx="6781800" cy="1905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6781800" cy="19050"/>
            </a:xfrm>
            <a:custGeom>
              <a:avLst/>
              <a:gdLst/>
              <a:ahLst/>
              <a:cxnLst/>
              <a:rect r="r" b="b" t="t" l="l"/>
              <a:pathLst>
                <a:path h="19050" w="6781800">
                  <a:moveTo>
                    <a:pt x="0" y="0"/>
                  </a:moveTo>
                  <a:lnTo>
                    <a:pt x="6781800" y="0"/>
                  </a:lnTo>
                  <a:lnTo>
                    <a:pt x="67818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8DCE2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2430125" y="2857500"/>
            <a:ext cx="628650" cy="57150"/>
            <a:chOff x="0" y="0"/>
            <a:chExt cx="838200" cy="762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838200" cy="76200"/>
            </a:xfrm>
            <a:custGeom>
              <a:avLst/>
              <a:gdLst/>
              <a:ahLst/>
              <a:cxnLst/>
              <a:rect r="r" b="b" t="t" l="l"/>
              <a:pathLst>
                <a:path h="762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F2C94C"/>
            </a:solidFill>
          </p:spPr>
        </p:sp>
      </p:grpSp>
      <p:sp>
        <p:nvSpPr>
          <p:cNvPr name="TextBox 74" id="74"/>
          <p:cNvSpPr txBox="true"/>
          <p:nvPr/>
        </p:nvSpPr>
        <p:spPr>
          <a:xfrm rot="0">
            <a:off x="12521565" y="3088958"/>
            <a:ext cx="1904851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8"/>
              </a:lnSpc>
            </a:pPr>
            <a:r>
              <a:rPr lang="en-US" sz="1357" b="true">
                <a:solidFill>
                  <a:srgbClr val="AEB8C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MARKET PROBLEM / NEED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2521565" y="3308033"/>
            <a:ext cx="4846320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7"/>
              </a:lnSpc>
            </a:pPr>
            <a:r>
              <a:rPr lang="en-US" sz="1739">
                <a:solidFill>
                  <a:srgbClr val="E8EDF5"/>
                </a:solidFill>
                <a:latin typeface="Calibri (MS)"/>
                <a:ea typeface="Calibri (MS)"/>
                <a:cs typeface="Calibri (MS)"/>
                <a:sym typeface="Calibri (MS)"/>
              </a:rPr>
              <a:t>Algo 成熟後，監管需在公平接入與風控前提下擴大參與範圍。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2521565" y="4050983"/>
            <a:ext cx="84906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4"/>
              </a:lnSpc>
            </a:pPr>
            <a:r>
              <a:rPr lang="en-US" sz="1537" b="true">
                <a:solidFill>
                  <a:srgbClr val="AEB8C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RESPONSE</a:t>
            </a:r>
          </a:p>
        </p:txBody>
      </p:sp>
      <p:grpSp>
        <p:nvGrpSpPr>
          <p:cNvPr name="Group 77" id="77"/>
          <p:cNvGrpSpPr/>
          <p:nvPr/>
        </p:nvGrpSpPr>
        <p:grpSpPr>
          <a:xfrm rot="0">
            <a:off x="12430125" y="4329112"/>
            <a:ext cx="42862" cy="842962"/>
            <a:chOff x="0" y="0"/>
            <a:chExt cx="57150" cy="112395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7150" cy="1123950"/>
            </a:xfrm>
            <a:custGeom>
              <a:avLst/>
              <a:gdLst/>
              <a:ahLst/>
              <a:cxnLst/>
              <a:rect r="r" b="b" t="t" l="l"/>
              <a:pathLst>
                <a:path h="1123950" w="57150">
                  <a:moveTo>
                    <a:pt x="0" y="0"/>
                  </a:moveTo>
                  <a:lnTo>
                    <a:pt x="57150" y="0"/>
                  </a:lnTo>
                  <a:lnTo>
                    <a:pt x="57150" y="1123950"/>
                  </a:lnTo>
                  <a:lnTo>
                    <a:pt x="0" y="1123950"/>
                  </a:lnTo>
                  <a:close/>
                </a:path>
              </a:pathLst>
            </a:custGeom>
            <a:solidFill>
              <a:srgbClr val="6E5AA8"/>
            </a:solidFill>
          </p:spPr>
        </p:sp>
      </p:grpSp>
      <p:sp>
        <p:nvSpPr>
          <p:cNvPr name="TextBox 79" id="79"/>
          <p:cNvSpPr txBox="true"/>
          <p:nvPr/>
        </p:nvSpPr>
        <p:spPr>
          <a:xfrm rot="0">
            <a:off x="12678728" y="4331970"/>
            <a:ext cx="670768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3"/>
              </a:lnSpc>
            </a:pPr>
            <a:r>
              <a:rPr lang="en-US" sz="1469" b="true">
                <a:solidFill>
                  <a:srgbClr val="C9BE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[POLICY]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2678728" y="4536758"/>
            <a:ext cx="163071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7"/>
              </a:lnSpc>
            </a:pPr>
            <a:r>
              <a:rPr lang="en-US" sz="177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CoLo / Algo Rules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2678728" y="4874895"/>
            <a:ext cx="474630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3"/>
              </a:lnSpc>
            </a:pPr>
            <a:r>
              <a:rPr lang="en-US" sz="1594">
                <a:solidFill>
                  <a:srgbClr val="DCE3EE"/>
                </a:solidFill>
                <a:latin typeface="Calibri (MS)"/>
                <a:ea typeface="Calibri (MS)"/>
                <a:cs typeface="Calibri (MS)"/>
                <a:sym typeface="Calibri (MS)"/>
              </a:rPr>
              <a:t>深化公平接入、審核與風控</a:t>
            </a:r>
          </a:p>
        </p:txBody>
      </p:sp>
      <p:grpSp>
        <p:nvGrpSpPr>
          <p:cNvPr name="Group 82" id="82"/>
          <p:cNvGrpSpPr/>
          <p:nvPr/>
        </p:nvGrpSpPr>
        <p:grpSpPr>
          <a:xfrm rot="0">
            <a:off x="12430125" y="5214938"/>
            <a:ext cx="42862" cy="842962"/>
            <a:chOff x="0" y="0"/>
            <a:chExt cx="57150" cy="112395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57150" cy="1123950"/>
            </a:xfrm>
            <a:custGeom>
              <a:avLst/>
              <a:gdLst/>
              <a:ahLst/>
              <a:cxnLst/>
              <a:rect r="r" b="b" t="t" l="l"/>
              <a:pathLst>
                <a:path h="1123950" w="57150">
                  <a:moveTo>
                    <a:pt x="0" y="0"/>
                  </a:moveTo>
                  <a:lnTo>
                    <a:pt x="57150" y="0"/>
                  </a:lnTo>
                  <a:lnTo>
                    <a:pt x="57150" y="1123950"/>
                  </a:lnTo>
                  <a:lnTo>
                    <a:pt x="0" y="1123950"/>
                  </a:lnTo>
                  <a:close/>
                </a:path>
              </a:pathLst>
            </a:custGeom>
            <a:solidFill>
              <a:srgbClr val="6E5AA8"/>
            </a:solidFill>
          </p:spPr>
        </p:sp>
      </p:grpSp>
      <p:sp>
        <p:nvSpPr>
          <p:cNvPr name="TextBox 84" id="84"/>
          <p:cNvSpPr txBox="true"/>
          <p:nvPr/>
        </p:nvSpPr>
        <p:spPr>
          <a:xfrm rot="0">
            <a:off x="12678728" y="5217795"/>
            <a:ext cx="670768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3"/>
              </a:lnSpc>
            </a:pPr>
            <a:r>
              <a:rPr lang="en-US" sz="1469" b="true">
                <a:solidFill>
                  <a:srgbClr val="C9BE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[POLICY]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2678728" y="5422582"/>
            <a:ext cx="2128093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7"/>
              </a:lnSpc>
            </a:pPr>
            <a:r>
              <a:rPr lang="en-US" sz="177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Retail Algo Framework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2678728" y="5760720"/>
            <a:ext cx="474630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3"/>
              </a:lnSpc>
            </a:pPr>
            <a:r>
              <a:rPr lang="en-US" sz="1594">
                <a:solidFill>
                  <a:srgbClr val="DCE3EE"/>
                </a:solidFill>
                <a:latin typeface="Calibri (MS)"/>
                <a:ea typeface="Calibri (MS)"/>
                <a:cs typeface="Calibri (MS)"/>
                <a:sym typeface="Calibri (MS)"/>
              </a:rPr>
              <a:t>建立較安全的 Retail Algo participation</a:t>
            </a:r>
          </a:p>
        </p:txBody>
      </p:sp>
      <p:grpSp>
        <p:nvGrpSpPr>
          <p:cNvPr name="Group 87" id="87"/>
          <p:cNvGrpSpPr/>
          <p:nvPr/>
        </p:nvGrpSpPr>
        <p:grpSpPr>
          <a:xfrm rot="0">
            <a:off x="12430125" y="6100762"/>
            <a:ext cx="42862" cy="842962"/>
            <a:chOff x="0" y="0"/>
            <a:chExt cx="57150" cy="112395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57150" cy="1123950"/>
            </a:xfrm>
            <a:custGeom>
              <a:avLst/>
              <a:gdLst/>
              <a:ahLst/>
              <a:cxnLst/>
              <a:rect r="r" b="b" t="t" l="l"/>
              <a:pathLst>
                <a:path h="1123950" w="57150">
                  <a:moveTo>
                    <a:pt x="0" y="0"/>
                  </a:moveTo>
                  <a:lnTo>
                    <a:pt x="57150" y="0"/>
                  </a:lnTo>
                  <a:lnTo>
                    <a:pt x="57150" y="1123950"/>
                  </a:lnTo>
                  <a:lnTo>
                    <a:pt x="0" y="1123950"/>
                  </a:lnTo>
                  <a:close/>
                </a:path>
              </a:pathLst>
            </a:custGeom>
            <a:solidFill>
              <a:srgbClr val="B7791F"/>
            </a:solidFill>
          </p:spPr>
        </p:sp>
      </p:grpSp>
      <p:sp>
        <p:nvSpPr>
          <p:cNvPr name="TextBox 89" id="89"/>
          <p:cNvSpPr txBox="true"/>
          <p:nvPr/>
        </p:nvSpPr>
        <p:spPr>
          <a:xfrm rot="0">
            <a:off x="12678728" y="6103620"/>
            <a:ext cx="112901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3"/>
              </a:lnSpc>
            </a:pPr>
            <a:r>
              <a:rPr lang="en-US" sz="1469" b="true">
                <a:solidFill>
                  <a:srgbClr val="FFD38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[INSTITUTION]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12678728" y="6308408"/>
            <a:ext cx="1522214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7"/>
              </a:lnSpc>
            </a:pPr>
            <a:r>
              <a:rPr lang="en-US" sz="177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Client Direct API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12678728" y="6646545"/>
            <a:ext cx="474630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3"/>
              </a:lnSpc>
            </a:pPr>
            <a:r>
              <a:rPr lang="en-US" sz="1594">
                <a:solidFill>
                  <a:srgbClr val="DCE3EE"/>
                </a:solidFill>
                <a:latin typeface="Calibri (MS)"/>
                <a:ea typeface="Calibri (MS)"/>
                <a:cs typeface="Calibri (MS)"/>
                <a:sym typeface="Calibri (MS)"/>
              </a:rPr>
              <a:t>券商 API 與 Member Frontend 流程化</a:t>
            </a:r>
          </a:p>
        </p:txBody>
      </p:sp>
      <p:grpSp>
        <p:nvGrpSpPr>
          <p:cNvPr name="Group 92" id="92"/>
          <p:cNvGrpSpPr/>
          <p:nvPr/>
        </p:nvGrpSpPr>
        <p:grpSpPr>
          <a:xfrm rot="0">
            <a:off x="12422981" y="6993731"/>
            <a:ext cx="5100638" cy="957262"/>
            <a:chOff x="0" y="0"/>
            <a:chExt cx="6800850" cy="127635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6800850" cy="1276350"/>
            </a:xfrm>
            <a:custGeom>
              <a:avLst/>
              <a:gdLst/>
              <a:ahLst/>
              <a:cxnLst/>
              <a:rect r="r" b="b" t="t" l="l"/>
              <a:pathLst>
                <a:path h="1276350" w="6800850">
                  <a:moveTo>
                    <a:pt x="0" y="0"/>
                  </a:moveTo>
                  <a:lnTo>
                    <a:pt x="6800850" y="0"/>
                  </a:lnTo>
                  <a:lnTo>
                    <a:pt x="6800850" y="1276350"/>
                  </a:lnTo>
                  <a:lnTo>
                    <a:pt x="0" y="1276350"/>
                  </a:lnTo>
                  <a:close/>
                </a:path>
              </a:pathLst>
            </a:custGeom>
            <a:solidFill>
              <a:srgbClr val="FFF7D6"/>
            </a:solidFill>
            <a:ln w="14288" cap="sq">
              <a:solidFill>
                <a:srgbClr val="F2C94C"/>
              </a:solidFill>
              <a:prstDash val="solid"/>
              <a:miter/>
            </a:ln>
          </p:spPr>
        </p:sp>
      </p:grpSp>
      <p:sp>
        <p:nvSpPr>
          <p:cNvPr name="TextBox 94" id="94"/>
          <p:cNvSpPr txBox="true"/>
          <p:nvPr/>
        </p:nvSpPr>
        <p:spPr>
          <a:xfrm rot="0">
            <a:off x="12693015" y="7108508"/>
            <a:ext cx="881509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16"/>
              </a:lnSpc>
              <a:spcBef>
                <a:spcPct val="0"/>
              </a:spcBef>
            </a:pPr>
            <a:r>
              <a:rPr lang="en-US" b="true" sz="1346" strike="noStrike" u="none">
                <a:solidFill>
                  <a:srgbClr val="7A5C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TRANSITION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12693015" y="7346632"/>
            <a:ext cx="456057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52"/>
              </a:lnSpc>
              <a:spcBef>
                <a:spcPct val="0"/>
              </a:spcBef>
            </a:pPr>
            <a:r>
              <a:rPr lang="en-US" b="true" sz="1627" strike="noStrike" u="none">
                <a:solidFill>
                  <a:srgbClr val="20242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Governance → Retail expansion</a:t>
            </a:r>
          </a:p>
        </p:txBody>
      </p:sp>
      <p:grpSp>
        <p:nvGrpSpPr>
          <p:cNvPr name="Group 96" id="96"/>
          <p:cNvGrpSpPr/>
          <p:nvPr/>
        </p:nvGrpSpPr>
        <p:grpSpPr>
          <a:xfrm rot="0">
            <a:off x="771525" y="8143875"/>
            <a:ext cx="16744950" cy="1114425"/>
            <a:chOff x="0" y="0"/>
            <a:chExt cx="22326600" cy="148590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22326600" cy="1485900"/>
            </a:xfrm>
            <a:custGeom>
              <a:avLst/>
              <a:gdLst/>
              <a:ahLst/>
              <a:cxnLst/>
              <a:rect r="r" b="b" t="t" l="l"/>
              <a:pathLst>
                <a:path h="1485900" w="22326600">
                  <a:moveTo>
                    <a:pt x="0" y="0"/>
                  </a:moveTo>
                  <a:lnTo>
                    <a:pt x="22326600" y="0"/>
                  </a:lnTo>
                  <a:lnTo>
                    <a:pt x="22326600" y="1485900"/>
                  </a:lnTo>
                  <a:lnTo>
                    <a:pt x="0" y="1485900"/>
                  </a:lnTo>
                  <a:close/>
                </a:path>
              </a:pathLst>
            </a:custGeom>
            <a:solidFill>
              <a:srgbClr val="20242B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771525" y="8143875"/>
            <a:ext cx="2171700" cy="1114425"/>
            <a:chOff x="0" y="0"/>
            <a:chExt cx="2895600" cy="148590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2895600" cy="1485900"/>
            </a:xfrm>
            <a:custGeom>
              <a:avLst/>
              <a:gdLst/>
              <a:ahLst/>
              <a:cxnLst/>
              <a:rect r="r" b="b" t="t" l="l"/>
              <a:pathLst>
                <a:path h="1485900" w="2895600">
                  <a:moveTo>
                    <a:pt x="0" y="0"/>
                  </a:moveTo>
                  <a:lnTo>
                    <a:pt x="2895600" y="0"/>
                  </a:lnTo>
                  <a:lnTo>
                    <a:pt x="2895600" y="1485900"/>
                  </a:lnTo>
                  <a:lnTo>
                    <a:pt x="0" y="1485900"/>
                  </a:lnTo>
                  <a:close/>
                </a:path>
              </a:pathLst>
            </a:custGeom>
            <a:solidFill>
              <a:srgbClr val="F2C94C"/>
            </a:solidFill>
          </p:spPr>
        </p:sp>
      </p:grpSp>
      <p:sp>
        <p:nvSpPr>
          <p:cNvPr name="TextBox 100" id="100"/>
          <p:cNvSpPr txBox="true"/>
          <p:nvPr/>
        </p:nvSpPr>
        <p:spPr>
          <a:xfrm rot="0">
            <a:off x="1120140" y="8337232"/>
            <a:ext cx="1460182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8"/>
              </a:lnSpc>
            </a:pPr>
            <a:r>
              <a:rPr lang="en-US" sz="1706" b="true">
                <a:solidFill>
                  <a:srgbClr val="20242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FORMATION</a:t>
            </a:r>
          </a:p>
          <a:p>
            <a:pPr algn="l">
              <a:lnSpc>
                <a:spcPts val="2048"/>
              </a:lnSpc>
            </a:pPr>
            <a:r>
              <a:rPr lang="en-US" sz="1706" b="true">
                <a:solidFill>
                  <a:srgbClr val="20242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PATH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3348990" y="8399145"/>
            <a:ext cx="1367599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20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Electronic Market → DMA → Algo Adoption → CoLo → Regulation → Retail Algo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891540" y="9484995"/>
            <a:ext cx="16504920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6"/>
              </a:lnSpc>
            </a:pPr>
            <a:r>
              <a:rPr lang="en-US" sz="1222">
                <a:solidFill>
                  <a:srgbClr val="AEB8C8"/>
                </a:solidFill>
                <a:latin typeface="Calibri (MS)"/>
                <a:ea typeface="Calibri (MS)"/>
                <a:cs typeface="Calibri (MS)"/>
                <a:sym typeface="Calibri (MS)"/>
              </a:rPr>
              <a:t>資料來源：SEBI Annual Reports / circulars；NSE / SEBI 2025–26 Annual Report；NSE Client Direct API documents。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71525" y="414338"/>
            <a:ext cx="71438" cy="685800"/>
            <a:chOff x="0" y="0"/>
            <a:chExt cx="95250" cy="914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5250" cy="914400"/>
            </a:xfrm>
            <a:custGeom>
              <a:avLst/>
              <a:gdLst/>
              <a:ahLst/>
              <a:cxnLst/>
              <a:rect r="r" b="b" t="t" l="l"/>
              <a:pathLst>
                <a:path h="914400" w="95250">
                  <a:moveTo>
                    <a:pt x="0" y="0"/>
                  </a:moveTo>
                  <a:lnTo>
                    <a:pt x="95250" y="0"/>
                  </a:lnTo>
                  <a:lnTo>
                    <a:pt x="9525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F2C94C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120140" y="350520"/>
            <a:ext cx="524637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4"/>
              </a:lnSpc>
            </a:pPr>
            <a:r>
              <a:rPr lang="en-US" sz="1762" b="true">
                <a:solidFill>
                  <a:srgbClr val="AEB8C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CROSS-COUNTRY COMPARISON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20140" y="650557"/>
            <a:ext cx="832232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04"/>
              </a:lnSpc>
              <a:spcBef>
                <a:spcPct val="0"/>
              </a:spcBef>
            </a:pPr>
            <a:r>
              <a:rPr lang="en-US" b="true" sz="3337" strike="noStrike" u="non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WHAT DRIVES ALGO-TRADING DEVELOPMENT?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20140" y="1264920"/>
            <a:ext cx="5144839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14"/>
              </a:lnSpc>
              <a:spcBef>
                <a:spcPct val="0"/>
              </a:spcBef>
            </a:pPr>
            <a:r>
              <a:rPr lang="en-US" sz="1762" strike="noStrike" u="none">
                <a:solidFill>
                  <a:srgbClr val="DCE3EE"/>
                </a:solidFill>
                <a:latin typeface="Calibri (MS)"/>
                <a:ea typeface="Calibri (MS)"/>
                <a:cs typeface="Calibri (MS)"/>
                <a:sym typeface="Calibri (MS)"/>
              </a:rPr>
              <a:t>各國第一推動力不同，但成熟後的市場能力逐步收斂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64381" y="1878806"/>
            <a:ext cx="16759238" cy="685800"/>
            <a:chOff x="0" y="0"/>
            <a:chExt cx="22345650" cy="914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345650" cy="914400"/>
            </a:xfrm>
            <a:custGeom>
              <a:avLst/>
              <a:gdLst/>
              <a:ahLst/>
              <a:cxnLst/>
              <a:rect r="r" b="b" t="t" l="l"/>
              <a:pathLst>
                <a:path h="914400" w="22345650">
                  <a:moveTo>
                    <a:pt x="0" y="0"/>
                  </a:moveTo>
                  <a:lnTo>
                    <a:pt x="22345650" y="0"/>
                  </a:lnTo>
                  <a:lnTo>
                    <a:pt x="2234565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F5F6F7"/>
            </a:solidFill>
            <a:ln w="14288" cap="sq">
              <a:solidFill>
                <a:srgbClr val="D8DCE2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771525" y="1885950"/>
            <a:ext cx="114300" cy="671512"/>
            <a:chOff x="0" y="0"/>
            <a:chExt cx="152400" cy="8953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2400" cy="895350"/>
            </a:xfrm>
            <a:custGeom>
              <a:avLst/>
              <a:gdLst/>
              <a:ahLst/>
              <a:cxnLst/>
              <a:rect r="r" b="b" t="t" l="l"/>
              <a:pathLst>
                <a:path h="89535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895350"/>
                  </a:lnTo>
                  <a:lnTo>
                    <a:pt x="0" y="895350"/>
                  </a:lnTo>
                  <a:close/>
                </a:path>
              </a:pathLst>
            </a:custGeom>
            <a:solidFill>
              <a:srgbClr val="F2C94C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234440" y="2088833"/>
            <a:ext cx="235818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79"/>
              </a:lnSpc>
            </a:pPr>
            <a:r>
              <a:rPr lang="en-US" sz="1649" b="true">
                <a:solidFill>
                  <a:srgbClr val="20242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606165" y="2055495"/>
            <a:ext cx="481578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8"/>
              </a:lnSpc>
              <a:spcBef>
                <a:spcPct val="0"/>
              </a:spcBef>
            </a:pPr>
            <a:r>
              <a:rPr lang="en-US" b="true" sz="1931" strike="noStrike" u="none">
                <a:solidFill>
                  <a:srgbClr val="20242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MARKET STRUCTURE DRIVEN — Fragmentation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764381" y="2707481"/>
            <a:ext cx="16759238" cy="685800"/>
            <a:chOff x="0" y="0"/>
            <a:chExt cx="22345650" cy="914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345650" cy="914400"/>
            </a:xfrm>
            <a:custGeom>
              <a:avLst/>
              <a:gdLst/>
              <a:ahLst/>
              <a:cxnLst/>
              <a:rect r="r" b="b" t="t" l="l"/>
              <a:pathLst>
                <a:path h="914400" w="22345650">
                  <a:moveTo>
                    <a:pt x="0" y="0"/>
                  </a:moveTo>
                  <a:lnTo>
                    <a:pt x="22345650" y="0"/>
                  </a:lnTo>
                  <a:lnTo>
                    <a:pt x="2234565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8DCE2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771525" y="2714625"/>
            <a:ext cx="114300" cy="671512"/>
            <a:chOff x="0" y="0"/>
            <a:chExt cx="152400" cy="8953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2400" cy="895350"/>
            </a:xfrm>
            <a:custGeom>
              <a:avLst/>
              <a:gdLst/>
              <a:ahLst/>
              <a:cxnLst/>
              <a:rect r="r" b="b" t="t" l="l"/>
              <a:pathLst>
                <a:path h="89535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895350"/>
                  </a:lnTo>
                  <a:lnTo>
                    <a:pt x="0" y="895350"/>
                  </a:lnTo>
                  <a:close/>
                </a:path>
              </a:pathLst>
            </a:custGeom>
            <a:solidFill>
              <a:srgbClr val="F2C94C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234440" y="2917508"/>
            <a:ext cx="572691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79"/>
              </a:lnSpc>
            </a:pPr>
            <a:r>
              <a:rPr lang="en-US" sz="1649" b="true">
                <a:solidFill>
                  <a:srgbClr val="20242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JAPAN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606165" y="2884170"/>
            <a:ext cx="4319885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8"/>
              </a:lnSpc>
              <a:spcBef>
                <a:spcPct val="0"/>
              </a:spcBef>
            </a:pPr>
            <a:r>
              <a:rPr lang="en-US" b="true" sz="1931" strike="noStrike" u="none">
                <a:solidFill>
                  <a:srgbClr val="20242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MARKET REFORM DRIVEN — Deregulation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764381" y="3536156"/>
            <a:ext cx="16759238" cy="685800"/>
            <a:chOff x="0" y="0"/>
            <a:chExt cx="22345650" cy="914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345650" cy="914400"/>
            </a:xfrm>
            <a:custGeom>
              <a:avLst/>
              <a:gdLst/>
              <a:ahLst/>
              <a:cxnLst/>
              <a:rect r="r" b="b" t="t" l="l"/>
              <a:pathLst>
                <a:path h="914400" w="22345650">
                  <a:moveTo>
                    <a:pt x="0" y="0"/>
                  </a:moveTo>
                  <a:lnTo>
                    <a:pt x="22345650" y="0"/>
                  </a:lnTo>
                  <a:lnTo>
                    <a:pt x="2234565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F5F6F7"/>
            </a:solidFill>
            <a:ln w="14288" cap="sq">
              <a:solidFill>
                <a:srgbClr val="D8DCE2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771525" y="3543300"/>
            <a:ext cx="114300" cy="671512"/>
            <a:chOff x="0" y="0"/>
            <a:chExt cx="152400" cy="8953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2400" cy="895350"/>
            </a:xfrm>
            <a:custGeom>
              <a:avLst/>
              <a:gdLst/>
              <a:ahLst/>
              <a:cxnLst/>
              <a:rect r="r" b="b" t="t" l="l"/>
              <a:pathLst>
                <a:path h="89535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895350"/>
                  </a:lnTo>
                  <a:lnTo>
                    <a:pt x="0" y="895350"/>
                  </a:lnTo>
                  <a:close/>
                </a:path>
              </a:pathLst>
            </a:custGeom>
            <a:solidFill>
              <a:srgbClr val="F2C94C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234440" y="3746183"/>
            <a:ext cx="603275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79"/>
              </a:lnSpc>
            </a:pPr>
            <a:r>
              <a:rPr lang="en-US" sz="1649" b="true">
                <a:solidFill>
                  <a:srgbClr val="20242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KOREA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606165" y="3712845"/>
            <a:ext cx="6256288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8"/>
              </a:lnSpc>
              <a:spcBef>
                <a:spcPct val="0"/>
              </a:spcBef>
            </a:pPr>
            <a:r>
              <a:rPr lang="en-US" b="true" sz="1931" strike="noStrike" u="none">
                <a:solidFill>
                  <a:srgbClr val="20242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PROFESSIONAL FLOW DRIVEN — Basket, Arbitrage &amp; Hedging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764381" y="4364831"/>
            <a:ext cx="16759238" cy="685800"/>
            <a:chOff x="0" y="0"/>
            <a:chExt cx="22345650" cy="914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2345650" cy="914400"/>
            </a:xfrm>
            <a:custGeom>
              <a:avLst/>
              <a:gdLst/>
              <a:ahLst/>
              <a:cxnLst/>
              <a:rect r="r" b="b" t="t" l="l"/>
              <a:pathLst>
                <a:path h="914400" w="22345650">
                  <a:moveTo>
                    <a:pt x="0" y="0"/>
                  </a:moveTo>
                  <a:lnTo>
                    <a:pt x="22345650" y="0"/>
                  </a:lnTo>
                  <a:lnTo>
                    <a:pt x="2234565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8DCE2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771525" y="4371975"/>
            <a:ext cx="114300" cy="671512"/>
            <a:chOff x="0" y="0"/>
            <a:chExt cx="152400" cy="89535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52400" cy="895350"/>
            </a:xfrm>
            <a:custGeom>
              <a:avLst/>
              <a:gdLst/>
              <a:ahLst/>
              <a:cxnLst/>
              <a:rect r="r" b="b" t="t" l="l"/>
              <a:pathLst>
                <a:path h="89535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895350"/>
                  </a:lnTo>
                  <a:lnTo>
                    <a:pt x="0" y="895350"/>
                  </a:lnTo>
                  <a:close/>
                </a:path>
              </a:pathLst>
            </a:custGeom>
            <a:solidFill>
              <a:srgbClr val="F2C94C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234440" y="4574857"/>
            <a:ext cx="1026542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79"/>
              </a:lnSpc>
            </a:pPr>
            <a:r>
              <a:rPr lang="en-US" sz="1649" b="true">
                <a:solidFill>
                  <a:srgbClr val="20242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SINGAPORE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606165" y="4541520"/>
            <a:ext cx="6261199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8"/>
              </a:lnSpc>
              <a:spcBef>
                <a:spcPct val="0"/>
              </a:spcBef>
            </a:pPr>
            <a:r>
              <a:rPr lang="en-US" b="true" sz="1931" strike="noStrike" u="none">
                <a:solidFill>
                  <a:srgbClr val="20242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REGIONAL GATEWAY DRIVEN — Compete for Global Liquidity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764381" y="5193506"/>
            <a:ext cx="16759238" cy="685800"/>
            <a:chOff x="0" y="0"/>
            <a:chExt cx="22345650" cy="914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2345650" cy="914400"/>
            </a:xfrm>
            <a:custGeom>
              <a:avLst/>
              <a:gdLst/>
              <a:ahLst/>
              <a:cxnLst/>
              <a:rect r="r" b="b" t="t" l="l"/>
              <a:pathLst>
                <a:path h="914400" w="22345650">
                  <a:moveTo>
                    <a:pt x="0" y="0"/>
                  </a:moveTo>
                  <a:lnTo>
                    <a:pt x="22345650" y="0"/>
                  </a:lnTo>
                  <a:lnTo>
                    <a:pt x="2234565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F5F6F7"/>
            </a:solidFill>
            <a:ln w="14288" cap="sq">
              <a:solidFill>
                <a:srgbClr val="D8DCE2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771525" y="5200650"/>
            <a:ext cx="114300" cy="671512"/>
            <a:chOff x="0" y="0"/>
            <a:chExt cx="152400" cy="89535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52400" cy="895350"/>
            </a:xfrm>
            <a:custGeom>
              <a:avLst/>
              <a:gdLst/>
              <a:ahLst/>
              <a:cxnLst/>
              <a:rect r="r" b="b" t="t" l="l"/>
              <a:pathLst>
                <a:path h="89535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895350"/>
                  </a:lnTo>
                  <a:lnTo>
                    <a:pt x="0" y="895350"/>
                  </a:lnTo>
                  <a:close/>
                </a:path>
              </a:pathLst>
            </a:custGeom>
            <a:solidFill>
              <a:srgbClr val="F2C94C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234440" y="5403533"/>
            <a:ext cx="508695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79"/>
              </a:lnSpc>
            </a:pPr>
            <a:r>
              <a:rPr lang="en-US" sz="1649" b="true">
                <a:solidFill>
                  <a:srgbClr val="20242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INDIA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606165" y="5370195"/>
            <a:ext cx="562778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8"/>
              </a:lnSpc>
              <a:spcBef>
                <a:spcPct val="0"/>
              </a:spcBef>
            </a:pPr>
            <a:r>
              <a:rPr lang="en-US" b="true" sz="1931" strike="noStrike" u="none">
                <a:solidFill>
                  <a:srgbClr val="20242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ACCESS INFRASTRUCTURE DRIVEN — Electronic Market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771525" y="6300788"/>
            <a:ext cx="16744950" cy="2814638"/>
            <a:chOff x="0" y="0"/>
            <a:chExt cx="22326600" cy="375285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2326600" cy="3752850"/>
            </a:xfrm>
            <a:custGeom>
              <a:avLst/>
              <a:gdLst/>
              <a:ahLst/>
              <a:cxnLst/>
              <a:rect r="r" b="b" t="t" l="l"/>
              <a:pathLst>
                <a:path h="3752850" w="22326600">
                  <a:moveTo>
                    <a:pt x="0" y="0"/>
                  </a:moveTo>
                  <a:lnTo>
                    <a:pt x="22326600" y="0"/>
                  </a:lnTo>
                  <a:lnTo>
                    <a:pt x="22326600" y="3752850"/>
                  </a:lnTo>
                  <a:lnTo>
                    <a:pt x="0" y="3752850"/>
                  </a:lnTo>
                  <a:close/>
                </a:path>
              </a:pathLst>
            </a:custGeom>
            <a:solidFill>
              <a:srgbClr val="20242B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771525" y="6300788"/>
            <a:ext cx="16744950" cy="85725"/>
            <a:chOff x="0" y="0"/>
            <a:chExt cx="22326600" cy="1143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2326600" cy="114300"/>
            </a:xfrm>
            <a:custGeom>
              <a:avLst/>
              <a:gdLst/>
              <a:ahLst/>
              <a:cxnLst/>
              <a:rect r="r" b="b" t="t" l="l"/>
              <a:pathLst>
                <a:path h="114300" w="22326600">
                  <a:moveTo>
                    <a:pt x="0" y="0"/>
                  </a:moveTo>
                  <a:lnTo>
                    <a:pt x="22326600" y="0"/>
                  </a:lnTo>
                  <a:lnTo>
                    <a:pt x="22326600" y="11430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F2C94C"/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1177290" y="6651307"/>
            <a:ext cx="2111573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44"/>
              </a:lnSpc>
              <a:spcBef>
                <a:spcPct val="0"/>
              </a:spcBef>
            </a:pPr>
            <a:r>
              <a:rPr lang="en-US" b="true" sz="1537" strike="noStrike" u="none">
                <a:solidFill>
                  <a:srgbClr val="F2C94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COMMON CONVERGENCE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77290" y="6998970"/>
            <a:ext cx="5607397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54"/>
              </a:lnSpc>
              <a:spcBef>
                <a:spcPct val="0"/>
              </a:spcBef>
            </a:pPr>
            <a:r>
              <a:rPr lang="en-US" b="true" sz="2212" strike="noStrike" u="non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Different starting points, similar capability path: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114425" y="7643812"/>
            <a:ext cx="100012" cy="100012"/>
            <a:chOff x="0" y="0"/>
            <a:chExt cx="133350" cy="13335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33350" cy="133350"/>
            </a:xfrm>
            <a:custGeom>
              <a:avLst/>
              <a:gdLst/>
              <a:ahLst/>
              <a:cxnLst/>
              <a:rect r="r" b="b" t="t" l="l"/>
              <a:pathLst>
                <a:path h="133350" w="133350">
                  <a:moveTo>
                    <a:pt x="0" y="0"/>
                  </a:moveTo>
                  <a:lnTo>
                    <a:pt x="133350" y="0"/>
                  </a:lnTo>
                  <a:lnTo>
                    <a:pt x="133350" y="13335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F2C94C"/>
            </a:solidFill>
          </p:spPr>
        </p:sp>
      </p:grpSp>
      <p:sp>
        <p:nvSpPr>
          <p:cNvPr name="TextBox 46" id="46"/>
          <p:cNvSpPr txBox="true"/>
          <p:nvPr/>
        </p:nvSpPr>
        <p:spPr>
          <a:xfrm rot="0">
            <a:off x="1463040" y="7546657"/>
            <a:ext cx="6817995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13"/>
              </a:lnSpc>
              <a:spcBef>
                <a:spcPct val="0"/>
              </a:spcBef>
            </a:pPr>
            <a:r>
              <a:rPr lang="en-US" sz="1594" strike="noStrike" u="none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Electronic access and market data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1114425" y="8043862"/>
            <a:ext cx="100012" cy="100012"/>
            <a:chOff x="0" y="0"/>
            <a:chExt cx="133350" cy="13335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33350" cy="133350"/>
            </a:xfrm>
            <a:custGeom>
              <a:avLst/>
              <a:gdLst/>
              <a:ahLst/>
              <a:cxnLst/>
              <a:rect r="r" b="b" t="t" l="l"/>
              <a:pathLst>
                <a:path h="133350" w="133350">
                  <a:moveTo>
                    <a:pt x="0" y="0"/>
                  </a:moveTo>
                  <a:lnTo>
                    <a:pt x="133350" y="0"/>
                  </a:lnTo>
                  <a:lnTo>
                    <a:pt x="133350" y="13335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F2C94C"/>
            </a:solidFill>
          </p:spPr>
        </p:sp>
      </p:grpSp>
      <p:sp>
        <p:nvSpPr>
          <p:cNvPr name="TextBox 49" id="49"/>
          <p:cNvSpPr txBox="true"/>
          <p:nvPr/>
        </p:nvSpPr>
        <p:spPr>
          <a:xfrm rot="0">
            <a:off x="1463040" y="7946707"/>
            <a:ext cx="6817995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13"/>
              </a:lnSpc>
              <a:spcBef>
                <a:spcPct val="0"/>
              </a:spcBef>
            </a:pPr>
            <a:r>
              <a:rPr lang="en-US" sz="1594" strike="noStrike" u="none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Professional execution demand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1114425" y="8443912"/>
            <a:ext cx="100012" cy="100012"/>
            <a:chOff x="0" y="0"/>
            <a:chExt cx="133350" cy="13335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33350" cy="133350"/>
            </a:xfrm>
            <a:custGeom>
              <a:avLst/>
              <a:gdLst/>
              <a:ahLst/>
              <a:cxnLst/>
              <a:rect r="r" b="b" t="t" l="l"/>
              <a:pathLst>
                <a:path h="133350" w="133350">
                  <a:moveTo>
                    <a:pt x="0" y="0"/>
                  </a:moveTo>
                  <a:lnTo>
                    <a:pt x="133350" y="0"/>
                  </a:lnTo>
                  <a:lnTo>
                    <a:pt x="133350" y="13335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F2C94C"/>
            </a:solidFill>
          </p:spPr>
        </p:sp>
      </p:grpSp>
      <p:sp>
        <p:nvSpPr>
          <p:cNvPr name="TextBox 52" id="52"/>
          <p:cNvSpPr txBox="true"/>
          <p:nvPr/>
        </p:nvSpPr>
        <p:spPr>
          <a:xfrm rot="0">
            <a:off x="1463040" y="8346757"/>
            <a:ext cx="6817995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13"/>
              </a:lnSpc>
              <a:spcBef>
                <a:spcPct val="0"/>
              </a:spcBef>
            </a:pPr>
            <a:r>
              <a:rPr lang="en-US" sz="1594" strike="noStrike" u="none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Automated execution and routing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9244012" y="7643812"/>
            <a:ext cx="100012" cy="100012"/>
            <a:chOff x="0" y="0"/>
            <a:chExt cx="133350" cy="13335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33350" cy="133350"/>
            </a:xfrm>
            <a:custGeom>
              <a:avLst/>
              <a:gdLst/>
              <a:ahLst/>
              <a:cxnLst/>
              <a:rect r="r" b="b" t="t" l="l"/>
              <a:pathLst>
                <a:path h="133350" w="133350">
                  <a:moveTo>
                    <a:pt x="0" y="0"/>
                  </a:moveTo>
                  <a:lnTo>
                    <a:pt x="133350" y="0"/>
                  </a:lnTo>
                  <a:lnTo>
                    <a:pt x="133350" y="13335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F2C94C"/>
            </a:solidFill>
          </p:spPr>
        </p:sp>
      </p:grpSp>
      <p:sp>
        <p:nvSpPr>
          <p:cNvPr name="TextBox 55" id="55"/>
          <p:cNvSpPr txBox="true"/>
          <p:nvPr/>
        </p:nvSpPr>
        <p:spPr>
          <a:xfrm rot="0">
            <a:off x="9592628" y="7546657"/>
            <a:ext cx="7175182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13"/>
              </a:lnSpc>
              <a:spcBef>
                <a:spcPct val="0"/>
              </a:spcBef>
            </a:pPr>
            <a:r>
              <a:rPr lang="en-US" sz="1594" strike="noStrike" u="none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Low-latency infrastructure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9244012" y="8043862"/>
            <a:ext cx="100012" cy="100012"/>
            <a:chOff x="0" y="0"/>
            <a:chExt cx="133350" cy="13335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33350" cy="133350"/>
            </a:xfrm>
            <a:custGeom>
              <a:avLst/>
              <a:gdLst/>
              <a:ahLst/>
              <a:cxnLst/>
              <a:rect r="r" b="b" t="t" l="l"/>
              <a:pathLst>
                <a:path h="133350" w="133350">
                  <a:moveTo>
                    <a:pt x="0" y="0"/>
                  </a:moveTo>
                  <a:lnTo>
                    <a:pt x="133350" y="0"/>
                  </a:lnTo>
                  <a:lnTo>
                    <a:pt x="133350" y="13335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F2C94C"/>
            </a:solidFill>
          </p:spPr>
        </p:sp>
      </p:grpSp>
      <p:sp>
        <p:nvSpPr>
          <p:cNvPr name="TextBox 58" id="58"/>
          <p:cNvSpPr txBox="true"/>
          <p:nvPr/>
        </p:nvSpPr>
        <p:spPr>
          <a:xfrm rot="0">
            <a:off x="9592628" y="7946707"/>
            <a:ext cx="7175182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13"/>
              </a:lnSpc>
              <a:spcBef>
                <a:spcPct val="0"/>
              </a:spcBef>
            </a:pPr>
            <a:r>
              <a:rPr lang="en-US" sz="1594" strike="noStrike" u="none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Monetizable broker / exchange services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9244012" y="8443912"/>
            <a:ext cx="100012" cy="100012"/>
            <a:chOff x="0" y="0"/>
            <a:chExt cx="133350" cy="13335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33350" cy="133350"/>
            </a:xfrm>
            <a:custGeom>
              <a:avLst/>
              <a:gdLst/>
              <a:ahLst/>
              <a:cxnLst/>
              <a:rect r="r" b="b" t="t" l="l"/>
              <a:pathLst>
                <a:path h="133350" w="133350">
                  <a:moveTo>
                    <a:pt x="0" y="0"/>
                  </a:moveTo>
                  <a:lnTo>
                    <a:pt x="133350" y="0"/>
                  </a:lnTo>
                  <a:lnTo>
                    <a:pt x="133350" y="13335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F2C94C"/>
            </a:solidFill>
          </p:spPr>
        </p:sp>
      </p:grpSp>
      <p:sp>
        <p:nvSpPr>
          <p:cNvPr name="TextBox 61" id="61"/>
          <p:cNvSpPr txBox="true"/>
          <p:nvPr/>
        </p:nvSpPr>
        <p:spPr>
          <a:xfrm rot="0">
            <a:off x="9592628" y="8346757"/>
            <a:ext cx="7175182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13"/>
              </a:lnSpc>
              <a:spcBef>
                <a:spcPct val="0"/>
              </a:spcBef>
            </a:pPr>
            <a:r>
              <a:rPr lang="en-US" sz="1594" strike="noStrike" u="none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Governance, fairness and risk control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881113" y="733563"/>
            <a:ext cx="14719524" cy="8819874"/>
            <a:chOff x="0" y="0"/>
            <a:chExt cx="3876747" cy="232293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876747" cy="2322930"/>
            </a:xfrm>
            <a:custGeom>
              <a:avLst/>
              <a:gdLst/>
              <a:ahLst/>
              <a:cxnLst/>
              <a:rect r="r" b="b" t="t" l="l"/>
              <a:pathLst>
                <a:path h="2322930" w="3876747">
                  <a:moveTo>
                    <a:pt x="0" y="0"/>
                  </a:moveTo>
                  <a:lnTo>
                    <a:pt x="3876747" y="0"/>
                  </a:lnTo>
                  <a:lnTo>
                    <a:pt x="3876747" y="2322930"/>
                  </a:lnTo>
                  <a:lnTo>
                    <a:pt x="0" y="2322930"/>
                  </a:lnTo>
                  <a:close/>
                </a:path>
              </a:pathLst>
            </a:custGeom>
            <a:gradFill rotWithShape="true">
              <a:gsLst>
                <a:gs pos="0">
                  <a:srgbClr val="515269">
                    <a:alpha val="100000"/>
                  </a:srgbClr>
                </a:gs>
                <a:gs pos="100000">
                  <a:srgbClr val="00012E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3876747" cy="2294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81113" y="733563"/>
            <a:ext cx="14719524" cy="1028129"/>
            <a:chOff x="0" y="0"/>
            <a:chExt cx="3876747" cy="27078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76747" cy="270783"/>
            </a:xfrm>
            <a:custGeom>
              <a:avLst/>
              <a:gdLst/>
              <a:ahLst/>
              <a:cxnLst/>
              <a:rect r="r" b="b" t="t" l="l"/>
              <a:pathLst>
                <a:path h="270783" w="3876747">
                  <a:moveTo>
                    <a:pt x="0" y="0"/>
                  </a:moveTo>
                  <a:lnTo>
                    <a:pt x="3876747" y="0"/>
                  </a:lnTo>
                  <a:lnTo>
                    <a:pt x="3876747" y="270783"/>
                  </a:lnTo>
                  <a:lnTo>
                    <a:pt x="0" y="270783"/>
                  </a:lnTo>
                  <a:close/>
                </a:path>
              </a:pathLst>
            </a:custGeom>
            <a:gradFill rotWithShape="true">
              <a:gsLst>
                <a:gs pos="0">
                  <a:srgbClr val="00012E">
                    <a:alpha val="74000"/>
                  </a:srgbClr>
                </a:gs>
                <a:gs pos="100000">
                  <a:srgbClr val="150082">
                    <a:alpha val="74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3876747" cy="2422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81113" y="733563"/>
            <a:ext cx="1438140" cy="1028129"/>
            <a:chOff x="0" y="0"/>
            <a:chExt cx="378769" cy="27078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78769" cy="270783"/>
            </a:xfrm>
            <a:custGeom>
              <a:avLst/>
              <a:gdLst/>
              <a:ahLst/>
              <a:cxnLst/>
              <a:rect r="r" b="b" t="t" l="l"/>
              <a:pathLst>
                <a:path h="270783" w="378769">
                  <a:moveTo>
                    <a:pt x="0" y="0"/>
                  </a:moveTo>
                  <a:lnTo>
                    <a:pt x="378769" y="0"/>
                  </a:lnTo>
                  <a:lnTo>
                    <a:pt x="378769" y="270783"/>
                  </a:lnTo>
                  <a:lnTo>
                    <a:pt x="0" y="270783"/>
                  </a:lnTo>
                  <a:close/>
                </a:path>
              </a:pathLst>
            </a:custGeom>
            <a:gradFill rotWithShape="true">
              <a:gsLst>
                <a:gs pos="0">
                  <a:srgbClr val="00012E">
                    <a:alpha val="100000"/>
                  </a:srgbClr>
                </a:gs>
                <a:gs pos="100000">
                  <a:srgbClr val="15008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28575"/>
              <a:ext cx="378769" cy="2422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true" flipV="false" rot="0">
            <a:off x="2388763" y="1103477"/>
            <a:ext cx="422840" cy="288300"/>
          </a:xfrm>
          <a:custGeom>
            <a:avLst/>
            <a:gdLst/>
            <a:ahLst/>
            <a:cxnLst/>
            <a:rect r="r" b="b" t="t" l="l"/>
            <a:pathLst>
              <a:path h="288300" w="422840">
                <a:moveTo>
                  <a:pt x="422840" y="0"/>
                </a:moveTo>
                <a:lnTo>
                  <a:pt x="0" y="0"/>
                </a:lnTo>
                <a:lnTo>
                  <a:pt x="0" y="288300"/>
                </a:lnTo>
                <a:lnTo>
                  <a:pt x="422840" y="288300"/>
                </a:lnTo>
                <a:lnTo>
                  <a:pt x="42284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101100" y="2414749"/>
            <a:ext cx="1976873" cy="1362005"/>
          </a:xfrm>
          <a:custGeom>
            <a:avLst/>
            <a:gdLst/>
            <a:ahLst/>
            <a:cxnLst/>
            <a:rect r="r" b="b" t="t" l="l"/>
            <a:pathLst>
              <a:path h="1362005" w="1976873">
                <a:moveTo>
                  <a:pt x="0" y="0"/>
                </a:moveTo>
                <a:lnTo>
                  <a:pt x="1976873" y="0"/>
                </a:lnTo>
                <a:lnTo>
                  <a:pt x="1976873" y="1362005"/>
                </a:lnTo>
                <a:lnTo>
                  <a:pt x="0" y="13620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263917" y="4043538"/>
            <a:ext cx="12079506" cy="1452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41"/>
              </a:lnSpc>
              <a:spcBef>
                <a:spcPct val="0"/>
              </a:spcBef>
            </a:pPr>
            <a:r>
              <a:rPr lang="en-US" sz="10416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台灣程式交易市場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507184" y="5628926"/>
            <a:ext cx="13592971" cy="1452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41"/>
              </a:lnSpc>
              <a:spcBef>
                <a:spcPct val="0"/>
              </a:spcBef>
            </a:pPr>
            <a:r>
              <a:rPr lang="en-US" sz="10416">
                <a:solidFill>
                  <a:srgbClr val="00BBDE"/>
                </a:solidFill>
                <a:latin typeface="HK Modular"/>
                <a:ea typeface="HK Modular"/>
                <a:cs typeface="HK Modular"/>
                <a:sym typeface="HK Modular"/>
              </a:rPr>
              <a:t>形成路徑與成熟度判斷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07695" y="470535"/>
            <a:ext cx="87630" cy="979170"/>
            <a:chOff x="0" y="0"/>
            <a:chExt cx="116840" cy="13055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6840" cy="1305560"/>
            </a:xfrm>
            <a:custGeom>
              <a:avLst/>
              <a:gdLst/>
              <a:ahLst/>
              <a:cxnLst/>
              <a:rect r="r" b="b" t="t" l="l"/>
              <a:pathLst>
                <a:path h="1305560" w="116840">
                  <a:moveTo>
                    <a:pt x="0" y="0"/>
                  </a:moveTo>
                  <a:lnTo>
                    <a:pt x="116840" y="0"/>
                  </a:lnTo>
                  <a:lnTo>
                    <a:pt x="116840" y="1305560"/>
                  </a:lnTo>
                  <a:lnTo>
                    <a:pt x="0" y="1305560"/>
                  </a:lnTo>
                  <a:close/>
                </a:path>
              </a:pathLst>
            </a:custGeom>
            <a:solidFill>
              <a:srgbClr val="F3C645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850392" y="864108"/>
            <a:ext cx="16253460" cy="617220"/>
            <a:chOff x="0" y="0"/>
            <a:chExt cx="21671280" cy="8229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671280" cy="822960"/>
            </a:xfrm>
            <a:custGeom>
              <a:avLst/>
              <a:gdLst/>
              <a:ahLst/>
              <a:cxnLst/>
              <a:rect r="r" b="b" t="t" l="l"/>
              <a:pathLst>
                <a:path h="822960" w="21671280">
                  <a:moveTo>
                    <a:pt x="0" y="0"/>
                  </a:moveTo>
                  <a:lnTo>
                    <a:pt x="21671280" y="0"/>
                  </a:lnTo>
                  <a:lnTo>
                    <a:pt x="216712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3105" r="0" b="-46310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671280" cy="832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230"/>
                </a:lnSpc>
              </a:pPr>
              <a:r>
                <a:rPr lang="en-US" sz="3525" spc="5">
                  <a:solidFill>
                    <a:srgbClr val="F7FA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STARTING POINT &amp; DEVELOPMENT PATH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50392" y="1549908"/>
            <a:ext cx="16116300" cy="452628"/>
            <a:chOff x="0" y="0"/>
            <a:chExt cx="21488400" cy="6035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488400" cy="603504"/>
            </a:xfrm>
            <a:custGeom>
              <a:avLst/>
              <a:gdLst/>
              <a:ahLst/>
              <a:cxnLst/>
              <a:rect r="r" b="b" t="t" l="l"/>
              <a:pathLst>
                <a:path h="603504" w="21488400">
                  <a:moveTo>
                    <a:pt x="0" y="0"/>
                  </a:moveTo>
                  <a:lnTo>
                    <a:pt x="21488400" y="0"/>
                  </a:lnTo>
                  <a:lnTo>
                    <a:pt x="21488400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43785" r="0" b="-64378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1488400" cy="6035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spc="2">
                  <a:solidFill>
                    <a:srgbClr val="B8C3D6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台灣以交易市場電子化與接入基礎建設為起點；但現貨與衍生品後來形成不同需求路徑。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84873" y="2215324"/>
            <a:ext cx="5280279" cy="6487287"/>
            <a:chOff x="0" y="0"/>
            <a:chExt cx="7040372" cy="864971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040372" cy="8649715"/>
            </a:xfrm>
            <a:custGeom>
              <a:avLst/>
              <a:gdLst/>
              <a:ahLst/>
              <a:cxnLst/>
              <a:rect r="r" b="b" t="t" l="l"/>
              <a:pathLst>
                <a:path h="8649715" w="7040372">
                  <a:moveTo>
                    <a:pt x="0" y="91694"/>
                  </a:moveTo>
                  <a:cubicBezTo>
                    <a:pt x="0" y="41021"/>
                    <a:pt x="41021" y="0"/>
                    <a:pt x="91694" y="0"/>
                  </a:cubicBezTo>
                  <a:lnTo>
                    <a:pt x="6948678" y="0"/>
                  </a:lnTo>
                  <a:cubicBezTo>
                    <a:pt x="6999351" y="0"/>
                    <a:pt x="7040372" y="41021"/>
                    <a:pt x="7040372" y="91694"/>
                  </a:cubicBezTo>
                  <a:lnTo>
                    <a:pt x="7040372" y="8558022"/>
                  </a:lnTo>
                  <a:cubicBezTo>
                    <a:pt x="7040372" y="8608695"/>
                    <a:pt x="6999351" y="8649715"/>
                    <a:pt x="6948678" y="8649715"/>
                  </a:cubicBezTo>
                  <a:lnTo>
                    <a:pt x="91694" y="8649715"/>
                  </a:lnTo>
                  <a:cubicBezTo>
                    <a:pt x="41021" y="8649715"/>
                    <a:pt x="0" y="8608695"/>
                    <a:pt x="0" y="8558022"/>
                  </a:cubicBezTo>
                  <a:close/>
                </a:path>
              </a:pathLst>
            </a:custGeom>
            <a:solidFill>
              <a:srgbClr val="101B2F">
                <a:alpha val="93725"/>
              </a:srgbClr>
            </a:solidFill>
            <a:ln w="1333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138428" y="2455164"/>
            <a:ext cx="754380" cy="438912"/>
            <a:chOff x="0" y="0"/>
            <a:chExt cx="1005840" cy="58521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05840" cy="585216"/>
            </a:xfrm>
            <a:custGeom>
              <a:avLst/>
              <a:gdLst/>
              <a:ahLst/>
              <a:cxnLst/>
              <a:rect r="r" b="b" t="t" l="l"/>
              <a:pathLst>
                <a:path h="585216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4649" t="0" r="-24649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1005840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 spc="4">
                  <a:solidFill>
                    <a:srgbClr val="12D7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01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933956" y="2455164"/>
            <a:ext cx="3963924" cy="713232"/>
            <a:chOff x="0" y="0"/>
            <a:chExt cx="5285232" cy="95097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285232" cy="950976"/>
            </a:xfrm>
            <a:custGeom>
              <a:avLst/>
              <a:gdLst/>
              <a:ahLst/>
              <a:cxnLst/>
              <a:rect r="r" b="b" t="t" l="l"/>
              <a:pathLst>
                <a:path h="950976" w="5285232">
                  <a:moveTo>
                    <a:pt x="0" y="0"/>
                  </a:moveTo>
                  <a:lnTo>
                    <a:pt x="5285232" y="0"/>
                  </a:lnTo>
                  <a:lnTo>
                    <a:pt x="5285232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8291" r="0" b="-5829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5285232" cy="9605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spc="3">
                  <a:solidFill>
                    <a:srgbClr val="F7FA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ELECTRONIC MARKET</a:t>
              </a:r>
            </a:p>
            <a:p>
              <a:pPr algn="l">
                <a:lnSpc>
                  <a:spcPts val="2430"/>
                </a:lnSpc>
              </a:pPr>
              <a:r>
                <a:rPr lang="en-US" sz="2025" spc="3">
                  <a:solidFill>
                    <a:srgbClr val="F7FA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&amp; ACCESS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 rot="16560">
            <a:off x="1154401" y="3396806"/>
            <a:ext cx="4741221" cy="0"/>
          </a:xfrm>
          <a:prstGeom prst="line">
            <a:avLst/>
          </a:prstGeom>
          <a:ln cap="rnd" w="9525">
            <a:solidFill>
              <a:srgbClr val="12D7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165860" y="3634740"/>
            <a:ext cx="1028700" cy="246888"/>
            <a:chOff x="0" y="0"/>
            <a:chExt cx="1371600" cy="32918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71600" cy="329184"/>
            </a:xfrm>
            <a:custGeom>
              <a:avLst/>
              <a:gdLst/>
              <a:ahLst/>
              <a:cxnLst/>
              <a:rect r="r" b="b" t="t" l="l"/>
              <a:pathLst>
                <a:path h="329184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1371600" cy="3387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 spc="2">
                  <a:solidFill>
                    <a:srgbClr val="12D7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NEED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65860" y="3936492"/>
            <a:ext cx="4718304" cy="795528"/>
            <a:chOff x="0" y="0"/>
            <a:chExt cx="6291072" cy="106070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291072" cy="1060704"/>
            </a:xfrm>
            <a:custGeom>
              <a:avLst/>
              <a:gdLst/>
              <a:ahLst/>
              <a:cxnLst/>
              <a:rect r="r" b="b" t="t" l="l"/>
              <a:pathLst>
                <a:path h="1060704" w="6291072">
                  <a:moveTo>
                    <a:pt x="0" y="0"/>
                  </a:moveTo>
                  <a:lnTo>
                    <a:pt x="6291072" y="0"/>
                  </a:lnTo>
                  <a:lnTo>
                    <a:pt x="6291072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5566" r="0" b="-6556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6291072" cy="10702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15"/>
                </a:lnSpc>
              </a:pPr>
              <a:r>
                <a:rPr lang="en-US" sz="1679" spc="2">
                  <a:solidFill>
                    <a:srgbClr val="F7FA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首要問題不是 Algo / HFT，而是提高市場效率、容量與投資人接入。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65860" y="4992624"/>
            <a:ext cx="1508760" cy="246888"/>
            <a:chOff x="0" y="0"/>
            <a:chExt cx="2011680" cy="32918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011680" cy="329184"/>
            </a:xfrm>
            <a:custGeom>
              <a:avLst/>
              <a:gdLst/>
              <a:ahLst/>
              <a:cxnLst/>
              <a:rect r="r" b="b" t="t" l="l"/>
              <a:pathLst>
                <a:path h="329184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9075" r="0" b="-6907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2011680" cy="3387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 spc="2">
                  <a:solidFill>
                    <a:srgbClr val="12D7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KEY EVENTS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56335" y="5435727"/>
            <a:ext cx="156210" cy="156210"/>
            <a:chOff x="0" y="0"/>
            <a:chExt cx="208280" cy="2082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08280" cy="208280"/>
            </a:xfrm>
            <a:custGeom>
              <a:avLst/>
              <a:gdLst/>
              <a:ahLst/>
              <a:cxnLst/>
              <a:rect r="r" b="b" t="t" l="l"/>
              <a:pathLst>
                <a:path h="208280" w="208280">
                  <a:moveTo>
                    <a:pt x="0" y="0"/>
                  </a:moveTo>
                  <a:lnTo>
                    <a:pt x="208280" y="0"/>
                  </a:lnTo>
                  <a:lnTo>
                    <a:pt x="208280" y="208280"/>
                  </a:lnTo>
                  <a:lnTo>
                    <a:pt x="0" y="208280"/>
                  </a:lnTo>
                  <a:close/>
                </a:path>
              </a:pathLst>
            </a:custGeom>
            <a:solidFill>
              <a:srgbClr val="12D7FF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412748" y="5404104"/>
            <a:ext cx="4471416" cy="274320"/>
            <a:chOff x="0" y="0"/>
            <a:chExt cx="5961888" cy="3657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961888" cy="365760"/>
            </a:xfrm>
            <a:custGeom>
              <a:avLst/>
              <a:gdLst/>
              <a:ahLst/>
              <a:cxnLst/>
              <a:rect r="r" b="b" t="t" l="l"/>
              <a:pathLst>
                <a:path h="365760" w="5961888">
                  <a:moveTo>
                    <a:pt x="0" y="0"/>
                  </a:moveTo>
                  <a:lnTo>
                    <a:pt x="5961888" y="0"/>
                  </a:lnTo>
                  <a:lnTo>
                    <a:pt x="5961888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7606" r="0" b="-267606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5961888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15"/>
                </a:lnSpc>
              </a:pPr>
              <a:r>
                <a:rPr lang="en-US" sz="1679" spc="2">
                  <a:solidFill>
                    <a:srgbClr val="F7FA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1993｜全自動交易系統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156335" y="6094095"/>
            <a:ext cx="156210" cy="156210"/>
            <a:chOff x="0" y="0"/>
            <a:chExt cx="208280" cy="2082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08280" cy="208280"/>
            </a:xfrm>
            <a:custGeom>
              <a:avLst/>
              <a:gdLst/>
              <a:ahLst/>
              <a:cxnLst/>
              <a:rect r="r" b="b" t="t" l="l"/>
              <a:pathLst>
                <a:path h="208280" w="208280">
                  <a:moveTo>
                    <a:pt x="0" y="0"/>
                  </a:moveTo>
                  <a:lnTo>
                    <a:pt x="208280" y="0"/>
                  </a:lnTo>
                  <a:lnTo>
                    <a:pt x="208280" y="208280"/>
                  </a:lnTo>
                  <a:lnTo>
                    <a:pt x="0" y="208280"/>
                  </a:lnTo>
                  <a:close/>
                </a:path>
              </a:pathLst>
            </a:custGeom>
            <a:solidFill>
              <a:srgbClr val="12D7FF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412748" y="6062472"/>
            <a:ext cx="4471416" cy="274320"/>
            <a:chOff x="0" y="0"/>
            <a:chExt cx="5961888" cy="36576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961888" cy="365760"/>
            </a:xfrm>
            <a:custGeom>
              <a:avLst/>
              <a:gdLst/>
              <a:ahLst/>
              <a:cxnLst/>
              <a:rect r="r" b="b" t="t" l="l"/>
              <a:pathLst>
                <a:path h="365760" w="5961888">
                  <a:moveTo>
                    <a:pt x="0" y="0"/>
                  </a:moveTo>
                  <a:lnTo>
                    <a:pt x="5961888" y="0"/>
                  </a:lnTo>
                  <a:lnTo>
                    <a:pt x="5961888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7606" r="0" b="-267606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5961888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15"/>
                </a:lnSpc>
              </a:pPr>
              <a:r>
                <a:rPr lang="en-US" sz="1679" spc="2">
                  <a:solidFill>
                    <a:srgbClr val="F7FA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1997｜網路下單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156335" y="7794879"/>
            <a:ext cx="4737354" cy="595122"/>
            <a:chOff x="0" y="0"/>
            <a:chExt cx="6316472" cy="79349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316472" cy="793496"/>
            </a:xfrm>
            <a:custGeom>
              <a:avLst/>
              <a:gdLst/>
              <a:ahLst/>
              <a:cxnLst/>
              <a:rect r="r" b="b" t="t" l="l"/>
              <a:pathLst>
                <a:path h="793496" w="6316472">
                  <a:moveTo>
                    <a:pt x="0" y="0"/>
                  </a:moveTo>
                  <a:lnTo>
                    <a:pt x="6316472" y="0"/>
                  </a:lnTo>
                  <a:lnTo>
                    <a:pt x="6316472" y="793496"/>
                  </a:lnTo>
                  <a:lnTo>
                    <a:pt x="0" y="793496"/>
                  </a:lnTo>
                  <a:close/>
                </a:path>
              </a:pathLst>
            </a:custGeom>
            <a:solidFill>
              <a:srgbClr val="F3C645">
                <a:alpha val="84314"/>
              </a:srgbClr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371600" y="7982712"/>
            <a:ext cx="4306824" cy="219456"/>
            <a:chOff x="0" y="0"/>
            <a:chExt cx="5742432" cy="29260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742432" cy="292608"/>
            </a:xfrm>
            <a:custGeom>
              <a:avLst/>
              <a:gdLst/>
              <a:ahLst/>
              <a:cxnLst/>
              <a:rect r="r" b="b" t="t" l="l"/>
              <a:pathLst>
                <a:path h="292608" w="5742432">
                  <a:moveTo>
                    <a:pt x="0" y="0"/>
                  </a:moveTo>
                  <a:lnTo>
                    <a:pt x="5742432" y="0"/>
                  </a:lnTo>
                  <a:lnTo>
                    <a:pt x="5742432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2393" r="0" b="-332393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5742432" cy="3116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spc="2">
                  <a:solidFill>
                    <a:srgbClr val="111111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Electronic market → Broader access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6618160" y="2215324"/>
            <a:ext cx="5280279" cy="6487287"/>
            <a:chOff x="0" y="0"/>
            <a:chExt cx="7040372" cy="864971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040372" cy="8649715"/>
            </a:xfrm>
            <a:custGeom>
              <a:avLst/>
              <a:gdLst/>
              <a:ahLst/>
              <a:cxnLst/>
              <a:rect r="r" b="b" t="t" l="l"/>
              <a:pathLst>
                <a:path h="8649715" w="7040372">
                  <a:moveTo>
                    <a:pt x="0" y="91694"/>
                  </a:moveTo>
                  <a:cubicBezTo>
                    <a:pt x="0" y="41021"/>
                    <a:pt x="41021" y="0"/>
                    <a:pt x="91694" y="0"/>
                  </a:cubicBezTo>
                  <a:lnTo>
                    <a:pt x="6948678" y="0"/>
                  </a:lnTo>
                  <a:cubicBezTo>
                    <a:pt x="6999351" y="0"/>
                    <a:pt x="7040372" y="41021"/>
                    <a:pt x="7040372" y="91694"/>
                  </a:cubicBezTo>
                  <a:lnTo>
                    <a:pt x="7040372" y="8558022"/>
                  </a:lnTo>
                  <a:cubicBezTo>
                    <a:pt x="7040372" y="8608695"/>
                    <a:pt x="6999351" y="8649715"/>
                    <a:pt x="6948678" y="8649715"/>
                  </a:cubicBezTo>
                  <a:lnTo>
                    <a:pt x="91694" y="8649715"/>
                  </a:lnTo>
                  <a:cubicBezTo>
                    <a:pt x="41021" y="8649715"/>
                    <a:pt x="0" y="8608695"/>
                    <a:pt x="0" y="8558022"/>
                  </a:cubicBezTo>
                  <a:close/>
                </a:path>
              </a:pathLst>
            </a:custGeom>
            <a:solidFill>
              <a:srgbClr val="101B2F">
                <a:alpha val="93725"/>
              </a:srgbClr>
            </a:solidFill>
            <a:ln w="1333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6871716" y="2455164"/>
            <a:ext cx="754380" cy="438912"/>
            <a:chOff x="0" y="0"/>
            <a:chExt cx="1005840" cy="58521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05840" cy="585216"/>
            </a:xfrm>
            <a:custGeom>
              <a:avLst/>
              <a:gdLst/>
              <a:ahLst/>
              <a:cxnLst/>
              <a:rect r="r" b="b" t="t" l="l"/>
              <a:pathLst>
                <a:path h="585216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4649" t="0" r="-24649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"/>
              <a:ext cx="1005840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 spc="4">
                  <a:solidFill>
                    <a:srgbClr val="F3C645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02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7667244" y="2455164"/>
            <a:ext cx="3963924" cy="713232"/>
            <a:chOff x="0" y="0"/>
            <a:chExt cx="5285232" cy="95097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285232" cy="950976"/>
            </a:xfrm>
            <a:custGeom>
              <a:avLst/>
              <a:gdLst/>
              <a:ahLst/>
              <a:cxnLst/>
              <a:rect r="r" b="b" t="t" l="l"/>
              <a:pathLst>
                <a:path h="950976" w="5285232">
                  <a:moveTo>
                    <a:pt x="0" y="0"/>
                  </a:moveTo>
                  <a:lnTo>
                    <a:pt x="5285232" y="0"/>
                  </a:lnTo>
                  <a:lnTo>
                    <a:pt x="5285232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8291" r="0" b="-58291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5285232" cy="9605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spc="3">
                  <a:solidFill>
                    <a:srgbClr val="F7FA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PROFESSIONAL ACCESS</a:t>
              </a:r>
            </a:p>
            <a:p>
              <a:pPr algn="l">
                <a:lnSpc>
                  <a:spcPts val="2430"/>
                </a:lnSpc>
              </a:pPr>
              <a:r>
                <a:rPr lang="en-US" sz="2025" spc="3">
                  <a:solidFill>
                    <a:srgbClr val="F7FA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&amp; DERIVATIVES</a:t>
              </a:r>
            </a:p>
          </p:txBody>
        </p:sp>
      </p:grpSp>
      <p:sp>
        <p:nvSpPr>
          <p:cNvPr name="AutoShape 52" id="52"/>
          <p:cNvSpPr/>
          <p:nvPr/>
        </p:nvSpPr>
        <p:spPr>
          <a:xfrm rot="16560">
            <a:off x="6887689" y="3396806"/>
            <a:ext cx="4741221" cy="0"/>
          </a:xfrm>
          <a:prstGeom prst="line">
            <a:avLst/>
          </a:prstGeom>
          <a:ln cap="rnd" w="9525">
            <a:solidFill>
              <a:srgbClr val="F3C64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3" id="53"/>
          <p:cNvGrpSpPr/>
          <p:nvPr/>
        </p:nvGrpSpPr>
        <p:grpSpPr>
          <a:xfrm rot="0">
            <a:off x="6899148" y="3634740"/>
            <a:ext cx="1028700" cy="246888"/>
            <a:chOff x="0" y="0"/>
            <a:chExt cx="1371600" cy="32918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371600" cy="329184"/>
            </a:xfrm>
            <a:custGeom>
              <a:avLst/>
              <a:gdLst/>
              <a:ahLst/>
              <a:cxnLst/>
              <a:rect r="r" b="b" t="t" l="l"/>
              <a:pathLst>
                <a:path h="329184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1371600" cy="3387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 spc="2">
                  <a:solidFill>
                    <a:srgbClr val="F3C645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NEED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6899148" y="3936492"/>
            <a:ext cx="4718304" cy="795528"/>
            <a:chOff x="0" y="0"/>
            <a:chExt cx="6291072" cy="106070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291072" cy="1060704"/>
            </a:xfrm>
            <a:custGeom>
              <a:avLst/>
              <a:gdLst/>
              <a:ahLst/>
              <a:cxnLst/>
              <a:rect r="r" b="b" t="t" l="l"/>
              <a:pathLst>
                <a:path h="1060704" w="6291072">
                  <a:moveTo>
                    <a:pt x="0" y="0"/>
                  </a:moveTo>
                  <a:lnTo>
                    <a:pt x="6291072" y="0"/>
                  </a:lnTo>
                  <a:lnTo>
                    <a:pt x="6291072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5566" r="0" b="-65566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9525"/>
              <a:ext cx="6291072" cy="10702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15"/>
                </a:lnSpc>
              </a:pPr>
              <a:r>
                <a:rPr lang="en-US" sz="1679" spc="2">
                  <a:solidFill>
                    <a:srgbClr val="F7FA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衍生品發展後，避險、套利、Basket與造市開始產生專業執行需求。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6899148" y="4992624"/>
            <a:ext cx="1508760" cy="246888"/>
            <a:chOff x="0" y="0"/>
            <a:chExt cx="2011680" cy="32918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011680" cy="329184"/>
            </a:xfrm>
            <a:custGeom>
              <a:avLst/>
              <a:gdLst/>
              <a:ahLst/>
              <a:cxnLst/>
              <a:rect r="r" b="b" t="t" l="l"/>
              <a:pathLst>
                <a:path h="329184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9075" r="0" b="-6907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9525"/>
              <a:ext cx="2011680" cy="3387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 spc="2">
                  <a:solidFill>
                    <a:srgbClr val="F3C645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KEY EVENTS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6889623" y="5435727"/>
            <a:ext cx="156210" cy="156210"/>
            <a:chOff x="0" y="0"/>
            <a:chExt cx="208280" cy="20828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08280" cy="208280"/>
            </a:xfrm>
            <a:custGeom>
              <a:avLst/>
              <a:gdLst/>
              <a:ahLst/>
              <a:cxnLst/>
              <a:rect r="r" b="b" t="t" l="l"/>
              <a:pathLst>
                <a:path h="208280" w="208280">
                  <a:moveTo>
                    <a:pt x="0" y="0"/>
                  </a:moveTo>
                  <a:lnTo>
                    <a:pt x="208280" y="0"/>
                  </a:lnTo>
                  <a:lnTo>
                    <a:pt x="208280" y="208280"/>
                  </a:lnTo>
                  <a:lnTo>
                    <a:pt x="0" y="208280"/>
                  </a:lnTo>
                  <a:close/>
                </a:path>
              </a:pathLst>
            </a:custGeom>
            <a:solidFill>
              <a:srgbClr val="F3C645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7146036" y="5404104"/>
            <a:ext cx="4471416" cy="274320"/>
            <a:chOff x="0" y="0"/>
            <a:chExt cx="5961888" cy="36576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5961888" cy="365760"/>
            </a:xfrm>
            <a:custGeom>
              <a:avLst/>
              <a:gdLst/>
              <a:ahLst/>
              <a:cxnLst/>
              <a:rect r="r" b="b" t="t" l="l"/>
              <a:pathLst>
                <a:path h="365760" w="5961888">
                  <a:moveTo>
                    <a:pt x="0" y="0"/>
                  </a:moveTo>
                  <a:lnTo>
                    <a:pt x="5961888" y="0"/>
                  </a:lnTo>
                  <a:lnTo>
                    <a:pt x="5961888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7606" r="0" b="-267606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9525"/>
              <a:ext cx="5961888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15"/>
                </a:lnSpc>
              </a:pPr>
              <a:r>
                <a:rPr lang="en-US" sz="1679" spc="2">
                  <a:solidFill>
                    <a:srgbClr val="F7FA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1998+｜期貨 / 選擇權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6889623" y="6094095"/>
            <a:ext cx="156210" cy="156210"/>
            <a:chOff x="0" y="0"/>
            <a:chExt cx="208280" cy="20828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08280" cy="208280"/>
            </a:xfrm>
            <a:custGeom>
              <a:avLst/>
              <a:gdLst/>
              <a:ahLst/>
              <a:cxnLst/>
              <a:rect r="r" b="b" t="t" l="l"/>
              <a:pathLst>
                <a:path h="208280" w="208280">
                  <a:moveTo>
                    <a:pt x="0" y="0"/>
                  </a:moveTo>
                  <a:lnTo>
                    <a:pt x="208280" y="0"/>
                  </a:lnTo>
                  <a:lnTo>
                    <a:pt x="208280" y="208280"/>
                  </a:lnTo>
                  <a:lnTo>
                    <a:pt x="0" y="208280"/>
                  </a:lnTo>
                  <a:close/>
                </a:path>
              </a:pathLst>
            </a:custGeom>
            <a:solidFill>
              <a:srgbClr val="F3C645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7146036" y="6062472"/>
            <a:ext cx="4471416" cy="274320"/>
            <a:chOff x="0" y="0"/>
            <a:chExt cx="5961888" cy="36576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961888" cy="365760"/>
            </a:xfrm>
            <a:custGeom>
              <a:avLst/>
              <a:gdLst/>
              <a:ahLst/>
              <a:cxnLst/>
              <a:rect r="r" b="b" t="t" l="l"/>
              <a:pathLst>
                <a:path h="365760" w="5961888">
                  <a:moveTo>
                    <a:pt x="0" y="0"/>
                  </a:moveTo>
                  <a:lnTo>
                    <a:pt x="5961888" y="0"/>
                  </a:lnTo>
                  <a:lnTo>
                    <a:pt x="5961888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7606" r="0" b="-267606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9525"/>
              <a:ext cx="5961888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15"/>
                </a:lnSpc>
              </a:pPr>
              <a:r>
                <a:rPr lang="en-US" sz="1679" spc="2">
                  <a:solidFill>
                    <a:srgbClr val="F7FA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2006｜DMA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6889623" y="6752463"/>
            <a:ext cx="156210" cy="156210"/>
            <a:chOff x="0" y="0"/>
            <a:chExt cx="208280" cy="20828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08280" cy="208280"/>
            </a:xfrm>
            <a:custGeom>
              <a:avLst/>
              <a:gdLst/>
              <a:ahLst/>
              <a:cxnLst/>
              <a:rect r="r" b="b" t="t" l="l"/>
              <a:pathLst>
                <a:path h="208280" w="208280">
                  <a:moveTo>
                    <a:pt x="0" y="0"/>
                  </a:moveTo>
                  <a:lnTo>
                    <a:pt x="208280" y="0"/>
                  </a:lnTo>
                  <a:lnTo>
                    <a:pt x="208280" y="208280"/>
                  </a:lnTo>
                  <a:lnTo>
                    <a:pt x="0" y="208280"/>
                  </a:lnTo>
                  <a:close/>
                </a:path>
              </a:pathLst>
            </a:custGeom>
            <a:solidFill>
              <a:srgbClr val="F3C645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7146036" y="6720840"/>
            <a:ext cx="4471416" cy="274320"/>
            <a:chOff x="0" y="0"/>
            <a:chExt cx="5961888" cy="36576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5961888" cy="365760"/>
            </a:xfrm>
            <a:custGeom>
              <a:avLst/>
              <a:gdLst/>
              <a:ahLst/>
              <a:cxnLst/>
              <a:rect r="r" b="b" t="t" l="l"/>
              <a:pathLst>
                <a:path h="365760" w="5961888">
                  <a:moveTo>
                    <a:pt x="0" y="0"/>
                  </a:moveTo>
                  <a:lnTo>
                    <a:pt x="5961888" y="0"/>
                  </a:lnTo>
                  <a:lnTo>
                    <a:pt x="5961888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7606" r="0" b="-267606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9525"/>
              <a:ext cx="5961888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15"/>
                </a:lnSpc>
              </a:pPr>
              <a:r>
                <a:rPr lang="en-US" sz="1679" spc="2">
                  <a:solidFill>
                    <a:srgbClr val="F7FA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Professional Flow ↑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6889623" y="7794879"/>
            <a:ext cx="4737354" cy="595122"/>
            <a:chOff x="0" y="0"/>
            <a:chExt cx="6316472" cy="793496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316472" cy="793496"/>
            </a:xfrm>
            <a:custGeom>
              <a:avLst/>
              <a:gdLst/>
              <a:ahLst/>
              <a:cxnLst/>
              <a:rect r="r" b="b" t="t" l="l"/>
              <a:pathLst>
                <a:path h="793496" w="6316472">
                  <a:moveTo>
                    <a:pt x="0" y="0"/>
                  </a:moveTo>
                  <a:lnTo>
                    <a:pt x="6316472" y="0"/>
                  </a:lnTo>
                  <a:lnTo>
                    <a:pt x="6316472" y="793496"/>
                  </a:lnTo>
                  <a:lnTo>
                    <a:pt x="0" y="793496"/>
                  </a:lnTo>
                  <a:close/>
                </a:path>
              </a:pathLst>
            </a:custGeom>
            <a:solidFill>
              <a:srgbClr val="F3C645">
                <a:alpha val="84314"/>
              </a:srgbClr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7104888" y="7982712"/>
            <a:ext cx="4306824" cy="219456"/>
            <a:chOff x="0" y="0"/>
            <a:chExt cx="5742432" cy="29260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5742432" cy="292608"/>
            </a:xfrm>
            <a:custGeom>
              <a:avLst/>
              <a:gdLst/>
              <a:ahLst/>
              <a:cxnLst/>
              <a:rect r="r" b="b" t="t" l="l"/>
              <a:pathLst>
                <a:path h="292608" w="5742432">
                  <a:moveTo>
                    <a:pt x="0" y="0"/>
                  </a:moveTo>
                  <a:lnTo>
                    <a:pt x="5742432" y="0"/>
                  </a:lnTo>
                  <a:lnTo>
                    <a:pt x="5742432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2393" r="0" b="-332393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19050"/>
              <a:ext cx="5742432" cy="3116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spc="2">
                  <a:solidFill>
                    <a:srgbClr val="111111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Professional flow → Direct execution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2351448" y="2215324"/>
            <a:ext cx="5280279" cy="6487287"/>
            <a:chOff x="0" y="0"/>
            <a:chExt cx="7040372" cy="864971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7040372" cy="8649715"/>
            </a:xfrm>
            <a:custGeom>
              <a:avLst/>
              <a:gdLst/>
              <a:ahLst/>
              <a:cxnLst/>
              <a:rect r="r" b="b" t="t" l="l"/>
              <a:pathLst>
                <a:path h="8649715" w="7040372">
                  <a:moveTo>
                    <a:pt x="0" y="91694"/>
                  </a:moveTo>
                  <a:cubicBezTo>
                    <a:pt x="0" y="41021"/>
                    <a:pt x="41021" y="0"/>
                    <a:pt x="91694" y="0"/>
                  </a:cubicBezTo>
                  <a:lnTo>
                    <a:pt x="6948678" y="0"/>
                  </a:lnTo>
                  <a:cubicBezTo>
                    <a:pt x="6999351" y="0"/>
                    <a:pt x="7040372" y="41021"/>
                    <a:pt x="7040372" y="91694"/>
                  </a:cubicBezTo>
                  <a:lnTo>
                    <a:pt x="7040372" y="8558022"/>
                  </a:lnTo>
                  <a:cubicBezTo>
                    <a:pt x="7040372" y="8608695"/>
                    <a:pt x="6999351" y="8649715"/>
                    <a:pt x="6948678" y="8649715"/>
                  </a:cubicBezTo>
                  <a:lnTo>
                    <a:pt x="91694" y="8649715"/>
                  </a:lnTo>
                  <a:cubicBezTo>
                    <a:pt x="41021" y="8649715"/>
                    <a:pt x="0" y="8608695"/>
                    <a:pt x="0" y="8558022"/>
                  </a:cubicBezTo>
                  <a:close/>
                </a:path>
              </a:pathLst>
            </a:custGeom>
            <a:solidFill>
              <a:srgbClr val="101B2F">
                <a:alpha val="93725"/>
              </a:srgbClr>
            </a:solidFill>
            <a:ln w="1333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84" id="84"/>
          <p:cNvGrpSpPr/>
          <p:nvPr/>
        </p:nvGrpSpPr>
        <p:grpSpPr>
          <a:xfrm rot="0">
            <a:off x="12605004" y="2455164"/>
            <a:ext cx="754380" cy="438912"/>
            <a:chOff x="0" y="0"/>
            <a:chExt cx="1005840" cy="585216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005840" cy="585216"/>
            </a:xfrm>
            <a:custGeom>
              <a:avLst/>
              <a:gdLst/>
              <a:ahLst/>
              <a:cxnLst/>
              <a:rect r="r" b="b" t="t" l="l"/>
              <a:pathLst>
                <a:path h="585216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4649" t="0" r="-24649" b="0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9525"/>
              <a:ext cx="1005840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 spc="4">
                  <a:solidFill>
                    <a:srgbClr val="6FE8B9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03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3400532" y="2455164"/>
            <a:ext cx="3963924" cy="713232"/>
            <a:chOff x="0" y="0"/>
            <a:chExt cx="5285232" cy="95097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5285232" cy="950976"/>
            </a:xfrm>
            <a:custGeom>
              <a:avLst/>
              <a:gdLst/>
              <a:ahLst/>
              <a:cxnLst/>
              <a:rect r="r" b="b" t="t" l="l"/>
              <a:pathLst>
                <a:path h="950976" w="5285232">
                  <a:moveTo>
                    <a:pt x="0" y="0"/>
                  </a:moveTo>
                  <a:lnTo>
                    <a:pt x="5285232" y="0"/>
                  </a:lnTo>
                  <a:lnTo>
                    <a:pt x="5285232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8291" r="0" b="-58291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9525"/>
              <a:ext cx="5285232" cy="9605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spc="3">
                  <a:solidFill>
                    <a:srgbClr val="F7FA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LOW-LATENCY</a:t>
              </a:r>
            </a:p>
            <a:p>
              <a:pPr algn="l">
                <a:lnSpc>
                  <a:spcPts val="2430"/>
                </a:lnSpc>
              </a:pPr>
              <a:r>
                <a:rPr lang="en-US" sz="2025" spc="3">
                  <a:solidFill>
                    <a:srgbClr val="F7FA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INFRASTRUCTURE</a:t>
              </a:r>
            </a:p>
          </p:txBody>
        </p:sp>
      </p:grpSp>
      <p:sp>
        <p:nvSpPr>
          <p:cNvPr name="AutoShape 90" id="90"/>
          <p:cNvSpPr/>
          <p:nvPr/>
        </p:nvSpPr>
        <p:spPr>
          <a:xfrm rot="16560">
            <a:off x="12620977" y="3396806"/>
            <a:ext cx="4741221" cy="0"/>
          </a:xfrm>
          <a:prstGeom prst="line">
            <a:avLst/>
          </a:prstGeom>
          <a:ln cap="rnd" w="9525">
            <a:solidFill>
              <a:srgbClr val="6FE8B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1" id="91"/>
          <p:cNvGrpSpPr/>
          <p:nvPr/>
        </p:nvGrpSpPr>
        <p:grpSpPr>
          <a:xfrm rot="0">
            <a:off x="12632436" y="3634740"/>
            <a:ext cx="1028700" cy="246888"/>
            <a:chOff x="0" y="0"/>
            <a:chExt cx="1371600" cy="329184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371600" cy="329184"/>
            </a:xfrm>
            <a:custGeom>
              <a:avLst/>
              <a:gdLst/>
              <a:ahLst/>
              <a:cxnLst/>
              <a:rect r="r" b="b" t="t" l="l"/>
              <a:pathLst>
                <a:path h="329184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9525"/>
              <a:ext cx="1371600" cy="3387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 spc="2">
                  <a:solidFill>
                    <a:srgbClr val="6FE8B9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NEED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2632436" y="3936492"/>
            <a:ext cx="4718304" cy="795528"/>
            <a:chOff x="0" y="0"/>
            <a:chExt cx="6291072" cy="1060704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6291072" cy="1060704"/>
            </a:xfrm>
            <a:custGeom>
              <a:avLst/>
              <a:gdLst/>
              <a:ahLst/>
              <a:cxnLst/>
              <a:rect r="r" b="b" t="t" l="l"/>
              <a:pathLst>
                <a:path h="1060704" w="6291072">
                  <a:moveTo>
                    <a:pt x="0" y="0"/>
                  </a:moveTo>
                  <a:lnTo>
                    <a:pt x="6291072" y="0"/>
                  </a:lnTo>
                  <a:lnTo>
                    <a:pt x="6291072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5566" r="0" b="-65566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9525"/>
              <a:ext cx="6291072" cy="10702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15"/>
                </a:lnSpc>
              </a:pPr>
              <a:r>
                <a:rPr lang="en-US" sz="1679" spc="2">
                  <a:solidFill>
                    <a:srgbClr val="F7FA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市場電子化與專業交易深化後，連線速度、撮合方式與穩定性變重要。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2632436" y="4992624"/>
            <a:ext cx="1508760" cy="246888"/>
            <a:chOff x="0" y="0"/>
            <a:chExt cx="2011680" cy="329184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2011680" cy="329184"/>
            </a:xfrm>
            <a:custGeom>
              <a:avLst/>
              <a:gdLst/>
              <a:ahLst/>
              <a:cxnLst/>
              <a:rect r="r" b="b" t="t" l="l"/>
              <a:pathLst>
                <a:path h="329184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9075" r="0" b="-69075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9525"/>
              <a:ext cx="2011680" cy="3387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 spc="2">
                  <a:solidFill>
                    <a:srgbClr val="6FE8B9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KEY EVENTS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12622911" y="5435727"/>
            <a:ext cx="156210" cy="156210"/>
            <a:chOff x="0" y="0"/>
            <a:chExt cx="208280" cy="20828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208280" cy="208280"/>
            </a:xfrm>
            <a:custGeom>
              <a:avLst/>
              <a:gdLst/>
              <a:ahLst/>
              <a:cxnLst/>
              <a:rect r="r" b="b" t="t" l="l"/>
              <a:pathLst>
                <a:path h="208280" w="208280">
                  <a:moveTo>
                    <a:pt x="0" y="0"/>
                  </a:moveTo>
                  <a:lnTo>
                    <a:pt x="208280" y="0"/>
                  </a:lnTo>
                  <a:lnTo>
                    <a:pt x="208280" y="208280"/>
                  </a:lnTo>
                  <a:lnTo>
                    <a:pt x="0" y="208280"/>
                  </a:lnTo>
                  <a:close/>
                </a:path>
              </a:pathLst>
            </a:custGeom>
            <a:solidFill>
              <a:srgbClr val="6FE8B9"/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12879324" y="5404104"/>
            <a:ext cx="4471416" cy="274320"/>
            <a:chOff x="0" y="0"/>
            <a:chExt cx="5961888" cy="36576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5961888" cy="365760"/>
            </a:xfrm>
            <a:custGeom>
              <a:avLst/>
              <a:gdLst/>
              <a:ahLst/>
              <a:cxnLst/>
              <a:rect r="r" b="b" t="t" l="l"/>
              <a:pathLst>
                <a:path h="365760" w="5961888">
                  <a:moveTo>
                    <a:pt x="0" y="0"/>
                  </a:moveTo>
                  <a:lnTo>
                    <a:pt x="5961888" y="0"/>
                  </a:lnTo>
                  <a:lnTo>
                    <a:pt x="5961888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7606" r="0" b="-267606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9525"/>
              <a:ext cx="5961888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15"/>
                </a:lnSpc>
              </a:pPr>
              <a:r>
                <a:rPr lang="en-US" sz="1679" spc="2">
                  <a:solidFill>
                    <a:srgbClr val="F7FA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2017｜Co-location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12622911" y="6094095"/>
            <a:ext cx="156210" cy="156210"/>
            <a:chOff x="0" y="0"/>
            <a:chExt cx="208280" cy="20828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208280" cy="208280"/>
            </a:xfrm>
            <a:custGeom>
              <a:avLst/>
              <a:gdLst/>
              <a:ahLst/>
              <a:cxnLst/>
              <a:rect r="r" b="b" t="t" l="l"/>
              <a:pathLst>
                <a:path h="208280" w="208280">
                  <a:moveTo>
                    <a:pt x="0" y="0"/>
                  </a:moveTo>
                  <a:lnTo>
                    <a:pt x="208280" y="0"/>
                  </a:lnTo>
                  <a:lnTo>
                    <a:pt x="208280" y="208280"/>
                  </a:lnTo>
                  <a:lnTo>
                    <a:pt x="0" y="208280"/>
                  </a:lnTo>
                  <a:close/>
                </a:path>
              </a:pathLst>
            </a:custGeom>
            <a:solidFill>
              <a:srgbClr val="6FE8B9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12879324" y="6062472"/>
            <a:ext cx="4471416" cy="274320"/>
            <a:chOff x="0" y="0"/>
            <a:chExt cx="5961888" cy="36576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5961888" cy="365760"/>
            </a:xfrm>
            <a:custGeom>
              <a:avLst/>
              <a:gdLst/>
              <a:ahLst/>
              <a:cxnLst/>
              <a:rect r="r" b="b" t="t" l="l"/>
              <a:pathLst>
                <a:path h="365760" w="5961888">
                  <a:moveTo>
                    <a:pt x="0" y="0"/>
                  </a:moveTo>
                  <a:lnTo>
                    <a:pt x="5961888" y="0"/>
                  </a:lnTo>
                  <a:lnTo>
                    <a:pt x="5961888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7606" r="0" b="-267606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9525"/>
              <a:ext cx="5961888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15"/>
                </a:lnSpc>
              </a:pPr>
              <a:r>
                <a:rPr lang="en-US" sz="1679" spc="2">
                  <a:solidFill>
                    <a:srgbClr val="F7FA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2020｜逐筆交易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2622911" y="6752463"/>
            <a:ext cx="156210" cy="156210"/>
            <a:chOff x="0" y="0"/>
            <a:chExt cx="208280" cy="20828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208280" cy="208280"/>
            </a:xfrm>
            <a:custGeom>
              <a:avLst/>
              <a:gdLst/>
              <a:ahLst/>
              <a:cxnLst/>
              <a:rect r="r" b="b" t="t" l="l"/>
              <a:pathLst>
                <a:path h="208280" w="208280">
                  <a:moveTo>
                    <a:pt x="0" y="0"/>
                  </a:moveTo>
                  <a:lnTo>
                    <a:pt x="208280" y="0"/>
                  </a:lnTo>
                  <a:lnTo>
                    <a:pt x="208280" y="208280"/>
                  </a:lnTo>
                  <a:lnTo>
                    <a:pt x="0" y="208280"/>
                  </a:lnTo>
                  <a:close/>
                </a:path>
              </a:pathLst>
            </a:custGeom>
            <a:solidFill>
              <a:srgbClr val="6FE8B9"/>
            </a:solid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12879324" y="6720840"/>
            <a:ext cx="4471416" cy="274320"/>
            <a:chOff x="0" y="0"/>
            <a:chExt cx="5961888" cy="365760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5961888" cy="365760"/>
            </a:xfrm>
            <a:custGeom>
              <a:avLst/>
              <a:gdLst/>
              <a:ahLst/>
              <a:cxnLst/>
              <a:rect r="r" b="b" t="t" l="l"/>
              <a:pathLst>
                <a:path h="365760" w="5961888">
                  <a:moveTo>
                    <a:pt x="0" y="0"/>
                  </a:moveTo>
                  <a:lnTo>
                    <a:pt x="5961888" y="0"/>
                  </a:lnTo>
                  <a:lnTo>
                    <a:pt x="5961888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7606" r="0" b="-267606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9525"/>
              <a:ext cx="5961888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15"/>
                </a:lnSpc>
              </a:pPr>
              <a:r>
                <a:rPr lang="en-US" sz="1679" spc="2">
                  <a:solidFill>
                    <a:srgbClr val="F7FA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Low-Latency Services Emerging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12622911" y="7794879"/>
            <a:ext cx="4737354" cy="595122"/>
            <a:chOff x="0" y="0"/>
            <a:chExt cx="6316472" cy="793496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6316472" cy="793496"/>
            </a:xfrm>
            <a:custGeom>
              <a:avLst/>
              <a:gdLst/>
              <a:ahLst/>
              <a:cxnLst/>
              <a:rect r="r" b="b" t="t" l="l"/>
              <a:pathLst>
                <a:path h="793496" w="6316472">
                  <a:moveTo>
                    <a:pt x="0" y="0"/>
                  </a:moveTo>
                  <a:lnTo>
                    <a:pt x="6316472" y="0"/>
                  </a:lnTo>
                  <a:lnTo>
                    <a:pt x="6316472" y="793496"/>
                  </a:lnTo>
                  <a:lnTo>
                    <a:pt x="0" y="793496"/>
                  </a:lnTo>
                  <a:close/>
                </a:path>
              </a:pathLst>
            </a:custGeom>
            <a:solidFill>
              <a:srgbClr val="F3C645">
                <a:alpha val="84314"/>
              </a:srgbClr>
            </a:solid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12838176" y="7982712"/>
            <a:ext cx="4306824" cy="219456"/>
            <a:chOff x="0" y="0"/>
            <a:chExt cx="5742432" cy="292608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5742432" cy="292608"/>
            </a:xfrm>
            <a:custGeom>
              <a:avLst/>
              <a:gdLst/>
              <a:ahLst/>
              <a:cxnLst/>
              <a:rect r="r" b="b" t="t" l="l"/>
              <a:pathLst>
                <a:path h="292608" w="5742432">
                  <a:moveTo>
                    <a:pt x="0" y="0"/>
                  </a:moveTo>
                  <a:lnTo>
                    <a:pt x="5742432" y="0"/>
                  </a:lnTo>
                  <a:lnTo>
                    <a:pt x="5742432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2393" r="0" b="-332393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-19050"/>
              <a:ext cx="5742432" cy="3116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spc="2">
                  <a:solidFill>
                    <a:srgbClr val="111111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Infrastructure available → Advanced demand?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882015" y="8974455"/>
            <a:ext cx="16505682" cy="622554"/>
            <a:chOff x="0" y="0"/>
            <a:chExt cx="22007576" cy="830072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22007576" cy="830072"/>
            </a:xfrm>
            <a:custGeom>
              <a:avLst/>
              <a:gdLst/>
              <a:ahLst/>
              <a:cxnLst/>
              <a:rect r="r" b="b" t="t" l="l"/>
              <a:pathLst>
                <a:path h="830072" w="22007576">
                  <a:moveTo>
                    <a:pt x="0" y="94361"/>
                  </a:moveTo>
                  <a:cubicBezTo>
                    <a:pt x="0" y="42291"/>
                    <a:pt x="42291" y="0"/>
                    <a:pt x="94361" y="0"/>
                  </a:cubicBezTo>
                  <a:lnTo>
                    <a:pt x="21913214" y="0"/>
                  </a:lnTo>
                  <a:cubicBezTo>
                    <a:pt x="21965284" y="0"/>
                    <a:pt x="22007576" y="42291"/>
                    <a:pt x="22007576" y="94361"/>
                  </a:cubicBezTo>
                  <a:lnTo>
                    <a:pt x="22007576" y="735711"/>
                  </a:lnTo>
                  <a:cubicBezTo>
                    <a:pt x="22007576" y="787781"/>
                    <a:pt x="21965284" y="830072"/>
                    <a:pt x="21913214" y="830072"/>
                  </a:cubicBezTo>
                  <a:lnTo>
                    <a:pt x="94361" y="830072"/>
                  </a:lnTo>
                  <a:cubicBezTo>
                    <a:pt x="42291" y="830072"/>
                    <a:pt x="0" y="787781"/>
                    <a:pt x="0" y="735711"/>
                  </a:cubicBezTo>
                  <a:close/>
                </a:path>
              </a:pathLst>
            </a:custGeom>
            <a:solidFill>
              <a:srgbClr val="17223A"/>
            </a:solidFill>
            <a:ln w="19050" cap="sq">
              <a:solidFill>
                <a:srgbClr val="F3C645"/>
              </a:solidFill>
              <a:prstDash val="solid"/>
              <a:miter/>
            </a:ln>
          </p:spPr>
        </p:sp>
      </p:grpSp>
      <p:grpSp>
        <p:nvGrpSpPr>
          <p:cNvPr name="Group 122" id="122"/>
          <p:cNvGrpSpPr/>
          <p:nvPr/>
        </p:nvGrpSpPr>
        <p:grpSpPr>
          <a:xfrm rot="0">
            <a:off x="1152144" y="9162288"/>
            <a:ext cx="15979140" cy="246888"/>
            <a:chOff x="0" y="0"/>
            <a:chExt cx="21305520" cy="329184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21305520" cy="329184"/>
            </a:xfrm>
            <a:custGeom>
              <a:avLst/>
              <a:gdLst/>
              <a:ahLst/>
              <a:cxnLst/>
              <a:rect r="r" b="b" t="t" l="l"/>
              <a:pathLst>
                <a:path h="329184" w="21305520">
                  <a:moveTo>
                    <a:pt x="0" y="0"/>
                  </a:moveTo>
                  <a:lnTo>
                    <a:pt x="21305520" y="0"/>
                  </a:lnTo>
                  <a:lnTo>
                    <a:pt x="2130552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11114" r="0" b="-1211114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19050"/>
              <a:ext cx="21305520" cy="3482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07"/>
                </a:lnSpc>
              </a:pPr>
              <a:r>
                <a:rPr lang="en-US" sz="1589" spc="2">
                  <a:solidFill>
                    <a:srgbClr val="F7FA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FORMATION PATH｜Electronic Market → Internet Access → Derivatives / Professional Flow → DMA → CoLo / Continuous Trading → Advanced Demand?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754380" y="9779508"/>
            <a:ext cx="16596360" cy="274320"/>
            <a:chOff x="0" y="0"/>
            <a:chExt cx="22128480" cy="36576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22128480" cy="365760"/>
            </a:xfrm>
            <a:custGeom>
              <a:avLst/>
              <a:gdLst/>
              <a:ahLst/>
              <a:cxnLst/>
              <a:rect r="r" b="b" t="t" l="l"/>
              <a:pathLst>
                <a:path h="36576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28844" r="0" b="-1128844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9525"/>
              <a:ext cx="22128480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87"/>
                </a:lnSpc>
              </a:pPr>
              <a:r>
                <a:rPr lang="en-US" sz="989" spc="1">
                  <a:solidFill>
                    <a:srgbClr val="8793A6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Sources: TWSE historical materials, TAIFEX history, TWSE DMA / CoLo disclosures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07695" y="470535"/>
            <a:ext cx="87630" cy="979170"/>
            <a:chOff x="0" y="0"/>
            <a:chExt cx="116840" cy="13055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6840" cy="1305560"/>
            </a:xfrm>
            <a:custGeom>
              <a:avLst/>
              <a:gdLst/>
              <a:ahLst/>
              <a:cxnLst/>
              <a:rect r="r" b="b" t="t" l="l"/>
              <a:pathLst>
                <a:path h="1305560" w="116840">
                  <a:moveTo>
                    <a:pt x="0" y="0"/>
                  </a:moveTo>
                  <a:lnTo>
                    <a:pt x="116840" y="0"/>
                  </a:lnTo>
                  <a:lnTo>
                    <a:pt x="116840" y="1305560"/>
                  </a:lnTo>
                  <a:lnTo>
                    <a:pt x="0" y="1305560"/>
                  </a:lnTo>
                  <a:close/>
                </a:path>
              </a:pathLst>
            </a:custGeom>
            <a:solidFill>
              <a:srgbClr val="F3C645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850392" y="864108"/>
            <a:ext cx="16253460" cy="617220"/>
            <a:chOff x="0" y="0"/>
            <a:chExt cx="21671280" cy="8229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671280" cy="822960"/>
            </a:xfrm>
            <a:custGeom>
              <a:avLst/>
              <a:gdLst/>
              <a:ahLst/>
              <a:cxnLst/>
              <a:rect r="r" b="b" t="t" l="l"/>
              <a:pathLst>
                <a:path h="822960" w="21671280">
                  <a:moveTo>
                    <a:pt x="0" y="0"/>
                  </a:moveTo>
                  <a:lnTo>
                    <a:pt x="21671280" y="0"/>
                  </a:lnTo>
                  <a:lnTo>
                    <a:pt x="216712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3105" r="0" b="-46310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671280" cy="832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230"/>
                </a:lnSpc>
              </a:pPr>
              <a:r>
                <a:rPr lang="en-US" sz="3525" spc="5">
                  <a:solidFill>
                    <a:srgbClr val="F7FA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台灣不是像單一國家，而是兩條路徑的組合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50392" y="1549908"/>
            <a:ext cx="16116300" cy="452628"/>
            <a:chOff x="0" y="0"/>
            <a:chExt cx="21488400" cy="6035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488400" cy="603504"/>
            </a:xfrm>
            <a:custGeom>
              <a:avLst/>
              <a:gdLst/>
              <a:ahLst/>
              <a:cxnLst/>
              <a:rect r="r" b="b" t="t" l="l"/>
              <a:pathLst>
                <a:path h="603504" w="21488400">
                  <a:moveTo>
                    <a:pt x="0" y="0"/>
                  </a:moveTo>
                  <a:lnTo>
                    <a:pt x="21488400" y="0"/>
                  </a:lnTo>
                  <a:lnTo>
                    <a:pt x="21488400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43785" r="0" b="-64378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1488400" cy="6035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spc="2">
                  <a:solidFill>
                    <a:srgbClr val="B8C3D6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整體制度與基礎設施演進像印度；專業交易需求來源則更值得對照韓國。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640830" y="2018538"/>
            <a:ext cx="5029200" cy="1065276"/>
            <a:chOff x="0" y="0"/>
            <a:chExt cx="6705600" cy="142036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705600" cy="1420368"/>
            </a:xfrm>
            <a:custGeom>
              <a:avLst/>
              <a:gdLst/>
              <a:ahLst/>
              <a:cxnLst/>
              <a:rect r="r" b="b" t="t" l="l"/>
              <a:pathLst>
                <a:path h="1420368" w="6705600">
                  <a:moveTo>
                    <a:pt x="0" y="93472"/>
                  </a:moveTo>
                  <a:cubicBezTo>
                    <a:pt x="0" y="41783"/>
                    <a:pt x="41783" y="0"/>
                    <a:pt x="93472" y="0"/>
                  </a:cubicBezTo>
                  <a:lnTo>
                    <a:pt x="6612128" y="0"/>
                  </a:lnTo>
                  <a:cubicBezTo>
                    <a:pt x="6663817" y="0"/>
                    <a:pt x="6705600" y="41783"/>
                    <a:pt x="6705600" y="93472"/>
                  </a:cubicBezTo>
                  <a:lnTo>
                    <a:pt x="6705600" y="1326896"/>
                  </a:lnTo>
                  <a:cubicBezTo>
                    <a:pt x="6705600" y="1378458"/>
                    <a:pt x="6663817" y="1420368"/>
                    <a:pt x="6612128" y="1420368"/>
                  </a:cubicBezTo>
                  <a:lnTo>
                    <a:pt x="93472" y="1420368"/>
                  </a:lnTo>
                  <a:cubicBezTo>
                    <a:pt x="41910" y="1420368"/>
                    <a:pt x="0" y="1378585"/>
                    <a:pt x="0" y="1326896"/>
                  </a:cubicBezTo>
                  <a:close/>
                </a:path>
              </a:pathLst>
            </a:custGeom>
            <a:solidFill>
              <a:srgbClr val="17223A"/>
            </a:solidFill>
            <a:ln w="22860" cap="sq">
              <a:solidFill>
                <a:srgbClr val="F3C645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6885432" y="2120646"/>
            <a:ext cx="4526280" cy="861060"/>
            <a:chOff x="0" y="0"/>
            <a:chExt cx="6035040" cy="11480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035040" cy="1148080"/>
            </a:xfrm>
            <a:custGeom>
              <a:avLst/>
              <a:gdLst/>
              <a:ahLst/>
              <a:cxnLst/>
              <a:rect r="r" b="b" t="t" l="l"/>
              <a:pathLst>
                <a:path h="114808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1148080"/>
                  </a:lnTo>
                  <a:lnTo>
                    <a:pt x="0" y="1148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2160" r="0" b="-3269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6035040" cy="1157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35"/>
                </a:lnSpc>
              </a:pPr>
              <a:r>
                <a:rPr lang="en-US" sz="2279" spc="3">
                  <a:solidFill>
                    <a:srgbClr val="F7FA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TAIWAN</a:t>
              </a:r>
            </a:p>
            <a:p>
              <a:pPr algn="ctr">
                <a:lnSpc>
                  <a:spcPts val="2735"/>
                </a:lnSpc>
              </a:pPr>
              <a:r>
                <a:rPr lang="en-US" sz="2279" spc="3">
                  <a:solidFill>
                    <a:srgbClr val="F7FA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HYBRID PATH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60323" y="3350895"/>
            <a:ext cx="7123938" cy="4709922"/>
            <a:chOff x="0" y="0"/>
            <a:chExt cx="9498584" cy="627989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498584" cy="6279896"/>
            </a:xfrm>
            <a:custGeom>
              <a:avLst/>
              <a:gdLst/>
              <a:ahLst/>
              <a:cxnLst/>
              <a:rect r="r" b="b" t="t" l="l"/>
              <a:pathLst>
                <a:path h="6279896" w="9498584">
                  <a:moveTo>
                    <a:pt x="0" y="91821"/>
                  </a:moveTo>
                  <a:cubicBezTo>
                    <a:pt x="0" y="41148"/>
                    <a:pt x="41148" y="0"/>
                    <a:pt x="91821" y="0"/>
                  </a:cubicBezTo>
                  <a:lnTo>
                    <a:pt x="9406763" y="0"/>
                  </a:lnTo>
                  <a:cubicBezTo>
                    <a:pt x="9457436" y="0"/>
                    <a:pt x="9498584" y="41148"/>
                    <a:pt x="9498584" y="91821"/>
                  </a:cubicBezTo>
                  <a:lnTo>
                    <a:pt x="9498584" y="6188075"/>
                  </a:lnTo>
                  <a:cubicBezTo>
                    <a:pt x="9498584" y="6238748"/>
                    <a:pt x="9457436" y="6279896"/>
                    <a:pt x="9406763" y="6279896"/>
                  </a:cubicBezTo>
                  <a:lnTo>
                    <a:pt x="91821" y="6279896"/>
                  </a:lnTo>
                  <a:cubicBezTo>
                    <a:pt x="41148" y="6279896"/>
                    <a:pt x="0" y="6238748"/>
                    <a:pt x="0" y="6188075"/>
                  </a:cubicBezTo>
                  <a:close/>
                </a:path>
              </a:pathLst>
            </a:custGeom>
            <a:solidFill>
              <a:srgbClr val="101B2F">
                <a:alpha val="93725"/>
              </a:srgbClr>
            </a:solidFill>
            <a:ln w="19050" cap="sq">
              <a:solidFill>
                <a:srgbClr val="12D7FF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432560" y="3640836"/>
            <a:ext cx="2484120" cy="399288"/>
            <a:chOff x="0" y="0"/>
            <a:chExt cx="3312160" cy="53238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312160" cy="532384"/>
            </a:xfrm>
            <a:custGeom>
              <a:avLst/>
              <a:gdLst/>
              <a:ahLst/>
              <a:cxnLst/>
              <a:rect r="r" b="b" t="t" l="l"/>
              <a:pathLst>
                <a:path h="532384" w="3312160">
                  <a:moveTo>
                    <a:pt x="0" y="95123"/>
                  </a:moveTo>
                  <a:cubicBezTo>
                    <a:pt x="0" y="42545"/>
                    <a:pt x="42545" y="0"/>
                    <a:pt x="95123" y="0"/>
                  </a:cubicBezTo>
                  <a:lnTo>
                    <a:pt x="3217037" y="0"/>
                  </a:lnTo>
                  <a:cubicBezTo>
                    <a:pt x="3269488" y="0"/>
                    <a:pt x="3312160" y="42545"/>
                    <a:pt x="3312160" y="95123"/>
                  </a:cubicBezTo>
                  <a:lnTo>
                    <a:pt x="3312160" y="437261"/>
                  </a:lnTo>
                  <a:cubicBezTo>
                    <a:pt x="3312160" y="489712"/>
                    <a:pt x="3269615" y="532384"/>
                    <a:pt x="3217037" y="532384"/>
                  </a:cubicBezTo>
                  <a:lnTo>
                    <a:pt x="95123" y="532384"/>
                  </a:lnTo>
                  <a:cubicBezTo>
                    <a:pt x="42545" y="532384"/>
                    <a:pt x="0" y="489839"/>
                    <a:pt x="0" y="437261"/>
                  </a:cubicBezTo>
                  <a:close/>
                </a:path>
              </a:pathLst>
            </a:custGeom>
            <a:solidFill>
              <a:srgbClr val="12D7FF">
                <a:alpha val="88235"/>
              </a:srgbClr>
            </a:solidFill>
            <a:ln w="15240" cap="sq">
              <a:solidFill>
                <a:srgbClr val="12D7FF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495044" y="3737610"/>
            <a:ext cx="2359152" cy="164592"/>
            <a:chOff x="0" y="0"/>
            <a:chExt cx="3145536" cy="21945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145536" cy="219456"/>
            </a:xfrm>
            <a:custGeom>
              <a:avLst/>
              <a:gdLst/>
              <a:ahLst/>
              <a:cxnLst/>
              <a:rect r="r" b="b" t="t" l="l"/>
              <a:pathLst>
                <a:path h="219456" w="3145536">
                  <a:moveTo>
                    <a:pt x="0" y="0"/>
                  </a:moveTo>
                  <a:lnTo>
                    <a:pt x="3145536" y="0"/>
                  </a:lnTo>
                  <a:lnTo>
                    <a:pt x="3145536" y="219456"/>
                  </a:lnTo>
                  <a:lnTo>
                    <a:pt x="0" y="2194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9285" r="0" b="-22928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3145536" cy="2289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 spc="2">
                  <a:solidFill>
                    <a:srgbClr val="F7FA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PRIMARY ANALOGUE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440180" y="4197096"/>
            <a:ext cx="6309360" cy="493776"/>
            <a:chOff x="0" y="0"/>
            <a:chExt cx="8412480" cy="65836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412480" cy="658368"/>
            </a:xfrm>
            <a:custGeom>
              <a:avLst/>
              <a:gdLst/>
              <a:ahLst/>
              <a:cxnLst/>
              <a:rect r="r" b="b" t="t" l="l"/>
              <a:pathLst>
                <a:path h="658368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8975" r="0" b="-19897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412480" cy="6678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0"/>
                </a:lnSpc>
              </a:pPr>
              <a:r>
                <a:rPr lang="en-US" sz="3450" spc="5">
                  <a:solidFill>
                    <a:srgbClr val="F7FA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INDIA-LIKE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440180" y="4800600"/>
            <a:ext cx="6309360" cy="342900"/>
            <a:chOff x="0" y="0"/>
            <a:chExt cx="8412480" cy="4572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412480" cy="457200"/>
            </a:xfrm>
            <a:custGeom>
              <a:avLst/>
              <a:gdLst/>
              <a:ahLst/>
              <a:cxnLst/>
              <a:rect r="r" b="b" t="t" l="l"/>
              <a:pathLst>
                <a:path h="45720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8524" r="0" b="-308524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841248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4"/>
                </a:lnSpc>
              </a:pPr>
              <a:r>
                <a:rPr lang="en-US" sz="2070" spc="3">
                  <a:solidFill>
                    <a:srgbClr val="12D7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Access Infrastructure Driven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40180" y="5623560"/>
            <a:ext cx="205740" cy="274320"/>
            <a:chOff x="0" y="0"/>
            <a:chExt cx="274320" cy="3657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74320" cy="365760"/>
            </a:xfrm>
            <a:custGeom>
              <a:avLst/>
              <a:gdLst/>
              <a:ahLst/>
              <a:cxnLst/>
              <a:rect r="r" b="b" t="t" l="l"/>
              <a:pathLst>
                <a:path h="365760" w="274320">
                  <a:moveTo>
                    <a:pt x="0" y="0"/>
                  </a:moveTo>
                  <a:lnTo>
                    <a:pt x="274320" y="0"/>
                  </a:lnTo>
                  <a:lnTo>
                    <a:pt x="27432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21071" t="0" r="-121071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274320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spc="3">
                  <a:solidFill>
                    <a:srgbClr val="F3C645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•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714500" y="5650992"/>
            <a:ext cx="5760720" cy="274320"/>
            <a:chOff x="0" y="0"/>
            <a:chExt cx="7680960" cy="3657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680960" cy="365760"/>
            </a:xfrm>
            <a:custGeom>
              <a:avLst/>
              <a:gdLst/>
              <a:ahLst/>
              <a:cxnLst/>
              <a:rect r="r" b="b" t="t" l="l"/>
              <a:pathLst>
                <a:path h="365760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59185" r="0" b="-35918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7680960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spc="3">
                  <a:solidFill>
                    <a:srgbClr val="F7FA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Electronic market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440180" y="6089904"/>
            <a:ext cx="205740" cy="274320"/>
            <a:chOff x="0" y="0"/>
            <a:chExt cx="274320" cy="3657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74320" cy="365760"/>
            </a:xfrm>
            <a:custGeom>
              <a:avLst/>
              <a:gdLst/>
              <a:ahLst/>
              <a:cxnLst/>
              <a:rect r="r" b="b" t="t" l="l"/>
              <a:pathLst>
                <a:path h="365760" w="274320">
                  <a:moveTo>
                    <a:pt x="0" y="0"/>
                  </a:moveTo>
                  <a:lnTo>
                    <a:pt x="274320" y="0"/>
                  </a:lnTo>
                  <a:lnTo>
                    <a:pt x="27432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21071" t="0" r="-121071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274320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spc="3">
                  <a:solidFill>
                    <a:srgbClr val="F3C645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•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714500" y="6117336"/>
            <a:ext cx="5760720" cy="274320"/>
            <a:chOff x="0" y="0"/>
            <a:chExt cx="7680960" cy="3657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680960" cy="365760"/>
            </a:xfrm>
            <a:custGeom>
              <a:avLst/>
              <a:gdLst/>
              <a:ahLst/>
              <a:cxnLst/>
              <a:rect r="r" b="b" t="t" l="l"/>
              <a:pathLst>
                <a:path h="365760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59185" r="0" b="-35918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7680960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spc="3">
                  <a:solidFill>
                    <a:srgbClr val="F7FA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Internet access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440180" y="6556248"/>
            <a:ext cx="205740" cy="274320"/>
            <a:chOff x="0" y="0"/>
            <a:chExt cx="274320" cy="3657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74320" cy="365760"/>
            </a:xfrm>
            <a:custGeom>
              <a:avLst/>
              <a:gdLst/>
              <a:ahLst/>
              <a:cxnLst/>
              <a:rect r="r" b="b" t="t" l="l"/>
              <a:pathLst>
                <a:path h="365760" w="274320">
                  <a:moveTo>
                    <a:pt x="0" y="0"/>
                  </a:moveTo>
                  <a:lnTo>
                    <a:pt x="274320" y="0"/>
                  </a:lnTo>
                  <a:lnTo>
                    <a:pt x="27432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21071" t="0" r="-121071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"/>
              <a:ext cx="274320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spc="3">
                  <a:solidFill>
                    <a:srgbClr val="F3C645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•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714500" y="6583680"/>
            <a:ext cx="5760720" cy="274320"/>
            <a:chOff x="0" y="0"/>
            <a:chExt cx="7680960" cy="36576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680960" cy="365760"/>
            </a:xfrm>
            <a:custGeom>
              <a:avLst/>
              <a:gdLst/>
              <a:ahLst/>
              <a:cxnLst/>
              <a:rect r="r" b="b" t="t" l="l"/>
              <a:pathLst>
                <a:path h="365760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59185" r="0" b="-359185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7680960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spc="3">
                  <a:solidFill>
                    <a:srgbClr val="F7FA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DMA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440180" y="7022592"/>
            <a:ext cx="205740" cy="274320"/>
            <a:chOff x="0" y="0"/>
            <a:chExt cx="274320" cy="3657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74320" cy="365760"/>
            </a:xfrm>
            <a:custGeom>
              <a:avLst/>
              <a:gdLst/>
              <a:ahLst/>
              <a:cxnLst/>
              <a:rect r="r" b="b" t="t" l="l"/>
              <a:pathLst>
                <a:path h="365760" w="274320">
                  <a:moveTo>
                    <a:pt x="0" y="0"/>
                  </a:moveTo>
                  <a:lnTo>
                    <a:pt x="274320" y="0"/>
                  </a:lnTo>
                  <a:lnTo>
                    <a:pt x="27432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21071" t="0" r="-121071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9525"/>
              <a:ext cx="274320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spc="3">
                  <a:solidFill>
                    <a:srgbClr val="F3C645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•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714500" y="7050024"/>
            <a:ext cx="5760720" cy="274320"/>
            <a:chOff x="0" y="0"/>
            <a:chExt cx="7680960" cy="36576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680960" cy="365760"/>
            </a:xfrm>
            <a:custGeom>
              <a:avLst/>
              <a:gdLst/>
              <a:ahLst/>
              <a:cxnLst/>
              <a:rect r="r" b="b" t="t" l="l"/>
              <a:pathLst>
                <a:path h="365760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59185" r="0" b="-35918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9525"/>
              <a:ext cx="7680960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spc="3">
                  <a:solidFill>
                    <a:srgbClr val="F7FA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Co-location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440180" y="7475220"/>
            <a:ext cx="6035040" cy="301752"/>
            <a:chOff x="0" y="0"/>
            <a:chExt cx="8046720" cy="40233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046720" cy="402336"/>
            </a:xfrm>
            <a:custGeom>
              <a:avLst/>
              <a:gdLst/>
              <a:ahLst/>
              <a:cxnLst/>
              <a:rect r="r" b="b" t="t" l="l"/>
              <a:pathLst>
                <a:path h="402336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804672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52"/>
                </a:lnSpc>
              </a:pPr>
              <a:r>
                <a:rPr lang="en-US" sz="1710" spc="2">
                  <a:solidFill>
                    <a:srgbClr val="B8C3D6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台灣「怎麼走到現在」最像印度。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0099167" y="3350895"/>
            <a:ext cx="7123938" cy="4709922"/>
            <a:chOff x="0" y="0"/>
            <a:chExt cx="9498584" cy="627989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498584" cy="6279896"/>
            </a:xfrm>
            <a:custGeom>
              <a:avLst/>
              <a:gdLst/>
              <a:ahLst/>
              <a:cxnLst/>
              <a:rect r="r" b="b" t="t" l="l"/>
              <a:pathLst>
                <a:path h="6279896" w="9498584">
                  <a:moveTo>
                    <a:pt x="0" y="91821"/>
                  </a:moveTo>
                  <a:cubicBezTo>
                    <a:pt x="0" y="41148"/>
                    <a:pt x="41148" y="0"/>
                    <a:pt x="91821" y="0"/>
                  </a:cubicBezTo>
                  <a:lnTo>
                    <a:pt x="9406763" y="0"/>
                  </a:lnTo>
                  <a:cubicBezTo>
                    <a:pt x="9457436" y="0"/>
                    <a:pt x="9498584" y="41148"/>
                    <a:pt x="9498584" y="91821"/>
                  </a:cubicBezTo>
                  <a:lnTo>
                    <a:pt x="9498584" y="6188075"/>
                  </a:lnTo>
                  <a:cubicBezTo>
                    <a:pt x="9498584" y="6238748"/>
                    <a:pt x="9457436" y="6279896"/>
                    <a:pt x="9406763" y="6279896"/>
                  </a:cubicBezTo>
                  <a:lnTo>
                    <a:pt x="91821" y="6279896"/>
                  </a:lnTo>
                  <a:cubicBezTo>
                    <a:pt x="41148" y="6279896"/>
                    <a:pt x="0" y="6238748"/>
                    <a:pt x="0" y="6188075"/>
                  </a:cubicBezTo>
                  <a:close/>
                </a:path>
              </a:pathLst>
            </a:custGeom>
            <a:solidFill>
              <a:srgbClr val="101B2F">
                <a:alpha val="93725"/>
              </a:srgbClr>
            </a:solidFill>
            <a:ln w="19050" cap="sq">
              <a:solidFill>
                <a:srgbClr val="F3C645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10471404" y="3640836"/>
            <a:ext cx="2895600" cy="399288"/>
            <a:chOff x="0" y="0"/>
            <a:chExt cx="3860800" cy="53238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860800" cy="532384"/>
            </a:xfrm>
            <a:custGeom>
              <a:avLst/>
              <a:gdLst/>
              <a:ahLst/>
              <a:cxnLst/>
              <a:rect r="r" b="b" t="t" l="l"/>
              <a:pathLst>
                <a:path h="532384" w="3860800">
                  <a:moveTo>
                    <a:pt x="0" y="95123"/>
                  </a:moveTo>
                  <a:cubicBezTo>
                    <a:pt x="0" y="42545"/>
                    <a:pt x="42545" y="0"/>
                    <a:pt x="95123" y="0"/>
                  </a:cubicBezTo>
                  <a:lnTo>
                    <a:pt x="3765677" y="0"/>
                  </a:lnTo>
                  <a:cubicBezTo>
                    <a:pt x="3818255" y="0"/>
                    <a:pt x="3860800" y="42545"/>
                    <a:pt x="3860800" y="95123"/>
                  </a:cubicBezTo>
                  <a:lnTo>
                    <a:pt x="3860800" y="437261"/>
                  </a:lnTo>
                  <a:cubicBezTo>
                    <a:pt x="3860800" y="489712"/>
                    <a:pt x="3818255" y="532384"/>
                    <a:pt x="3765677" y="532384"/>
                  </a:cubicBezTo>
                  <a:lnTo>
                    <a:pt x="95123" y="532384"/>
                  </a:lnTo>
                  <a:cubicBezTo>
                    <a:pt x="42545" y="532384"/>
                    <a:pt x="0" y="489839"/>
                    <a:pt x="0" y="437261"/>
                  </a:cubicBezTo>
                  <a:close/>
                </a:path>
              </a:pathLst>
            </a:custGeom>
            <a:solidFill>
              <a:srgbClr val="F3C645">
                <a:alpha val="88235"/>
              </a:srgbClr>
            </a:solidFill>
            <a:ln w="15240" cap="sq">
              <a:solidFill>
                <a:srgbClr val="F3C645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10533888" y="3737610"/>
            <a:ext cx="2770632" cy="164592"/>
            <a:chOff x="0" y="0"/>
            <a:chExt cx="3694176" cy="21945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694176" cy="219456"/>
            </a:xfrm>
            <a:custGeom>
              <a:avLst/>
              <a:gdLst/>
              <a:ahLst/>
              <a:cxnLst/>
              <a:rect r="r" b="b" t="t" l="l"/>
              <a:pathLst>
                <a:path h="219456" w="3694176">
                  <a:moveTo>
                    <a:pt x="0" y="0"/>
                  </a:moveTo>
                  <a:lnTo>
                    <a:pt x="3694176" y="0"/>
                  </a:lnTo>
                  <a:lnTo>
                    <a:pt x="3694176" y="219456"/>
                  </a:lnTo>
                  <a:lnTo>
                    <a:pt x="0" y="2194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7998" r="0" b="-277998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9525"/>
              <a:ext cx="3694176" cy="2289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 spc="2">
                  <a:solidFill>
                    <a:srgbClr val="111111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SECONDARY ANALOGUE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0479024" y="4197096"/>
            <a:ext cx="6309360" cy="493776"/>
            <a:chOff x="0" y="0"/>
            <a:chExt cx="8412480" cy="658368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8412480" cy="658368"/>
            </a:xfrm>
            <a:custGeom>
              <a:avLst/>
              <a:gdLst/>
              <a:ahLst/>
              <a:cxnLst/>
              <a:rect r="r" b="b" t="t" l="l"/>
              <a:pathLst>
                <a:path h="658368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8975" r="0" b="-198975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9525"/>
              <a:ext cx="8412480" cy="6678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0"/>
                </a:lnSpc>
              </a:pPr>
              <a:r>
                <a:rPr lang="en-US" sz="3450" spc="5">
                  <a:solidFill>
                    <a:srgbClr val="F7FA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KOREA-LIKE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0479024" y="4800600"/>
            <a:ext cx="6309360" cy="342900"/>
            <a:chOff x="0" y="0"/>
            <a:chExt cx="8412480" cy="4572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8412480" cy="457200"/>
            </a:xfrm>
            <a:custGeom>
              <a:avLst/>
              <a:gdLst/>
              <a:ahLst/>
              <a:cxnLst/>
              <a:rect r="r" b="b" t="t" l="l"/>
              <a:pathLst>
                <a:path h="45720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8524" r="0" b="-308524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0"/>
              <a:ext cx="841248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4"/>
                </a:lnSpc>
              </a:pPr>
              <a:r>
                <a:rPr lang="en-US" sz="2070" spc="3">
                  <a:solidFill>
                    <a:srgbClr val="F3C645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Professional Derivatives Flow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0479024" y="5623560"/>
            <a:ext cx="205740" cy="274320"/>
            <a:chOff x="0" y="0"/>
            <a:chExt cx="274320" cy="36576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74320" cy="365760"/>
            </a:xfrm>
            <a:custGeom>
              <a:avLst/>
              <a:gdLst/>
              <a:ahLst/>
              <a:cxnLst/>
              <a:rect r="r" b="b" t="t" l="l"/>
              <a:pathLst>
                <a:path h="365760" w="274320">
                  <a:moveTo>
                    <a:pt x="0" y="0"/>
                  </a:moveTo>
                  <a:lnTo>
                    <a:pt x="274320" y="0"/>
                  </a:lnTo>
                  <a:lnTo>
                    <a:pt x="27432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21071" t="0" r="-121071" b="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9525"/>
              <a:ext cx="274320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spc="3">
                  <a:solidFill>
                    <a:srgbClr val="F3C645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•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0753344" y="5650992"/>
            <a:ext cx="5760720" cy="274320"/>
            <a:chOff x="0" y="0"/>
            <a:chExt cx="7680960" cy="36576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7680960" cy="365760"/>
            </a:xfrm>
            <a:custGeom>
              <a:avLst/>
              <a:gdLst/>
              <a:ahLst/>
              <a:cxnLst/>
              <a:rect r="r" b="b" t="t" l="l"/>
              <a:pathLst>
                <a:path h="365760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59185" r="0" b="-359185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9525"/>
              <a:ext cx="7680960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spc="3">
                  <a:solidFill>
                    <a:srgbClr val="F7FA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Futures / options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0479024" y="6089904"/>
            <a:ext cx="205740" cy="274320"/>
            <a:chOff x="0" y="0"/>
            <a:chExt cx="274320" cy="36576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74320" cy="365760"/>
            </a:xfrm>
            <a:custGeom>
              <a:avLst/>
              <a:gdLst/>
              <a:ahLst/>
              <a:cxnLst/>
              <a:rect r="r" b="b" t="t" l="l"/>
              <a:pathLst>
                <a:path h="365760" w="274320">
                  <a:moveTo>
                    <a:pt x="0" y="0"/>
                  </a:moveTo>
                  <a:lnTo>
                    <a:pt x="274320" y="0"/>
                  </a:lnTo>
                  <a:lnTo>
                    <a:pt x="27432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21071" t="0" r="-121071" b="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9525"/>
              <a:ext cx="274320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spc="3">
                  <a:solidFill>
                    <a:srgbClr val="F3C645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•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0753344" y="6117336"/>
            <a:ext cx="5760720" cy="274320"/>
            <a:chOff x="0" y="0"/>
            <a:chExt cx="7680960" cy="36576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7680960" cy="365760"/>
            </a:xfrm>
            <a:custGeom>
              <a:avLst/>
              <a:gdLst/>
              <a:ahLst/>
              <a:cxnLst/>
              <a:rect r="r" b="b" t="t" l="l"/>
              <a:pathLst>
                <a:path h="365760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59185" r="0" b="-359185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9525"/>
              <a:ext cx="7680960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spc="3">
                  <a:solidFill>
                    <a:srgbClr val="F7FA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Hedging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0479024" y="6556248"/>
            <a:ext cx="205740" cy="274320"/>
            <a:chOff x="0" y="0"/>
            <a:chExt cx="274320" cy="36576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274320" cy="365760"/>
            </a:xfrm>
            <a:custGeom>
              <a:avLst/>
              <a:gdLst/>
              <a:ahLst/>
              <a:cxnLst/>
              <a:rect r="r" b="b" t="t" l="l"/>
              <a:pathLst>
                <a:path h="365760" w="274320">
                  <a:moveTo>
                    <a:pt x="0" y="0"/>
                  </a:moveTo>
                  <a:lnTo>
                    <a:pt x="274320" y="0"/>
                  </a:lnTo>
                  <a:lnTo>
                    <a:pt x="27432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21071" t="0" r="-121071" b="0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9525"/>
              <a:ext cx="274320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spc="3">
                  <a:solidFill>
                    <a:srgbClr val="F3C645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•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0753344" y="6583680"/>
            <a:ext cx="5760720" cy="274320"/>
            <a:chOff x="0" y="0"/>
            <a:chExt cx="7680960" cy="36576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7680960" cy="365760"/>
            </a:xfrm>
            <a:custGeom>
              <a:avLst/>
              <a:gdLst/>
              <a:ahLst/>
              <a:cxnLst/>
              <a:rect r="r" b="b" t="t" l="l"/>
              <a:pathLst>
                <a:path h="365760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59185" r="0" b="-359185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9525"/>
              <a:ext cx="7680960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spc="3">
                  <a:solidFill>
                    <a:srgbClr val="F7FA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Arbitrage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0479024" y="7022592"/>
            <a:ext cx="205740" cy="274320"/>
            <a:chOff x="0" y="0"/>
            <a:chExt cx="274320" cy="36576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274320" cy="365760"/>
            </a:xfrm>
            <a:custGeom>
              <a:avLst/>
              <a:gdLst/>
              <a:ahLst/>
              <a:cxnLst/>
              <a:rect r="r" b="b" t="t" l="l"/>
              <a:pathLst>
                <a:path h="365760" w="274320">
                  <a:moveTo>
                    <a:pt x="0" y="0"/>
                  </a:moveTo>
                  <a:lnTo>
                    <a:pt x="274320" y="0"/>
                  </a:lnTo>
                  <a:lnTo>
                    <a:pt x="27432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21071" t="0" r="-121071" b="0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9525"/>
              <a:ext cx="274320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spc="3">
                  <a:solidFill>
                    <a:srgbClr val="F3C645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•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0753344" y="7050024"/>
            <a:ext cx="5760720" cy="274320"/>
            <a:chOff x="0" y="0"/>
            <a:chExt cx="7680960" cy="36576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7680960" cy="365760"/>
            </a:xfrm>
            <a:custGeom>
              <a:avLst/>
              <a:gdLst/>
              <a:ahLst/>
              <a:cxnLst/>
              <a:rect r="r" b="b" t="t" l="l"/>
              <a:pathLst>
                <a:path h="365760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59185" r="0" b="-359185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9525"/>
              <a:ext cx="7680960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spc="3">
                  <a:solidFill>
                    <a:srgbClr val="F7FA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Market making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0479024" y="7475220"/>
            <a:ext cx="6035040" cy="301752"/>
            <a:chOff x="0" y="0"/>
            <a:chExt cx="8046720" cy="402336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8046720" cy="402336"/>
            </a:xfrm>
            <a:custGeom>
              <a:avLst/>
              <a:gdLst/>
              <a:ahLst/>
              <a:cxnLst/>
              <a:rect r="r" b="b" t="t" l="l"/>
              <a:pathLst>
                <a:path h="402336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0"/>
              <a:ext cx="804672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52"/>
                </a:lnSpc>
              </a:pPr>
              <a:r>
                <a:rPr lang="en-US" sz="1710" spc="2">
                  <a:solidFill>
                    <a:srgbClr val="B8C3D6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台灣下一階段需求，可能更要從衍生品與套利場景找。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3007995" y="8658987"/>
            <a:ext cx="12294870" cy="814578"/>
            <a:chOff x="0" y="0"/>
            <a:chExt cx="16393160" cy="1086104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6393161" cy="1086104"/>
            </a:xfrm>
            <a:custGeom>
              <a:avLst/>
              <a:gdLst/>
              <a:ahLst/>
              <a:cxnLst/>
              <a:rect r="r" b="b" t="t" l="l"/>
              <a:pathLst>
                <a:path h="1086104" w="16393161">
                  <a:moveTo>
                    <a:pt x="0" y="93599"/>
                  </a:moveTo>
                  <a:cubicBezTo>
                    <a:pt x="0" y="41910"/>
                    <a:pt x="41910" y="0"/>
                    <a:pt x="93599" y="0"/>
                  </a:cubicBezTo>
                  <a:lnTo>
                    <a:pt x="16299562" y="0"/>
                  </a:lnTo>
                  <a:cubicBezTo>
                    <a:pt x="16351250" y="0"/>
                    <a:pt x="16393161" y="41910"/>
                    <a:pt x="16393161" y="93599"/>
                  </a:cubicBezTo>
                  <a:lnTo>
                    <a:pt x="16393161" y="992505"/>
                  </a:lnTo>
                  <a:cubicBezTo>
                    <a:pt x="16393161" y="1044194"/>
                    <a:pt x="16351250" y="1086104"/>
                    <a:pt x="16299562" y="1086104"/>
                  </a:cubicBezTo>
                  <a:lnTo>
                    <a:pt x="93599" y="1086104"/>
                  </a:lnTo>
                  <a:cubicBezTo>
                    <a:pt x="41910" y="1086104"/>
                    <a:pt x="0" y="1044194"/>
                    <a:pt x="0" y="992505"/>
                  </a:cubicBezTo>
                  <a:close/>
                </a:path>
              </a:pathLst>
            </a:custGeom>
            <a:solidFill>
              <a:srgbClr val="17223A"/>
            </a:solidFill>
            <a:ln w="19050" cap="sq">
              <a:solidFill>
                <a:srgbClr val="F3C645"/>
              </a:solidFill>
              <a:prstDash val="solid"/>
              <a:miter/>
            </a:ln>
          </p:spPr>
        </p:sp>
      </p:grpSp>
      <p:grpSp>
        <p:nvGrpSpPr>
          <p:cNvPr name="Group 98" id="98"/>
          <p:cNvGrpSpPr/>
          <p:nvPr/>
        </p:nvGrpSpPr>
        <p:grpSpPr>
          <a:xfrm rot="0">
            <a:off x="3319272" y="8956548"/>
            <a:ext cx="11658600" cy="219456"/>
            <a:chOff x="0" y="0"/>
            <a:chExt cx="15544800" cy="292608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5544800" cy="292608"/>
            </a:xfrm>
            <a:custGeom>
              <a:avLst/>
              <a:gdLst/>
              <a:ahLst/>
              <a:cxnLst/>
              <a:rect r="r" b="b" t="t" l="l"/>
              <a:pathLst>
                <a:path h="292608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85142" r="0" b="-985142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0"/>
              <a:ext cx="15544800" cy="292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95"/>
                </a:lnSpc>
              </a:pPr>
              <a:r>
                <a:rPr lang="en-US" sz="1829" spc="3">
                  <a:solidFill>
                    <a:srgbClr val="F7FA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TAKEAWAY｜Taiwan = India-like infrastructure path + Korea-like professional derivatives path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754380" y="9779508"/>
            <a:ext cx="16596360" cy="274320"/>
            <a:chOff x="0" y="0"/>
            <a:chExt cx="22128480" cy="36576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22128480" cy="365760"/>
            </a:xfrm>
            <a:custGeom>
              <a:avLst/>
              <a:gdLst/>
              <a:ahLst/>
              <a:cxnLst/>
              <a:rect r="r" b="b" t="t" l="l"/>
              <a:pathLst>
                <a:path h="36576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28844" r="0" b="-1128844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9525"/>
              <a:ext cx="22128480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87"/>
                </a:lnSpc>
              </a:pPr>
              <a:r>
                <a:rPr lang="en-US" sz="989" spc="1">
                  <a:solidFill>
                    <a:srgbClr val="8793A6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Comparator selection based on Chapter II formation paths</a:t>
              </a:r>
            </a:p>
          </p:txBody>
        </p:sp>
      </p:grpSp>
      <p:sp>
        <p:nvSpPr>
          <p:cNvPr name="AutoShape 104" id="104"/>
          <p:cNvSpPr/>
          <p:nvPr/>
        </p:nvSpPr>
        <p:spPr>
          <a:xfrm flipV="true">
            <a:off x="8596495" y="5705856"/>
            <a:ext cx="1162371" cy="4762"/>
          </a:xfrm>
          <a:prstGeom prst="line">
            <a:avLst/>
          </a:prstGeom>
          <a:ln cap="rnd" w="19050">
            <a:solidFill>
              <a:srgbClr val="F3C645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07695" y="470535"/>
            <a:ext cx="87630" cy="979170"/>
            <a:chOff x="0" y="0"/>
            <a:chExt cx="116840" cy="13055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6840" cy="1305560"/>
            </a:xfrm>
            <a:custGeom>
              <a:avLst/>
              <a:gdLst/>
              <a:ahLst/>
              <a:cxnLst/>
              <a:rect r="r" b="b" t="t" l="l"/>
              <a:pathLst>
                <a:path h="1305560" w="116840">
                  <a:moveTo>
                    <a:pt x="0" y="0"/>
                  </a:moveTo>
                  <a:lnTo>
                    <a:pt x="116840" y="0"/>
                  </a:lnTo>
                  <a:lnTo>
                    <a:pt x="116840" y="1305560"/>
                  </a:lnTo>
                  <a:lnTo>
                    <a:pt x="0" y="1305560"/>
                  </a:lnTo>
                  <a:close/>
                </a:path>
              </a:pathLst>
            </a:custGeom>
            <a:solidFill>
              <a:srgbClr val="F3C645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850392" y="864108"/>
            <a:ext cx="16253460" cy="617220"/>
            <a:chOff x="0" y="0"/>
            <a:chExt cx="21671280" cy="8229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671280" cy="822960"/>
            </a:xfrm>
            <a:custGeom>
              <a:avLst/>
              <a:gdLst/>
              <a:ahLst/>
              <a:cxnLst/>
              <a:rect r="r" b="b" t="t" l="l"/>
              <a:pathLst>
                <a:path h="822960" w="21671280">
                  <a:moveTo>
                    <a:pt x="0" y="0"/>
                  </a:moveTo>
                  <a:lnTo>
                    <a:pt x="21671280" y="0"/>
                  </a:lnTo>
                  <a:lnTo>
                    <a:pt x="216712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3105" r="0" b="-46310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671280" cy="832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230"/>
                </a:lnSpc>
              </a:pPr>
              <a:r>
                <a:rPr lang="en-US" sz="3525" spc="5">
                  <a:solidFill>
                    <a:srgbClr val="F7FA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衍生品如何形成 Algo / HFT 需求？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50392" y="1549908"/>
            <a:ext cx="16116300" cy="452628"/>
            <a:chOff x="0" y="0"/>
            <a:chExt cx="21488400" cy="6035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488400" cy="603504"/>
            </a:xfrm>
            <a:custGeom>
              <a:avLst/>
              <a:gdLst/>
              <a:ahLst/>
              <a:cxnLst/>
              <a:rect r="r" b="b" t="t" l="l"/>
              <a:pathLst>
                <a:path h="603504" w="21488400">
                  <a:moveTo>
                    <a:pt x="0" y="0"/>
                  </a:moveTo>
                  <a:lnTo>
                    <a:pt x="21488400" y="0"/>
                  </a:lnTo>
                  <a:lnTo>
                    <a:pt x="21488400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43785" r="0" b="-64378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1488400" cy="6035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spc="2">
                  <a:solidFill>
                    <a:srgbClr val="B8C3D6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韓國的重點不是「多交易所」，而是深度衍生品市場讓自動化與速度變成經濟必要。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54583" y="2802255"/>
            <a:ext cx="2487930" cy="1390650"/>
            <a:chOff x="0" y="0"/>
            <a:chExt cx="3317240" cy="1854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17240" cy="1854200"/>
            </a:xfrm>
            <a:custGeom>
              <a:avLst/>
              <a:gdLst/>
              <a:ahLst/>
              <a:cxnLst/>
              <a:rect r="r" b="b" t="t" l="l"/>
              <a:pathLst>
                <a:path h="1854200" w="3317240">
                  <a:moveTo>
                    <a:pt x="0" y="92710"/>
                  </a:moveTo>
                  <a:cubicBezTo>
                    <a:pt x="0" y="41529"/>
                    <a:pt x="41529" y="0"/>
                    <a:pt x="92710" y="0"/>
                  </a:cubicBezTo>
                  <a:lnTo>
                    <a:pt x="3224530" y="0"/>
                  </a:lnTo>
                  <a:cubicBezTo>
                    <a:pt x="3275711" y="0"/>
                    <a:pt x="3317240" y="41529"/>
                    <a:pt x="3317240" y="92710"/>
                  </a:cubicBezTo>
                  <a:lnTo>
                    <a:pt x="3317240" y="1761490"/>
                  </a:lnTo>
                  <a:cubicBezTo>
                    <a:pt x="3317240" y="1812671"/>
                    <a:pt x="3275711" y="1854200"/>
                    <a:pt x="3224530" y="1854200"/>
                  </a:cubicBezTo>
                  <a:lnTo>
                    <a:pt x="92710" y="1854200"/>
                  </a:lnTo>
                  <a:cubicBezTo>
                    <a:pt x="41529" y="1854200"/>
                    <a:pt x="0" y="1812671"/>
                    <a:pt x="0" y="1761490"/>
                  </a:cubicBezTo>
                  <a:close/>
                </a:path>
              </a:pathLst>
            </a:custGeom>
            <a:solidFill>
              <a:srgbClr val="101B2F">
                <a:alpha val="95686"/>
              </a:srgbClr>
            </a:solidFill>
            <a:ln w="19050" cap="sq">
              <a:solidFill>
                <a:srgbClr val="F3C645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028700" y="3058668"/>
            <a:ext cx="2139696" cy="384048"/>
            <a:chOff x="0" y="0"/>
            <a:chExt cx="2852928" cy="51206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52928" cy="512064"/>
            </a:xfrm>
            <a:custGeom>
              <a:avLst/>
              <a:gdLst/>
              <a:ahLst/>
              <a:cxnLst/>
              <a:rect r="r" b="b" t="t" l="l"/>
              <a:pathLst>
                <a:path h="512064" w="2852928">
                  <a:moveTo>
                    <a:pt x="0" y="0"/>
                  </a:moveTo>
                  <a:lnTo>
                    <a:pt x="2852928" y="0"/>
                  </a:lnTo>
                  <a:lnTo>
                    <a:pt x="2852928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8559" r="0" b="-58559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2852928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07"/>
                </a:lnSpc>
              </a:pPr>
              <a:r>
                <a:rPr lang="en-US" sz="1589" spc="2">
                  <a:solidFill>
                    <a:srgbClr val="F7FA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DEEP DERIVATIVES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28700" y="3607308"/>
            <a:ext cx="2139696" cy="384048"/>
            <a:chOff x="0" y="0"/>
            <a:chExt cx="2852928" cy="51206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852928" cy="512064"/>
            </a:xfrm>
            <a:custGeom>
              <a:avLst/>
              <a:gdLst/>
              <a:ahLst/>
              <a:cxnLst/>
              <a:rect r="r" b="b" t="t" l="l"/>
              <a:pathLst>
                <a:path h="512064" w="2852928">
                  <a:moveTo>
                    <a:pt x="0" y="0"/>
                  </a:moveTo>
                  <a:lnTo>
                    <a:pt x="2852928" y="0"/>
                  </a:lnTo>
                  <a:lnTo>
                    <a:pt x="2852928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8559" r="0" b="-58559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2852928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 spc="2">
                  <a:solidFill>
                    <a:srgbClr val="B8C3D6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KOSPI 200 Futures / Options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3734943" y="2802255"/>
            <a:ext cx="2487930" cy="1390650"/>
            <a:chOff x="0" y="0"/>
            <a:chExt cx="3317240" cy="1854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317240" cy="1854200"/>
            </a:xfrm>
            <a:custGeom>
              <a:avLst/>
              <a:gdLst/>
              <a:ahLst/>
              <a:cxnLst/>
              <a:rect r="r" b="b" t="t" l="l"/>
              <a:pathLst>
                <a:path h="1854200" w="3317240">
                  <a:moveTo>
                    <a:pt x="0" y="92710"/>
                  </a:moveTo>
                  <a:cubicBezTo>
                    <a:pt x="0" y="41529"/>
                    <a:pt x="41529" y="0"/>
                    <a:pt x="92710" y="0"/>
                  </a:cubicBezTo>
                  <a:lnTo>
                    <a:pt x="3224530" y="0"/>
                  </a:lnTo>
                  <a:cubicBezTo>
                    <a:pt x="3275711" y="0"/>
                    <a:pt x="3317240" y="41529"/>
                    <a:pt x="3317240" y="92710"/>
                  </a:cubicBezTo>
                  <a:lnTo>
                    <a:pt x="3317240" y="1761490"/>
                  </a:lnTo>
                  <a:cubicBezTo>
                    <a:pt x="3317240" y="1812671"/>
                    <a:pt x="3275711" y="1854200"/>
                    <a:pt x="3224530" y="1854200"/>
                  </a:cubicBezTo>
                  <a:lnTo>
                    <a:pt x="92710" y="1854200"/>
                  </a:lnTo>
                  <a:cubicBezTo>
                    <a:pt x="41529" y="1854200"/>
                    <a:pt x="0" y="1812671"/>
                    <a:pt x="0" y="1761490"/>
                  </a:cubicBezTo>
                  <a:close/>
                </a:path>
              </a:pathLst>
            </a:custGeom>
            <a:solidFill>
              <a:srgbClr val="101B2F">
                <a:alpha val="95686"/>
              </a:srgbClr>
            </a:solidFill>
            <a:ln w="19050" cap="sq">
              <a:solidFill>
                <a:srgbClr val="12D7FF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3909060" y="3058668"/>
            <a:ext cx="2139696" cy="384048"/>
            <a:chOff x="0" y="0"/>
            <a:chExt cx="2852928" cy="51206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852928" cy="512064"/>
            </a:xfrm>
            <a:custGeom>
              <a:avLst/>
              <a:gdLst/>
              <a:ahLst/>
              <a:cxnLst/>
              <a:rect r="r" b="b" t="t" l="l"/>
              <a:pathLst>
                <a:path h="512064" w="2852928">
                  <a:moveTo>
                    <a:pt x="0" y="0"/>
                  </a:moveTo>
                  <a:lnTo>
                    <a:pt x="2852928" y="0"/>
                  </a:lnTo>
                  <a:lnTo>
                    <a:pt x="2852928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8559" r="0" b="-58559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2852928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07"/>
                </a:lnSpc>
              </a:pPr>
              <a:r>
                <a:rPr lang="en-US" sz="1589" spc="2">
                  <a:solidFill>
                    <a:srgbClr val="F7FA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PROFESSIONAL STRATEGIES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3909060" y="3607308"/>
            <a:ext cx="2139696" cy="384048"/>
            <a:chOff x="0" y="0"/>
            <a:chExt cx="2852928" cy="51206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852928" cy="512064"/>
            </a:xfrm>
            <a:custGeom>
              <a:avLst/>
              <a:gdLst/>
              <a:ahLst/>
              <a:cxnLst/>
              <a:rect r="r" b="b" t="t" l="l"/>
              <a:pathLst>
                <a:path h="512064" w="2852928">
                  <a:moveTo>
                    <a:pt x="0" y="0"/>
                  </a:moveTo>
                  <a:lnTo>
                    <a:pt x="2852928" y="0"/>
                  </a:lnTo>
                  <a:lnTo>
                    <a:pt x="2852928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8559" r="0" b="-58559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2852928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 spc="2">
                  <a:solidFill>
                    <a:srgbClr val="B8C3D6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Basket / Arbitrage / Hedging / Market Making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615303" y="2802255"/>
            <a:ext cx="2487930" cy="1390650"/>
            <a:chOff x="0" y="0"/>
            <a:chExt cx="3317240" cy="18542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317240" cy="1854200"/>
            </a:xfrm>
            <a:custGeom>
              <a:avLst/>
              <a:gdLst/>
              <a:ahLst/>
              <a:cxnLst/>
              <a:rect r="r" b="b" t="t" l="l"/>
              <a:pathLst>
                <a:path h="1854200" w="3317240">
                  <a:moveTo>
                    <a:pt x="0" y="92710"/>
                  </a:moveTo>
                  <a:cubicBezTo>
                    <a:pt x="0" y="41529"/>
                    <a:pt x="41529" y="0"/>
                    <a:pt x="92710" y="0"/>
                  </a:cubicBezTo>
                  <a:lnTo>
                    <a:pt x="3224530" y="0"/>
                  </a:lnTo>
                  <a:cubicBezTo>
                    <a:pt x="3275711" y="0"/>
                    <a:pt x="3317240" y="41529"/>
                    <a:pt x="3317240" y="92710"/>
                  </a:cubicBezTo>
                  <a:lnTo>
                    <a:pt x="3317240" y="1761490"/>
                  </a:lnTo>
                  <a:cubicBezTo>
                    <a:pt x="3317240" y="1812671"/>
                    <a:pt x="3275711" y="1854200"/>
                    <a:pt x="3224530" y="1854200"/>
                  </a:cubicBezTo>
                  <a:lnTo>
                    <a:pt x="92710" y="1854200"/>
                  </a:lnTo>
                  <a:cubicBezTo>
                    <a:pt x="41529" y="1854200"/>
                    <a:pt x="0" y="1812671"/>
                    <a:pt x="0" y="1761490"/>
                  </a:cubicBezTo>
                  <a:close/>
                </a:path>
              </a:pathLst>
            </a:custGeom>
            <a:solidFill>
              <a:srgbClr val="101B2F">
                <a:alpha val="95686"/>
              </a:srgbClr>
            </a:solidFill>
            <a:ln w="19050" cap="sq">
              <a:solidFill>
                <a:srgbClr val="FF9B3A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6789420" y="3058668"/>
            <a:ext cx="2139696" cy="384048"/>
            <a:chOff x="0" y="0"/>
            <a:chExt cx="2852928" cy="51206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852928" cy="512064"/>
            </a:xfrm>
            <a:custGeom>
              <a:avLst/>
              <a:gdLst/>
              <a:ahLst/>
              <a:cxnLst/>
              <a:rect r="r" b="b" t="t" l="l"/>
              <a:pathLst>
                <a:path h="512064" w="2852928">
                  <a:moveTo>
                    <a:pt x="0" y="0"/>
                  </a:moveTo>
                  <a:lnTo>
                    <a:pt x="2852928" y="0"/>
                  </a:lnTo>
                  <a:lnTo>
                    <a:pt x="2852928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8559" r="0" b="-58559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2852928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07"/>
                </a:lnSpc>
              </a:pPr>
              <a:r>
                <a:rPr lang="en-US" sz="1589" spc="2">
                  <a:solidFill>
                    <a:srgbClr val="F7FA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EXECUTION COMPLEXITY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789420" y="3607308"/>
            <a:ext cx="2139696" cy="384048"/>
            <a:chOff x="0" y="0"/>
            <a:chExt cx="2852928" cy="51206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852928" cy="512064"/>
            </a:xfrm>
            <a:custGeom>
              <a:avLst/>
              <a:gdLst/>
              <a:ahLst/>
              <a:cxnLst/>
              <a:rect r="r" b="b" t="t" l="l"/>
              <a:pathLst>
                <a:path h="512064" w="2852928">
                  <a:moveTo>
                    <a:pt x="0" y="0"/>
                  </a:moveTo>
                  <a:lnTo>
                    <a:pt x="2852928" y="0"/>
                  </a:lnTo>
                  <a:lnTo>
                    <a:pt x="2852928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8559" r="0" b="-58559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2852928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 spc="2">
                  <a:solidFill>
                    <a:srgbClr val="B8C3D6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跨商品、大量、同步執行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495663" y="2802255"/>
            <a:ext cx="2487930" cy="1390650"/>
            <a:chOff x="0" y="0"/>
            <a:chExt cx="3317240" cy="18542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317240" cy="1854200"/>
            </a:xfrm>
            <a:custGeom>
              <a:avLst/>
              <a:gdLst/>
              <a:ahLst/>
              <a:cxnLst/>
              <a:rect r="r" b="b" t="t" l="l"/>
              <a:pathLst>
                <a:path h="1854200" w="3317240">
                  <a:moveTo>
                    <a:pt x="0" y="92710"/>
                  </a:moveTo>
                  <a:cubicBezTo>
                    <a:pt x="0" y="41529"/>
                    <a:pt x="41529" y="0"/>
                    <a:pt x="92710" y="0"/>
                  </a:cubicBezTo>
                  <a:lnTo>
                    <a:pt x="3224530" y="0"/>
                  </a:lnTo>
                  <a:cubicBezTo>
                    <a:pt x="3275711" y="0"/>
                    <a:pt x="3317240" y="41529"/>
                    <a:pt x="3317240" y="92710"/>
                  </a:cubicBezTo>
                  <a:lnTo>
                    <a:pt x="3317240" y="1761490"/>
                  </a:lnTo>
                  <a:cubicBezTo>
                    <a:pt x="3317240" y="1812671"/>
                    <a:pt x="3275711" y="1854200"/>
                    <a:pt x="3224530" y="1854200"/>
                  </a:cubicBezTo>
                  <a:lnTo>
                    <a:pt x="92710" y="1854200"/>
                  </a:lnTo>
                  <a:cubicBezTo>
                    <a:pt x="41529" y="1854200"/>
                    <a:pt x="0" y="1812671"/>
                    <a:pt x="0" y="1761490"/>
                  </a:cubicBezTo>
                  <a:close/>
                </a:path>
              </a:pathLst>
            </a:custGeom>
            <a:solidFill>
              <a:srgbClr val="101B2F">
                <a:alpha val="95686"/>
              </a:srgbClr>
            </a:solidFill>
            <a:ln w="19050" cap="sq">
              <a:solidFill>
                <a:srgbClr val="6FE8B9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9669780" y="3058668"/>
            <a:ext cx="2139696" cy="384048"/>
            <a:chOff x="0" y="0"/>
            <a:chExt cx="2852928" cy="51206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852928" cy="512064"/>
            </a:xfrm>
            <a:custGeom>
              <a:avLst/>
              <a:gdLst/>
              <a:ahLst/>
              <a:cxnLst/>
              <a:rect r="r" b="b" t="t" l="l"/>
              <a:pathLst>
                <a:path h="512064" w="2852928">
                  <a:moveTo>
                    <a:pt x="0" y="0"/>
                  </a:moveTo>
                  <a:lnTo>
                    <a:pt x="2852928" y="0"/>
                  </a:lnTo>
                  <a:lnTo>
                    <a:pt x="2852928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8559" r="0" b="-58559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2852928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07"/>
                </a:lnSpc>
              </a:pPr>
              <a:r>
                <a:rPr lang="en-US" sz="1589" spc="2">
                  <a:solidFill>
                    <a:srgbClr val="F7FA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AUTOMATED EXECUTION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669780" y="3607308"/>
            <a:ext cx="2139696" cy="384048"/>
            <a:chOff x="0" y="0"/>
            <a:chExt cx="2852928" cy="51206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852928" cy="512064"/>
            </a:xfrm>
            <a:custGeom>
              <a:avLst/>
              <a:gdLst/>
              <a:ahLst/>
              <a:cxnLst/>
              <a:rect r="r" b="b" t="t" l="l"/>
              <a:pathLst>
                <a:path h="512064" w="2852928">
                  <a:moveTo>
                    <a:pt x="0" y="0"/>
                  </a:moveTo>
                  <a:lnTo>
                    <a:pt x="2852928" y="0"/>
                  </a:lnTo>
                  <a:lnTo>
                    <a:pt x="2852928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8559" r="0" b="-58559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2852928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 spc="2">
                  <a:solidFill>
                    <a:srgbClr val="B8C3D6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Program Trading / Algo / DMA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2376023" y="2802255"/>
            <a:ext cx="2487930" cy="1390650"/>
            <a:chOff x="0" y="0"/>
            <a:chExt cx="3317240" cy="18542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317240" cy="1854200"/>
            </a:xfrm>
            <a:custGeom>
              <a:avLst/>
              <a:gdLst/>
              <a:ahLst/>
              <a:cxnLst/>
              <a:rect r="r" b="b" t="t" l="l"/>
              <a:pathLst>
                <a:path h="1854200" w="3317240">
                  <a:moveTo>
                    <a:pt x="0" y="92710"/>
                  </a:moveTo>
                  <a:cubicBezTo>
                    <a:pt x="0" y="41529"/>
                    <a:pt x="41529" y="0"/>
                    <a:pt x="92710" y="0"/>
                  </a:cubicBezTo>
                  <a:lnTo>
                    <a:pt x="3224530" y="0"/>
                  </a:lnTo>
                  <a:cubicBezTo>
                    <a:pt x="3275711" y="0"/>
                    <a:pt x="3317240" y="41529"/>
                    <a:pt x="3317240" y="92710"/>
                  </a:cubicBezTo>
                  <a:lnTo>
                    <a:pt x="3317240" y="1761490"/>
                  </a:lnTo>
                  <a:cubicBezTo>
                    <a:pt x="3317240" y="1812671"/>
                    <a:pt x="3275711" y="1854200"/>
                    <a:pt x="3224530" y="1854200"/>
                  </a:cubicBezTo>
                  <a:lnTo>
                    <a:pt x="92710" y="1854200"/>
                  </a:lnTo>
                  <a:cubicBezTo>
                    <a:pt x="41529" y="1854200"/>
                    <a:pt x="0" y="1812671"/>
                    <a:pt x="0" y="1761490"/>
                  </a:cubicBezTo>
                  <a:close/>
                </a:path>
              </a:pathLst>
            </a:custGeom>
            <a:solidFill>
              <a:srgbClr val="101B2F">
                <a:alpha val="95686"/>
              </a:srgbClr>
            </a:solidFill>
            <a:ln w="19050" cap="sq">
              <a:solidFill>
                <a:srgbClr val="9B7CFF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2550140" y="3058668"/>
            <a:ext cx="2139696" cy="384048"/>
            <a:chOff x="0" y="0"/>
            <a:chExt cx="2852928" cy="51206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852928" cy="512064"/>
            </a:xfrm>
            <a:custGeom>
              <a:avLst/>
              <a:gdLst/>
              <a:ahLst/>
              <a:cxnLst/>
              <a:rect r="r" b="b" t="t" l="l"/>
              <a:pathLst>
                <a:path h="512064" w="2852928">
                  <a:moveTo>
                    <a:pt x="0" y="0"/>
                  </a:moveTo>
                  <a:lnTo>
                    <a:pt x="2852928" y="0"/>
                  </a:lnTo>
                  <a:lnTo>
                    <a:pt x="2852928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8559" r="0" b="-58559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2852928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07"/>
                </a:lnSpc>
              </a:pPr>
              <a:r>
                <a:rPr lang="en-US" sz="1589" spc="2">
                  <a:solidFill>
                    <a:srgbClr val="F7FA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LATENCY ECONOMICS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2550140" y="3607308"/>
            <a:ext cx="2139696" cy="384048"/>
            <a:chOff x="0" y="0"/>
            <a:chExt cx="2852928" cy="51206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852928" cy="512064"/>
            </a:xfrm>
            <a:custGeom>
              <a:avLst/>
              <a:gdLst/>
              <a:ahLst/>
              <a:cxnLst/>
              <a:rect r="r" b="b" t="t" l="l"/>
              <a:pathLst>
                <a:path h="512064" w="2852928">
                  <a:moveTo>
                    <a:pt x="0" y="0"/>
                  </a:moveTo>
                  <a:lnTo>
                    <a:pt x="2852928" y="0"/>
                  </a:lnTo>
                  <a:lnTo>
                    <a:pt x="2852928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8559" r="0" b="-58559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"/>
              <a:ext cx="2852928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 spc="2">
                  <a:solidFill>
                    <a:srgbClr val="B8C3D6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Mispricing短暫，Speed影響機會捕捉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5256383" y="2802255"/>
            <a:ext cx="2487930" cy="1390650"/>
            <a:chOff x="0" y="0"/>
            <a:chExt cx="3317240" cy="18542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317240" cy="1854200"/>
            </a:xfrm>
            <a:custGeom>
              <a:avLst/>
              <a:gdLst/>
              <a:ahLst/>
              <a:cxnLst/>
              <a:rect r="r" b="b" t="t" l="l"/>
              <a:pathLst>
                <a:path h="1854200" w="3317240">
                  <a:moveTo>
                    <a:pt x="0" y="92710"/>
                  </a:moveTo>
                  <a:cubicBezTo>
                    <a:pt x="0" y="41529"/>
                    <a:pt x="41529" y="0"/>
                    <a:pt x="92710" y="0"/>
                  </a:cubicBezTo>
                  <a:lnTo>
                    <a:pt x="3224530" y="0"/>
                  </a:lnTo>
                  <a:cubicBezTo>
                    <a:pt x="3275711" y="0"/>
                    <a:pt x="3317240" y="41529"/>
                    <a:pt x="3317240" y="92710"/>
                  </a:cubicBezTo>
                  <a:lnTo>
                    <a:pt x="3317240" y="1761490"/>
                  </a:lnTo>
                  <a:cubicBezTo>
                    <a:pt x="3317240" y="1812671"/>
                    <a:pt x="3275711" y="1854200"/>
                    <a:pt x="3224530" y="1854200"/>
                  </a:cubicBezTo>
                  <a:lnTo>
                    <a:pt x="92710" y="1854200"/>
                  </a:lnTo>
                  <a:cubicBezTo>
                    <a:pt x="41529" y="1854200"/>
                    <a:pt x="0" y="1812671"/>
                    <a:pt x="0" y="1761490"/>
                  </a:cubicBezTo>
                  <a:close/>
                </a:path>
              </a:pathLst>
            </a:custGeom>
            <a:solidFill>
              <a:srgbClr val="101B2F">
                <a:alpha val="95686"/>
              </a:srgbClr>
            </a:solidFill>
            <a:ln w="19050" cap="sq">
              <a:solidFill>
                <a:srgbClr val="FF657A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15430500" y="3058668"/>
            <a:ext cx="2139696" cy="384048"/>
            <a:chOff x="0" y="0"/>
            <a:chExt cx="2852928" cy="51206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852928" cy="512064"/>
            </a:xfrm>
            <a:custGeom>
              <a:avLst/>
              <a:gdLst/>
              <a:ahLst/>
              <a:cxnLst/>
              <a:rect r="r" b="b" t="t" l="l"/>
              <a:pathLst>
                <a:path h="512064" w="2852928">
                  <a:moveTo>
                    <a:pt x="0" y="0"/>
                  </a:moveTo>
                  <a:lnTo>
                    <a:pt x="2852928" y="0"/>
                  </a:lnTo>
                  <a:lnTo>
                    <a:pt x="2852928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8559" r="0" b="-58559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2852928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07"/>
                </a:lnSpc>
              </a:pPr>
              <a:r>
                <a:rPr lang="en-US" sz="1589" spc="2">
                  <a:solidFill>
                    <a:srgbClr val="F7FA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HFT PARTICIPATION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5430500" y="3607308"/>
            <a:ext cx="2139696" cy="384048"/>
            <a:chOff x="0" y="0"/>
            <a:chExt cx="2852928" cy="51206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852928" cy="512064"/>
            </a:xfrm>
            <a:custGeom>
              <a:avLst/>
              <a:gdLst/>
              <a:ahLst/>
              <a:cxnLst/>
              <a:rect r="r" b="b" t="t" l="l"/>
              <a:pathLst>
                <a:path h="512064" w="2852928">
                  <a:moveTo>
                    <a:pt x="0" y="0"/>
                  </a:moveTo>
                  <a:lnTo>
                    <a:pt x="2852928" y="0"/>
                  </a:lnTo>
                  <a:lnTo>
                    <a:pt x="2852928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8559" r="0" b="-58559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9525"/>
              <a:ext cx="2852928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 spc="2">
                  <a:solidFill>
                    <a:srgbClr val="B8C3D6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速度敏感策略成為市場力量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155382" y="5229034"/>
            <a:ext cx="16041243" cy="2105787"/>
            <a:chOff x="0" y="0"/>
            <a:chExt cx="21388324" cy="280771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1388324" cy="2807716"/>
            </a:xfrm>
            <a:custGeom>
              <a:avLst/>
              <a:gdLst/>
              <a:ahLst/>
              <a:cxnLst/>
              <a:rect r="r" b="b" t="t" l="l"/>
              <a:pathLst>
                <a:path h="2807716" w="21388324">
                  <a:moveTo>
                    <a:pt x="0" y="92329"/>
                  </a:moveTo>
                  <a:cubicBezTo>
                    <a:pt x="0" y="41402"/>
                    <a:pt x="41402" y="0"/>
                    <a:pt x="92329" y="0"/>
                  </a:cubicBezTo>
                  <a:lnTo>
                    <a:pt x="21295995" y="0"/>
                  </a:lnTo>
                  <a:cubicBezTo>
                    <a:pt x="21347049" y="0"/>
                    <a:pt x="21388324" y="41402"/>
                    <a:pt x="21388324" y="92329"/>
                  </a:cubicBezTo>
                  <a:lnTo>
                    <a:pt x="21388324" y="2715387"/>
                  </a:lnTo>
                  <a:cubicBezTo>
                    <a:pt x="21388324" y="2766441"/>
                    <a:pt x="21346922" y="2807716"/>
                    <a:pt x="21295995" y="2807716"/>
                  </a:cubicBezTo>
                  <a:lnTo>
                    <a:pt x="92329" y="2807716"/>
                  </a:lnTo>
                  <a:cubicBezTo>
                    <a:pt x="41275" y="2807716"/>
                    <a:pt x="0" y="2766314"/>
                    <a:pt x="0" y="2715387"/>
                  </a:cubicBezTo>
                  <a:close/>
                </a:path>
              </a:pathLst>
            </a:custGeom>
            <a:solidFill>
              <a:srgbClr val="17223A"/>
            </a:solidFill>
            <a:ln w="20955" cap="sq">
              <a:solidFill>
                <a:srgbClr val="F3C645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1536192" y="5554980"/>
            <a:ext cx="3017520" cy="301752"/>
            <a:chOff x="0" y="0"/>
            <a:chExt cx="4023360" cy="40233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023360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9525"/>
              <a:ext cx="402336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spc="2">
                  <a:solidFill>
                    <a:srgbClr val="F3C645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KOREA LESSON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536192" y="5705856"/>
            <a:ext cx="15430500" cy="1221364"/>
            <a:chOff x="0" y="0"/>
            <a:chExt cx="20574000" cy="1628485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0574000" cy="1628485"/>
            </a:xfrm>
            <a:custGeom>
              <a:avLst/>
              <a:gdLst/>
              <a:ahLst/>
              <a:cxnLst/>
              <a:rect r="r" b="b" t="t" l="l"/>
              <a:pathLst>
                <a:path h="1628485" w="20574000">
                  <a:moveTo>
                    <a:pt x="0" y="0"/>
                  </a:moveTo>
                  <a:lnTo>
                    <a:pt x="20574000" y="0"/>
                  </a:lnTo>
                  <a:lnTo>
                    <a:pt x="20574000" y="1628485"/>
                  </a:lnTo>
                  <a:lnTo>
                    <a:pt x="0" y="162848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7203" r="3555" b="-157632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9525"/>
              <a:ext cx="20574000" cy="1638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spc="4">
                  <a:solidFill>
                    <a:srgbClr val="F7FA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HFT demand can emerge from deep derivatives + professional execution complexity, even without US-style venue fragmentation.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536192" y="6912864"/>
            <a:ext cx="14813280" cy="274320"/>
            <a:chOff x="0" y="0"/>
            <a:chExt cx="19751040" cy="36576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9751039" cy="365760"/>
            </a:xfrm>
            <a:custGeom>
              <a:avLst/>
              <a:gdLst/>
              <a:ahLst/>
              <a:cxnLst/>
              <a:rect r="r" b="b" t="t" l="l"/>
              <a:pathLst>
                <a:path h="365760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02192" r="0" b="-1002192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0"/>
              <a:ext cx="19751040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spc="2">
                  <a:solidFill>
                    <a:srgbClr val="B8C3D6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對台灣的意義：不要只看股票現貨；期貨、選擇權、權證造市與現貨—期貨套利，可能更接近低延遲需求來源。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158240" y="7837932"/>
            <a:ext cx="16035528" cy="810768"/>
            <a:chOff x="0" y="0"/>
            <a:chExt cx="21380704" cy="1081024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1380704" cy="1081024"/>
            </a:xfrm>
            <a:custGeom>
              <a:avLst/>
              <a:gdLst/>
              <a:ahLst/>
              <a:cxnLst/>
              <a:rect r="r" b="b" t="t" l="l"/>
              <a:pathLst>
                <a:path h="1081024" w="21380704">
                  <a:moveTo>
                    <a:pt x="0" y="93218"/>
                  </a:moveTo>
                  <a:cubicBezTo>
                    <a:pt x="0" y="41783"/>
                    <a:pt x="41783" y="0"/>
                    <a:pt x="93218" y="0"/>
                  </a:cubicBezTo>
                  <a:lnTo>
                    <a:pt x="21287487" y="0"/>
                  </a:lnTo>
                  <a:cubicBezTo>
                    <a:pt x="21338922" y="0"/>
                    <a:pt x="21380704" y="41783"/>
                    <a:pt x="21380704" y="93218"/>
                  </a:cubicBezTo>
                  <a:lnTo>
                    <a:pt x="21380704" y="987806"/>
                  </a:lnTo>
                  <a:cubicBezTo>
                    <a:pt x="21380704" y="1039241"/>
                    <a:pt x="21338922" y="1081024"/>
                    <a:pt x="21287487" y="1081024"/>
                  </a:cubicBezTo>
                  <a:lnTo>
                    <a:pt x="93218" y="1081024"/>
                  </a:lnTo>
                  <a:cubicBezTo>
                    <a:pt x="41783" y="1081024"/>
                    <a:pt x="0" y="1039241"/>
                    <a:pt x="0" y="987806"/>
                  </a:cubicBezTo>
                  <a:close/>
                </a:path>
              </a:pathLst>
            </a:custGeom>
            <a:solidFill>
              <a:srgbClr val="101B2F"/>
            </a:solidFill>
            <a:ln w="15240" cap="sq">
              <a:solidFill>
                <a:srgbClr val="12D7FF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1481328" y="8133588"/>
            <a:ext cx="15361920" cy="219456"/>
            <a:chOff x="0" y="0"/>
            <a:chExt cx="20482560" cy="292608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0482561" cy="292608"/>
            </a:xfrm>
            <a:custGeom>
              <a:avLst/>
              <a:gdLst/>
              <a:ahLst/>
              <a:cxnLst/>
              <a:rect r="r" b="b" t="t" l="l"/>
              <a:pathLst>
                <a:path h="292608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13952" r="0" b="-1313952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9525"/>
              <a:ext cx="20482560" cy="3021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spc="3">
                  <a:solidFill>
                    <a:srgbClr val="F7FA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判斷重點｜Professional Demand 是否讓人工執行不再經濟？速度是否影響套利、避險或造市損益？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754380" y="9779508"/>
            <a:ext cx="16596360" cy="274320"/>
            <a:chOff x="0" y="0"/>
            <a:chExt cx="22128480" cy="36576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2128480" cy="365760"/>
            </a:xfrm>
            <a:custGeom>
              <a:avLst/>
              <a:gdLst/>
              <a:ahLst/>
              <a:cxnLst/>
              <a:rect r="r" b="b" t="t" l="l"/>
              <a:pathLst>
                <a:path h="36576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28844" r="0" b="-1128844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9525"/>
              <a:ext cx="22128480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87"/>
                </a:lnSpc>
              </a:pPr>
              <a:r>
                <a:rPr lang="en-US" sz="989" spc="1">
                  <a:solidFill>
                    <a:srgbClr val="8793A6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Sources: KRX program trading materials, KOSPI 200 derivatives studies, HFT research on KOSPI 200 Futures</a:t>
              </a:r>
            </a:p>
          </p:txBody>
        </p:sp>
      </p:grpSp>
      <p:sp>
        <p:nvSpPr>
          <p:cNvPr name="AutoShape 78" id="78"/>
          <p:cNvSpPr/>
          <p:nvPr/>
        </p:nvSpPr>
        <p:spPr>
          <a:xfrm flipV="true">
            <a:off x="3248867" y="3533705"/>
            <a:ext cx="405949" cy="0"/>
          </a:xfrm>
          <a:prstGeom prst="line">
            <a:avLst/>
          </a:prstGeom>
          <a:ln cap="rnd" w="19050">
            <a:solidFill>
              <a:srgbClr val="F3C645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79" id="79"/>
          <p:cNvSpPr/>
          <p:nvPr/>
        </p:nvSpPr>
        <p:spPr>
          <a:xfrm flipV="true">
            <a:off x="14860143" y="3533705"/>
            <a:ext cx="405949" cy="0"/>
          </a:xfrm>
          <a:prstGeom prst="line">
            <a:avLst/>
          </a:prstGeom>
          <a:ln cap="rnd" w="19050">
            <a:solidFill>
              <a:srgbClr val="F3C645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80" id="80"/>
          <p:cNvSpPr/>
          <p:nvPr/>
        </p:nvSpPr>
        <p:spPr>
          <a:xfrm flipV="true">
            <a:off x="11983593" y="3552755"/>
            <a:ext cx="405949" cy="0"/>
          </a:xfrm>
          <a:prstGeom prst="line">
            <a:avLst/>
          </a:prstGeom>
          <a:ln cap="rnd" w="19050">
            <a:solidFill>
              <a:srgbClr val="F3C645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81" id="81"/>
          <p:cNvSpPr/>
          <p:nvPr/>
        </p:nvSpPr>
        <p:spPr>
          <a:xfrm flipV="true">
            <a:off x="6209354" y="3543230"/>
            <a:ext cx="405949" cy="0"/>
          </a:xfrm>
          <a:prstGeom prst="line">
            <a:avLst/>
          </a:prstGeom>
          <a:ln cap="rnd" w="19050">
            <a:solidFill>
              <a:srgbClr val="F3C645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82" id="82"/>
          <p:cNvSpPr/>
          <p:nvPr/>
        </p:nvSpPr>
        <p:spPr>
          <a:xfrm flipV="true">
            <a:off x="9089714" y="3533705"/>
            <a:ext cx="405949" cy="0"/>
          </a:xfrm>
          <a:prstGeom prst="line">
            <a:avLst/>
          </a:prstGeom>
          <a:ln cap="rnd" w="19050">
            <a:solidFill>
              <a:srgbClr val="F3C645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07695" y="470535"/>
            <a:ext cx="87630" cy="979170"/>
            <a:chOff x="0" y="0"/>
            <a:chExt cx="116840" cy="13055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6840" cy="1305560"/>
            </a:xfrm>
            <a:custGeom>
              <a:avLst/>
              <a:gdLst/>
              <a:ahLst/>
              <a:cxnLst/>
              <a:rect r="r" b="b" t="t" l="l"/>
              <a:pathLst>
                <a:path h="1305560" w="116840">
                  <a:moveTo>
                    <a:pt x="0" y="0"/>
                  </a:moveTo>
                  <a:lnTo>
                    <a:pt x="116840" y="0"/>
                  </a:lnTo>
                  <a:lnTo>
                    <a:pt x="116840" y="1305560"/>
                  </a:lnTo>
                  <a:lnTo>
                    <a:pt x="0" y="1305560"/>
                  </a:lnTo>
                  <a:close/>
                </a:path>
              </a:pathLst>
            </a:custGeom>
            <a:solidFill>
              <a:srgbClr val="F3C645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850392" y="864108"/>
            <a:ext cx="16253460" cy="617220"/>
            <a:chOff x="0" y="0"/>
            <a:chExt cx="21671280" cy="8229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671280" cy="822960"/>
            </a:xfrm>
            <a:custGeom>
              <a:avLst/>
              <a:gdLst/>
              <a:ahLst/>
              <a:cxnLst/>
              <a:rect r="r" b="b" t="t" l="l"/>
              <a:pathLst>
                <a:path h="822960" w="21671280">
                  <a:moveTo>
                    <a:pt x="0" y="0"/>
                  </a:moveTo>
                  <a:lnTo>
                    <a:pt x="21671280" y="0"/>
                  </a:lnTo>
                  <a:lnTo>
                    <a:pt x="216712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3105" r="0" b="-46310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671280" cy="832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230"/>
                </a:lnSpc>
              </a:pPr>
              <a:r>
                <a:rPr lang="en-US" sz="3525" spc="5">
                  <a:solidFill>
                    <a:srgbClr val="F7FA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Infrastructure 如何真的轉化成 Algo Adoption？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50392" y="1549908"/>
            <a:ext cx="16116300" cy="452628"/>
            <a:chOff x="0" y="0"/>
            <a:chExt cx="21488400" cy="6035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488400" cy="603504"/>
            </a:xfrm>
            <a:custGeom>
              <a:avLst/>
              <a:gdLst/>
              <a:ahLst/>
              <a:cxnLst/>
              <a:rect r="r" b="b" t="t" l="l"/>
              <a:pathLst>
                <a:path h="603504" w="21488400">
                  <a:moveTo>
                    <a:pt x="0" y="0"/>
                  </a:moveTo>
                  <a:lnTo>
                    <a:pt x="21488400" y="0"/>
                  </a:lnTo>
                  <a:lnTo>
                    <a:pt x="21488400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43785" r="0" b="-64378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1488400" cy="6035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spc="2">
                  <a:solidFill>
                    <a:srgbClr val="B8C3D6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印度真正值得看的是：有 DMA / CoLo 之後，這些能力被大量專業交易 Flow 採用。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78027" y="2349627"/>
            <a:ext cx="5162550" cy="3832098"/>
            <a:chOff x="0" y="0"/>
            <a:chExt cx="6883400" cy="510946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883400" cy="5109464"/>
            </a:xfrm>
            <a:custGeom>
              <a:avLst/>
              <a:gdLst/>
              <a:ahLst/>
              <a:cxnLst/>
              <a:rect r="r" b="b" t="t" l="l"/>
              <a:pathLst>
                <a:path h="5109464" w="6883400">
                  <a:moveTo>
                    <a:pt x="0" y="91948"/>
                  </a:moveTo>
                  <a:cubicBezTo>
                    <a:pt x="0" y="41148"/>
                    <a:pt x="41148" y="0"/>
                    <a:pt x="91948" y="0"/>
                  </a:cubicBezTo>
                  <a:lnTo>
                    <a:pt x="6791452" y="0"/>
                  </a:lnTo>
                  <a:cubicBezTo>
                    <a:pt x="6842252" y="0"/>
                    <a:pt x="6883400" y="41148"/>
                    <a:pt x="6883400" y="91948"/>
                  </a:cubicBezTo>
                  <a:lnTo>
                    <a:pt x="6883400" y="5017516"/>
                  </a:lnTo>
                  <a:cubicBezTo>
                    <a:pt x="6883400" y="5068316"/>
                    <a:pt x="6842252" y="5109464"/>
                    <a:pt x="6791452" y="5109464"/>
                  </a:cubicBezTo>
                  <a:lnTo>
                    <a:pt x="91948" y="5109464"/>
                  </a:lnTo>
                  <a:cubicBezTo>
                    <a:pt x="41148" y="5109464"/>
                    <a:pt x="0" y="5068316"/>
                    <a:pt x="0" y="5017516"/>
                  </a:cubicBezTo>
                  <a:close/>
                </a:path>
              </a:pathLst>
            </a:custGeom>
            <a:solidFill>
              <a:srgbClr val="101B2F">
                <a:alpha val="93725"/>
              </a:srgbClr>
            </a:solidFill>
            <a:ln w="19050" cap="sq">
              <a:solidFill>
                <a:srgbClr val="12D7FF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234440" y="2606040"/>
            <a:ext cx="685800" cy="452628"/>
            <a:chOff x="0" y="0"/>
            <a:chExt cx="914400" cy="60350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603504"/>
            </a:xfrm>
            <a:custGeom>
              <a:avLst/>
              <a:gdLst/>
              <a:ahLst/>
              <a:cxnLst/>
              <a:rect r="r" b="b" t="t" l="l"/>
              <a:pathLst>
                <a:path h="603504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4680" t="0" r="-3468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914400" cy="6130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 spc="4">
                  <a:solidFill>
                    <a:srgbClr val="12D7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01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043684" y="2660904"/>
            <a:ext cx="3703320" cy="384048"/>
            <a:chOff x="0" y="0"/>
            <a:chExt cx="4937760" cy="51206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937760" cy="512064"/>
            </a:xfrm>
            <a:custGeom>
              <a:avLst/>
              <a:gdLst/>
              <a:ahLst/>
              <a:cxnLst/>
              <a:rect r="r" b="b" t="t" l="l"/>
              <a:pathLst>
                <a:path h="512064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7891" r="0" b="-13789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4937760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spc="3">
                  <a:solidFill>
                    <a:srgbClr val="F7FA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BUILD ACCESS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 rot="15420">
            <a:off x="1223943" y="3287078"/>
            <a:ext cx="4670727" cy="0"/>
          </a:xfrm>
          <a:prstGeom prst="line">
            <a:avLst/>
          </a:prstGeom>
          <a:ln cap="rnd" w="9525">
            <a:solidFill>
              <a:srgbClr val="12D7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289304" y="3703320"/>
            <a:ext cx="205740" cy="274320"/>
            <a:chOff x="0" y="0"/>
            <a:chExt cx="274320" cy="3657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74320" cy="365760"/>
            </a:xfrm>
            <a:custGeom>
              <a:avLst/>
              <a:gdLst/>
              <a:ahLst/>
              <a:cxnLst/>
              <a:rect r="r" b="b" t="t" l="l"/>
              <a:pathLst>
                <a:path h="365760" w="274320">
                  <a:moveTo>
                    <a:pt x="0" y="0"/>
                  </a:moveTo>
                  <a:lnTo>
                    <a:pt x="274320" y="0"/>
                  </a:lnTo>
                  <a:lnTo>
                    <a:pt x="27432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21071" t="0" r="-121071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274320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15"/>
                </a:lnSpc>
              </a:pPr>
              <a:r>
                <a:rPr lang="en-US" sz="1679" spc="2">
                  <a:solidFill>
                    <a:srgbClr val="F3C645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•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563624" y="3730752"/>
            <a:ext cx="4265676" cy="274320"/>
            <a:chOff x="0" y="0"/>
            <a:chExt cx="5687568" cy="3657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687568" cy="365760"/>
            </a:xfrm>
            <a:custGeom>
              <a:avLst/>
              <a:gdLst/>
              <a:ahLst/>
              <a:cxnLst/>
              <a:rect r="r" b="b" t="t" l="l"/>
              <a:pathLst>
                <a:path h="365760" w="5687568">
                  <a:moveTo>
                    <a:pt x="0" y="0"/>
                  </a:moveTo>
                  <a:lnTo>
                    <a:pt x="5687568" y="0"/>
                  </a:lnTo>
                  <a:lnTo>
                    <a:pt x="5687568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2992" r="0" b="-25299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5687568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36"/>
                </a:lnSpc>
              </a:pPr>
              <a:r>
                <a:rPr lang="en-US" sz="1530" spc="2">
                  <a:solidFill>
                    <a:srgbClr val="F7FA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1994｜NSE全電子市場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89304" y="4210812"/>
            <a:ext cx="205740" cy="274320"/>
            <a:chOff x="0" y="0"/>
            <a:chExt cx="274320" cy="3657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74320" cy="365760"/>
            </a:xfrm>
            <a:custGeom>
              <a:avLst/>
              <a:gdLst/>
              <a:ahLst/>
              <a:cxnLst/>
              <a:rect r="r" b="b" t="t" l="l"/>
              <a:pathLst>
                <a:path h="365760" w="274320">
                  <a:moveTo>
                    <a:pt x="0" y="0"/>
                  </a:moveTo>
                  <a:lnTo>
                    <a:pt x="274320" y="0"/>
                  </a:lnTo>
                  <a:lnTo>
                    <a:pt x="27432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21071" t="0" r="-121071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274320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15"/>
                </a:lnSpc>
              </a:pPr>
              <a:r>
                <a:rPr lang="en-US" sz="1679" spc="2">
                  <a:solidFill>
                    <a:srgbClr val="F3C645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•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563624" y="4238244"/>
            <a:ext cx="4265676" cy="274320"/>
            <a:chOff x="0" y="0"/>
            <a:chExt cx="5687568" cy="3657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687568" cy="365760"/>
            </a:xfrm>
            <a:custGeom>
              <a:avLst/>
              <a:gdLst/>
              <a:ahLst/>
              <a:cxnLst/>
              <a:rect r="r" b="b" t="t" l="l"/>
              <a:pathLst>
                <a:path h="365760" w="5687568">
                  <a:moveTo>
                    <a:pt x="0" y="0"/>
                  </a:moveTo>
                  <a:lnTo>
                    <a:pt x="5687568" y="0"/>
                  </a:lnTo>
                  <a:lnTo>
                    <a:pt x="5687568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2992" r="0" b="-252992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5687568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36"/>
                </a:lnSpc>
              </a:pPr>
              <a:r>
                <a:rPr lang="en-US" sz="1530" spc="2">
                  <a:solidFill>
                    <a:srgbClr val="F7FA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Internet / CTCL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89304" y="4718304"/>
            <a:ext cx="205740" cy="274320"/>
            <a:chOff x="0" y="0"/>
            <a:chExt cx="274320" cy="3657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74320" cy="365760"/>
            </a:xfrm>
            <a:custGeom>
              <a:avLst/>
              <a:gdLst/>
              <a:ahLst/>
              <a:cxnLst/>
              <a:rect r="r" b="b" t="t" l="l"/>
              <a:pathLst>
                <a:path h="365760" w="274320">
                  <a:moveTo>
                    <a:pt x="0" y="0"/>
                  </a:moveTo>
                  <a:lnTo>
                    <a:pt x="274320" y="0"/>
                  </a:lnTo>
                  <a:lnTo>
                    <a:pt x="27432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21071" t="0" r="-121071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274320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15"/>
                </a:lnSpc>
              </a:pPr>
              <a:r>
                <a:rPr lang="en-US" sz="1679" spc="2">
                  <a:solidFill>
                    <a:srgbClr val="F3C645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•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563624" y="4745736"/>
            <a:ext cx="4265676" cy="274320"/>
            <a:chOff x="0" y="0"/>
            <a:chExt cx="5687568" cy="3657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687568" cy="365760"/>
            </a:xfrm>
            <a:custGeom>
              <a:avLst/>
              <a:gdLst/>
              <a:ahLst/>
              <a:cxnLst/>
              <a:rect r="r" b="b" t="t" l="l"/>
              <a:pathLst>
                <a:path h="365760" w="5687568">
                  <a:moveTo>
                    <a:pt x="0" y="0"/>
                  </a:moveTo>
                  <a:lnTo>
                    <a:pt x="5687568" y="0"/>
                  </a:lnTo>
                  <a:lnTo>
                    <a:pt x="5687568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2992" r="0" b="-25299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5687568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36"/>
                </a:lnSpc>
              </a:pPr>
              <a:r>
                <a:rPr lang="en-US" sz="1530" spc="2">
                  <a:solidFill>
                    <a:srgbClr val="F7FA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2008｜DMA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252347" y="5545455"/>
            <a:ext cx="4613910" cy="403098"/>
            <a:chOff x="0" y="0"/>
            <a:chExt cx="6151880" cy="53746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151880" cy="537464"/>
            </a:xfrm>
            <a:custGeom>
              <a:avLst/>
              <a:gdLst/>
              <a:ahLst/>
              <a:cxnLst/>
              <a:rect r="r" b="b" t="t" l="l"/>
              <a:pathLst>
                <a:path h="537464" w="6151880">
                  <a:moveTo>
                    <a:pt x="0" y="0"/>
                  </a:moveTo>
                  <a:lnTo>
                    <a:pt x="6151880" y="0"/>
                  </a:lnTo>
                  <a:lnTo>
                    <a:pt x="6151880" y="537464"/>
                  </a:lnTo>
                  <a:lnTo>
                    <a:pt x="0" y="537464"/>
                  </a:lnTo>
                  <a:close/>
                </a:path>
              </a:pathLst>
            </a:custGeom>
            <a:solidFill>
              <a:srgbClr val="F3C645">
                <a:alpha val="80784"/>
              </a:srgbClr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426464" y="5678424"/>
            <a:ext cx="4265676" cy="109728"/>
            <a:chOff x="0" y="0"/>
            <a:chExt cx="5687568" cy="14630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687568" cy="146304"/>
            </a:xfrm>
            <a:custGeom>
              <a:avLst/>
              <a:gdLst/>
              <a:ahLst/>
              <a:cxnLst/>
              <a:rect r="r" b="b" t="t" l="l"/>
              <a:pathLst>
                <a:path h="146304" w="5687568">
                  <a:moveTo>
                    <a:pt x="0" y="0"/>
                  </a:moveTo>
                  <a:lnTo>
                    <a:pt x="5687568" y="0"/>
                  </a:lnTo>
                  <a:lnTo>
                    <a:pt x="5687568" y="146304"/>
                  </a:lnTo>
                  <a:lnTo>
                    <a:pt x="0" y="1463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07480" r="0" b="-70748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5687568" cy="1558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12"/>
                </a:lnSpc>
              </a:pPr>
              <a:r>
                <a:rPr lang="en-US" sz="1260" spc="2">
                  <a:solidFill>
                    <a:srgbClr val="111111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市場先建立可遠端、可擴張的接入能力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6601587" y="2349627"/>
            <a:ext cx="5162550" cy="3832098"/>
            <a:chOff x="0" y="0"/>
            <a:chExt cx="6883400" cy="510946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883400" cy="5109464"/>
            </a:xfrm>
            <a:custGeom>
              <a:avLst/>
              <a:gdLst/>
              <a:ahLst/>
              <a:cxnLst/>
              <a:rect r="r" b="b" t="t" l="l"/>
              <a:pathLst>
                <a:path h="5109464" w="6883400">
                  <a:moveTo>
                    <a:pt x="0" y="91948"/>
                  </a:moveTo>
                  <a:cubicBezTo>
                    <a:pt x="0" y="41148"/>
                    <a:pt x="41148" y="0"/>
                    <a:pt x="91948" y="0"/>
                  </a:cubicBezTo>
                  <a:lnTo>
                    <a:pt x="6791452" y="0"/>
                  </a:lnTo>
                  <a:cubicBezTo>
                    <a:pt x="6842252" y="0"/>
                    <a:pt x="6883400" y="41148"/>
                    <a:pt x="6883400" y="91948"/>
                  </a:cubicBezTo>
                  <a:lnTo>
                    <a:pt x="6883400" y="5017516"/>
                  </a:lnTo>
                  <a:cubicBezTo>
                    <a:pt x="6883400" y="5068316"/>
                    <a:pt x="6842252" y="5109464"/>
                    <a:pt x="6791452" y="5109464"/>
                  </a:cubicBezTo>
                  <a:lnTo>
                    <a:pt x="91948" y="5109464"/>
                  </a:lnTo>
                  <a:cubicBezTo>
                    <a:pt x="41148" y="5109464"/>
                    <a:pt x="0" y="5068316"/>
                    <a:pt x="0" y="5017516"/>
                  </a:cubicBezTo>
                  <a:close/>
                </a:path>
              </a:pathLst>
            </a:custGeom>
            <a:solidFill>
              <a:srgbClr val="101B2F">
                <a:alpha val="93725"/>
              </a:srgbClr>
            </a:solidFill>
            <a:ln w="19050" cap="sq">
              <a:solidFill>
                <a:srgbClr val="F3C645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6858000" y="2606040"/>
            <a:ext cx="685800" cy="452628"/>
            <a:chOff x="0" y="0"/>
            <a:chExt cx="914400" cy="60350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14400" cy="603504"/>
            </a:xfrm>
            <a:custGeom>
              <a:avLst/>
              <a:gdLst/>
              <a:ahLst/>
              <a:cxnLst/>
              <a:rect r="r" b="b" t="t" l="l"/>
              <a:pathLst>
                <a:path h="603504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4680" t="0" r="-34680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914400" cy="6130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 spc="4">
                  <a:solidFill>
                    <a:srgbClr val="F3C645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02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7667244" y="2660904"/>
            <a:ext cx="3703320" cy="384048"/>
            <a:chOff x="0" y="0"/>
            <a:chExt cx="4937760" cy="51206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937760" cy="512064"/>
            </a:xfrm>
            <a:custGeom>
              <a:avLst/>
              <a:gdLst/>
              <a:ahLst/>
              <a:cxnLst/>
              <a:rect r="r" b="b" t="t" l="l"/>
              <a:pathLst>
                <a:path h="512064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7891" r="0" b="-13789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"/>
              <a:ext cx="4937760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spc="3">
                  <a:solidFill>
                    <a:srgbClr val="F7FA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REMOVE FRICTIONS</a:t>
              </a:r>
            </a:p>
          </p:txBody>
        </p:sp>
      </p:grpSp>
      <p:sp>
        <p:nvSpPr>
          <p:cNvPr name="AutoShape 51" id="51"/>
          <p:cNvSpPr/>
          <p:nvPr/>
        </p:nvSpPr>
        <p:spPr>
          <a:xfrm rot="15420">
            <a:off x="6847503" y="3287078"/>
            <a:ext cx="4670727" cy="0"/>
          </a:xfrm>
          <a:prstGeom prst="line">
            <a:avLst/>
          </a:prstGeom>
          <a:ln cap="rnd" w="9525">
            <a:solidFill>
              <a:srgbClr val="F3C64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2" id="52"/>
          <p:cNvGrpSpPr/>
          <p:nvPr/>
        </p:nvGrpSpPr>
        <p:grpSpPr>
          <a:xfrm rot="0">
            <a:off x="6912864" y="3703320"/>
            <a:ext cx="205740" cy="274320"/>
            <a:chOff x="0" y="0"/>
            <a:chExt cx="274320" cy="36576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74320" cy="365760"/>
            </a:xfrm>
            <a:custGeom>
              <a:avLst/>
              <a:gdLst/>
              <a:ahLst/>
              <a:cxnLst/>
              <a:rect r="r" b="b" t="t" l="l"/>
              <a:pathLst>
                <a:path h="365760" w="274320">
                  <a:moveTo>
                    <a:pt x="0" y="0"/>
                  </a:moveTo>
                  <a:lnTo>
                    <a:pt x="274320" y="0"/>
                  </a:lnTo>
                  <a:lnTo>
                    <a:pt x="27432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21071" t="0" r="-121071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274320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15"/>
                </a:lnSpc>
              </a:pPr>
              <a:r>
                <a:rPr lang="en-US" sz="1679" spc="2">
                  <a:solidFill>
                    <a:srgbClr val="F3C645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•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7187184" y="3730752"/>
            <a:ext cx="4265676" cy="274320"/>
            <a:chOff x="0" y="0"/>
            <a:chExt cx="5687568" cy="36576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687568" cy="365760"/>
            </a:xfrm>
            <a:custGeom>
              <a:avLst/>
              <a:gdLst/>
              <a:ahLst/>
              <a:cxnLst/>
              <a:rect r="r" b="b" t="t" l="l"/>
              <a:pathLst>
                <a:path h="365760" w="5687568">
                  <a:moveTo>
                    <a:pt x="0" y="0"/>
                  </a:moveTo>
                  <a:lnTo>
                    <a:pt x="5687568" y="0"/>
                  </a:lnTo>
                  <a:lnTo>
                    <a:pt x="5687568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2992" r="0" b="-252992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9525"/>
              <a:ext cx="5687568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36"/>
                </a:lnSpc>
              </a:pPr>
              <a:r>
                <a:rPr lang="en-US" sz="1530" spc="2">
                  <a:solidFill>
                    <a:srgbClr val="F7FA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DMA降低人工介入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6912864" y="4210812"/>
            <a:ext cx="205740" cy="274320"/>
            <a:chOff x="0" y="0"/>
            <a:chExt cx="274320" cy="36576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74320" cy="365760"/>
            </a:xfrm>
            <a:custGeom>
              <a:avLst/>
              <a:gdLst/>
              <a:ahLst/>
              <a:cxnLst/>
              <a:rect r="r" b="b" t="t" l="l"/>
              <a:pathLst>
                <a:path h="365760" w="274320">
                  <a:moveTo>
                    <a:pt x="0" y="0"/>
                  </a:moveTo>
                  <a:lnTo>
                    <a:pt x="274320" y="0"/>
                  </a:lnTo>
                  <a:lnTo>
                    <a:pt x="27432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21071" t="0" r="-121071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9525"/>
              <a:ext cx="274320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15"/>
                </a:lnSpc>
              </a:pPr>
              <a:r>
                <a:rPr lang="en-US" sz="1679" spc="2">
                  <a:solidFill>
                    <a:srgbClr val="F3C645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•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7187184" y="4238244"/>
            <a:ext cx="4265676" cy="274320"/>
            <a:chOff x="0" y="0"/>
            <a:chExt cx="5687568" cy="36576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5687568" cy="365760"/>
            </a:xfrm>
            <a:custGeom>
              <a:avLst/>
              <a:gdLst/>
              <a:ahLst/>
              <a:cxnLst/>
              <a:rect r="r" b="b" t="t" l="l"/>
              <a:pathLst>
                <a:path h="365760" w="5687568">
                  <a:moveTo>
                    <a:pt x="0" y="0"/>
                  </a:moveTo>
                  <a:lnTo>
                    <a:pt x="5687568" y="0"/>
                  </a:lnTo>
                  <a:lnTo>
                    <a:pt x="5687568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2992" r="0" b="-252992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9525"/>
              <a:ext cx="5687568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36"/>
                </a:lnSpc>
              </a:pPr>
              <a:r>
                <a:rPr lang="en-US" sz="1530" spc="2">
                  <a:solidFill>
                    <a:srgbClr val="F7FA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Co-location降低網路延遲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6912864" y="4718304"/>
            <a:ext cx="205740" cy="274320"/>
            <a:chOff x="0" y="0"/>
            <a:chExt cx="274320" cy="36576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74320" cy="365760"/>
            </a:xfrm>
            <a:custGeom>
              <a:avLst/>
              <a:gdLst/>
              <a:ahLst/>
              <a:cxnLst/>
              <a:rect r="r" b="b" t="t" l="l"/>
              <a:pathLst>
                <a:path h="365760" w="274320">
                  <a:moveTo>
                    <a:pt x="0" y="0"/>
                  </a:moveTo>
                  <a:lnTo>
                    <a:pt x="274320" y="0"/>
                  </a:lnTo>
                  <a:lnTo>
                    <a:pt x="27432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21071" t="0" r="-121071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9525"/>
              <a:ext cx="274320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15"/>
                </a:lnSpc>
              </a:pPr>
              <a:r>
                <a:rPr lang="en-US" sz="1679" spc="2">
                  <a:solidFill>
                    <a:srgbClr val="F3C645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•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7187184" y="4745736"/>
            <a:ext cx="4265676" cy="274320"/>
            <a:chOff x="0" y="0"/>
            <a:chExt cx="5687568" cy="36576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5687568" cy="365760"/>
            </a:xfrm>
            <a:custGeom>
              <a:avLst/>
              <a:gdLst/>
              <a:ahLst/>
              <a:cxnLst/>
              <a:rect r="r" b="b" t="t" l="l"/>
              <a:pathLst>
                <a:path h="365760" w="5687568">
                  <a:moveTo>
                    <a:pt x="0" y="0"/>
                  </a:moveTo>
                  <a:lnTo>
                    <a:pt x="5687568" y="0"/>
                  </a:lnTo>
                  <a:lnTo>
                    <a:pt x="5687568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2992" r="0" b="-252992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9525"/>
              <a:ext cx="5687568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36"/>
                </a:lnSpc>
              </a:pPr>
              <a:r>
                <a:rPr lang="en-US" sz="1530" spc="2">
                  <a:solidFill>
                    <a:srgbClr val="F7FA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API / Vendor / Test ecosystem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6875907" y="5545455"/>
            <a:ext cx="4613910" cy="403098"/>
            <a:chOff x="0" y="0"/>
            <a:chExt cx="6151880" cy="537464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6151880" cy="537464"/>
            </a:xfrm>
            <a:custGeom>
              <a:avLst/>
              <a:gdLst/>
              <a:ahLst/>
              <a:cxnLst/>
              <a:rect r="r" b="b" t="t" l="l"/>
              <a:pathLst>
                <a:path h="537464" w="6151880">
                  <a:moveTo>
                    <a:pt x="0" y="0"/>
                  </a:moveTo>
                  <a:lnTo>
                    <a:pt x="6151880" y="0"/>
                  </a:lnTo>
                  <a:lnTo>
                    <a:pt x="6151880" y="537464"/>
                  </a:lnTo>
                  <a:lnTo>
                    <a:pt x="0" y="537464"/>
                  </a:lnTo>
                  <a:close/>
                </a:path>
              </a:pathLst>
            </a:custGeom>
            <a:solidFill>
              <a:srgbClr val="F3C645">
                <a:alpha val="80784"/>
              </a:srgbClr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7050024" y="5678424"/>
            <a:ext cx="4265676" cy="109728"/>
            <a:chOff x="0" y="0"/>
            <a:chExt cx="5687568" cy="146304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5687568" cy="146304"/>
            </a:xfrm>
            <a:custGeom>
              <a:avLst/>
              <a:gdLst/>
              <a:ahLst/>
              <a:cxnLst/>
              <a:rect r="r" b="b" t="t" l="l"/>
              <a:pathLst>
                <a:path h="146304" w="5687568">
                  <a:moveTo>
                    <a:pt x="0" y="0"/>
                  </a:moveTo>
                  <a:lnTo>
                    <a:pt x="5687568" y="0"/>
                  </a:lnTo>
                  <a:lnTo>
                    <a:pt x="5687568" y="146304"/>
                  </a:lnTo>
                  <a:lnTo>
                    <a:pt x="0" y="1463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07480" r="0" b="-70748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9525"/>
              <a:ext cx="5687568" cy="1558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12"/>
                </a:lnSpc>
              </a:pPr>
              <a:r>
                <a:rPr lang="en-US" sz="1260" spc="2">
                  <a:solidFill>
                    <a:srgbClr val="111111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接入與延遲摩擦降低，專業客戶更容易導入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2225147" y="2349627"/>
            <a:ext cx="5162550" cy="3832098"/>
            <a:chOff x="0" y="0"/>
            <a:chExt cx="6883400" cy="5109464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883400" cy="5109464"/>
            </a:xfrm>
            <a:custGeom>
              <a:avLst/>
              <a:gdLst/>
              <a:ahLst/>
              <a:cxnLst/>
              <a:rect r="r" b="b" t="t" l="l"/>
              <a:pathLst>
                <a:path h="5109464" w="6883400">
                  <a:moveTo>
                    <a:pt x="0" y="91948"/>
                  </a:moveTo>
                  <a:cubicBezTo>
                    <a:pt x="0" y="41148"/>
                    <a:pt x="41148" y="0"/>
                    <a:pt x="91948" y="0"/>
                  </a:cubicBezTo>
                  <a:lnTo>
                    <a:pt x="6791452" y="0"/>
                  </a:lnTo>
                  <a:cubicBezTo>
                    <a:pt x="6842252" y="0"/>
                    <a:pt x="6883400" y="41148"/>
                    <a:pt x="6883400" y="91948"/>
                  </a:cubicBezTo>
                  <a:lnTo>
                    <a:pt x="6883400" y="5017516"/>
                  </a:lnTo>
                  <a:cubicBezTo>
                    <a:pt x="6883400" y="5068316"/>
                    <a:pt x="6842252" y="5109464"/>
                    <a:pt x="6791452" y="5109464"/>
                  </a:cubicBezTo>
                  <a:lnTo>
                    <a:pt x="91948" y="5109464"/>
                  </a:lnTo>
                  <a:cubicBezTo>
                    <a:pt x="41148" y="5109464"/>
                    <a:pt x="0" y="5068316"/>
                    <a:pt x="0" y="5017516"/>
                  </a:cubicBezTo>
                  <a:close/>
                </a:path>
              </a:pathLst>
            </a:custGeom>
            <a:solidFill>
              <a:srgbClr val="101B2F">
                <a:alpha val="93725"/>
              </a:srgbClr>
            </a:solidFill>
            <a:ln w="19050" cap="sq">
              <a:solidFill>
                <a:srgbClr val="6FE8B9"/>
              </a:solidFill>
              <a:prstDash val="solid"/>
              <a:miter/>
            </a:ln>
          </p:spPr>
        </p:sp>
      </p:grpSp>
      <p:grpSp>
        <p:nvGrpSpPr>
          <p:cNvPr name="Group 77" id="77"/>
          <p:cNvGrpSpPr/>
          <p:nvPr/>
        </p:nvGrpSpPr>
        <p:grpSpPr>
          <a:xfrm rot="0">
            <a:off x="12481560" y="2606040"/>
            <a:ext cx="685800" cy="452628"/>
            <a:chOff x="0" y="0"/>
            <a:chExt cx="914400" cy="603504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914400" cy="603504"/>
            </a:xfrm>
            <a:custGeom>
              <a:avLst/>
              <a:gdLst/>
              <a:ahLst/>
              <a:cxnLst/>
              <a:rect r="r" b="b" t="t" l="l"/>
              <a:pathLst>
                <a:path h="603504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4680" t="0" r="-34680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9525"/>
              <a:ext cx="914400" cy="6130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 spc="4">
                  <a:solidFill>
                    <a:srgbClr val="6FE8B9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03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3290804" y="2660904"/>
            <a:ext cx="3703320" cy="384048"/>
            <a:chOff x="0" y="0"/>
            <a:chExt cx="4937760" cy="512064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937760" cy="512064"/>
            </a:xfrm>
            <a:custGeom>
              <a:avLst/>
              <a:gdLst/>
              <a:ahLst/>
              <a:cxnLst/>
              <a:rect r="r" b="b" t="t" l="l"/>
              <a:pathLst>
                <a:path h="512064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7891" r="0" b="-137891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9525"/>
              <a:ext cx="4937760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spc="3">
                  <a:solidFill>
                    <a:srgbClr val="F7FA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ACTUAL ADOPTION</a:t>
              </a:r>
            </a:p>
          </p:txBody>
        </p:sp>
      </p:grpSp>
      <p:sp>
        <p:nvSpPr>
          <p:cNvPr name="AutoShape 83" id="83"/>
          <p:cNvSpPr/>
          <p:nvPr/>
        </p:nvSpPr>
        <p:spPr>
          <a:xfrm rot="15420">
            <a:off x="12471063" y="3287078"/>
            <a:ext cx="4670727" cy="0"/>
          </a:xfrm>
          <a:prstGeom prst="line">
            <a:avLst/>
          </a:prstGeom>
          <a:ln cap="rnd" w="9525">
            <a:solidFill>
              <a:srgbClr val="6FE8B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4" id="84"/>
          <p:cNvGrpSpPr/>
          <p:nvPr/>
        </p:nvGrpSpPr>
        <p:grpSpPr>
          <a:xfrm rot="0">
            <a:off x="12536424" y="3703320"/>
            <a:ext cx="205740" cy="274320"/>
            <a:chOff x="0" y="0"/>
            <a:chExt cx="274320" cy="36576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74320" cy="365760"/>
            </a:xfrm>
            <a:custGeom>
              <a:avLst/>
              <a:gdLst/>
              <a:ahLst/>
              <a:cxnLst/>
              <a:rect r="r" b="b" t="t" l="l"/>
              <a:pathLst>
                <a:path h="365760" w="274320">
                  <a:moveTo>
                    <a:pt x="0" y="0"/>
                  </a:moveTo>
                  <a:lnTo>
                    <a:pt x="274320" y="0"/>
                  </a:lnTo>
                  <a:lnTo>
                    <a:pt x="27432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21071" t="0" r="-121071" b="0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9525"/>
              <a:ext cx="274320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15"/>
                </a:lnSpc>
              </a:pPr>
              <a:r>
                <a:rPr lang="en-US" sz="1679" spc="2">
                  <a:solidFill>
                    <a:srgbClr val="F3C645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•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2810744" y="3730752"/>
            <a:ext cx="4265676" cy="274320"/>
            <a:chOff x="0" y="0"/>
            <a:chExt cx="5687568" cy="36576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5687568" cy="365760"/>
            </a:xfrm>
            <a:custGeom>
              <a:avLst/>
              <a:gdLst/>
              <a:ahLst/>
              <a:cxnLst/>
              <a:rect r="r" b="b" t="t" l="l"/>
              <a:pathLst>
                <a:path h="365760" w="5687568">
                  <a:moveTo>
                    <a:pt x="0" y="0"/>
                  </a:moveTo>
                  <a:lnTo>
                    <a:pt x="5687568" y="0"/>
                  </a:lnTo>
                  <a:lnTo>
                    <a:pt x="5687568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2992" r="0" b="-252992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9525"/>
              <a:ext cx="5687568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36"/>
                </a:lnSpc>
              </a:pPr>
              <a:r>
                <a:rPr lang="en-US" sz="1530" spc="2">
                  <a:solidFill>
                    <a:srgbClr val="F7FA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Cash Algo share上升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2536424" y="4210812"/>
            <a:ext cx="205740" cy="274320"/>
            <a:chOff x="0" y="0"/>
            <a:chExt cx="274320" cy="36576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274320" cy="365760"/>
            </a:xfrm>
            <a:custGeom>
              <a:avLst/>
              <a:gdLst/>
              <a:ahLst/>
              <a:cxnLst/>
              <a:rect r="r" b="b" t="t" l="l"/>
              <a:pathLst>
                <a:path h="365760" w="274320">
                  <a:moveTo>
                    <a:pt x="0" y="0"/>
                  </a:moveTo>
                  <a:lnTo>
                    <a:pt x="274320" y="0"/>
                  </a:lnTo>
                  <a:lnTo>
                    <a:pt x="27432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21071" t="0" r="-121071" b="0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9525"/>
              <a:ext cx="274320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15"/>
                </a:lnSpc>
              </a:pPr>
              <a:r>
                <a:rPr lang="en-US" sz="1679" spc="2">
                  <a:solidFill>
                    <a:srgbClr val="F3C645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•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2810744" y="4238244"/>
            <a:ext cx="4265676" cy="274320"/>
            <a:chOff x="0" y="0"/>
            <a:chExt cx="5687568" cy="36576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5687568" cy="365760"/>
            </a:xfrm>
            <a:custGeom>
              <a:avLst/>
              <a:gdLst/>
              <a:ahLst/>
              <a:cxnLst/>
              <a:rect r="r" b="b" t="t" l="l"/>
              <a:pathLst>
                <a:path h="365760" w="5687568">
                  <a:moveTo>
                    <a:pt x="0" y="0"/>
                  </a:moveTo>
                  <a:lnTo>
                    <a:pt x="5687568" y="0"/>
                  </a:lnTo>
                  <a:lnTo>
                    <a:pt x="5687568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2992" r="0" b="-252992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9525"/>
              <a:ext cx="5687568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36"/>
                </a:lnSpc>
              </a:pPr>
              <a:r>
                <a:rPr lang="en-US" sz="1530" spc="2">
                  <a:solidFill>
                    <a:srgbClr val="F7FA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Derivatives Algo share更高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2536424" y="4718304"/>
            <a:ext cx="205740" cy="274320"/>
            <a:chOff x="0" y="0"/>
            <a:chExt cx="274320" cy="36576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274320" cy="365760"/>
            </a:xfrm>
            <a:custGeom>
              <a:avLst/>
              <a:gdLst/>
              <a:ahLst/>
              <a:cxnLst/>
              <a:rect r="r" b="b" t="t" l="l"/>
              <a:pathLst>
                <a:path h="365760" w="274320">
                  <a:moveTo>
                    <a:pt x="0" y="0"/>
                  </a:moveTo>
                  <a:lnTo>
                    <a:pt x="274320" y="0"/>
                  </a:lnTo>
                  <a:lnTo>
                    <a:pt x="27432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21071" t="0" r="-121071" b="0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9525"/>
              <a:ext cx="274320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15"/>
                </a:lnSpc>
              </a:pPr>
              <a:r>
                <a:rPr lang="en-US" sz="1679" spc="2">
                  <a:solidFill>
                    <a:srgbClr val="F3C645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•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2810744" y="4745736"/>
            <a:ext cx="4265676" cy="274320"/>
            <a:chOff x="0" y="0"/>
            <a:chExt cx="5687568" cy="36576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5687568" cy="365760"/>
            </a:xfrm>
            <a:custGeom>
              <a:avLst/>
              <a:gdLst/>
              <a:ahLst/>
              <a:cxnLst/>
              <a:rect r="r" b="b" t="t" l="l"/>
              <a:pathLst>
                <a:path h="365760" w="5687568">
                  <a:moveTo>
                    <a:pt x="0" y="0"/>
                  </a:moveTo>
                  <a:lnTo>
                    <a:pt x="5687568" y="0"/>
                  </a:lnTo>
                  <a:lnTo>
                    <a:pt x="5687568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2992" r="0" b="-252992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9525"/>
              <a:ext cx="5687568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36"/>
                </a:lnSpc>
              </a:pPr>
              <a:r>
                <a:rPr lang="en-US" sz="1530" spc="2">
                  <a:solidFill>
                    <a:srgbClr val="F7FA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CoLo / DMA形成可觀使用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12499467" y="5545455"/>
            <a:ext cx="4613910" cy="403098"/>
            <a:chOff x="0" y="0"/>
            <a:chExt cx="6151880" cy="537464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6151880" cy="537464"/>
            </a:xfrm>
            <a:custGeom>
              <a:avLst/>
              <a:gdLst/>
              <a:ahLst/>
              <a:cxnLst/>
              <a:rect r="r" b="b" t="t" l="l"/>
              <a:pathLst>
                <a:path h="537464" w="6151880">
                  <a:moveTo>
                    <a:pt x="0" y="0"/>
                  </a:moveTo>
                  <a:lnTo>
                    <a:pt x="6151880" y="0"/>
                  </a:lnTo>
                  <a:lnTo>
                    <a:pt x="6151880" y="537464"/>
                  </a:lnTo>
                  <a:lnTo>
                    <a:pt x="0" y="537464"/>
                  </a:lnTo>
                  <a:close/>
                </a:path>
              </a:pathLst>
            </a:custGeom>
            <a:solidFill>
              <a:srgbClr val="F3C645">
                <a:alpha val="80784"/>
              </a:srgbClr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12673584" y="5678424"/>
            <a:ext cx="4265676" cy="109728"/>
            <a:chOff x="0" y="0"/>
            <a:chExt cx="5687568" cy="146304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5687568" cy="146304"/>
            </a:xfrm>
            <a:custGeom>
              <a:avLst/>
              <a:gdLst/>
              <a:ahLst/>
              <a:cxnLst/>
              <a:rect r="r" b="b" t="t" l="l"/>
              <a:pathLst>
                <a:path h="146304" w="5687568">
                  <a:moveTo>
                    <a:pt x="0" y="0"/>
                  </a:moveTo>
                  <a:lnTo>
                    <a:pt x="5687568" y="0"/>
                  </a:lnTo>
                  <a:lnTo>
                    <a:pt x="5687568" y="146304"/>
                  </a:lnTo>
                  <a:lnTo>
                    <a:pt x="0" y="1463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07480" r="0" b="-707480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9525"/>
              <a:ext cx="5687568" cy="1558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12"/>
                </a:lnSpc>
              </a:pPr>
              <a:r>
                <a:rPr lang="en-US" sz="1260" spc="2">
                  <a:solidFill>
                    <a:srgbClr val="111111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重點不是有沒有建，而是Flow有沒有真的使用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498282" y="6984682"/>
            <a:ext cx="15245715" cy="1008507"/>
            <a:chOff x="0" y="0"/>
            <a:chExt cx="20327620" cy="1344676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20327620" cy="1344676"/>
            </a:xfrm>
            <a:custGeom>
              <a:avLst/>
              <a:gdLst/>
              <a:ahLst/>
              <a:cxnLst/>
              <a:rect r="r" b="b" t="t" l="l"/>
              <a:pathLst>
                <a:path h="1344676" w="20327620">
                  <a:moveTo>
                    <a:pt x="0" y="93345"/>
                  </a:moveTo>
                  <a:cubicBezTo>
                    <a:pt x="0" y="41783"/>
                    <a:pt x="41783" y="0"/>
                    <a:pt x="93345" y="0"/>
                  </a:cubicBezTo>
                  <a:lnTo>
                    <a:pt x="20234275" y="0"/>
                  </a:lnTo>
                  <a:cubicBezTo>
                    <a:pt x="20285838" y="0"/>
                    <a:pt x="20327620" y="41783"/>
                    <a:pt x="20327620" y="93345"/>
                  </a:cubicBezTo>
                  <a:lnTo>
                    <a:pt x="20327620" y="1251331"/>
                  </a:lnTo>
                  <a:cubicBezTo>
                    <a:pt x="20327620" y="1302893"/>
                    <a:pt x="20285838" y="1344676"/>
                    <a:pt x="20234275" y="1344676"/>
                  </a:cubicBezTo>
                  <a:lnTo>
                    <a:pt x="93345" y="1344676"/>
                  </a:lnTo>
                  <a:cubicBezTo>
                    <a:pt x="41783" y="1344676"/>
                    <a:pt x="0" y="1302893"/>
                    <a:pt x="0" y="1251331"/>
                  </a:cubicBezTo>
                  <a:close/>
                </a:path>
              </a:pathLst>
            </a:custGeom>
            <a:solidFill>
              <a:srgbClr val="17223A"/>
            </a:solidFill>
            <a:ln w="20955" cap="sq">
              <a:solidFill>
                <a:srgbClr val="F3C645"/>
              </a:solidFill>
              <a:prstDash val="solid"/>
              <a:miter/>
            </a:ln>
          </p:spPr>
        </p:sp>
      </p:grpSp>
      <p:grpSp>
        <p:nvGrpSpPr>
          <p:cNvPr name="Group 109" id="109"/>
          <p:cNvGrpSpPr/>
          <p:nvPr/>
        </p:nvGrpSpPr>
        <p:grpSpPr>
          <a:xfrm rot="0">
            <a:off x="1851660" y="7296912"/>
            <a:ext cx="14538960" cy="301752"/>
            <a:chOff x="0" y="0"/>
            <a:chExt cx="19385280" cy="402336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19385280" cy="402336"/>
            </a:xfrm>
            <a:custGeom>
              <a:avLst/>
              <a:gdLst/>
              <a:ahLst/>
              <a:cxnLst/>
              <a:rect r="r" b="b" t="t" l="l"/>
              <a:pathLst>
                <a:path h="402336" w="19385280">
                  <a:moveTo>
                    <a:pt x="0" y="0"/>
                  </a:moveTo>
                  <a:lnTo>
                    <a:pt x="19385280" y="0"/>
                  </a:lnTo>
                  <a:lnTo>
                    <a:pt x="1938528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88824" r="0" b="-888824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9525"/>
              <a:ext cx="1938528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spc="4">
                  <a:solidFill>
                    <a:srgbClr val="F7FA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INDIA LESSON｜Infrastructure maturity is proven by usage, not by availability.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2735580" y="8290560"/>
            <a:ext cx="12839700" cy="865632"/>
            <a:chOff x="0" y="0"/>
            <a:chExt cx="17119600" cy="1154176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17119600" cy="1154176"/>
            </a:xfrm>
            <a:custGeom>
              <a:avLst/>
              <a:gdLst/>
              <a:ahLst/>
              <a:cxnLst/>
              <a:rect r="r" b="b" t="t" l="l"/>
              <a:pathLst>
                <a:path h="1154176" w="17119600">
                  <a:moveTo>
                    <a:pt x="0" y="93091"/>
                  </a:moveTo>
                  <a:cubicBezTo>
                    <a:pt x="0" y="41656"/>
                    <a:pt x="41656" y="0"/>
                    <a:pt x="93091" y="0"/>
                  </a:cubicBezTo>
                  <a:lnTo>
                    <a:pt x="17026510" y="0"/>
                  </a:lnTo>
                  <a:cubicBezTo>
                    <a:pt x="17077945" y="0"/>
                    <a:pt x="17119600" y="41656"/>
                    <a:pt x="17119600" y="93091"/>
                  </a:cubicBezTo>
                  <a:lnTo>
                    <a:pt x="17119600" y="1061085"/>
                  </a:lnTo>
                  <a:cubicBezTo>
                    <a:pt x="17119600" y="1112520"/>
                    <a:pt x="17077945" y="1154176"/>
                    <a:pt x="17026510" y="1154176"/>
                  </a:cubicBezTo>
                  <a:lnTo>
                    <a:pt x="93091" y="1154176"/>
                  </a:lnTo>
                  <a:cubicBezTo>
                    <a:pt x="41656" y="1154176"/>
                    <a:pt x="0" y="1112520"/>
                    <a:pt x="0" y="1061085"/>
                  </a:cubicBezTo>
                  <a:close/>
                </a:path>
              </a:pathLst>
            </a:custGeom>
            <a:solidFill>
              <a:srgbClr val="101B2F"/>
            </a:solidFill>
            <a:ln w="15240" cap="sq">
              <a:solidFill>
                <a:srgbClr val="12D7FF"/>
              </a:solidFill>
              <a:prstDash val="solid"/>
              <a:miter/>
            </a:ln>
          </p:spPr>
        </p:sp>
      </p:grpSp>
      <p:grpSp>
        <p:nvGrpSpPr>
          <p:cNvPr name="Group 114" id="114"/>
          <p:cNvGrpSpPr/>
          <p:nvPr/>
        </p:nvGrpSpPr>
        <p:grpSpPr>
          <a:xfrm rot="0">
            <a:off x="3086100" y="8572500"/>
            <a:ext cx="12138660" cy="246888"/>
            <a:chOff x="0" y="0"/>
            <a:chExt cx="16184880" cy="329184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16184880" cy="329184"/>
            </a:xfrm>
            <a:custGeom>
              <a:avLst/>
              <a:gdLst/>
              <a:ahLst/>
              <a:cxnLst/>
              <a:rect r="r" b="b" t="t" l="l"/>
              <a:pathLst>
                <a:path h="329184" w="16184880">
                  <a:moveTo>
                    <a:pt x="0" y="0"/>
                  </a:moveTo>
                  <a:lnTo>
                    <a:pt x="16184880" y="0"/>
                  </a:lnTo>
                  <a:lnTo>
                    <a:pt x="1618488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08014" r="0" b="-908014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0"/>
              <a:ext cx="1618488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spc="2">
                  <a:solidFill>
                    <a:srgbClr val="F7FA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台灣對照問題：API / DMA / CoLo 有了，但 Algo order share、DMA flow、CoLo utilization 是否也像印度一樣被大量使用？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754380" y="9779508"/>
            <a:ext cx="16596360" cy="274320"/>
            <a:chOff x="0" y="0"/>
            <a:chExt cx="22128480" cy="36576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22128480" cy="365760"/>
            </a:xfrm>
            <a:custGeom>
              <a:avLst/>
              <a:gdLst/>
              <a:ahLst/>
              <a:cxnLst/>
              <a:rect r="r" b="b" t="t" l="l"/>
              <a:pathLst>
                <a:path h="36576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28844" r="0" b="-1128844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-9525"/>
              <a:ext cx="22128480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87"/>
                </a:lnSpc>
              </a:pPr>
              <a:r>
                <a:rPr lang="en-US" sz="989" spc="1">
                  <a:solidFill>
                    <a:srgbClr val="8793A6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Sources: SEBI DMA / Algo circulars, NSE Market Pulse / annual reports / platform service documents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13232" y="480060"/>
            <a:ext cx="82296" cy="768096"/>
            <a:chOff x="0" y="0"/>
            <a:chExt cx="109728" cy="102412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97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9728">
                  <a:moveTo>
                    <a:pt x="0" y="0"/>
                  </a:moveTo>
                  <a:lnTo>
                    <a:pt x="109728" y="0"/>
                  </a:lnTo>
                  <a:lnTo>
                    <a:pt x="109728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F6C64A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978023" y="623316"/>
            <a:ext cx="15773400" cy="585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spc="6">
                <a:solidFill>
                  <a:srgbClr val="FFFFFF"/>
                </a:solidFill>
                <a:latin typeface="ほのかアンティーク丸"/>
                <a:ea typeface="ほのかアンティーク丸"/>
                <a:cs typeface="ほのかアンティーク丸"/>
                <a:sym typeface="ほのかアンティーク丸"/>
              </a:rPr>
              <a:t>同樣有基礎建設，為什麼印度看到大量採用，台灣仍待證明？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87552" y="1608963"/>
            <a:ext cx="1536192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spc="3">
                <a:solidFill>
                  <a:srgbClr val="D9DEE6"/>
                </a:solidFill>
                <a:latin typeface="ほのかアンティーク丸"/>
                <a:ea typeface="ほのかアンティーク丸"/>
                <a:cs typeface="ほのかアンティーク丸"/>
                <a:sym typeface="ほのかアンティーク丸"/>
              </a:rPr>
              <a:t>問題不是「台灣沒有人用」，而是公開資料尚未證明 Infrastructure 如何轉化成可觀察、可商業化的使用。</a:t>
            </a:r>
          </a:p>
        </p:txBody>
      </p:sp>
      <p:sp>
        <p:nvSpPr>
          <p:cNvPr name="AutoShape 7" id="7"/>
          <p:cNvSpPr/>
          <p:nvPr/>
        </p:nvSpPr>
        <p:spPr>
          <a:xfrm rot="4020">
            <a:off x="978017" y="2121217"/>
            <a:ext cx="16245088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428750" y="2388870"/>
            <a:ext cx="14973300" cy="763524"/>
            <a:chOff x="0" y="0"/>
            <a:chExt cx="19964400" cy="10180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964400" cy="1018032"/>
            </a:xfrm>
            <a:custGeom>
              <a:avLst/>
              <a:gdLst/>
              <a:ahLst/>
              <a:cxnLst/>
              <a:rect r="r" b="b" t="t" l="l"/>
              <a:pathLst>
                <a:path h="1018032" w="19964400">
                  <a:moveTo>
                    <a:pt x="0" y="0"/>
                  </a:moveTo>
                  <a:lnTo>
                    <a:pt x="19964400" y="0"/>
                  </a:lnTo>
                  <a:lnTo>
                    <a:pt x="19964400" y="1018032"/>
                  </a:lnTo>
                  <a:lnTo>
                    <a:pt x="0" y="1018032"/>
                  </a:lnTo>
                  <a:close/>
                </a:path>
              </a:pathLst>
            </a:custGeom>
            <a:solidFill>
              <a:srgbClr val="202B35"/>
            </a:solidFill>
            <a:ln w="22860" cap="sq">
              <a:solidFill>
                <a:srgbClr val="F6C64A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714500" y="2600706"/>
            <a:ext cx="1714500" cy="320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F6C64A"/>
                </a:solidFill>
                <a:latin typeface="Arial Bold"/>
                <a:ea typeface="Arial Bold"/>
                <a:cs typeface="Arial Bold"/>
                <a:sym typeface="Arial Bold"/>
              </a:rPr>
              <a:t>BOTH BUILT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429000" y="2545842"/>
            <a:ext cx="1213866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5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Electronic Market  →  DMA  →  Co-location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17270" y="3486150"/>
            <a:ext cx="7360920" cy="4274820"/>
            <a:chOff x="0" y="0"/>
            <a:chExt cx="9814560" cy="56997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814560" cy="5699760"/>
            </a:xfrm>
            <a:custGeom>
              <a:avLst/>
              <a:gdLst/>
              <a:ahLst/>
              <a:cxnLst/>
              <a:rect r="r" b="b" t="t" l="l"/>
              <a:pathLst>
                <a:path h="5699760" w="9814560">
                  <a:moveTo>
                    <a:pt x="0" y="0"/>
                  </a:moveTo>
                  <a:lnTo>
                    <a:pt x="9814560" y="0"/>
                  </a:lnTo>
                  <a:lnTo>
                    <a:pt x="9814560" y="5699760"/>
                  </a:lnTo>
                  <a:lnTo>
                    <a:pt x="0" y="5699760"/>
                  </a:lnTo>
                  <a:close/>
                </a:path>
              </a:pathLst>
            </a:custGeom>
            <a:solidFill>
              <a:srgbClr val="F2F4F8"/>
            </a:solidFill>
            <a:ln w="22860" cap="sq">
              <a:solidFill>
                <a:srgbClr val="F6C64A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9150858" y="3486150"/>
            <a:ext cx="7360920" cy="4274820"/>
            <a:chOff x="0" y="0"/>
            <a:chExt cx="9814560" cy="56997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814560" cy="5699760"/>
            </a:xfrm>
            <a:custGeom>
              <a:avLst/>
              <a:gdLst/>
              <a:ahLst/>
              <a:cxnLst/>
              <a:rect r="r" b="b" t="t" l="l"/>
              <a:pathLst>
                <a:path h="5699760" w="9814560">
                  <a:moveTo>
                    <a:pt x="0" y="0"/>
                  </a:moveTo>
                  <a:lnTo>
                    <a:pt x="9814560" y="0"/>
                  </a:lnTo>
                  <a:lnTo>
                    <a:pt x="9814560" y="5699760"/>
                  </a:lnTo>
                  <a:lnTo>
                    <a:pt x="0" y="5699760"/>
                  </a:lnTo>
                  <a:close/>
                </a:path>
              </a:pathLst>
            </a:custGeom>
            <a:solidFill>
              <a:srgbClr val="F2F4F8"/>
            </a:solidFill>
            <a:ln w="22860" cap="sq">
              <a:solidFill>
                <a:srgbClr val="F6C64A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028700" y="3497580"/>
            <a:ext cx="7338060" cy="630936"/>
            <a:chOff x="0" y="0"/>
            <a:chExt cx="9784080" cy="84124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784080" cy="841248"/>
            </a:xfrm>
            <a:custGeom>
              <a:avLst/>
              <a:gdLst/>
              <a:ahLst/>
              <a:cxnLst/>
              <a:rect r="r" b="b" t="t" l="l"/>
              <a:pathLst>
                <a:path h="841248" w="9784080">
                  <a:moveTo>
                    <a:pt x="0" y="0"/>
                  </a:moveTo>
                  <a:lnTo>
                    <a:pt x="9784080" y="0"/>
                  </a:lnTo>
                  <a:lnTo>
                    <a:pt x="9784080" y="841248"/>
                  </a:lnTo>
                  <a:lnTo>
                    <a:pt x="0" y="841248"/>
                  </a:lnTo>
                  <a:close/>
                </a:path>
              </a:pathLst>
            </a:custGeom>
            <a:solidFill>
              <a:srgbClr val="F6C64A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275588" y="3652647"/>
            <a:ext cx="6844284" cy="311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11820"/>
                </a:solidFill>
                <a:latin typeface="Arial Bold"/>
                <a:ea typeface="Arial Bold"/>
                <a:cs typeface="Arial Bold"/>
                <a:sym typeface="Arial Bold"/>
              </a:rPr>
              <a:t>INDIA｜VISIBLE ADOPTION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162288" y="3497580"/>
            <a:ext cx="7338060" cy="630936"/>
            <a:chOff x="0" y="0"/>
            <a:chExt cx="9784080" cy="84124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784080" cy="841248"/>
            </a:xfrm>
            <a:custGeom>
              <a:avLst/>
              <a:gdLst/>
              <a:ahLst/>
              <a:cxnLst/>
              <a:rect r="r" b="b" t="t" l="l"/>
              <a:pathLst>
                <a:path h="841248" w="9784080">
                  <a:moveTo>
                    <a:pt x="0" y="0"/>
                  </a:moveTo>
                  <a:lnTo>
                    <a:pt x="9784080" y="0"/>
                  </a:lnTo>
                  <a:lnTo>
                    <a:pt x="9784080" y="841248"/>
                  </a:lnTo>
                  <a:lnTo>
                    <a:pt x="0" y="841248"/>
                  </a:lnTo>
                  <a:close/>
                </a:path>
              </a:pathLst>
            </a:custGeom>
            <a:solidFill>
              <a:srgbClr val="F6C64A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9409176" y="3652647"/>
            <a:ext cx="6844284" cy="311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11820"/>
                </a:solidFill>
                <a:latin typeface="Arial Bold"/>
                <a:ea typeface="Arial Bold"/>
                <a:cs typeface="Arial Bold"/>
                <a:sym typeface="Arial Bold"/>
              </a:rPr>
              <a:t>TAIWAN｜ADOPTION STILL UNPROVEN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40180" y="4594860"/>
            <a:ext cx="219456" cy="384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spc="4">
                <a:solidFill>
                  <a:srgbClr val="F6C64A"/>
                </a:solidFill>
                <a:latin typeface="ほのかアンティーク丸"/>
                <a:ea typeface="ほのかアンティーク丸"/>
                <a:cs typeface="ほのかアンティーク丸"/>
                <a:sym typeface="ほのかアンティーク丸"/>
              </a:rPr>
              <a:t>▪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69364" y="4557903"/>
            <a:ext cx="6254496" cy="393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11820"/>
                </a:solidFill>
                <a:latin typeface="Arial"/>
                <a:ea typeface="Arial"/>
                <a:cs typeface="Arial"/>
                <a:sym typeface="Arial"/>
              </a:rPr>
              <a:t>Professional / derivatives flow 被大量吸收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40180" y="5445252"/>
            <a:ext cx="219456" cy="384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spc="4">
                <a:solidFill>
                  <a:srgbClr val="F6C64A"/>
                </a:solidFill>
                <a:latin typeface="ほのかアンティーク丸"/>
                <a:ea typeface="ほのかアンティーク丸"/>
                <a:cs typeface="ほのかアンティーク丸"/>
                <a:sym typeface="ほのかアンティーク丸"/>
              </a:rPr>
              <a:t>▪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769364" y="5408295"/>
            <a:ext cx="6254496" cy="393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11820"/>
                </a:solidFill>
                <a:latin typeface="Arial"/>
                <a:ea typeface="Arial"/>
                <a:cs typeface="Arial"/>
                <a:sym typeface="Arial"/>
              </a:rPr>
              <a:t>Execution、arbitrage、SOR use cases 較廣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40180" y="6295644"/>
            <a:ext cx="219456" cy="617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spc="4">
                <a:solidFill>
                  <a:srgbClr val="F6C64A"/>
                </a:solidFill>
                <a:latin typeface="ほのかアンティーク丸"/>
                <a:ea typeface="ほのかアンティーク丸"/>
                <a:cs typeface="ほのかアンティーク丸"/>
                <a:sym typeface="ほのかアンティーク丸"/>
              </a:rPr>
              <a:t>▪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769364" y="6258687"/>
            <a:ext cx="6254496" cy="626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11820"/>
                </a:solidFill>
                <a:latin typeface="Arial"/>
                <a:ea typeface="Arial"/>
                <a:cs typeface="Arial"/>
                <a:sym typeface="Arial"/>
              </a:rPr>
              <a:t>Vendor / testing / governance 降低導入成本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440180" y="6954012"/>
            <a:ext cx="6515100" cy="521208"/>
            <a:chOff x="0" y="0"/>
            <a:chExt cx="8686800" cy="69494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686800" cy="694944"/>
            </a:xfrm>
            <a:custGeom>
              <a:avLst/>
              <a:gdLst/>
              <a:ahLst/>
              <a:cxnLst/>
              <a:rect r="r" b="b" t="t" l="l"/>
              <a:pathLst>
                <a:path h="694944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694944"/>
                  </a:lnTo>
                  <a:lnTo>
                    <a:pt x="0" y="694944"/>
                  </a:lnTo>
                  <a:close/>
                </a:path>
              </a:pathLst>
            </a:custGeom>
            <a:solidFill>
              <a:srgbClr val="202B35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645920" y="7072122"/>
            <a:ext cx="6103620" cy="238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RESULT｜Usage is measured and scaled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573768" y="4594860"/>
            <a:ext cx="219456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spc="4">
                <a:solidFill>
                  <a:srgbClr val="F6C64A"/>
                </a:solidFill>
                <a:latin typeface="ほのかアンティーク丸"/>
                <a:ea typeface="ほのかアンティーク丸"/>
                <a:cs typeface="ほのかアンティーク丸"/>
                <a:sym typeface="ほのかアンティーク丸"/>
              </a:rPr>
              <a:t>▪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902952" y="4557903"/>
            <a:ext cx="6254496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11820"/>
                </a:solidFill>
                <a:latin typeface="Arial"/>
                <a:ea typeface="Arial"/>
                <a:cs typeface="Arial"/>
                <a:sym typeface="Arial"/>
              </a:rPr>
              <a:t>Professional flow 存在，尤其衍生品與造市場景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573768" y="5500116"/>
            <a:ext cx="219456" cy="576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spc="4">
                <a:solidFill>
                  <a:srgbClr val="F6C64A"/>
                </a:solidFill>
                <a:latin typeface="ほのかアンティーク丸"/>
                <a:ea typeface="ほのかアンティーク丸"/>
                <a:cs typeface="ほのかアンティーク丸"/>
                <a:sym typeface="ほのかアンティーク丸"/>
              </a:rPr>
              <a:t>▪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902952" y="5463159"/>
            <a:ext cx="6254496" cy="585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11820"/>
                </a:solidFill>
                <a:latin typeface="Arial"/>
                <a:ea typeface="Arial"/>
                <a:cs typeface="Arial"/>
                <a:sym typeface="Arial"/>
              </a:rPr>
              <a:t>DMA / CoLo 存在，但 algo-specific usage 無公開統計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573768" y="6515100"/>
            <a:ext cx="219456" cy="617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spc="4">
                <a:solidFill>
                  <a:srgbClr val="F6C64A"/>
                </a:solidFill>
                <a:latin typeface="ほのかアンティーク丸"/>
                <a:ea typeface="ほのかアンティーク丸"/>
                <a:cs typeface="ほのかアンティーク丸"/>
                <a:sym typeface="ほのかアンティーク丸"/>
              </a:rPr>
              <a:t>▪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902952" y="6478143"/>
            <a:ext cx="6254496" cy="626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11820"/>
                </a:solidFill>
                <a:latin typeface="Arial"/>
                <a:ea typeface="Arial"/>
                <a:cs typeface="Arial"/>
                <a:sym typeface="Arial"/>
              </a:rPr>
              <a:t>SOR / onboarding / monetization 尚待驗證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573768" y="6954012"/>
            <a:ext cx="6515100" cy="521208"/>
            <a:chOff x="0" y="0"/>
            <a:chExt cx="8686800" cy="69494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686800" cy="694944"/>
            </a:xfrm>
            <a:custGeom>
              <a:avLst/>
              <a:gdLst/>
              <a:ahLst/>
              <a:cxnLst/>
              <a:rect r="r" b="b" t="t" l="l"/>
              <a:pathLst>
                <a:path h="694944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694944"/>
                  </a:lnTo>
                  <a:lnTo>
                    <a:pt x="0" y="694944"/>
                  </a:lnTo>
                  <a:close/>
                </a:path>
              </a:pathLst>
            </a:custGeom>
            <a:solidFill>
              <a:srgbClr val="202B35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9779508" y="7072122"/>
            <a:ext cx="6103620" cy="238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RESULT｜Adoption depth remains unproven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017270" y="8026146"/>
            <a:ext cx="15494508" cy="818388"/>
            <a:chOff x="0" y="0"/>
            <a:chExt cx="20659344" cy="109118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0659344" cy="1091184"/>
            </a:xfrm>
            <a:custGeom>
              <a:avLst/>
              <a:gdLst/>
              <a:ahLst/>
              <a:cxnLst/>
              <a:rect r="r" b="b" t="t" l="l"/>
              <a:pathLst>
                <a:path h="1091184" w="20659344">
                  <a:moveTo>
                    <a:pt x="0" y="0"/>
                  </a:moveTo>
                  <a:lnTo>
                    <a:pt x="20659344" y="0"/>
                  </a:lnTo>
                  <a:lnTo>
                    <a:pt x="20659344" y="1091184"/>
                  </a:lnTo>
                  <a:lnTo>
                    <a:pt x="0" y="1091184"/>
                  </a:lnTo>
                  <a:close/>
                </a:path>
              </a:pathLst>
            </a:custGeom>
            <a:solidFill>
              <a:srgbClr val="202B35"/>
            </a:solidFill>
            <a:ln w="22860" cap="sq">
              <a:solidFill>
                <a:srgbClr val="F6C64A"/>
              </a:solidFill>
              <a:prstDash val="solid"/>
              <a:miter/>
            </a:ln>
          </p:spPr>
        </p:sp>
      </p:grpSp>
      <p:sp>
        <p:nvSpPr>
          <p:cNvPr name="TextBox 42" id="42"/>
          <p:cNvSpPr txBox="true"/>
          <p:nvPr/>
        </p:nvSpPr>
        <p:spPr>
          <a:xfrm rot="0">
            <a:off x="1303020" y="8155686"/>
            <a:ext cx="2948940" cy="348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F6C64A"/>
                </a:solidFill>
                <a:latin typeface="Arial Bold"/>
                <a:ea typeface="Arial Bold"/>
                <a:cs typeface="Arial Bold"/>
                <a:sym typeface="Arial Bold"/>
              </a:rPr>
              <a:t>FOUR HYPOTHESES TO TEST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4251960" y="8155686"/>
            <a:ext cx="2400300" cy="348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H1 Measurement gap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6748272" y="8155686"/>
            <a:ext cx="2125980" cy="348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H2 Demand gap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079992" y="8155686"/>
            <a:ext cx="2400300" cy="348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H3 Adoption friction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727180" y="8155686"/>
            <a:ext cx="2400300" cy="348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H4 Economics gap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234440" y="8974455"/>
            <a:ext cx="15773400" cy="393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spc="4">
                <a:solidFill>
                  <a:srgbClr val="FFFFFF"/>
                </a:solidFill>
                <a:latin typeface="ほのかアンティーク丸"/>
                <a:ea typeface="ほのかアンティーク丸"/>
                <a:cs typeface="ほのかアンティーク丸"/>
                <a:sym typeface="ほのかアンティーク丸"/>
              </a:rPr>
              <a:t>真正缺口可能是「Infrastructure → Actual Usage」的轉換機制，而非 Infrastructure availability。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713232" y="9746742"/>
            <a:ext cx="16184880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D9DEE6"/>
                </a:solidFill>
                <a:latin typeface="Arial"/>
                <a:ea typeface="Arial"/>
                <a:cs typeface="Arial"/>
                <a:sym typeface="Arial"/>
              </a:rPr>
              <a:t>Sources: NSE Market Pulse 2026; SEBI DMA / Algo circulars; TAIFEX public statistics; TWSE / FSC trading rules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07695" y="470535"/>
            <a:ext cx="87630" cy="979170"/>
            <a:chOff x="0" y="0"/>
            <a:chExt cx="116840" cy="13055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6840" cy="1305560"/>
            </a:xfrm>
            <a:custGeom>
              <a:avLst/>
              <a:gdLst/>
              <a:ahLst/>
              <a:cxnLst/>
              <a:rect r="r" b="b" t="t" l="l"/>
              <a:pathLst>
                <a:path h="1305560" w="116840">
                  <a:moveTo>
                    <a:pt x="0" y="0"/>
                  </a:moveTo>
                  <a:lnTo>
                    <a:pt x="116840" y="0"/>
                  </a:lnTo>
                  <a:lnTo>
                    <a:pt x="116840" y="1305560"/>
                  </a:lnTo>
                  <a:lnTo>
                    <a:pt x="0" y="1305560"/>
                  </a:lnTo>
                  <a:close/>
                </a:path>
              </a:pathLst>
            </a:custGeom>
            <a:solidFill>
              <a:srgbClr val="F3C645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850392" y="864108"/>
            <a:ext cx="16253460" cy="617220"/>
            <a:chOff x="0" y="0"/>
            <a:chExt cx="21671280" cy="8229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671280" cy="822960"/>
            </a:xfrm>
            <a:custGeom>
              <a:avLst/>
              <a:gdLst/>
              <a:ahLst/>
              <a:cxnLst/>
              <a:rect r="r" b="b" t="t" l="l"/>
              <a:pathLst>
                <a:path h="822960" w="21671280">
                  <a:moveTo>
                    <a:pt x="0" y="0"/>
                  </a:moveTo>
                  <a:lnTo>
                    <a:pt x="21671280" y="0"/>
                  </a:lnTo>
                  <a:lnTo>
                    <a:pt x="216712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3105" r="0" b="-46310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671280" cy="832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230"/>
                </a:lnSpc>
              </a:pPr>
              <a:r>
                <a:rPr lang="en-US" sz="3525" spc="5">
                  <a:solidFill>
                    <a:srgbClr val="F7FA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印度與韓國告訴我們：成熟不是功能堆疊，而是轉化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50392" y="1549908"/>
            <a:ext cx="16116300" cy="452628"/>
            <a:chOff x="0" y="0"/>
            <a:chExt cx="21488400" cy="6035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488400" cy="603504"/>
            </a:xfrm>
            <a:custGeom>
              <a:avLst/>
              <a:gdLst/>
              <a:ahLst/>
              <a:cxnLst/>
              <a:rect r="r" b="b" t="t" l="l"/>
              <a:pathLst>
                <a:path h="603504" w="21488400">
                  <a:moveTo>
                    <a:pt x="0" y="0"/>
                  </a:moveTo>
                  <a:lnTo>
                    <a:pt x="21488400" y="0"/>
                  </a:lnTo>
                  <a:lnTo>
                    <a:pt x="21488400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43785" r="0" b="-64378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1488400" cy="6035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spc="2">
                  <a:solidFill>
                    <a:srgbClr val="B8C3D6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一個成熟的程式交易市場，必須從「可用」走到「被用、有效、有商業價值」。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92542" y="2801302"/>
            <a:ext cx="3518535" cy="1598295"/>
            <a:chOff x="0" y="0"/>
            <a:chExt cx="4691380" cy="21310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91380" cy="2131060"/>
            </a:xfrm>
            <a:custGeom>
              <a:avLst/>
              <a:gdLst/>
              <a:ahLst/>
              <a:cxnLst/>
              <a:rect r="r" b="b" t="t" l="l"/>
              <a:pathLst>
                <a:path h="2131060" w="4691380">
                  <a:moveTo>
                    <a:pt x="0" y="92710"/>
                  </a:moveTo>
                  <a:cubicBezTo>
                    <a:pt x="0" y="41529"/>
                    <a:pt x="41529" y="0"/>
                    <a:pt x="92710" y="0"/>
                  </a:cubicBezTo>
                  <a:lnTo>
                    <a:pt x="4598670" y="0"/>
                  </a:lnTo>
                  <a:cubicBezTo>
                    <a:pt x="4649851" y="0"/>
                    <a:pt x="4691380" y="41529"/>
                    <a:pt x="4691380" y="92710"/>
                  </a:cubicBezTo>
                  <a:lnTo>
                    <a:pt x="4691380" y="2038350"/>
                  </a:lnTo>
                  <a:cubicBezTo>
                    <a:pt x="4691380" y="2089531"/>
                    <a:pt x="4649851" y="2131060"/>
                    <a:pt x="4598670" y="2131060"/>
                  </a:cubicBezTo>
                  <a:lnTo>
                    <a:pt x="92710" y="2131060"/>
                  </a:lnTo>
                  <a:cubicBezTo>
                    <a:pt x="41529" y="2131060"/>
                    <a:pt x="0" y="2089531"/>
                    <a:pt x="0" y="2038350"/>
                  </a:cubicBezTo>
                  <a:close/>
                </a:path>
              </a:pathLst>
            </a:custGeom>
            <a:solidFill>
              <a:srgbClr val="101B2F">
                <a:alpha val="95686"/>
              </a:srgbClr>
            </a:solidFill>
            <a:ln w="20955" cap="sq">
              <a:solidFill>
                <a:srgbClr val="12D7FF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467612" y="3195828"/>
            <a:ext cx="3168396" cy="370332"/>
            <a:chOff x="0" y="0"/>
            <a:chExt cx="4224528" cy="49377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224528" cy="493776"/>
            </a:xfrm>
            <a:custGeom>
              <a:avLst/>
              <a:gdLst/>
              <a:ahLst/>
              <a:cxnLst/>
              <a:rect r="r" b="b" t="t" l="l"/>
              <a:pathLst>
                <a:path h="493776" w="4224528">
                  <a:moveTo>
                    <a:pt x="0" y="0"/>
                  </a:moveTo>
                  <a:lnTo>
                    <a:pt x="4224528" y="0"/>
                  </a:lnTo>
                  <a:lnTo>
                    <a:pt x="4224528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6705" r="0" b="-11670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4224528" cy="5033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spc="4">
                  <a:solidFill>
                    <a:srgbClr val="12D7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AVAILABLE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67612" y="3799332"/>
            <a:ext cx="3168396" cy="246888"/>
            <a:chOff x="0" y="0"/>
            <a:chExt cx="4224528" cy="32918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224528" cy="329184"/>
            </a:xfrm>
            <a:custGeom>
              <a:avLst/>
              <a:gdLst/>
              <a:ahLst/>
              <a:cxnLst/>
              <a:rect r="r" b="b" t="t" l="l"/>
              <a:pathLst>
                <a:path h="329184" w="4224528">
                  <a:moveTo>
                    <a:pt x="0" y="0"/>
                  </a:moveTo>
                  <a:lnTo>
                    <a:pt x="4224528" y="0"/>
                  </a:lnTo>
                  <a:lnTo>
                    <a:pt x="4224528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0057" r="0" b="-200057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4224528" cy="3387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spc="2">
                  <a:solidFill>
                    <a:srgbClr val="F7FA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基礎設施可用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 flipV="true">
            <a:off x="4909759" y="3593022"/>
            <a:ext cx="405949" cy="0"/>
          </a:xfrm>
          <a:prstGeom prst="line">
            <a:avLst/>
          </a:prstGeom>
          <a:ln cap="rnd" w="19050">
            <a:solidFill>
              <a:srgbClr val="F3C645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0" id="20"/>
          <p:cNvGrpSpPr/>
          <p:nvPr/>
        </p:nvGrpSpPr>
        <p:grpSpPr>
          <a:xfrm rot="0">
            <a:off x="5503354" y="2801302"/>
            <a:ext cx="3518535" cy="1598295"/>
            <a:chOff x="0" y="0"/>
            <a:chExt cx="4691380" cy="21310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691380" cy="2131060"/>
            </a:xfrm>
            <a:custGeom>
              <a:avLst/>
              <a:gdLst/>
              <a:ahLst/>
              <a:cxnLst/>
              <a:rect r="r" b="b" t="t" l="l"/>
              <a:pathLst>
                <a:path h="2131060" w="4691380">
                  <a:moveTo>
                    <a:pt x="0" y="92710"/>
                  </a:moveTo>
                  <a:cubicBezTo>
                    <a:pt x="0" y="41529"/>
                    <a:pt x="41529" y="0"/>
                    <a:pt x="92710" y="0"/>
                  </a:cubicBezTo>
                  <a:lnTo>
                    <a:pt x="4598670" y="0"/>
                  </a:lnTo>
                  <a:cubicBezTo>
                    <a:pt x="4649851" y="0"/>
                    <a:pt x="4691380" y="41529"/>
                    <a:pt x="4691380" y="92710"/>
                  </a:cubicBezTo>
                  <a:lnTo>
                    <a:pt x="4691380" y="2038350"/>
                  </a:lnTo>
                  <a:cubicBezTo>
                    <a:pt x="4691380" y="2089531"/>
                    <a:pt x="4649851" y="2131060"/>
                    <a:pt x="4598670" y="2131060"/>
                  </a:cubicBezTo>
                  <a:lnTo>
                    <a:pt x="92710" y="2131060"/>
                  </a:lnTo>
                  <a:cubicBezTo>
                    <a:pt x="41529" y="2131060"/>
                    <a:pt x="0" y="2089531"/>
                    <a:pt x="0" y="2038350"/>
                  </a:cubicBezTo>
                  <a:close/>
                </a:path>
              </a:pathLst>
            </a:custGeom>
            <a:solidFill>
              <a:srgbClr val="101B2F">
                <a:alpha val="95686"/>
              </a:srgbClr>
            </a:solidFill>
            <a:ln w="20955" cap="sq">
              <a:solidFill>
                <a:srgbClr val="F3C645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5678424" y="3195828"/>
            <a:ext cx="3168396" cy="370332"/>
            <a:chOff x="0" y="0"/>
            <a:chExt cx="4224528" cy="49377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224528" cy="493776"/>
            </a:xfrm>
            <a:custGeom>
              <a:avLst/>
              <a:gdLst/>
              <a:ahLst/>
              <a:cxnLst/>
              <a:rect r="r" b="b" t="t" l="l"/>
              <a:pathLst>
                <a:path h="493776" w="4224528">
                  <a:moveTo>
                    <a:pt x="0" y="0"/>
                  </a:moveTo>
                  <a:lnTo>
                    <a:pt x="4224528" y="0"/>
                  </a:lnTo>
                  <a:lnTo>
                    <a:pt x="4224528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6705" r="0" b="-11670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4224528" cy="5033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spc="4">
                  <a:solidFill>
                    <a:srgbClr val="F3C645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USED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5678424" y="3799332"/>
            <a:ext cx="3168396" cy="246888"/>
            <a:chOff x="0" y="0"/>
            <a:chExt cx="4224528" cy="32918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224528" cy="329184"/>
            </a:xfrm>
            <a:custGeom>
              <a:avLst/>
              <a:gdLst/>
              <a:ahLst/>
              <a:cxnLst/>
              <a:rect r="r" b="b" t="t" l="l"/>
              <a:pathLst>
                <a:path h="329184" w="4224528">
                  <a:moveTo>
                    <a:pt x="0" y="0"/>
                  </a:moveTo>
                  <a:lnTo>
                    <a:pt x="4224528" y="0"/>
                  </a:lnTo>
                  <a:lnTo>
                    <a:pt x="4224528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0057" r="0" b="-200057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4224528" cy="3387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spc="2">
                  <a:solidFill>
                    <a:srgbClr val="F7FA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Flow大量採用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714166" y="2801302"/>
            <a:ext cx="3518535" cy="1598295"/>
            <a:chOff x="0" y="0"/>
            <a:chExt cx="4691380" cy="21310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691380" cy="2131060"/>
            </a:xfrm>
            <a:custGeom>
              <a:avLst/>
              <a:gdLst/>
              <a:ahLst/>
              <a:cxnLst/>
              <a:rect r="r" b="b" t="t" l="l"/>
              <a:pathLst>
                <a:path h="2131060" w="4691380">
                  <a:moveTo>
                    <a:pt x="0" y="92710"/>
                  </a:moveTo>
                  <a:cubicBezTo>
                    <a:pt x="0" y="41529"/>
                    <a:pt x="41529" y="0"/>
                    <a:pt x="92710" y="0"/>
                  </a:cubicBezTo>
                  <a:lnTo>
                    <a:pt x="4598670" y="0"/>
                  </a:lnTo>
                  <a:cubicBezTo>
                    <a:pt x="4649851" y="0"/>
                    <a:pt x="4691380" y="41529"/>
                    <a:pt x="4691380" y="92710"/>
                  </a:cubicBezTo>
                  <a:lnTo>
                    <a:pt x="4691380" y="2038350"/>
                  </a:lnTo>
                  <a:cubicBezTo>
                    <a:pt x="4691380" y="2089531"/>
                    <a:pt x="4649851" y="2131060"/>
                    <a:pt x="4598670" y="2131060"/>
                  </a:cubicBezTo>
                  <a:lnTo>
                    <a:pt x="92710" y="2131060"/>
                  </a:lnTo>
                  <a:cubicBezTo>
                    <a:pt x="41529" y="2131060"/>
                    <a:pt x="0" y="2089531"/>
                    <a:pt x="0" y="2038350"/>
                  </a:cubicBezTo>
                  <a:close/>
                </a:path>
              </a:pathLst>
            </a:custGeom>
            <a:solidFill>
              <a:srgbClr val="101B2F">
                <a:alpha val="95686"/>
              </a:srgbClr>
            </a:solidFill>
            <a:ln w="20955" cap="sq">
              <a:solidFill>
                <a:srgbClr val="6FE8B9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9889236" y="3195828"/>
            <a:ext cx="3168396" cy="370332"/>
            <a:chOff x="0" y="0"/>
            <a:chExt cx="4224528" cy="49377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224528" cy="493776"/>
            </a:xfrm>
            <a:custGeom>
              <a:avLst/>
              <a:gdLst/>
              <a:ahLst/>
              <a:cxnLst/>
              <a:rect r="r" b="b" t="t" l="l"/>
              <a:pathLst>
                <a:path h="493776" w="4224528">
                  <a:moveTo>
                    <a:pt x="0" y="0"/>
                  </a:moveTo>
                  <a:lnTo>
                    <a:pt x="4224528" y="0"/>
                  </a:lnTo>
                  <a:lnTo>
                    <a:pt x="4224528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6705" r="0" b="-116705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4224528" cy="5033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spc="4">
                  <a:solidFill>
                    <a:srgbClr val="6FE8B9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VALUABLE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889236" y="3799332"/>
            <a:ext cx="3168396" cy="246888"/>
            <a:chOff x="0" y="0"/>
            <a:chExt cx="4224528" cy="32918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224528" cy="329184"/>
            </a:xfrm>
            <a:custGeom>
              <a:avLst/>
              <a:gdLst/>
              <a:ahLst/>
              <a:cxnLst/>
              <a:rect r="r" b="b" t="t" l="l"/>
              <a:pathLst>
                <a:path h="329184" w="4224528">
                  <a:moveTo>
                    <a:pt x="0" y="0"/>
                  </a:moveTo>
                  <a:lnTo>
                    <a:pt x="4224528" y="0"/>
                  </a:lnTo>
                  <a:lnTo>
                    <a:pt x="4224528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0057" r="0" b="-200057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4224528" cy="3387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spc="2">
                  <a:solidFill>
                    <a:srgbClr val="F7FA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改善Execution / P&amp;L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3924978" y="2801302"/>
            <a:ext cx="3518535" cy="1598295"/>
            <a:chOff x="0" y="0"/>
            <a:chExt cx="4691380" cy="213106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691380" cy="2131060"/>
            </a:xfrm>
            <a:custGeom>
              <a:avLst/>
              <a:gdLst/>
              <a:ahLst/>
              <a:cxnLst/>
              <a:rect r="r" b="b" t="t" l="l"/>
              <a:pathLst>
                <a:path h="2131060" w="4691380">
                  <a:moveTo>
                    <a:pt x="0" y="92710"/>
                  </a:moveTo>
                  <a:cubicBezTo>
                    <a:pt x="0" y="41529"/>
                    <a:pt x="41529" y="0"/>
                    <a:pt x="92710" y="0"/>
                  </a:cubicBezTo>
                  <a:lnTo>
                    <a:pt x="4598670" y="0"/>
                  </a:lnTo>
                  <a:cubicBezTo>
                    <a:pt x="4649851" y="0"/>
                    <a:pt x="4691380" y="41529"/>
                    <a:pt x="4691380" y="92710"/>
                  </a:cubicBezTo>
                  <a:lnTo>
                    <a:pt x="4691380" y="2038350"/>
                  </a:lnTo>
                  <a:cubicBezTo>
                    <a:pt x="4691380" y="2089531"/>
                    <a:pt x="4649851" y="2131060"/>
                    <a:pt x="4598670" y="2131060"/>
                  </a:cubicBezTo>
                  <a:lnTo>
                    <a:pt x="92710" y="2131060"/>
                  </a:lnTo>
                  <a:cubicBezTo>
                    <a:pt x="41529" y="2131060"/>
                    <a:pt x="0" y="2089531"/>
                    <a:pt x="0" y="2038350"/>
                  </a:cubicBezTo>
                  <a:close/>
                </a:path>
              </a:pathLst>
            </a:custGeom>
            <a:solidFill>
              <a:srgbClr val="101B2F">
                <a:alpha val="95686"/>
              </a:srgbClr>
            </a:solidFill>
            <a:ln w="20955" cap="sq">
              <a:solidFill>
                <a:srgbClr val="FF9B3A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4100048" y="3195828"/>
            <a:ext cx="3168396" cy="370332"/>
            <a:chOff x="0" y="0"/>
            <a:chExt cx="4224528" cy="49377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224528" cy="493776"/>
            </a:xfrm>
            <a:custGeom>
              <a:avLst/>
              <a:gdLst/>
              <a:ahLst/>
              <a:cxnLst/>
              <a:rect r="r" b="b" t="t" l="l"/>
              <a:pathLst>
                <a:path h="493776" w="4224528">
                  <a:moveTo>
                    <a:pt x="0" y="0"/>
                  </a:moveTo>
                  <a:lnTo>
                    <a:pt x="4224528" y="0"/>
                  </a:lnTo>
                  <a:lnTo>
                    <a:pt x="4224528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6705" r="0" b="-11670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4224528" cy="5033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spc="4">
                  <a:solidFill>
                    <a:srgbClr val="FF9B3A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MONETIZABLE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4100048" y="3799332"/>
            <a:ext cx="3168396" cy="246888"/>
            <a:chOff x="0" y="0"/>
            <a:chExt cx="4224528" cy="32918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224528" cy="329184"/>
            </a:xfrm>
            <a:custGeom>
              <a:avLst/>
              <a:gdLst/>
              <a:ahLst/>
              <a:cxnLst/>
              <a:rect r="r" b="b" t="t" l="l"/>
              <a:pathLst>
                <a:path h="329184" w="4224528">
                  <a:moveTo>
                    <a:pt x="0" y="0"/>
                  </a:moveTo>
                  <a:lnTo>
                    <a:pt x="4224528" y="0"/>
                  </a:lnTo>
                  <a:lnTo>
                    <a:pt x="4224528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0057" r="0" b="-200057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"/>
              <a:ext cx="4224528" cy="3387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spc="2">
                  <a:solidFill>
                    <a:srgbClr val="F7FA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形成Revenue / Wallet Share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25868" y="5381816"/>
            <a:ext cx="5064633" cy="1964817"/>
            <a:chOff x="0" y="0"/>
            <a:chExt cx="6752844" cy="261975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752844" cy="2619756"/>
            </a:xfrm>
            <a:custGeom>
              <a:avLst/>
              <a:gdLst/>
              <a:ahLst/>
              <a:cxnLst/>
              <a:rect r="r" b="b" t="t" l="l"/>
              <a:pathLst>
                <a:path h="2619756" w="6752844">
                  <a:moveTo>
                    <a:pt x="0" y="92202"/>
                  </a:moveTo>
                  <a:cubicBezTo>
                    <a:pt x="0" y="41275"/>
                    <a:pt x="41275" y="0"/>
                    <a:pt x="92202" y="0"/>
                  </a:cubicBezTo>
                  <a:lnTo>
                    <a:pt x="6660642" y="0"/>
                  </a:lnTo>
                  <a:cubicBezTo>
                    <a:pt x="6711569" y="0"/>
                    <a:pt x="6752844" y="41275"/>
                    <a:pt x="6752844" y="92202"/>
                  </a:cubicBezTo>
                  <a:lnTo>
                    <a:pt x="6752844" y="2527554"/>
                  </a:lnTo>
                  <a:cubicBezTo>
                    <a:pt x="6752844" y="2578481"/>
                    <a:pt x="6711569" y="2619756"/>
                    <a:pt x="6660642" y="2619756"/>
                  </a:cubicBezTo>
                  <a:lnTo>
                    <a:pt x="92202" y="2619756"/>
                  </a:lnTo>
                  <a:cubicBezTo>
                    <a:pt x="41275" y="2619756"/>
                    <a:pt x="0" y="2578481"/>
                    <a:pt x="0" y="2527554"/>
                  </a:cubicBezTo>
                  <a:close/>
                </a:path>
              </a:pathLst>
            </a:custGeom>
            <a:solidFill>
              <a:srgbClr val="17223A"/>
            </a:solidFill>
            <a:ln w="17145" cap="sq">
              <a:solidFill>
                <a:srgbClr val="12D7FF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1577340" y="5650992"/>
            <a:ext cx="4389120" cy="274320"/>
            <a:chOff x="0" y="0"/>
            <a:chExt cx="5852160" cy="36576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852160" cy="365760"/>
            </a:xfrm>
            <a:custGeom>
              <a:avLst/>
              <a:gdLst/>
              <a:ahLst/>
              <a:cxnLst/>
              <a:rect r="r" b="b" t="t" l="l"/>
              <a:pathLst>
                <a:path h="36576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"/>
              <a:ext cx="5852160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spc="2">
                  <a:solidFill>
                    <a:srgbClr val="12D7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INDIA TEST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577340" y="6144768"/>
            <a:ext cx="4389120" cy="329184"/>
            <a:chOff x="0" y="0"/>
            <a:chExt cx="5852160" cy="43891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852160" cy="438912"/>
            </a:xfrm>
            <a:custGeom>
              <a:avLst/>
              <a:gdLst/>
              <a:ahLst/>
              <a:cxnLst/>
              <a:rect r="r" b="b" t="t" l="l"/>
              <a:pathLst>
                <a:path h="438912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5852160" cy="4579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spc="3">
                  <a:solidFill>
                    <a:srgbClr val="F7FA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Infrastructure → Adoption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577340" y="6693408"/>
            <a:ext cx="4389120" cy="246888"/>
            <a:chOff x="0" y="0"/>
            <a:chExt cx="5852160" cy="32918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852160" cy="329184"/>
            </a:xfrm>
            <a:custGeom>
              <a:avLst/>
              <a:gdLst/>
              <a:ahLst/>
              <a:cxnLst/>
              <a:rect r="r" b="b" t="t" l="l"/>
              <a:pathLst>
                <a:path h="329184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6400" r="0" b="-29640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5852160" cy="3387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spc="2">
                  <a:solidFill>
                    <a:srgbClr val="B8C3D6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能力是否真的被大量Flow使用？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6602540" y="5381816"/>
            <a:ext cx="5064633" cy="1964817"/>
            <a:chOff x="0" y="0"/>
            <a:chExt cx="6752844" cy="261975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6752844" cy="2619756"/>
            </a:xfrm>
            <a:custGeom>
              <a:avLst/>
              <a:gdLst/>
              <a:ahLst/>
              <a:cxnLst/>
              <a:rect r="r" b="b" t="t" l="l"/>
              <a:pathLst>
                <a:path h="2619756" w="6752844">
                  <a:moveTo>
                    <a:pt x="0" y="92202"/>
                  </a:moveTo>
                  <a:cubicBezTo>
                    <a:pt x="0" y="41275"/>
                    <a:pt x="41275" y="0"/>
                    <a:pt x="92202" y="0"/>
                  </a:cubicBezTo>
                  <a:lnTo>
                    <a:pt x="6660642" y="0"/>
                  </a:lnTo>
                  <a:cubicBezTo>
                    <a:pt x="6711569" y="0"/>
                    <a:pt x="6752844" y="41275"/>
                    <a:pt x="6752844" y="92202"/>
                  </a:cubicBezTo>
                  <a:lnTo>
                    <a:pt x="6752844" y="2527554"/>
                  </a:lnTo>
                  <a:cubicBezTo>
                    <a:pt x="6752844" y="2578481"/>
                    <a:pt x="6711569" y="2619756"/>
                    <a:pt x="6660642" y="2619756"/>
                  </a:cubicBezTo>
                  <a:lnTo>
                    <a:pt x="92202" y="2619756"/>
                  </a:lnTo>
                  <a:cubicBezTo>
                    <a:pt x="41275" y="2619756"/>
                    <a:pt x="0" y="2578481"/>
                    <a:pt x="0" y="2527554"/>
                  </a:cubicBezTo>
                  <a:close/>
                </a:path>
              </a:pathLst>
            </a:custGeom>
            <a:solidFill>
              <a:srgbClr val="17223A"/>
            </a:solidFill>
            <a:ln w="17145" cap="sq">
              <a:solidFill>
                <a:srgbClr val="F3C645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6954012" y="5650992"/>
            <a:ext cx="4389120" cy="274320"/>
            <a:chOff x="0" y="0"/>
            <a:chExt cx="5852160" cy="36576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852160" cy="365760"/>
            </a:xfrm>
            <a:custGeom>
              <a:avLst/>
              <a:gdLst/>
              <a:ahLst/>
              <a:cxnLst/>
              <a:rect r="r" b="b" t="t" l="l"/>
              <a:pathLst>
                <a:path h="36576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9525"/>
              <a:ext cx="5852160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spc="2">
                  <a:solidFill>
                    <a:srgbClr val="F3C645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KOREA TEST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6954012" y="6062472"/>
            <a:ext cx="4389120" cy="480060"/>
            <a:chOff x="0" y="0"/>
            <a:chExt cx="5852160" cy="64008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852160" cy="640080"/>
            </a:xfrm>
            <a:custGeom>
              <a:avLst/>
              <a:gdLst/>
              <a:ahLst/>
              <a:cxnLst/>
              <a:rect r="r" b="b" t="t" l="l"/>
              <a:pathLst>
                <a:path h="6400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8148" r="0" b="-128148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9525"/>
              <a:ext cx="585216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spc="3">
                  <a:solidFill>
                    <a:srgbClr val="F7FA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Professional Demand → Economic Necessity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6954012" y="6693408"/>
            <a:ext cx="4389120" cy="246888"/>
            <a:chOff x="0" y="0"/>
            <a:chExt cx="5852160" cy="329184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852160" cy="329184"/>
            </a:xfrm>
            <a:custGeom>
              <a:avLst/>
              <a:gdLst/>
              <a:ahLst/>
              <a:cxnLst/>
              <a:rect r="r" b="b" t="t" l="l"/>
              <a:pathLst>
                <a:path h="329184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6400" r="0" b="-29640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9525"/>
              <a:ext cx="5852160" cy="3387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spc="2">
                  <a:solidFill>
                    <a:srgbClr val="B8C3D6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Algo / Latency是否已非做不可？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1992928" y="5381816"/>
            <a:ext cx="5064633" cy="1964817"/>
            <a:chOff x="0" y="0"/>
            <a:chExt cx="6752844" cy="2619756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6752844" cy="2619756"/>
            </a:xfrm>
            <a:custGeom>
              <a:avLst/>
              <a:gdLst/>
              <a:ahLst/>
              <a:cxnLst/>
              <a:rect r="r" b="b" t="t" l="l"/>
              <a:pathLst>
                <a:path h="2619756" w="6752844">
                  <a:moveTo>
                    <a:pt x="0" y="92202"/>
                  </a:moveTo>
                  <a:cubicBezTo>
                    <a:pt x="0" y="41275"/>
                    <a:pt x="41275" y="0"/>
                    <a:pt x="92202" y="0"/>
                  </a:cubicBezTo>
                  <a:lnTo>
                    <a:pt x="6660642" y="0"/>
                  </a:lnTo>
                  <a:cubicBezTo>
                    <a:pt x="6711569" y="0"/>
                    <a:pt x="6752844" y="41275"/>
                    <a:pt x="6752844" y="92202"/>
                  </a:cubicBezTo>
                  <a:lnTo>
                    <a:pt x="6752844" y="2527554"/>
                  </a:lnTo>
                  <a:cubicBezTo>
                    <a:pt x="6752844" y="2578481"/>
                    <a:pt x="6711569" y="2619756"/>
                    <a:pt x="6660642" y="2619756"/>
                  </a:cubicBezTo>
                  <a:lnTo>
                    <a:pt x="92202" y="2619756"/>
                  </a:lnTo>
                  <a:cubicBezTo>
                    <a:pt x="41275" y="2619756"/>
                    <a:pt x="0" y="2578481"/>
                    <a:pt x="0" y="2527554"/>
                  </a:cubicBezTo>
                  <a:close/>
                </a:path>
              </a:pathLst>
            </a:custGeom>
            <a:solidFill>
              <a:srgbClr val="17223A"/>
            </a:solidFill>
            <a:ln w="17145" cap="sq">
              <a:solidFill>
                <a:srgbClr val="FF9B3A"/>
              </a:solidFill>
              <a:prstDash val="solid"/>
              <a:miter/>
            </a:ln>
          </p:spPr>
        </p:sp>
      </p:grpSp>
      <p:grpSp>
        <p:nvGrpSpPr>
          <p:cNvPr name="Group 68" id="68"/>
          <p:cNvGrpSpPr/>
          <p:nvPr/>
        </p:nvGrpSpPr>
        <p:grpSpPr>
          <a:xfrm rot="0">
            <a:off x="12344400" y="5650992"/>
            <a:ext cx="4389120" cy="274320"/>
            <a:chOff x="0" y="0"/>
            <a:chExt cx="5852160" cy="36576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5852160" cy="365760"/>
            </a:xfrm>
            <a:custGeom>
              <a:avLst/>
              <a:gdLst/>
              <a:ahLst/>
              <a:cxnLst/>
              <a:rect r="r" b="b" t="t" l="l"/>
              <a:pathLst>
                <a:path h="36576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9525"/>
              <a:ext cx="5852160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spc="2">
                  <a:solidFill>
                    <a:srgbClr val="FF9B3A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BUSINESS TEST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2344400" y="6144768"/>
            <a:ext cx="4389120" cy="329184"/>
            <a:chOff x="0" y="0"/>
            <a:chExt cx="5852160" cy="43891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5852160" cy="438912"/>
            </a:xfrm>
            <a:custGeom>
              <a:avLst/>
              <a:gdLst/>
              <a:ahLst/>
              <a:cxnLst/>
              <a:rect r="r" b="b" t="t" l="l"/>
              <a:pathLst>
                <a:path h="438912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19050"/>
              <a:ext cx="5852160" cy="4579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spc="3">
                  <a:solidFill>
                    <a:srgbClr val="F7FA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Demand → Monetization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2344400" y="6693408"/>
            <a:ext cx="4389120" cy="246888"/>
            <a:chOff x="0" y="0"/>
            <a:chExt cx="5852160" cy="329184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5852160" cy="329184"/>
            </a:xfrm>
            <a:custGeom>
              <a:avLst/>
              <a:gdLst/>
              <a:ahLst/>
              <a:cxnLst/>
              <a:rect r="r" b="b" t="t" l="l"/>
              <a:pathLst>
                <a:path h="329184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6400" r="0" b="-29640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9525"/>
              <a:ext cx="5852160" cy="3387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spc="2">
                  <a:solidFill>
                    <a:srgbClr val="B8C3D6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券商能否因此取得Revenue / Flow？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909762" y="8287703"/>
            <a:ext cx="14491335" cy="761619"/>
            <a:chOff x="0" y="0"/>
            <a:chExt cx="19321780" cy="101549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9321780" cy="1015492"/>
            </a:xfrm>
            <a:custGeom>
              <a:avLst/>
              <a:gdLst/>
              <a:ahLst/>
              <a:cxnLst/>
              <a:rect r="r" b="b" t="t" l="l"/>
              <a:pathLst>
                <a:path h="1015492" w="19321780">
                  <a:moveTo>
                    <a:pt x="0" y="93980"/>
                  </a:moveTo>
                  <a:cubicBezTo>
                    <a:pt x="0" y="42037"/>
                    <a:pt x="42037" y="0"/>
                    <a:pt x="93980" y="0"/>
                  </a:cubicBezTo>
                  <a:lnTo>
                    <a:pt x="19227800" y="0"/>
                  </a:lnTo>
                  <a:cubicBezTo>
                    <a:pt x="19279743" y="0"/>
                    <a:pt x="19321780" y="42037"/>
                    <a:pt x="19321780" y="93980"/>
                  </a:cubicBezTo>
                  <a:lnTo>
                    <a:pt x="19321780" y="921512"/>
                  </a:lnTo>
                  <a:cubicBezTo>
                    <a:pt x="19321780" y="973455"/>
                    <a:pt x="19279743" y="1015492"/>
                    <a:pt x="19227800" y="1015492"/>
                  </a:cubicBezTo>
                  <a:lnTo>
                    <a:pt x="93980" y="1015492"/>
                  </a:lnTo>
                  <a:cubicBezTo>
                    <a:pt x="42037" y="1015492"/>
                    <a:pt x="0" y="973455"/>
                    <a:pt x="0" y="921512"/>
                  </a:cubicBezTo>
                  <a:close/>
                </a:path>
              </a:pathLst>
            </a:custGeom>
            <a:solidFill>
              <a:srgbClr val="101B2F"/>
            </a:solidFill>
            <a:ln w="20955" cap="sq">
              <a:solidFill>
                <a:srgbClr val="F3C645"/>
              </a:solidFill>
              <a:prstDash val="solid"/>
              <a:miter/>
            </a:ln>
          </p:spPr>
        </p:sp>
      </p:grpSp>
      <p:grpSp>
        <p:nvGrpSpPr>
          <p:cNvPr name="Group 79" id="79"/>
          <p:cNvGrpSpPr/>
          <p:nvPr/>
        </p:nvGrpSpPr>
        <p:grpSpPr>
          <a:xfrm rot="0">
            <a:off x="2263140" y="8545068"/>
            <a:ext cx="13784580" cy="219456"/>
            <a:chOff x="0" y="0"/>
            <a:chExt cx="18379440" cy="29260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8379439" cy="292608"/>
            </a:xfrm>
            <a:custGeom>
              <a:avLst/>
              <a:gdLst/>
              <a:ahLst/>
              <a:cxnLst/>
              <a:rect r="r" b="b" t="t" l="l"/>
              <a:pathLst>
                <a:path h="292608" w="18379439">
                  <a:moveTo>
                    <a:pt x="0" y="0"/>
                  </a:moveTo>
                  <a:lnTo>
                    <a:pt x="18379439" y="0"/>
                  </a:lnTo>
                  <a:lnTo>
                    <a:pt x="18379439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73903" r="0" b="-1173903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9525"/>
              <a:ext cx="18379440" cy="3021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spc="3">
                  <a:solidFill>
                    <a:srgbClr val="F7FA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Maturity Benchmark｜程式交易市場成熟 = Infrastructure 被採用、產生經濟價值，並能被券商或交易所商業化。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754380" y="9779508"/>
            <a:ext cx="16596360" cy="274320"/>
            <a:chOff x="0" y="0"/>
            <a:chExt cx="22128480" cy="36576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2128480" cy="365760"/>
            </a:xfrm>
            <a:custGeom>
              <a:avLst/>
              <a:gdLst/>
              <a:ahLst/>
              <a:cxnLst/>
              <a:rect r="r" b="b" t="t" l="l"/>
              <a:pathLst>
                <a:path h="36576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28844" r="0" b="-1128844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9525"/>
              <a:ext cx="22128480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87"/>
                </a:lnSpc>
              </a:pPr>
              <a:r>
                <a:rPr lang="en-US" sz="989" spc="1">
                  <a:solidFill>
                    <a:srgbClr val="8793A6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Synthesis from India and Korea deep dives</a:t>
              </a:r>
            </a:p>
          </p:txBody>
        </p:sp>
      </p:grpSp>
      <p:sp>
        <p:nvSpPr>
          <p:cNvPr name="AutoShape 85" id="85"/>
          <p:cNvSpPr/>
          <p:nvPr/>
        </p:nvSpPr>
        <p:spPr>
          <a:xfrm flipV="true">
            <a:off x="13375866" y="3609975"/>
            <a:ext cx="405949" cy="0"/>
          </a:xfrm>
          <a:prstGeom prst="line">
            <a:avLst/>
          </a:prstGeom>
          <a:ln cap="rnd" w="19050">
            <a:solidFill>
              <a:srgbClr val="F3C645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86" id="86"/>
          <p:cNvSpPr/>
          <p:nvPr/>
        </p:nvSpPr>
        <p:spPr>
          <a:xfrm flipV="true">
            <a:off x="9144000" y="3583497"/>
            <a:ext cx="405949" cy="0"/>
          </a:xfrm>
          <a:prstGeom prst="line">
            <a:avLst/>
          </a:prstGeom>
          <a:ln cap="rnd" w="19050">
            <a:solidFill>
              <a:srgbClr val="F3C645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07695" y="470535"/>
            <a:ext cx="87630" cy="979170"/>
            <a:chOff x="0" y="0"/>
            <a:chExt cx="116840" cy="13055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6840" cy="1305560"/>
            </a:xfrm>
            <a:custGeom>
              <a:avLst/>
              <a:gdLst/>
              <a:ahLst/>
              <a:cxnLst/>
              <a:rect r="r" b="b" t="t" l="l"/>
              <a:pathLst>
                <a:path h="1305560" w="116840">
                  <a:moveTo>
                    <a:pt x="0" y="0"/>
                  </a:moveTo>
                  <a:lnTo>
                    <a:pt x="116840" y="0"/>
                  </a:lnTo>
                  <a:lnTo>
                    <a:pt x="116840" y="1305560"/>
                  </a:lnTo>
                  <a:lnTo>
                    <a:pt x="0" y="1305560"/>
                  </a:lnTo>
                  <a:close/>
                </a:path>
              </a:pathLst>
            </a:custGeom>
            <a:solidFill>
              <a:srgbClr val="F3C645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850392" y="864108"/>
            <a:ext cx="16253460" cy="617220"/>
            <a:chOff x="0" y="0"/>
            <a:chExt cx="21671280" cy="8229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671280" cy="822960"/>
            </a:xfrm>
            <a:custGeom>
              <a:avLst/>
              <a:gdLst/>
              <a:ahLst/>
              <a:cxnLst/>
              <a:rect r="r" b="b" t="t" l="l"/>
              <a:pathLst>
                <a:path h="822960" w="21671280">
                  <a:moveTo>
                    <a:pt x="0" y="0"/>
                  </a:moveTo>
                  <a:lnTo>
                    <a:pt x="21671280" y="0"/>
                  </a:lnTo>
                  <a:lnTo>
                    <a:pt x="216712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3105" r="0" b="-46310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671280" cy="832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230"/>
                </a:lnSpc>
              </a:pPr>
              <a:r>
                <a:rPr lang="en-US" sz="3525" spc="5">
                  <a:solidFill>
                    <a:srgbClr val="F7FA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台灣現在走到哪一步？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50392" y="1549908"/>
            <a:ext cx="16116300" cy="452628"/>
            <a:chOff x="0" y="0"/>
            <a:chExt cx="21488400" cy="6035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488400" cy="603504"/>
            </a:xfrm>
            <a:custGeom>
              <a:avLst/>
              <a:gdLst/>
              <a:ahLst/>
              <a:cxnLst/>
              <a:rect r="r" b="b" t="t" l="l"/>
              <a:pathLst>
                <a:path h="603504" w="21488400">
                  <a:moveTo>
                    <a:pt x="0" y="0"/>
                  </a:moveTo>
                  <a:lnTo>
                    <a:pt x="21488400" y="0"/>
                  </a:lnTo>
                  <a:lnTo>
                    <a:pt x="21488400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43785" r="0" b="-64378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1488400" cy="6035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spc="2">
                  <a:solidFill>
                    <a:srgbClr val="B8C3D6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用 India Test、Korea Test、Business Test 判斷台灣是否已從 Access 走到成熟市場。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91565" y="2257425"/>
            <a:ext cx="16127730" cy="1273302"/>
            <a:chOff x="0" y="0"/>
            <a:chExt cx="21503640" cy="169773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503641" cy="1697736"/>
            </a:xfrm>
            <a:custGeom>
              <a:avLst/>
              <a:gdLst/>
              <a:ahLst/>
              <a:cxnLst/>
              <a:rect r="r" b="b" t="t" l="l"/>
              <a:pathLst>
                <a:path h="1697736" w="21503641">
                  <a:moveTo>
                    <a:pt x="0" y="92329"/>
                  </a:moveTo>
                  <a:cubicBezTo>
                    <a:pt x="0" y="41275"/>
                    <a:pt x="41275" y="0"/>
                    <a:pt x="92329" y="0"/>
                  </a:cubicBezTo>
                  <a:lnTo>
                    <a:pt x="21411312" y="0"/>
                  </a:lnTo>
                  <a:cubicBezTo>
                    <a:pt x="21462239" y="0"/>
                    <a:pt x="21503641" y="41275"/>
                    <a:pt x="21503641" y="92329"/>
                  </a:cubicBezTo>
                  <a:lnTo>
                    <a:pt x="21503641" y="1605407"/>
                  </a:lnTo>
                  <a:cubicBezTo>
                    <a:pt x="21503641" y="1656334"/>
                    <a:pt x="21462366" y="1697736"/>
                    <a:pt x="21411312" y="1697736"/>
                  </a:cubicBezTo>
                  <a:lnTo>
                    <a:pt x="92329" y="1697736"/>
                  </a:lnTo>
                  <a:cubicBezTo>
                    <a:pt x="41402" y="1697736"/>
                    <a:pt x="0" y="1656461"/>
                    <a:pt x="0" y="1605407"/>
                  </a:cubicBezTo>
                  <a:close/>
                </a:path>
              </a:pathLst>
            </a:custGeom>
            <a:solidFill>
              <a:srgbClr val="101B2F">
                <a:alpha val="93725"/>
              </a:srgbClr>
            </a:solidFill>
            <a:ln w="1143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440180" y="2482596"/>
            <a:ext cx="3017520" cy="301752"/>
            <a:chOff x="0" y="0"/>
            <a:chExt cx="4023360" cy="4023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023360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402336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spc="3">
                  <a:solidFill>
                    <a:srgbClr val="F7FA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ACCESS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722495" y="2527935"/>
            <a:ext cx="3242310" cy="485394"/>
            <a:chOff x="0" y="0"/>
            <a:chExt cx="4323080" cy="64719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323080" cy="647192"/>
            </a:xfrm>
            <a:custGeom>
              <a:avLst/>
              <a:gdLst/>
              <a:ahLst/>
              <a:cxnLst/>
              <a:rect r="r" b="b" t="t" l="l"/>
              <a:pathLst>
                <a:path h="647192" w="4323080">
                  <a:moveTo>
                    <a:pt x="0" y="95123"/>
                  </a:moveTo>
                  <a:cubicBezTo>
                    <a:pt x="0" y="42672"/>
                    <a:pt x="42672" y="0"/>
                    <a:pt x="95123" y="0"/>
                  </a:cubicBezTo>
                  <a:lnTo>
                    <a:pt x="4227957" y="0"/>
                  </a:lnTo>
                  <a:cubicBezTo>
                    <a:pt x="4280535" y="0"/>
                    <a:pt x="4323080" y="42672"/>
                    <a:pt x="4323080" y="95123"/>
                  </a:cubicBezTo>
                  <a:lnTo>
                    <a:pt x="4323080" y="552069"/>
                  </a:lnTo>
                  <a:cubicBezTo>
                    <a:pt x="4323080" y="604647"/>
                    <a:pt x="4280408" y="647192"/>
                    <a:pt x="4227957" y="647192"/>
                  </a:cubicBezTo>
                  <a:lnTo>
                    <a:pt x="95123" y="647192"/>
                  </a:lnTo>
                  <a:cubicBezTo>
                    <a:pt x="42672" y="647192"/>
                    <a:pt x="0" y="604520"/>
                    <a:pt x="0" y="552069"/>
                  </a:cubicBezTo>
                  <a:close/>
                </a:path>
              </a:pathLst>
            </a:custGeom>
            <a:solidFill>
              <a:srgbClr val="6FE8B9">
                <a:alpha val="90196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4800600" y="2667762"/>
            <a:ext cx="3086100" cy="164592"/>
            <a:chOff x="0" y="0"/>
            <a:chExt cx="4114800" cy="2194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114800" cy="219456"/>
            </a:xfrm>
            <a:custGeom>
              <a:avLst/>
              <a:gdLst/>
              <a:ahLst/>
              <a:cxnLst/>
              <a:rect r="r" b="b" t="t" l="l"/>
              <a:pathLst>
                <a:path h="219456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219456"/>
                  </a:lnTo>
                  <a:lnTo>
                    <a:pt x="0" y="2194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5344" r="0" b="-315344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4114800" cy="2385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spc="2">
                  <a:solidFill>
                    <a:srgbClr val="F7FA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AVAILABLE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229600" y="2455164"/>
            <a:ext cx="6172200" cy="329184"/>
            <a:chOff x="0" y="0"/>
            <a:chExt cx="8229600" cy="43891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229600" cy="438912"/>
            </a:xfrm>
            <a:custGeom>
              <a:avLst/>
              <a:gdLst/>
              <a:ahLst/>
              <a:cxnLst/>
              <a:rect r="r" b="b" t="t" l="l"/>
              <a:pathLst>
                <a:path h="438912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5344" r="0" b="-315344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8229600" cy="4484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spc="2">
                  <a:solidFill>
                    <a:srgbClr val="F7FA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API / FIX / DMA / CoLo / 逐筆交易均存在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229600" y="2990088"/>
            <a:ext cx="6172200" cy="246888"/>
            <a:chOff x="0" y="0"/>
            <a:chExt cx="8229600" cy="32918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229600" cy="329184"/>
            </a:xfrm>
            <a:custGeom>
              <a:avLst/>
              <a:gdLst/>
              <a:ahLst/>
              <a:cxnLst/>
              <a:rect r="r" b="b" t="t" l="l"/>
              <a:pathLst>
                <a:path h="329184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8229600" cy="3482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spc="2">
                  <a:solidFill>
                    <a:srgbClr val="B8C3D6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基礎能力不是主要疑問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91565" y="3752469"/>
            <a:ext cx="16127730" cy="1273302"/>
            <a:chOff x="0" y="0"/>
            <a:chExt cx="21503640" cy="169773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503641" cy="1697736"/>
            </a:xfrm>
            <a:custGeom>
              <a:avLst/>
              <a:gdLst/>
              <a:ahLst/>
              <a:cxnLst/>
              <a:rect r="r" b="b" t="t" l="l"/>
              <a:pathLst>
                <a:path h="1697736" w="21503641">
                  <a:moveTo>
                    <a:pt x="0" y="92329"/>
                  </a:moveTo>
                  <a:cubicBezTo>
                    <a:pt x="0" y="41275"/>
                    <a:pt x="41275" y="0"/>
                    <a:pt x="92329" y="0"/>
                  </a:cubicBezTo>
                  <a:lnTo>
                    <a:pt x="21411312" y="0"/>
                  </a:lnTo>
                  <a:cubicBezTo>
                    <a:pt x="21462239" y="0"/>
                    <a:pt x="21503641" y="41275"/>
                    <a:pt x="21503641" y="92329"/>
                  </a:cubicBezTo>
                  <a:lnTo>
                    <a:pt x="21503641" y="1605407"/>
                  </a:lnTo>
                  <a:cubicBezTo>
                    <a:pt x="21503641" y="1656334"/>
                    <a:pt x="21462366" y="1697736"/>
                    <a:pt x="21411312" y="1697736"/>
                  </a:cubicBezTo>
                  <a:lnTo>
                    <a:pt x="92329" y="1697736"/>
                  </a:lnTo>
                  <a:cubicBezTo>
                    <a:pt x="41402" y="1697736"/>
                    <a:pt x="0" y="1656461"/>
                    <a:pt x="0" y="1605407"/>
                  </a:cubicBezTo>
                  <a:close/>
                </a:path>
              </a:pathLst>
            </a:custGeom>
            <a:solidFill>
              <a:srgbClr val="101B2F">
                <a:alpha val="93725"/>
              </a:srgbClr>
            </a:solidFill>
            <a:ln w="1143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440180" y="3977640"/>
            <a:ext cx="3017520" cy="301752"/>
            <a:chOff x="0" y="0"/>
            <a:chExt cx="4023360" cy="40233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023360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402336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spc="3">
                  <a:solidFill>
                    <a:srgbClr val="F7FA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ADOPTION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4722495" y="4022979"/>
            <a:ext cx="3242310" cy="485394"/>
            <a:chOff x="0" y="0"/>
            <a:chExt cx="4323080" cy="64719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323080" cy="647192"/>
            </a:xfrm>
            <a:custGeom>
              <a:avLst/>
              <a:gdLst/>
              <a:ahLst/>
              <a:cxnLst/>
              <a:rect r="r" b="b" t="t" l="l"/>
              <a:pathLst>
                <a:path h="647192" w="4323080">
                  <a:moveTo>
                    <a:pt x="0" y="95123"/>
                  </a:moveTo>
                  <a:cubicBezTo>
                    <a:pt x="0" y="42672"/>
                    <a:pt x="42672" y="0"/>
                    <a:pt x="95123" y="0"/>
                  </a:cubicBezTo>
                  <a:lnTo>
                    <a:pt x="4227957" y="0"/>
                  </a:lnTo>
                  <a:cubicBezTo>
                    <a:pt x="4280535" y="0"/>
                    <a:pt x="4323080" y="42672"/>
                    <a:pt x="4323080" y="95123"/>
                  </a:cubicBezTo>
                  <a:lnTo>
                    <a:pt x="4323080" y="552069"/>
                  </a:lnTo>
                  <a:cubicBezTo>
                    <a:pt x="4323080" y="604647"/>
                    <a:pt x="4280408" y="647192"/>
                    <a:pt x="4227957" y="647192"/>
                  </a:cubicBezTo>
                  <a:lnTo>
                    <a:pt x="95123" y="647192"/>
                  </a:lnTo>
                  <a:cubicBezTo>
                    <a:pt x="42672" y="647192"/>
                    <a:pt x="0" y="604520"/>
                    <a:pt x="0" y="552069"/>
                  </a:cubicBezTo>
                  <a:close/>
                </a:path>
              </a:pathLst>
            </a:custGeom>
            <a:solidFill>
              <a:srgbClr val="F3C645">
                <a:alpha val="90196"/>
              </a:srgbClr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4800600" y="4162806"/>
            <a:ext cx="3086100" cy="164592"/>
            <a:chOff x="0" y="0"/>
            <a:chExt cx="4114800" cy="21945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114800" cy="219456"/>
            </a:xfrm>
            <a:custGeom>
              <a:avLst/>
              <a:gdLst/>
              <a:ahLst/>
              <a:cxnLst/>
              <a:rect r="r" b="b" t="t" l="l"/>
              <a:pathLst>
                <a:path h="219456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219456"/>
                  </a:lnTo>
                  <a:lnTo>
                    <a:pt x="0" y="2194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5344" r="0" b="-315344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4114800" cy="2385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spc="2">
                  <a:solidFill>
                    <a:srgbClr val="111111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NOT FULLY OBSERVABLE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8229600" y="3950208"/>
            <a:ext cx="6172200" cy="329184"/>
            <a:chOff x="0" y="0"/>
            <a:chExt cx="8229600" cy="43891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229600" cy="438912"/>
            </a:xfrm>
            <a:custGeom>
              <a:avLst/>
              <a:gdLst/>
              <a:ahLst/>
              <a:cxnLst/>
              <a:rect r="r" b="b" t="t" l="l"/>
              <a:pathLst>
                <a:path h="438912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5344" r="0" b="-315344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8229600" cy="4484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spc="2">
                  <a:solidFill>
                    <a:srgbClr val="F7FA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公開資料難以量化 Algo share、DMA flow、CoLo utilization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8229600" y="4485132"/>
            <a:ext cx="6172200" cy="246888"/>
            <a:chOff x="0" y="0"/>
            <a:chExt cx="8229600" cy="32918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229600" cy="329184"/>
            </a:xfrm>
            <a:custGeom>
              <a:avLst/>
              <a:gdLst/>
              <a:ahLst/>
              <a:cxnLst/>
              <a:rect r="r" b="b" t="t" l="l"/>
              <a:pathLst>
                <a:path h="329184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8229600" cy="3482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spc="2">
                  <a:solidFill>
                    <a:srgbClr val="B8C3D6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需要內部資料驗證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091565" y="5247513"/>
            <a:ext cx="16127730" cy="1273302"/>
            <a:chOff x="0" y="0"/>
            <a:chExt cx="21503640" cy="169773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1503641" cy="1697736"/>
            </a:xfrm>
            <a:custGeom>
              <a:avLst/>
              <a:gdLst/>
              <a:ahLst/>
              <a:cxnLst/>
              <a:rect r="r" b="b" t="t" l="l"/>
              <a:pathLst>
                <a:path h="1697736" w="21503641">
                  <a:moveTo>
                    <a:pt x="0" y="92329"/>
                  </a:moveTo>
                  <a:cubicBezTo>
                    <a:pt x="0" y="41275"/>
                    <a:pt x="41275" y="0"/>
                    <a:pt x="92329" y="0"/>
                  </a:cubicBezTo>
                  <a:lnTo>
                    <a:pt x="21411312" y="0"/>
                  </a:lnTo>
                  <a:cubicBezTo>
                    <a:pt x="21462239" y="0"/>
                    <a:pt x="21503641" y="41275"/>
                    <a:pt x="21503641" y="92329"/>
                  </a:cubicBezTo>
                  <a:lnTo>
                    <a:pt x="21503641" y="1605407"/>
                  </a:lnTo>
                  <a:cubicBezTo>
                    <a:pt x="21503641" y="1656334"/>
                    <a:pt x="21462366" y="1697736"/>
                    <a:pt x="21411312" y="1697736"/>
                  </a:cubicBezTo>
                  <a:lnTo>
                    <a:pt x="92329" y="1697736"/>
                  </a:lnTo>
                  <a:cubicBezTo>
                    <a:pt x="41402" y="1697736"/>
                    <a:pt x="0" y="1656461"/>
                    <a:pt x="0" y="1605407"/>
                  </a:cubicBezTo>
                  <a:close/>
                </a:path>
              </a:pathLst>
            </a:custGeom>
            <a:solidFill>
              <a:srgbClr val="101B2F">
                <a:alpha val="93725"/>
              </a:srgbClr>
            </a:solidFill>
            <a:ln w="1143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440180" y="5472684"/>
            <a:ext cx="3017520" cy="301752"/>
            <a:chOff x="0" y="0"/>
            <a:chExt cx="4023360" cy="40233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023360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402336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spc="3">
                  <a:solidFill>
                    <a:srgbClr val="F7FA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ECONOMIC NECESSITY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4722495" y="5518023"/>
            <a:ext cx="3242310" cy="485394"/>
            <a:chOff x="0" y="0"/>
            <a:chExt cx="4323080" cy="64719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323080" cy="647192"/>
            </a:xfrm>
            <a:custGeom>
              <a:avLst/>
              <a:gdLst/>
              <a:ahLst/>
              <a:cxnLst/>
              <a:rect r="r" b="b" t="t" l="l"/>
              <a:pathLst>
                <a:path h="647192" w="4323080">
                  <a:moveTo>
                    <a:pt x="0" y="95123"/>
                  </a:moveTo>
                  <a:cubicBezTo>
                    <a:pt x="0" y="42672"/>
                    <a:pt x="42672" y="0"/>
                    <a:pt x="95123" y="0"/>
                  </a:cubicBezTo>
                  <a:lnTo>
                    <a:pt x="4227957" y="0"/>
                  </a:lnTo>
                  <a:cubicBezTo>
                    <a:pt x="4280535" y="0"/>
                    <a:pt x="4323080" y="42672"/>
                    <a:pt x="4323080" y="95123"/>
                  </a:cubicBezTo>
                  <a:lnTo>
                    <a:pt x="4323080" y="552069"/>
                  </a:lnTo>
                  <a:cubicBezTo>
                    <a:pt x="4323080" y="604647"/>
                    <a:pt x="4280408" y="647192"/>
                    <a:pt x="4227957" y="647192"/>
                  </a:cubicBezTo>
                  <a:lnTo>
                    <a:pt x="95123" y="647192"/>
                  </a:lnTo>
                  <a:cubicBezTo>
                    <a:pt x="42672" y="647192"/>
                    <a:pt x="0" y="604520"/>
                    <a:pt x="0" y="552069"/>
                  </a:cubicBezTo>
                  <a:close/>
                </a:path>
              </a:pathLst>
            </a:custGeom>
            <a:solidFill>
              <a:srgbClr val="FF9B3A">
                <a:alpha val="90196"/>
              </a:srgbClr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4800600" y="5657850"/>
            <a:ext cx="3086100" cy="164592"/>
            <a:chOff x="0" y="0"/>
            <a:chExt cx="4114800" cy="21945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114800" cy="219456"/>
            </a:xfrm>
            <a:custGeom>
              <a:avLst/>
              <a:gdLst/>
              <a:ahLst/>
              <a:cxnLst/>
              <a:rect r="r" b="b" t="t" l="l"/>
              <a:pathLst>
                <a:path h="219456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219456"/>
                  </a:lnTo>
                  <a:lnTo>
                    <a:pt x="0" y="2194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5344" r="0" b="-315344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4114800" cy="2385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spc="2">
                  <a:solidFill>
                    <a:srgbClr val="111111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PRODUCT-DEPENDENT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8229600" y="5445252"/>
            <a:ext cx="6172200" cy="329184"/>
            <a:chOff x="0" y="0"/>
            <a:chExt cx="8229600" cy="43891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229600" cy="438912"/>
            </a:xfrm>
            <a:custGeom>
              <a:avLst/>
              <a:gdLst/>
              <a:ahLst/>
              <a:cxnLst/>
              <a:rect r="r" b="b" t="t" l="l"/>
              <a:pathLst>
                <a:path h="438912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5344" r="0" b="-315344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8229600" cy="4484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spc="2">
                  <a:solidFill>
                    <a:srgbClr val="F7FA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Cash、Futures、Options、Warrants、Arbitrage 的 latency economics 不同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8229600" y="5980176"/>
            <a:ext cx="6172200" cy="246888"/>
            <a:chOff x="0" y="0"/>
            <a:chExt cx="8229600" cy="32918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229600" cy="329184"/>
            </a:xfrm>
            <a:custGeom>
              <a:avLst/>
              <a:gdLst/>
              <a:ahLst/>
              <a:cxnLst/>
              <a:rect r="r" b="b" t="t" l="l"/>
              <a:pathLst>
                <a:path h="329184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9050"/>
              <a:ext cx="8229600" cy="3482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spc="2">
                  <a:solidFill>
                    <a:srgbClr val="B8C3D6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必須按商品別研究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091565" y="6742557"/>
            <a:ext cx="16127730" cy="1273302"/>
            <a:chOff x="0" y="0"/>
            <a:chExt cx="21503640" cy="169773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1503641" cy="1697736"/>
            </a:xfrm>
            <a:custGeom>
              <a:avLst/>
              <a:gdLst/>
              <a:ahLst/>
              <a:cxnLst/>
              <a:rect r="r" b="b" t="t" l="l"/>
              <a:pathLst>
                <a:path h="1697736" w="21503641">
                  <a:moveTo>
                    <a:pt x="0" y="92329"/>
                  </a:moveTo>
                  <a:cubicBezTo>
                    <a:pt x="0" y="41275"/>
                    <a:pt x="41275" y="0"/>
                    <a:pt x="92329" y="0"/>
                  </a:cubicBezTo>
                  <a:lnTo>
                    <a:pt x="21411312" y="0"/>
                  </a:lnTo>
                  <a:cubicBezTo>
                    <a:pt x="21462239" y="0"/>
                    <a:pt x="21503641" y="41275"/>
                    <a:pt x="21503641" y="92329"/>
                  </a:cubicBezTo>
                  <a:lnTo>
                    <a:pt x="21503641" y="1605407"/>
                  </a:lnTo>
                  <a:cubicBezTo>
                    <a:pt x="21503641" y="1656334"/>
                    <a:pt x="21462366" y="1697736"/>
                    <a:pt x="21411312" y="1697736"/>
                  </a:cubicBezTo>
                  <a:lnTo>
                    <a:pt x="92329" y="1697736"/>
                  </a:lnTo>
                  <a:cubicBezTo>
                    <a:pt x="41402" y="1697736"/>
                    <a:pt x="0" y="1656461"/>
                    <a:pt x="0" y="1605407"/>
                  </a:cubicBezTo>
                  <a:close/>
                </a:path>
              </a:pathLst>
            </a:custGeom>
            <a:solidFill>
              <a:srgbClr val="101B2F">
                <a:alpha val="93725"/>
              </a:srgbClr>
            </a:solidFill>
            <a:ln w="1143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1440180" y="6967728"/>
            <a:ext cx="3017520" cy="301752"/>
            <a:chOff x="0" y="0"/>
            <a:chExt cx="4023360" cy="40233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023360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9525"/>
              <a:ext cx="402336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spc="3">
                  <a:solidFill>
                    <a:srgbClr val="F7FA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MONETIZATION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4722495" y="7013067"/>
            <a:ext cx="3242310" cy="485394"/>
            <a:chOff x="0" y="0"/>
            <a:chExt cx="4323080" cy="64719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4323080" cy="647192"/>
            </a:xfrm>
            <a:custGeom>
              <a:avLst/>
              <a:gdLst/>
              <a:ahLst/>
              <a:cxnLst/>
              <a:rect r="r" b="b" t="t" l="l"/>
              <a:pathLst>
                <a:path h="647192" w="4323080">
                  <a:moveTo>
                    <a:pt x="0" y="95123"/>
                  </a:moveTo>
                  <a:cubicBezTo>
                    <a:pt x="0" y="42672"/>
                    <a:pt x="42672" y="0"/>
                    <a:pt x="95123" y="0"/>
                  </a:cubicBezTo>
                  <a:lnTo>
                    <a:pt x="4227957" y="0"/>
                  </a:lnTo>
                  <a:cubicBezTo>
                    <a:pt x="4280535" y="0"/>
                    <a:pt x="4323080" y="42672"/>
                    <a:pt x="4323080" y="95123"/>
                  </a:cubicBezTo>
                  <a:lnTo>
                    <a:pt x="4323080" y="552069"/>
                  </a:lnTo>
                  <a:cubicBezTo>
                    <a:pt x="4323080" y="604647"/>
                    <a:pt x="4280408" y="647192"/>
                    <a:pt x="4227957" y="647192"/>
                  </a:cubicBezTo>
                  <a:lnTo>
                    <a:pt x="95123" y="647192"/>
                  </a:lnTo>
                  <a:cubicBezTo>
                    <a:pt x="42672" y="647192"/>
                    <a:pt x="0" y="604520"/>
                    <a:pt x="0" y="552069"/>
                  </a:cubicBezTo>
                  <a:close/>
                </a:path>
              </a:pathLst>
            </a:custGeom>
            <a:solidFill>
              <a:srgbClr val="FF657A">
                <a:alpha val="90196"/>
              </a:srgbClr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4800600" y="7152894"/>
            <a:ext cx="3086100" cy="164592"/>
            <a:chOff x="0" y="0"/>
            <a:chExt cx="4114800" cy="219456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114800" cy="219456"/>
            </a:xfrm>
            <a:custGeom>
              <a:avLst/>
              <a:gdLst/>
              <a:ahLst/>
              <a:cxnLst/>
              <a:rect r="r" b="b" t="t" l="l"/>
              <a:pathLst>
                <a:path h="219456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219456"/>
                  </a:lnTo>
                  <a:lnTo>
                    <a:pt x="0" y="2194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5344" r="0" b="-315344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19050"/>
              <a:ext cx="4114800" cy="2385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spc="2">
                  <a:solidFill>
                    <a:srgbClr val="F7FA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UNPROVEN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8229600" y="6940296"/>
            <a:ext cx="6172200" cy="329184"/>
            <a:chOff x="0" y="0"/>
            <a:chExt cx="8229600" cy="438912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8229600" cy="438912"/>
            </a:xfrm>
            <a:custGeom>
              <a:avLst/>
              <a:gdLst/>
              <a:ahLst/>
              <a:cxnLst/>
              <a:rect r="r" b="b" t="t" l="l"/>
              <a:pathLst>
                <a:path h="438912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5344" r="0" b="-315344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9525"/>
              <a:ext cx="8229600" cy="4484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spc="2">
                  <a:solidFill>
                    <a:srgbClr val="F7FA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尚無公開資料證明 Broker Algo / TCA / Low-Latency 能帶來多少增量Flow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8229600" y="7475220"/>
            <a:ext cx="6172200" cy="246888"/>
            <a:chOff x="0" y="0"/>
            <a:chExt cx="8229600" cy="329184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8229600" cy="329184"/>
            </a:xfrm>
            <a:custGeom>
              <a:avLst/>
              <a:gdLst/>
              <a:ahLst/>
              <a:cxnLst/>
              <a:rect r="r" b="b" t="t" l="l"/>
              <a:pathLst>
                <a:path h="329184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19050"/>
              <a:ext cx="8229600" cy="3482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spc="2">
                  <a:solidFill>
                    <a:srgbClr val="B8C3D6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需要Revenue / Wallet Share驗證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224915" y="8384667"/>
            <a:ext cx="15861030" cy="896874"/>
            <a:chOff x="0" y="0"/>
            <a:chExt cx="21148040" cy="1195832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1148039" cy="1195832"/>
            </a:xfrm>
            <a:custGeom>
              <a:avLst/>
              <a:gdLst/>
              <a:ahLst/>
              <a:cxnLst/>
              <a:rect r="r" b="b" t="t" l="l"/>
              <a:pathLst>
                <a:path h="1195832" w="21148039">
                  <a:moveTo>
                    <a:pt x="0" y="93472"/>
                  </a:moveTo>
                  <a:cubicBezTo>
                    <a:pt x="0" y="41783"/>
                    <a:pt x="41783" y="0"/>
                    <a:pt x="93472" y="0"/>
                  </a:cubicBezTo>
                  <a:lnTo>
                    <a:pt x="21054568" y="0"/>
                  </a:lnTo>
                  <a:cubicBezTo>
                    <a:pt x="21106130" y="0"/>
                    <a:pt x="21148039" y="41783"/>
                    <a:pt x="21148039" y="93472"/>
                  </a:cubicBezTo>
                  <a:lnTo>
                    <a:pt x="21148039" y="1102360"/>
                  </a:lnTo>
                  <a:cubicBezTo>
                    <a:pt x="21148039" y="1153922"/>
                    <a:pt x="21106256" y="1195832"/>
                    <a:pt x="21054568" y="1195832"/>
                  </a:cubicBezTo>
                  <a:lnTo>
                    <a:pt x="93472" y="1195832"/>
                  </a:lnTo>
                  <a:cubicBezTo>
                    <a:pt x="41783" y="1195832"/>
                    <a:pt x="0" y="1154049"/>
                    <a:pt x="0" y="1102360"/>
                  </a:cubicBezTo>
                  <a:close/>
                </a:path>
              </a:pathLst>
            </a:custGeom>
            <a:solidFill>
              <a:srgbClr val="17223A"/>
            </a:solidFill>
            <a:ln w="19050" cap="sq">
              <a:solidFill>
                <a:srgbClr val="F3C645"/>
              </a:solidFill>
              <a:prstDash val="solid"/>
              <a:miter/>
            </a:ln>
          </p:spPr>
        </p:sp>
      </p:grpSp>
      <p:grpSp>
        <p:nvGrpSpPr>
          <p:cNvPr name="Group 77" id="77"/>
          <p:cNvGrpSpPr/>
          <p:nvPr/>
        </p:nvGrpSpPr>
        <p:grpSpPr>
          <a:xfrm rot="0">
            <a:off x="1577340" y="8709660"/>
            <a:ext cx="15156180" cy="219456"/>
            <a:chOff x="0" y="0"/>
            <a:chExt cx="20208240" cy="29260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0208239" cy="292608"/>
            </a:xfrm>
            <a:custGeom>
              <a:avLst/>
              <a:gdLst/>
              <a:ahLst/>
              <a:cxnLst/>
              <a:rect r="r" b="b" t="t" l="l"/>
              <a:pathLst>
                <a:path h="292608" w="20208239">
                  <a:moveTo>
                    <a:pt x="0" y="0"/>
                  </a:moveTo>
                  <a:lnTo>
                    <a:pt x="20208239" y="0"/>
                  </a:lnTo>
                  <a:lnTo>
                    <a:pt x="20208239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95685" r="0" b="-1295685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0"/>
              <a:ext cx="20208240" cy="292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95"/>
                </a:lnSpc>
              </a:pPr>
              <a:r>
                <a:rPr lang="en-US" sz="1829" spc="3">
                  <a:solidFill>
                    <a:srgbClr val="F7FA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暫定判斷｜台灣 Access 大致成熟；真正未確認的是 Adoption 深度、商品別速度經濟性與商業化能力。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754380" y="9779508"/>
            <a:ext cx="16596360" cy="274320"/>
            <a:chOff x="0" y="0"/>
            <a:chExt cx="22128480" cy="36576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2128480" cy="365760"/>
            </a:xfrm>
            <a:custGeom>
              <a:avLst/>
              <a:gdLst/>
              <a:ahLst/>
              <a:cxnLst/>
              <a:rect r="r" b="b" t="t" l="l"/>
              <a:pathLst>
                <a:path h="36576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28844" r="0" b="-1128844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9525"/>
              <a:ext cx="22128480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87"/>
                </a:lnSpc>
              </a:pPr>
              <a:r>
                <a:rPr lang="en-US" sz="989" spc="1">
                  <a:solidFill>
                    <a:srgbClr val="8793A6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Public evidence distinguishes availability; adoption and monetization require broker / exchange internal data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07695" y="470535"/>
            <a:ext cx="87630" cy="979170"/>
            <a:chOff x="0" y="0"/>
            <a:chExt cx="116840" cy="13055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6840" cy="1305560"/>
            </a:xfrm>
            <a:custGeom>
              <a:avLst/>
              <a:gdLst/>
              <a:ahLst/>
              <a:cxnLst/>
              <a:rect r="r" b="b" t="t" l="l"/>
              <a:pathLst>
                <a:path h="1305560" w="116840">
                  <a:moveTo>
                    <a:pt x="0" y="0"/>
                  </a:moveTo>
                  <a:lnTo>
                    <a:pt x="116840" y="0"/>
                  </a:lnTo>
                  <a:lnTo>
                    <a:pt x="116840" y="1305560"/>
                  </a:lnTo>
                  <a:lnTo>
                    <a:pt x="0" y="1305560"/>
                  </a:lnTo>
                  <a:close/>
                </a:path>
              </a:pathLst>
            </a:custGeom>
            <a:solidFill>
              <a:srgbClr val="F3C645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850392" y="864108"/>
            <a:ext cx="16253460" cy="617220"/>
            <a:chOff x="0" y="0"/>
            <a:chExt cx="21671280" cy="8229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671280" cy="822960"/>
            </a:xfrm>
            <a:custGeom>
              <a:avLst/>
              <a:gdLst/>
              <a:ahLst/>
              <a:cxnLst/>
              <a:rect r="r" b="b" t="t" l="l"/>
              <a:pathLst>
                <a:path h="822960" w="21671280">
                  <a:moveTo>
                    <a:pt x="0" y="0"/>
                  </a:moveTo>
                  <a:lnTo>
                    <a:pt x="21671280" y="0"/>
                  </a:lnTo>
                  <a:lnTo>
                    <a:pt x="216712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3105" r="0" b="-46310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671280" cy="832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230"/>
                </a:lnSpc>
              </a:pPr>
              <a:r>
                <a:rPr lang="en-US" sz="3525" spc="5">
                  <a:solidFill>
                    <a:srgbClr val="F7FA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海外六項成熟條件，台灣具備多少？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50392" y="1549908"/>
            <a:ext cx="16116300" cy="452628"/>
            <a:chOff x="0" y="0"/>
            <a:chExt cx="21488400" cy="6035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488400" cy="603504"/>
            </a:xfrm>
            <a:custGeom>
              <a:avLst/>
              <a:gdLst/>
              <a:ahLst/>
              <a:cxnLst/>
              <a:rect r="r" b="b" t="t" l="l"/>
              <a:pathLst>
                <a:path h="603504" w="21488400">
                  <a:moveTo>
                    <a:pt x="0" y="0"/>
                  </a:moveTo>
                  <a:lnTo>
                    <a:pt x="21488400" y="0"/>
                  </a:lnTo>
                  <a:lnTo>
                    <a:pt x="21488400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43785" r="0" b="-64378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1488400" cy="6035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spc="2">
                  <a:solidFill>
                    <a:srgbClr val="B8C3D6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回到第二章共同條件：台灣最大的問題不是 Access，而是中後段是否形成閉環。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45807" y="2158556"/>
            <a:ext cx="5503545" cy="1525905"/>
            <a:chOff x="0" y="0"/>
            <a:chExt cx="7338060" cy="20345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338061" cy="2034540"/>
            </a:xfrm>
            <a:custGeom>
              <a:avLst/>
              <a:gdLst/>
              <a:ahLst/>
              <a:cxnLst/>
              <a:rect r="r" b="b" t="t" l="l"/>
              <a:pathLst>
                <a:path h="2034540" w="7338061">
                  <a:moveTo>
                    <a:pt x="0" y="92456"/>
                  </a:moveTo>
                  <a:cubicBezTo>
                    <a:pt x="0" y="41402"/>
                    <a:pt x="41402" y="0"/>
                    <a:pt x="92456" y="0"/>
                  </a:cubicBezTo>
                  <a:lnTo>
                    <a:pt x="7245604" y="0"/>
                  </a:lnTo>
                  <a:cubicBezTo>
                    <a:pt x="7296658" y="0"/>
                    <a:pt x="7338061" y="41402"/>
                    <a:pt x="7338061" y="92456"/>
                  </a:cubicBezTo>
                  <a:lnTo>
                    <a:pt x="7338061" y="1942084"/>
                  </a:lnTo>
                  <a:cubicBezTo>
                    <a:pt x="7338061" y="1993138"/>
                    <a:pt x="7296658" y="2034540"/>
                    <a:pt x="7245604" y="2034540"/>
                  </a:cubicBezTo>
                  <a:lnTo>
                    <a:pt x="92456" y="2034540"/>
                  </a:lnTo>
                  <a:cubicBezTo>
                    <a:pt x="41402" y="2034540"/>
                    <a:pt x="0" y="1993138"/>
                    <a:pt x="0" y="1942084"/>
                  </a:cubicBezTo>
                  <a:close/>
                </a:path>
              </a:pathLst>
            </a:custGeom>
            <a:solidFill>
              <a:srgbClr val="101B2F">
                <a:alpha val="93725"/>
              </a:srgbClr>
            </a:solidFill>
            <a:ln w="17145" cap="sq">
              <a:solidFill>
                <a:srgbClr val="6FE8B9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001268" y="2400300"/>
            <a:ext cx="2948940" cy="301752"/>
            <a:chOff x="0" y="0"/>
            <a:chExt cx="3931920" cy="4023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931920" cy="402336"/>
            </a:xfrm>
            <a:custGeom>
              <a:avLst/>
              <a:gdLst/>
              <a:ahLst/>
              <a:cxnLst/>
              <a:rect r="r" b="b" t="t" l="l"/>
              <a:pathLst>
                <a:path h="402336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0421" r="0" b="-14042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393192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spc="3">
                  <a:solidFill>
                    <a:srgbClr val="F7FA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Electronic Access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105275" y="2363343"/>
            <a:ext cx="1829562" cy="485394"/>
            <a:chOff x="0" y="0"/>
            <a:chExt cx="2439416" cy="64719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439416" cy="647192"/>
            </a:xfrm>
            <a:custGeom>
              <a:avLst/>
              <a:gdLst/>
              <a:ahLst/>
              <a:cxnLst/>
              <a:rect r="r" b="b" t="t" l="l"/>
              <a:pathLst>
                <a:path h="647192" w="2439416">
                  <a:moveTo>
                    <a:pt x="0" y="95123"/>
                  </a:moveTo>
                  <a:cubicBezTo>
                    <a:pt x="0" y="42672"/>
                    <a:pt x="42672" y="0"/>
                    <a:pt x="95123" y="0"/>
                  </a:cubicBezTo>
                  <a:lnTo>
                    <a:pt x="2344293" y="0"/>
                  </a:lnTo>
                  <a:cubicBezTo>
                    <a:pt x="2396871" y="0"/>
                    <a:pt x="2439416" y="42672"/>
                    <a:pt x="2439416" y="95123"/>
                  </a:cubicBezTo>
                  <a:lnTo>
                    <a:pt x="2439416" y="552069"/>
                  </a:lnTo>
                  <a:cubicBezTo>
                    <a:pt x="2439416" y="604647"/>
                    <a:pt x="2396744" y="647192"/>
                    <a:pt x="2344293" y="647192"/>
                  </a:cubicBezTo>
                  <a:lnTo>
                    <a:pt x="95123" y="647192"/>
                  </a:lnTo>
                  <a:cubicBezTo>
                    <a:pt x="42672" y="647192"/>
                    <a:pt x="0" y="604520"/>
                    <a:pt x="0" y="552069"/>
                  </a:cubicBezTo>
                  <a:close/>
                </a:path>
              </a:pathLst>
            </a:custGeom>
            <a:solidFill>
              <a:srgbClr val="6FE8B9">
                <a:alpha val="90196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4183380" y="2503170"/>
            <a:ext cx="1673352" cy="164592"/>
            <a:chOff x="0" y="0"/>
            <a:chExt cx="2231136" cy="2194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31136" cy="219456"/>
            </a:xfrm>
            <a:custGeom>
              <a:avLst/>
              <a:gdLst/>
              <a:ahLst/>
              <a:cxnLst/>
              <a:rect r="r" b="b" t="t" l="l"/>
              <a:pathLst>
                <a:path h="219456" w="2231136">
                  <a:moveTo>
                    <a:pt x="0" y="0"/>
                  </a:moveTo>
                  <a:lnTo>
                    <a:pt x="2231136" y="0"/>
                  </a:lnTo>
                  <a:lnTo>
                    <a:pt x="2231136" y="219456"/>
                  </a:lnTo>
                  <a:lnTo>
                    <a:pt x="0" y="2194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8097" r="0" b="-148097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2231136" cy="2385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spc="2">
                  <a:solidFill>
                    <a:srgbClr val="F7FA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ESTABLISHED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01268" y="3017520"/>
            <a:ext cx="4992624" cy="301752"/>
            <a:chOff x="0" y="0"/>
            <a:chExt cx="6656832" cy="40233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656832" cy="402336"/>
            </a:xfrm>
            <a:custGeom>
              <a:avLst/>
              <a:gdLst/>
              <a:ahLst/>
              <a:cxnLst/>
              <a:rect r="r" b="b" t="t" l="l"/>
              <a:pathLst>
                <a:path h="402336" w="6656832">
                  <a:moveTo>
                    <a:pt x="0" y="0"/>
                  </a:moveTo>
                  <a:lnTo>
                    <a:pt x="6656832" y="0"/>
                  </a:lnTo>
                  <a:lnTo>
                    <a:pt x="6656832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388" r="0" b="-272388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6656832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spc="2">
                  <a:solidFill>
                    <a:srgbClr val="B8C3D6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電子市場、API、DMA、FIX、逐筆交易、CoLo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712268" y="2158556"/>
            <a:ext cx="5503545" cy="1525905"/>
            <a:chOff x="0" y="0"/>
            <a:chExt cx="7338060" cy="20345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338061" cy="2034540"/>
            </a:xfrm>
            <a:custGeom>
              <a:avLst/>
              <a:gdLst/>
              <a:ahLst/>
              <a:cxnLst/>
              <a:rect r="r" b="b" t="t" l="l"/>
              <a:pathLst>
                <a:path h="2034540" w="7338061">
                  <a:moveTo>
                    <a:pt x="0" y="92456"/>
                  </a:moveTo>
                  <a:cubicBezTo>
                    <a:pt x="0" y="41402"/>
                    <a:pt x="41402" y="0"/>
                    <a:pt x="92456" y="0"/>
                  </a:cubicBezTo>
                  <a:lnTo>
                    <a:pt x="7245604" y="0"/>
                  </a:lnTo>
                  <a:cubicBezTo>
                    <a:pt x="7296658" y="0"/>
                    <a:pt x="7338061" y="41402"/>
                    <a:pt x="7338061" y="92456"/>
                  </a:cubicBezTo>
                  <a:lnTo>
                    <a:pt x="7338061" y="1942084"/>
                  </a:lnTo>
                  <a:cubicBezTo>
                    <a:pt x="7338061" y="1993138"/>
                    <a:pt x="7296658" y="2034540"/>
                    <a:pt x="7245604" y="2034540"/>
                  </a:cubicBezTo>
                  <a:lnTo>
                    <a:pt x="92456" y="2034540"/>
                  </a:lnTo>
                  <a:cubicBezTo>
                    <a:pt x="41402" y="2034540"/>
                    <a:pt x="0" y="1993138"/>
                    <a:pt x="0" y="1942084"/>
                  </a:cubicBezTo>
                  <a:close/>
                </a:path>
              </a:pathLst>
            </a:custGeom>
            <a:solidFill>
              <a:srgbClr val="101B2F">
                <a:alpha val="93725"/>
              </a:srgbClr>
            </a:solidFill>
            <a:ln w="17145" cap="sq">
              <a:solidFill>
                <a:srgbClr val="FF9B3A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6967728" y="2400300"/>
            <a:ext cx="2948940" cy="301752"/>
            <a:chOff x="0" y="0"/>
            <a:chExt cx="3931920" cy="40233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931920" cy="402336"/>
            </a:xfrm>
            <a:custGeom>
              <a:avLst/>
              <a:gdLst/>
              <a:ahLst/>
              <a:cxnLst/>
              <a:rect r="r" b="b" t="t" l="l"/>
              <a:pathLst>
                <a:path h="402336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0421" r="0" b="-14042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393192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spc="3">
                  <a:solidFill>
                    <a:srgbClr val="F7FA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Professional Demand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071735" y="2363343"/>
            <a:ext cx="1829562" cy="485394"/>
            <a:chOff x="0" y="0"/>
            <a:chExt cx="2439416" cy="64719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439416" cy="647192"/>
            </a:xfrm>
            <a:custGeom>
              <a:avLst/>
              <a:gdLst/>
              <a:ahLst/>
              <a:cxnLst/>
              <a:rect r="r" b="b" t="t" l="l"/>
              <a:pathLst>
                <a:path h="647192" w="2439416">
                  <a:moveTo>
                    <a:pt x="0" y="95123"/>
                  </a:moveTo>
                  <a:cubicBezTo>
                    <a:pt x="0" y="42672"/>
                    <a:pt x="42672" y="0"/>
                    <a:pt x="95123" y="0"/>
                  </a:cubicBezTo>
                  <a:lnTo>
                    <a:pt x="2344293" y="0"/>
                  </a:lnTo>
                  <a:cubicBezTo>
                    <a:pt x="2396871" y="0"/>
                    <a:pt x="2439416" y="42672"/>
                    <a:pt x="2439416" y="95123"/>
                  </a:cubicBezTo>
                  <a:lnTo>
                    <a:pt x="2439416" y="552069"/>
                  </a:lnTo>
                  <a:cubicBezTo>
                    <a:pt x="2439416" y="604647"/>
                    <a:pt x="2396744" y="647192"/>
                    <a:pt x="2344293" y="647192"/>
                  </a:cubicBezTo>
                  <a:lnTo>
                    <a:pt x="95123" y="647192"/>
                  </a:lnTo>
                  <a:cubicBezTo>
                    <a:pt x="42672" y="647192"/>
                    <a:pt x="0" y="604520"/>
                    <a:pt x="0" y="552069"/>
                  </a:cubicBezTo>
                  <a:close/>
                </a:path>
              </a:pathLst>
            </a:custGeom>
            <a:solidFill>
              <a:srgbClr val="FF9B3A">
                <a:alpha val="90196"/>
              </a:srgbClr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149840" y="2503170"/>
            <a:ext cx="1673352" cy="164592"/>
            <a:chOff x="0" y="0"/>
            <a:chExt cx="2231136" cy="21945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231136" cy="219456"/>
            </a:xfrm>
            <a:custGeom>
              <a:avLst/>
              <a:gdLst/>
              <a:ahLst/>
              <a:cxnLst/>
              <a:rect r="r" b="b" t="t" l="l"/>
              <a:pathLst>
                <a:path h="219456" w="2231136">
                  <a:moveTo>
                    <a:pt x="0" y="0"/>
                  </a:moveTo>
                  <a:lnTo>
                    <a:pt x="2231136" y="0"/>
                  </a:lnTo>
                  <a:lnTo>
                    <a:pt x="2231136" y="219456"/>
                  </a:lnTo>
                  <a:lnTo>
                    <a:pt x="0" y="2194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8097" r="0" b="-148097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2231136" cy="2385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spc="2">
                  <a:solidFill>
                    <a:srgbClr val="111111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PRODUCT-DEPENDENT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967728" y="3017520"/>
            <a:ext cx="4992624" cy="301752"/>
            <a:chOff x="0" y="0"/>
            <a:chExt cx="6656832" cy="40233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656832" cy="402336"/>
            </a:xfrm>
            <a:custGeom>
              <a:avLst/>
              <a:gdLst/>
              <a:ahLst/>
              <a:cxnLst/>
              <a:rect r="r" b="b" t="t" l="l"/>
              <a:pathLst>
                <a:path h="402336" w="6656832">
                  <a:moveTo>
                    <a:pt x="0" y="0"/>
                  </a:moveTo>
                  <a:lnTo>
                    <a:pt x="6656832" y="0"/>
                  </a:lnTo>
                  <a:lnTo>
                    <a:pt x="6656832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388" r="0" b="-272388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6656832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spc="2">
                  <a:solidFill>
                    <a:srgbClr val="B8C3D6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衍生品、套利、造市可能強於一般現股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2678728" y="2158556"/>
            <a:ext cx="5503545" cy="1525905"/>
            <a:chOff x="0" y="0"/>
            <a:chExt cx="7338060" cy="20345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338061" cy="2034540"/>
            </a:xfrm>
            <a:custGeom>
              <a:avLst/>
              <a:gdLst/>
              <a:ahLst/>
              <a:cxnLst/>
              <a:rect r="r" b="b" t="t" l="l"/>
              <a:pathLst>
                <a:path h="2034540" w="7338061">
                  <a:moveTo>
                    <a:pt x="0" y="92456"/>
                  </a:moveTo>
                  <a:cubicBezTo>
                    <a:pt x="0" y="41402"/>
                    <a:pt x="41402" y="0"/>
                    <a:pt x="92456" y="0"/>
                  </a:cubicBezTo>
                  <a:lnTo>
                    <a:pt x="7245604" y="0"/>
                  </a:lnTo>
                  <a:cubicBezTo>
                    <a:pt x="7296658" y="0"/>
                    <a:pt x="7338061" y="41402"/>
                    <a:pt x="7338061" y="92456"/>
                  </a:cubicBezTo>
                  <a:lnTo>
                    <a:pt x="7338061" y="1942084"/>
                  </a:lnTo>
                  <a:cubicBezTo>
                    <a:pt x="7338061" y="1993138"/>
                    <a:pt x="7296658" y="2034540"/>
                    <a:pt x="7245604" y="2034540"/>
                  </a:cubicBezTo>
                  <a:lnTo>
                    <a:pt x="92456" y="2034540"/>
                  </a:lnTo>
                  <a:cubicBezTo>
                    <a:pt x="41402" y="2034540"/>
                    <a:pt x="0" y="1993138"/>
                    <a:pt x="0" y="1942084"/>
                  </a:cubicBezTo>
                  <a:close/>
                </a:path>
              </a:pathLst>
            </a:custGeom>
            <a:solidFill>
              <a:srgbClr val="101B2F">
                <a:alpha val="93725"/>
              </a:srgbClr>
            </a:solidFill>
            <a:ln w="17145" cap="sq">
              <a:solidFill>
                <a:srgbClr val="F3C645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2934188" y="2400300"/>
            <a:ext cx="2948940" cy="301752"/>
            <a:chOff x="0" y="0"/>
            <a:chExt cx="3931920" cy="40233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931920" cy="402336"/>
            </a:xfrm>
            <a:custGeom>
              <a:avLst/>
              <a:gdLst/>
              <a:ahLst/>
              <a:cxnLst/>
              <a:rect r="r" b="b" t="t" l="l"/>
              <a:pathLst>
                <a:path h="402336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0421" r="0" b="-140421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393192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spc="3">
                  <a:solidFill>
                    <a:srgbClr val="F7FA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Execution Complexity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6038195" y="2363343"/>
            <a:ext cx="1829562" cy="485394"/>
            <a:chOff x="0" y="0"/>
            <a:chExt cx="2439416" cy="64719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439416" cy="647192"/>
            </a:xfrm>
            <a:custGeom>
              <a:avLst/>
              <a:gdLst/>
              <a:ahLst/>
              <a:cxnLst/>
              <a:rect r="r" b="b" t="t" l="l"/>
              <a:pathLst>
                <a:path h="647192" w="2439416">
                  <a:moveTo>
                    <a:pt x="0" y="95123"/>
                  </a:moveTo>
                  <a:cubicBezTo>
                    <a:pt x="0" y="42672"/>
                    <a:pt x="42672" y="0"/>
                    <a:pt x="95123" y="0"/>
                  </a:cubicBezTo>
                  <a:lnTo>
                    <a:pt x="2344293" y="0"/>
                  </a:lnTo>
                  <a:cubicBezTo>
                    <a:pt x="2396871" y="0"/>
                    <a:pt x="2439416" y="42672"/>
                    <a:pt x="2439416" y="95123"/>
                  </a:cubicBezTo>
                  <a:lnTo>
                    <a:pt x="2439416" y="552069"/>
                  </a:lnTo>
                  <a:cubicBezTo>
                    <a:pt x="2439416" y="604647"/>
                    <a:pt x="2396744" y="647192"/>
                    <a:pt x="2344293" y="647192"/>
                  </a:cubicBezTo>
                  <a:lnTo>
                    <a:pt x="95123" y="647192"/>
                  </a:lnTo>
                  <a:cubicBezTo>
                    <a:pt x="42672" y="647192"/>
                    <a:pt x="0" y="604520"/>
                    <a:pt x="0" y="552069"/>
                  </a:cubicBezTo>
                  <a:close/>
                </a:path>
              </a:pathLst>
            </a:custGeom>
            <a:solidFill>
              <a:srgbClr val="F3C645">
                <a:alpha val="90196"/>
              </a:srgbClr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6116300" y="2503170"/>
            <a:ext cx="1673352" cy="164592"/>
            <a:chOff x="0" y="0"/>
            <a:chExt cx="2231136" cy="21945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231136" cy="219456"/>
            </a:xfrm>
            <a:custGeom>
              <a:avLst/>
              <a:gdLst/>
              <a:ahLst/>
              <a:cxnLst/>
              <a:rect r="r" b="b" t="t" l="l"/>
              <a:pathLst>
                <a:path h="219456" w="2231136">
                  <a:moveTo>
                    <a:pt x="0" y="0"/>
                  </a:moveTo>
                  <a:lnTo>
                    <a:pt x="2231136" y="0"/>
                  </a:lnTo>
                  <a:lnTo>
                    <a:pt x="2231136" y="219456"/>
                  </a:lnTo>
                  <a:lnTo>
                    <a:pt x="0" y="2194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8097" r="0" b="-148097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2231136" cy="2385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spc="2">
                  <a:solidFill>
                    <a:srgbClr val="111111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PARTIAL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2934188" y="3017520"/>
            <a:ext cx="4992624" cy="301752"/>
            <a:chOff x="0" y="0"/>
            <a:chExt cx="6656832" cy="40233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656832" cy="402336"/>
            </a:xfrm>
            <a:custGeom>
              <a:avLst/>
              <a:gdLst/>
              <a:ahLst/>
              <a:cxnLst/>
              <a:rect r="r" b="b" t="t" l="l"/>
              <a:pathLst>
                <a:path h="402336" w="6656832">
                  <a:moveTo>
                    <a:pt x="0" y="0"/>
                  </a:moveTo>
                  <a:lnTo>
                    <a:pt x="6656832" y="0"/>
                  </a:lnTo>
                  <a:lnTo>
                    <a:pt x="6656832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388" r="0" b="-272388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9525"/>
              <a:ext cx="6656832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spc="2">
                  <a:solidFill>
                    <a:srgbClr val="B8C3D6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大單 / Basket有價值；Venue routing複雜度較低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745807" y="4051364"/>
            <a:ext cx="5503545" cy="1525905"/>
            <a:chOff x="0" y="0"/>
            <a:chExt cx="7338060" cy="20345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338061" cy="2034540"/>
            </a:xfrm>
            <a:custGeom>
              <a:avLst/>
              <a:gdLst/>
              <a:ahLst/>
              <a:cxnLst/>
              <a:rect r="r" b="b" t="t" l="l"/>
              <a:pathLst>
                <a:path h="2034540" w="7338061">
                  <a:moveTo>
                    <a:pt x="0" y="92456"/>
                  </a:moveTo>
                  <a:cubicBezTo>
                    <a:pt x="0" y="41402"/>
                    <a:pt x="41402" y="0"/>
                    <a:pt x="92456" y="0"/>
                  </a:cubicBezTo>
                  <a:lnTo>
                    <a:pt x="7245604" y="0"/>
                  </a:lnTo>
                  <a:cubicBezTo>
                    <a:pt x="7296658" y="0"/>
                    <a:pt x="7338061" y="41402"/>
                    <a:pt x="7338061" y="92456"/>
                  </a:cubicBezTo>
                  <a:lnTo>
                    <a:pt x="7338061" y="1942084"/>
                  </a:lnTo>
                  <a:cubicBezTo>
                    <a:pt x="7338061" y="1993138"/>
                    <a:pt x="7296658" y="2034540"/>
                    <a:pt x="7245604" y="2034540"/>
                  </a:cubicBezTo>
                  <a:lnTo>
                    <a:pt x="92456" y="2034540"/>
                  </a:lnTo>
                  <a:cubicBezTo>
                    <a:pt x="41402" y="2034540"/>
                    <a:pt x="0" y="1993138"/>
                    <a:pt x="0" y="1942084"/>
                  </a:cubicBezTo>
                  <a:close/>
                </a:path>
              </a:pathLst>
            </a:custGeom>
            <a:solidFill>
              <a:srgbClr val="101B2F">
                <a:alpha val="93725"/>
              </a:srgbClr>
            </a:solidFill>
            <a:ln w="17145" cap="sq">
              <a:solidFill>
                <a:srgbClr val="FF9B3A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001268" y="4293108"/>
            <a:ext cx="2948940" cy="301752"/>
            <a:chOff x="0" y="0"/>
            <a:chExt cx="3931920" cy="40233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931920" cy="402336"/>
            </a:xfrm>
            <a:custGeom>
              <a:avLst/>
              <a:gdLst/>
              <a:ahLst/>
              <a:cxnLst/>
              <a:rect r="r" b="b" t="t" l="l"/>
              <a:pathLst>
                <a:path h="402336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0421" r="0" b="-140421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393192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spc="3">
                  <a:solidFill>
                    <a:srgbClr val="F7FA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Latency Economics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4105275" y="4256151"/>
            <a:ext cx="1829562" cy="485394"/>
            <a:chOff x="0" y="0"/>
            <a:chExt cx="2439416" cy="64719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439416" cy="647192"/>
            </a:xfrm>
            <a:custGeom>
              <a:avLst/>
              <a:gdLst/>
              <a:ahLst/>
              <a:cxnLst/>
              <a:rect r="r" b="b" t="t" l="l"/>
              <a:pathLst>
                <a:path h="647192" w="2439416">
                  <a:moveTo>
                    <a:pt x="0" y="95123"/>
                  </a:moveTo>
                  <a:cubicBezTo>
                    <a:pt x="0" y="42672"/>
                    <a:pt x="42672" y="0"/>
                    <a:pt x="95123" y="0"/>
                  </a:cubicBezTo>
                  <a:lnTo>
                    <a:pt x="2344293" y="0"/>
                  </a:lnTo>
                  <a:cubicBezTo>
                    <a:pt x="2396871" y="0"/>
                    <a:pt x="2439416" y="42672"/>
                    <a:pt x="2439416" y="95123"/>
                  </a:cubicBezTo>
                  <a:lnTo>
                    <a:pt x="2439416" y="552069"/>
                  </a:lnTo>
                  <a:cubicBezTo>
                    <a:pt x="2439416" y="604647"/>
                    <a:pt x="2396744" y="647192"/>
                    <a:pt x="2344293" y="647192"/>
                  </a:cubicBezTo>
                  <a:lnTo>
                    <a:pt x="95123" y="647192"/>
                  </a:lnTo>
                  <a:cubicBezTo>
                    <a:pt x="42672" y="647192"/>
                    <a:pt x="0" y="604520"/>
                    <a:pt x="0" y="552069"/>
                  </a:cubicBezTo>
                  <a:close/>
                </a:path>
              </a:pathLst>
            </a:custGeom>
            <a:solidFill>
              <a:srgbClr val="FF9B3A">
                <a:alpha val="90196"/>
              </a:srgbClr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4183380" y="4395978"/>
            <a:ext cx="1673352" cy="164592"/>
            <a:chOff x="0" y="0"/>
            <a:chExt cx="2231136" cy="21945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231136" cy="219456"/>
            </a:xfrm>
            <a:custGeom>
              <a:avLst/>
              <a:gdLst/>
              <a:ahLst/>
              <a:cxnLst/>
              <a:rect r="r" b="b" t="t" l="l"/>
              <a:pathLst>
                <a:path h="219456" w="2231136">
                  <a:moveTo>
                    <a:pt x="0" y="0"/>
                  </a:moveTo>
                  <a:lnTo>
                    <a:pt x="2231136" y="0"/>
                  </a:lnTo>
                  <a:lnTo>
                    <a:pt x="2231136" y="219456"/>
                  </a:lnTo>
                  <a:lnTo>
                    <a:pt x="0" y="2194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8097" r="0" b="-148097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19050"/>
              <a:ext cx="2231136" cy="2385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spc="2">
                  <a:solidFill>
                    <a:srgbClr val="111111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PRODUCT-DEPENDENT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001268" y="4910328"/>
            <a:ext cx="4992624" cy="301752"/>
            <a:chOff x="0" y="0"/>
            <a:chExt cx="6656832" cy="40233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656832" cy="402336"/>
            </a:xfrm>
            <a:custGeom>
              <a:avLst/>
              <a:gdLst/>
              <a:ahLst/>
              <a:cxnLst/>
              <a:rect r="r" b="b" t="t" l="l"/>
              <a:pathLst>
                <a:path h="402336" w="6656832">
                  <a:moveTo>
                    <a:pt x="0" y="0"/>
                  </a:moveTo>
                  <a:lnTo>
                    <a:pt x="6656832" y="0"/>
                  </a:lnTo>
                  <a:lnTo>
                    <a:pt x="6656832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388" r="0" b="-272388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9525"/>
              <a:ext cx="6656832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spc="2">
                  <a:solidFill>
                    <a:srgbClr val="B8C3D6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需拆 Cash / Futures / Options / Warrants / Arbitrage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6712268" y="4051364"/>
            <a:ext cx="5503545" cy="1525905"/>
            <a:chOff x="0" y="0"/>
            <a:chExt cx="7338060" cy="203454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7338061" cy="2034540"/>
            </a:xfrm>
            <a:custGeom>
              <a:avLst/>
              <a:gdLst/>
              <a:ahLst/>
              <a:cxnLst/>
              <a:rect r="r" b="b" t="t" l="l"/>
              <a:pathLst>
                <a:path h="2034540" w="7338061">
                  <a:moveTo>
                    <a:pt x="0" y="92456"/>
                  </a:moveTo>
                  <a:cubicBezTo>
                    <a:pt x="0" y="41402"/>
                    <a:pt x="41402" y="0"/>
                    <a:pt x="92456" y="0"/>
                  </a:cubicBezTo>
                  <a:lnTo>
                    <a:pt x="7245604" y="0"/>
                  </a:lnTo>
                  <a:cubicBezTo>
                    <a:pt x="7296658" y="0"/>
                    <a:pt x="7338061" y="41402"/>
                    <a:pt x="7338061" y="92456"/>
                  </a:cubicBezTo>
                  <a:lnTo>
                    <a:pt x="7338061" y="1942084"/>
                  </a:lnTo>
                  <a:cubicBezTo>
                    <a:pt x="7338061" y="1993138"/>
                    <a:pt x="7296658" y="2034540"/>
                    <a:pt x="7245604" y="2034540"/>
                  </a:cubicBezTo>
                  <a:lnTo>
                    <a:pt x="92456" y="2034540"/>
                  </a:lnTo>
                  <a:cubicBezTo>
                    <a:pt x="41402" y="2034540"/>
                    <a:pt x="0" y="1993138"/>
                    <a:pt x="0" y="1942084"/>
                  </a:cubicBezTo>
                  <a:close/>
                </a:path>
              </a:pathLst>
            </a:custGeom>
            <a:solidFill>
              <a:srgbClr val="101B2F">
                <a:alpha val="93725"/>
              </a:srgbClr>
            </a:solidFill>
            <a:ln w="17145" cap="sq">
              <a:solidFill>
                <a:srgbClr val="FF657A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6967728" y="4293108"/>
            <a:ext cx="2948940" cy="301752"/>
            <a:chOff x="0" y="0"/>
            <a:chExt cx="3931920" cy="40233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931920" cy="402336"/>
            </a:xfrm>
            <a:custGeom>
              <a:avLst/>
              <a:gdLst/>
              <a:ahLst/>
              <a:cxnLst/>
              <a:rect r="r" b="b" t="t" l="l"/>
              <a:pathLst>
                <a:path h="402336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0421" r="0" b="-14042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9525"/>
              <a:ext cx="393192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spc="3">
                  <a:solidFill>
                    <a:srgbClr val="F7FA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Monetization Incentive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0071735" y="4256151"/>
            <a:ext cx="1829562" cy="485394"/>
            <a:chOff x="0" y="0"/>
            <a:chExt cx="2439416" cy="64719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439416" cy="647192"/>
            </a:xfrm>
            <a:custGeom>
              <a:avLst/>
              <a:gdLst/>
              <a:ahLst/>
              <a:cxnLst/>
              <a:rect r="r" b="b" t="t" l="l"/>
              <a:pathLst>
                <a:path h="647192" w="2439416">
                  <a:moveTo>
                    <a:pt x="0" y="95123"/>
                  </a:moveTo>
                  <a:cubicBezTo>
                    <a:pt x="0" y="42672"/>
                    <a:pt x="42672" y="0"/>
                    <a:pt x="95123" y="0"/>
                  </a:cubicBezTo>
                  <a:lnTo>
                    <a:pt x="2344293" y="0"/>
                  </a:lnTo>
                  <a:cubicBezTo>
                    <a:pt x="2396871" y="0"/>
                    <a:pt x="2439416" y="42672"/>
                    <a:pt x="2439416" y="95123"/>
                  </a:cubicBezTo>
                  <a:lnTo>
                    <a:pt x="2439416" y="552069"/>
                  </a:lnTo>
                  <a:cubicBezTo>
                    <a:pt x="2439416" y="604647"/>
                    <a:pt x="2396744" y="647192"/>
                    <a:pt x="2344293" y="647192"/>
                  </a:cubicBezTo>
                  <a:lnTo>
                    <a:pt x="95123" y="647192"/>
                  </a:lnTo>
                  <a:cubicBezTo>
                    <a:pt x="42672" y="647192"/>
                    <a:pt x="0" y="604520"/>
                    <a:pt x="0" y="552069"/>
                  </a:cubicBezTo>
                  <a:close/>
                </a:path>
              </a:pathLst>
            </a:custGeom>
            <a:solidFill>
              <a:srgbClr val="FF657A">
                <a:alpha val="90196"/>
              </a:srgbClr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0149840" y="4395978"/>
            <a:ext cx="1673352" cy="164592"/>
            <a:chOff x="0" y="0"/>
            <a:chExt cx="2231136" cy="21945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231136" cy="219456"/>
            </a:xfrm>
            <a:custGeom>
              <a:avLst/>
              <a:gdLst/>
              <a:ahLst/>
              <a:cxnLst/>
              <a:rect r="r" b="b" t="t" l="l"/>
              <a:pathLst>
                <a:path h="219456" w="2231136">
                  <a:moveTo>
                    <a:pt x="0" y="0"/>
                  </a:moveTo>
                  <a:lnTo>
                    <a:pt x="2231136" y="0"/>
                  </a:lnTo>
                  <a:lnTo>
                    <a:pt x="2231136" y="219456"/>
                  </a:lnTo>
                  <a:lnTo>
                    <a:pt x="0" y="2194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8097" r="0" b="-148097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19050"/>
              <a:ext cx="2231136" cy="2385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spc="2">
                  <a:solidFill>
                    <a:srgbClr val="F7FA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UNPROVEN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6967728" y="4910328"/>
            <a:ext cx="4992624" cy="301752"/>
            <a:chOff x="0" y="0"/>
            <a:chExt cx="6656832" cy="40233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656832" cy="402336"/>
            </a:xfrm>
            <a:custGeom>
              <a:avLst/>
              <a:gdLst/>
              <a:ahLst/>
              <a:cxnLst/>
              <a:rect r="r" b="b" t="t" l="l"/>
              <a:pathLst>
                <a:path h="402336" w="6656832">
                  <a:moveTo>
                    <a:pt x="0" y="0"/>
                  </a:moveTo>
                  <a:lnTo>
                    <a:pt x="6656832" y="0"/>
                  </a:lnTo>
                  <a:lnTo>
                    <a:pt x="6656832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388" r="0" b="-272388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9525"/>
              <a:ext cx="6656832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spc="2">
                  <a:solidFill>
                    <a:srgbClr val="B8C3D6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Broker Algo / TCA / Low-Latency是否帶來Flow？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2678728" y="4051364"/>
            <a:ext cx="5503545" cy="1525905"/>
            <a:chOff x="0" y="0"/>
            <a:chExt cx="7338060" cy="203454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7338061" cy="2034540"/>
            </a:xfrm>
            <a:custGeom>
              <a:avLst/>
              <a:gdLst/>
              <a:ahLst/>
              <a:cxnLst/>
              <a:rect r="r" b="b" t="t" l="l"/>
              <a:pathLst>
                <a:path h="2034540" w="7338061">
                  <a:moveTo>
                    <a:pt x="0" y="92456"/>
                  </a:moveTo>
                  <a:cubicBezTo>
                    <a:pt x="0" y="41402"/>
                    <a:pt x="41402" y="0"/>
                    <a:pt x="92456" y="0"/>
                  </a:cubicBezTo>
                  <a:lnTo>
                    <a:pt x="7245604" y="0"/>
                  </a:lnTo>
                  <a:cubicBezTo>
                    <a:pt x="7296658" y="0"/>
                    <a:pt x="7338061" y="41402"/>
                    <a:pt x="7338061" y="92456"/>
                  </a:cubicBezTo>
                  <a:lnTo>
                    <a:pt x="7338061" y="1942084"/>
                  </a:lnTo>
                  <a:cubicBezTo>
                    <a:pt x="7338061" y="1993138"/>
                    <a:pt x="7296658" y="2034540"/>
                    <a:pt x="7245604" y="2034540"/>
                  </a:cubicBezTo>
                  <a:lnTo>
                    <a:pt x="92456" y="2034540"/>
                  </a:lnTo>
                  <a:cubicBezTo>
                    <a:pt x="41402" y="2034540"/>
                    <a:pt x="0" y="1993138"/>
                    <a:pt x="0" y="1942084"/>
                  </a:cubicBezTo>
                  <a:close/>
                </a:path>
              </a:pathLst>
            </a:custGeom>
            <a:solidFill>
              <a:srgbClr val="101B2F">
                <a:alpha val="93725"/>
              </a:srgbClr>
            </a:solidFill>
            <a:ln w="17145" cap="sq">
              <a:solidFill>
                <a:srgbClr val="6FE8B9"/>
              </a:solidFill>
              <a:prstDash val="solid"/>
              <a:miter/>
            </a:ln>
          </p:spPr>
        </p:sp>
      </p:grpSp>
      <p:grpSp>
        <p:nvGrpSpPr>
          <p:cNvPr name="Group 78" id="78"/>
          <p:cNvGrpSpPr/>
          <p:nvPr/>
        </p:nvGrpSpPr>
        <p:grpSpPr>
          <a:xfrm rot="0">
            <a:off x="12934188" y="4293108"/>
            <a:ext cx="2948940" cy="301752"/>
            <a:chOff x="0" y="0"/>
            <a:chExt cx="3931920" cy="402336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3931920" cy="402336"/>
            </a:xfrm>
            <a:custGeom>
              <a:avLst/>
              <a:gdLst/>
              <a:ahLst/>
              <a:cxnLst/>
              <a:rect r="r" b="b" t="t" l="l"/>
              <a:pathLst>
                <a:path h="402336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0421" r="0" b="-140421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9525"/>
              <a:ext cx="393192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spc="3">
                  <a:solidFill>
                    <a:srgbClr val="F7FA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Governance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6038195" y="4256151"/>
            <a:ext cx="1829562" cy="485394"/>
            <a:chOff x="0" y="0"/>
            <a:chExt cx="2439416" cy="647192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2439416" cy="647192"/>
            </a:xfrm>
            <a:custGeom>
              <a:avLst/>
              <a:gdLst/>
              <a:ahLst/>
              <a:cxnLst/>
              <a:rect r="r" b="b" t="t" l="l"/>
              <a:pathLst>
                <a:path h="647192" w="2439416">
                  <a:moveTo>
                    <a:pt x="0" y="95123"/>
                  </a:moveTo>
                  <a:cubicBezTo>
                    <a:pt x="0" y="42672"/>
                    <a:pt x="42672" y="0"/>
                    <a:pt x="95123" y="0"/>
                  </a:cubicBezTo>
                  <a:lnTo>
                    <a:pt x="2344293" y="0"/>
                  </a:lnTo>
                  <a:cubicBezTo>
                    <a:pt x="2396871" y="0"/>
                    <a:pt x="2439416" y="42672"/>
                    <a:pt x="2439416" y="95123"/>
                  </a:cubicBezTo>
                  <a:lnTo>
                    <a:pt x="2439416" y="552069"/>
                  </a:lnTo>
                  <a:cubicBezTo>
                    <a:pt x="2439416" y="604647"/>
                    <a:pt x="2396744" y="647192"/>
                    <a:pt x="2344293" y="647192"/>
                  </a:cubicBezTo>
                  <a:lnTo>
                    <a:pt x="95123" y="647192"/>
                  </a:lnTo>
                  <a:cubicBezTo>
                    <a:pt x="42672" y="647192"/>
                    <a:pt x="0" y="604520"/>
                    <a:pt x="0" y="552069"/>
                  </a:cubicBezTo>
                  <a:close/>
                </a:path>
              </a:pathLst>
            </a:custGeom>
            <a:solidFill>
              <a:srgbClr val="6FE8B9">
                <a:alpha val="90196"/>
              </a:srgbClr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16116300" y="4395978"/>
            <a:ext cx="1673352" cy="164592"/>
            <a:chOff x="0" y="0"/>
            <a:chExt cx="2231136" cy="219456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231136" cy="219456"/>
            </a:xfrm>
            <a:custGeom>
              <a:avLst/>
              <a:gdLst/>
              <a:ahLst/>
              <a:cxnLst/>
              <a:rect r="r" b="b" t="t" l="l"/>
              <a:pathLst>
                <a:path h="219456" w="2231136">
                  <a:moveTo>
                    <a:pt x="0" y="0"/>
                  </a:moveTo>
                  <a:lnTo>
                    <a:pt x="2231136" y="0"/>
                  </a:lnTo>
                  <a:lnTo>
                    <a:pt x="2231136" y="219456"/>
                  </a:lnTo>
                  <a:lnTo>
                    <a:pt x="0" y="2194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8097" r="0" b="-148097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19050"/>
              <a:ext cx="2231136" cy="2385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spc="2">
                  <a:solidFill>
                    <a:srgbClr val="F7FA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BASELINE EXISTS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2934188" y="4910328"/>
            <a:ext cx="4992624" cy="301752"/>
            <a:chOff x="0" y="0"/>
            <a:chExt cx="6656832" cy="402336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6656832" cy="402336"/>
            </a:xfrm>
            <a:custGeom>
              <a:avLst/>
              <a:gdLst/>
              <a:ahLst/>
              <a:cxnLst/>
              <a:rect r="r" b="b" t="t" l="l"/>
              <a:pathLst>
                <a:path h="402336" w="6656832">
                  <a:moveTo>
                    <a:pt x="0" y="0"/>
                  </a:moveTo>
                  <a:lnTo>
                    <a:pt x="6656832" y="0"/>
                  </a:lnTo>
                  <a:lnTo>
                    <a:pt x="6656832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388" r="0" b="-272388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9525"/>
              <a:ext cx="6656832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spc="2">
                  <a:solidFill>
                    <a:srgbClr val="B8C3D6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API / DMA / CoLo規範已存在；專門化程度可再比較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156335" y="6464427"/>
            <a:ext cx="15998190" cy="1774698"/>
            <a:chOff x="0" y="0"/>
            <a:chExt cx="21330920" cy="2366264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1330920" cy="2366264"/>
            </a:xfrm>
            <a:custGeom>
              <a:avLst/>
              <a:gdLst/>
              <a:ahLst/>
              <a:cxnLst/>
              <a:rect r="r" b="b" t="t" l="l"/>
              <a:pathLst>
                <a:path h="2366264" w="21330920">
                  <a:moveTo>
                    <a:pt x="0" y="92456"/>
                  </a:moveTo>
                  <a:cubicBezTo>
                    <a:pt x="0" y="41402"/>
                    <a:pt x="41402" y="0"/>
                    <a:pt x="92456" y="0"/>
                  </a:cubicBezTo>
                  <a:lnTo>
                    <a:pt x="21238463" y="0"/>
                  </a:lnTo>
                  <a:cubicBezTo>
                    <a:pt x="21289518" y="0"/>
                    <a:pt x="21330920" y="41402"/>
                    <a:pt x="21330920" y="92456"/>
                  </a:cubicBezTo>
                  <a:lnTo>
                    <a:pt x="21330920" y="2273808"/>
                  </a:lnTo>
                  <a:cubicBezTo>
                    <a:pt x="21330920" y="2324862"/>
                    <a:pt x="21289518" y="2366264"/>
                    <a:pt x="21238463" y="2366264"/>
                  </a:cubicBezTo>
                  <a:lnTo>
                    <a:pt x="92456" y="2366264"/>
                  </a:lnTo>
                  <a:cubicBezTo>
                    <a:pt x="41402" y="2366264"/>
                    <a:pt x="0" y="2324862"/>
                    <a:pt x="0" y="2273808"/>
                  </a:cubicBezTo>
                  <a:close/>
                </a:path>
              </a:pathLst>
            </a:custGeom>
            <a:solidFill>
              <a:srgbClr val="17223A"/>
            </a:solidFill>
            <a:ln w="19050" cap="sq">
              <a:solidFill>
                <a:srgbClr val="F3C645"/>
              </a:solidFill>
              <a:prstDash val="solid"/>
              <a:miter/>
            </a:ln>
          </p:spPr>
        </p:sp>
      </p:grpSp>
      <p:grpSp>
        <p:nvGrpSpPr>
          <p:cNvPr name="Group 91" id="91"/>
          <p:cNvGrpSpPr/>
          <p:nvPr/>
        </p:nvGrpSpPr>
        <p:grpSpPr>
          <a:xfrm rot="0">
            <a:off x="1577340" y="6761988"/>
            <a:ext cx="5486400" cy="274320"/>
            <a:chOff x="0" y="0"/>
            <a:chExt cx="7315200" cy="36576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7315200" cy="365760"/>
            </a:xfrm>
            <a:custGeom>
              <a:avLst/>
              <a:gdLst/>
              <a:ahLst/>
              <a:cxnLst/>
              <a:rect r="r" b="b" t="t" l="l"/>
              <a:pathLst>
                <a:path h="36576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9525"/>
              <a:ext cx="7315200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spc="2">
                  <a:solidFill>
                    <a:srgbClr val="F3C645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THE REAL MATURITY QUESTION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577340" y="7255764"/>
            <a:ext cx="15019020" cy="384048"/>
            <a:chOff x="0" y="0"/>
            <a:chExt cx="20025360" cy="512064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20025361" cy="512064"/>
            </a:xfrm>
            <a:custGeom>
              <a:avLst/>
              <a:gdLst/>
              <a:ahLst/>
              <a:cxnLst/>
              <a:rect r="r" b="b" t="t" l="l"/>
              <a:pathLst>
                <a:path h="512064" w="20025361">
                  <a:moveTo>
                    <a:pt x="0" y="0"/>
                  </a:moveTo>
                  <a:lnTo>
                    <a:pt x="20025361" y="0"/>
                  </a:lnTo>
                  <a:lnTo>
                    <a:pt x="20025361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12004" r="0" b="-712004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9525"/>
              <a:ext cx="20025360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spc="5">
                  <a:solidFill>
                    <a:srgbClr val="F7FA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Can Taiwan convert Access into Adoption, Economic Value and Monetization?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577340" y="7845552"/>
            <a:ext cx="14744700" cy="246888"/>
            <a:chOff x="0" y="0"/>
            <a:chExt cx="19659600" cy="329184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9659600" cy="329184"/>
            </a:xfrm>
            <a:custGeom>
              <a:avLst/>
              <a:gdLst/>
              <a:ahLst/>
              <a:cxnLst/>
              <a:rect r="r" b="b" t="t" l="l"/>
              <a:pathLst>
                <a:path h="329184" w="19659600">
                  <a:moveTo>
                    <a:pt x="0" y="0"/>
                  </a:moveTo>
                  <a:lnTo>
                    <a:pt x="19659600" y="0"/>
                  </a:lnTo>
                  <a:lnTo>
                    <a:pt x="1965960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13689" r="0" b="-1113689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9525"/>
              <a:ext cx="19659600" cy="3387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15"/>
                </a:lnSpc>
              </a:pPr>
              <a:r>
                <a:rPr lang="en-US" sz="1679" spc="2">
                  <a:solidFill>
                    <a:srgbClr val="B8C3D6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台灣不是沒有基礎能力；真正要驗證的是 Professional Flow 與 Latency Economics 能否把既有基礎設施轉成商業價值。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754380" y="9779508"/>
            <a:ext cx="16596360" cy="274320"/>
            <a:chOff x="0" y="0"/>
            <a:chExt cx="22128480" cy="36576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22128480" cy="365760"/>
            </a:xfrm>
            <a:custGeom>
              <a:avLst/>
              <a:gdLst/>
              <a:ahLst/>
              <a:cxnLst/>
              <a:rect r="r" b="b" t="t" l="l"/>
              <a:pathLst>
                <a:path h="36576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28844" r="0" b="-1128844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9525"/>
              <a:ext cx="22128480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87"/>
                </a:lnSpc>
              </a:pPr>
              <a:r>
                <a:rPr lang="en-US" sz="989" spc="1">
                  <a:solidFill>
                    <a:srgbClr val="8793A6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Six conditions from Chapter II: Electronic Access, Professional Demand, Execution Complexity, Latency Economics, Monetization, Governance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07695" y="470535"/>
            <a:ext cx="87630" cy="979170"/>
            <a:chOff x="0" y="0"/>
            <a:chExt cx="116840" cy="13055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6840" cy="1305560"/>
            </a:xfrm>
            <a:custGeom>
              <a:avLst/>
              <a:gdLst/>
              <a:ahLst/>
              <a:cxnLst/>
              <a:rect r="r" b="b" t="t" l="l"/>
              <a:pathLst>
                <a:path h="1305560" w="116840">
                  <a:moveTo>
                    <a:pt x="0" y="0"/>
                  </a:moveTo>
                  <a:lnTo>
                    <a:pt x="116840" y="0"/>
                  </a:lnTo>
                  <a:lnTo>
                    <a:pt x="116840" y="1305560"/>
                  </a:lnTo>
                  <a:lnTo>
                    <a:pt x="0" y="1305560"/>
                  </a:lnTo>
                  <a:close/>
                </a:path>
              </a:pathLst>
            </a:custGeom>
            <a:solidFill>
              <a:srgbClr val="F3C645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850392" y="864108"/>
            <a:ext cx="16253460" cy="617220"/>
            <a:chOff x="0" y="0"/>
            <a:chExt cx="21671280" cy="8229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671280" cy="822960"/>
            </a:xfrm>
            <a:custGeom>
              <a:avLst/>
              <a:gdLst/>
              <a:ahLst/>
              <a:cxnLst/>
              <a:rect r="r" b="b" t="t" l="l"/>
              <a:pathLst>
                <a:path h="822960" w="21671280">
                  <a:moveTo>
                    <a:pt x="0" y="0"/>
                  </a:moveTo>
                  <a:lnTo>
                    <a:pt x="21671280" y="0"/>
                  </a:lnTo>
                  <a:lnTo>
                    <a:pt x="216712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3105" r="0" b="-46310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671280" cy="832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230"/>
                </a:lnSpc>
              </a:pPr>
              <a:r>
                <a:rPr lang="en-US" sz="3525" spc="5">
                  <a:solidFill>
                    <a:srgbClr val="F7FA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第三章結論：台灣成熟度要按「轉化」判斷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50392" y="1549908"/>
            <a:ext cx="16116300" cy="452628"/>
            <a:chOff x="0" y="0"/>
            <a:chExt cx="21488400" cy="6035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488400" cy="603504"/>
            </a:xfrm>
            <a:custGeom>
              <a:avLst/>
              <a:gdLst/>
              <a:ahLst/>
              <a:cxnLst/>
              <a:rect r="r" b="b" t="t" l="l"/>
              <a:pathLst>
                <a:path h="603504" w="21488400">
                  <a:moveTo>
                    <a:pt x="0" y="0"/>
                  </a:moveTo>
                  <a:lnTo>
                    <a:pt x="21488400" y="0"/>
                  </a:lnTo>
                  <a:lnTo>
                    <a:pt x="21488400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43785" r="0" b="-64378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1488400" cy="6035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spc="2">
                  <a:solidFill>
                    <a:srgbClr val="B8C3D6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下一章才進入投資條件、內部資料驗證與券商能力Roadmap。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28725" y="2394585"/>
            <a:ext cx="15853410" cy="1588770"/>
            <a:chOff x="0" y="0"/>
            <a:chExt cx="21137880" cy="21183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137880" cy="2118360"/>
            </a:xfrm>
            <a:custGeom>
              <a:avLst/>
              <a:gdLst/>
              <a:ahLst/>
              <a:cxnLst/>
              <a:rect r="r" b="b" t="t" l="l"/>
              <a:pathLst>
                <a:path h="2118360" w="21137880">
                  <a:moveTo>
                    <a:pt x="0" y="92075"/>
                  </a:moveTo>
                  <a:cubicBezTo>
                    <a:pt x="0" y="41275"/>
                    <a:pt x="41275" y="0"/>
                    <a:pt x="92075" y="0"/>
                  </a:cubicBezTo>
                  <a:lnTo>
                    <a:pt x="21045805" y="0"/>
                  </a:lnTo>
                  <a:cubicBezTo>
                    <a:pt x="21096732" y="0"/>
                    <a:pt x="21137880" y="41275"/>
                    <a:pt x="21137880" y="92075"/>
                  </a:cubicBezTo>
                  <a:lnTo>
                    <a:pt x="21137880" y="2026285"/>
                  </a:lnTo>
                  <a:cubicBezTo>
                    <a:pt x="21137880" y="2077212"/>
                    <a:pt x="21096605" y="2118360"/>
                    <a:pt x="21045805" y="2118360"/>
                  </a:cubicBezTo>
                  <a:lnTo>
                    <a:pt x="92075" y="2118360"/>
                  </a:lnTo>
                  <a:cubicBezTo>
                    <a:pt x="41148" y="2118360"/>
                    <a:pt x="0" y="2077085"/>
                    <a:pt x="0" y="2026285"/>
                  </a:cubicBezTo>
                  <a:close/>
                </a:path>
              </a:pathLst>
            </a:custGeom>
            <a:solidFill>
              <a:srgbClr val="101B2F">
                <a:alpha val="93725"/>
              </a:srgbClr>
            </a:solidFill>
            <a:ln w="1143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604772" y="2647188"/>
            <a:ext cx="822960" cy="438912"/>
            <a:chOff x="0" y="0"/>
            <a:chExt cx="1097280" cy="58521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97280" cy="585216"/>
            </a:xfrm>
            <a:custGeom>
              <a:avLst/>
              <a:gdLst/>
              <a:ahLst/>
              <a:cxnLst/>
              <a:rect r="r" b="b" t="t" l="l"/>
              <a:pathLst>
                <a:path h="585216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8428" t="0" r="-18428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1097280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spc="5">
                  <a:solidFill>
                    <a:srgbClr val="F3C645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01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674620" y="2633472"/>
            <a:ext cx="13441680" cy="411480"/>
            <a:chOff x="0" y="0"/>
            <a:chExt cx="17922240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922239" cy="548640"/>
            </a:xfrm>
            <a:custGeom>
              <a:avLst/>
              <a:gdLst/>
              <a:ahLst/>
              <a:cxnLst/>
              <a:rect r="r" b="b" t="t" l="l"/>
              <a:pathLst>
                <a:path h="548640" w="17922239">
                  <a:moveTo>
                    <a:pt x="0" y="0"/>
                  </a:moveTo>
                  <a:lnTo>
                    <a:pt x="17922239" y="0"/>
                  </a:lnTo>
                  <a:lnTo>
                    <a:pt x="1792223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86511" r="0" b="-58651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1792224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spc="4">
                  <a:solidFill>
                    <a:srgbClr val="F7FA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Taiwan has largely built the access infrastructure.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674620" y="3278124"/>
            <a:ext cx="13441680" cy="329184"/>
            <a:chOff x="0" y="0"/>
            <a:chExt cx="17922240" cy="43891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7922239" cy="438912"/>
            </a:xfrm>
            <a:custGeom>
              <a:avLst/>
              <a:gdLst/>
              <a:ahLst/>
              <a:cxnLst/>
              <a:rect r="r" b="b" t="t" l="l"/>
              <a:pathLst>
                <a:path h="438912" w="17922239">
                  <a:moveTo>
                    <a:pt x="0" y="0"/>
                  </a:moveTo>
                  <a:lnTo>
                    <a:pt x="17922239" y="0"/>
                  </a:lnTo>
                  <a:lnTo>
                    <a:pt x="17922239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45639" r="0" b="-745639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7922240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95"/>
                </a:lnSpc>
              </a:pPr>
              <a:r>
                <a:rPr lang="en-US" sz="1829" spc="3">
                  <a:solidFill>
                    <a:srgbClr val="B8C3D6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台灣已大致完成 Electronic Access / DMA / CoLo / 逐筆交易等基礎。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28725" y="4246245"/>
            <a:ext cx="15853410" cy="1588770"/>
            <a:chOff x="0" y="0"/>
            <a:chExt cx="21137880" cy="21183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137880" cy="2118360"/>
            </a:xfrm>
            <a:custGeom>
              <a:avLst/>
              <a:gdLst/>
              <a:ahLst/>
              <a:cxnLst/>
              <a:rect r="r" b="b" t="t" l="l"/>
              <a:pathLst>
                <a:path h="2118360" w="21137880">
                  <a:moveTo>
                    <a:pt x="0" y="92075"/>
                  </a:moveTo>
                  <a:cubicBezTo>
                    <a:pt x="0" y="41275"/>
                    <a:pt x="41275" y="0"/>
                    <a:pt x="92075" y="0"/>
                  </a:cubicBezTo>
                  <a:lnTo>
                    <a:pt x="21045805" y="0"/>
                  </a:lnTo>
                  <a:cubicBezTo>
                    <a:pt x="21096732" y="0"/>
                    <a:pt x="21137880" y="41275"/>
                    <a:pt x="21137880" y="92075"/>
                  </a:cubicBezTo>
                  <a:lnTo>
                    <a:pt x="21137880" y="2026285"/>
                  </a:lnTo>
                  <a:cubicBezTo>
                    <a:pt x="21137880" y="2077212"/>
                    <a:pt x="21096605" y="2118360"/>
                    <a:pt x="21045805" y="2118360"/>
                  </a:cubicBezTo>
                  <a:lnTo>
                    <a:pt x="92075" y="2118360"/>
                  </a:lnTo>
                  <a:cubicBezTo>
                    <a:pt x="41148" y="2118360"/>
                    <a:pt x="0" y="2077085"/>
                    <a:pt x="0" y="2026285"/>
                  </a:cubicBezTo>
                  <a:close/>
                </a:path>
              </a:pathLst>
            </a:custGeom>
            <a:solidFill>
              <a:srgbClr val="101B2F">
                <a:alpha val="93725"/>
              </a:srgbClr>
            </a:solidFill>
            <a:ln w="1143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604772" y="4498848"/>
            <a:ext cx="822960" cy="438912"/>
            <a:chOff x="0" y="0"/>
            <a:chExt cx="1097280" cy="58521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97280" cy="585216"/>
            </a:xfrm>
            <a:custGeom>
              <a:avLst/>
              <a:gdLst/>
              <a:ahLst/>
              <a:cxnLst/>
              <a:rect r="r" b="b" t="t" l="l"/>
              <a:pathLst>
                <a:path h="585216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8428" t="0" r="-18428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1097280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spc="5">
                  <a:solidFill>
                    <a:srgbClr val="F3C645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02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2674620" y="4485132"/>
            <a:ext cx="13441680" cy="411480"/>
            <a:chOff x="0" y="0"/>
            <a:chExt cx="17922240" cy="5486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7922239" cy="548640"/>
            </a:xfrm>
            <a:custGeom>
              <a:avLst/>
              <a:gdLst/>
              <a:ahLst/>
              <a:cxnLst/>
              <a:rect r="r" b="b" t="t" l="l"/>
              <a:pathLst>
                <a:path h="548640" w="17922239">
                  <a:moveTo>
                    <a:pt x="0" y="0"/>
                  </a:moveTo>
                  <a:lnTo>
                    <a:pt x="17922239" y="0"/>
                  </a:lnTo>
                  <a:lnTo>
                    <a:pt x="1792223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86511" r="0" b="-586511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1792224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spc="4">
                  <a:solidFill>
                    <a:srgbClr val="F7FA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The next question is product-level professional demand and latency economics.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2674620" y="5129784"/>
            <a:ext cx="13441680" cy="329184"/>
            <a:chOff x="0" y="0"/>
            <a:chExt cx="17922240" cy="43891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7922239" cy="438912"/>
            </a:xfrm>
            <a:custGeom>
              <a:avLst/>
              <a:gdLst/>
              <a:ahLst/>
              <a:cxnLst/>
              <a:rect r="r" b="b" t="t" l="l"/>
              <a:pathLst>
                <a:path h="438912" w="17922239">
                  <a:moveTo>
                    <a:pt x="0" y="0"/>
                  </a:moveTo>
                  <a:lnTo>
                    <a:pt x="17922239" y="0"/>
                  </a:lnTo>
                  <a:lnTo>
                    <a:pt x="17922239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45639" r="0" b="-745639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17922240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95"/>
                </a:lnSpc>
              </a:pPr>
              <a:r>
                <a:rPr lang="en-US" sz="1829" spc="3">
                  <a:solidFill>
                    <a:srgbClr val="B8C3D6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成熟度不能只看「台股」；必須拆現股、期貨、選擇權、權證與套利場景。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228725" y="6097905"/>
            <a:ext cx="15853410" cy="1588770"/>
            <a:chOff x="0" y="0"/>
            <a:chExt cx="21137880" cy="21183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1137880" cy="2118360"/>
            </a:xfrm>
            <a:custGeom>
              <a:avLst/>
              <a:gdLst/>
              <a:ahLst/>
              <a:cxnLst/>
              <a:rect r="r" b="b" t="t" l="l"/>
              <a:pathLst>
                <a:path h="2118360" w="21137880">
                  <a:moveTo>
                    <a:pt x="0" y="92075"/>
                  </a:moveTo>
                  <a:cubicBezTo>
                    <a:pt x="0" y="41275"/>
                    <a:pt x="41275" y="0"/>
                    <a:pt x="92075" y="0"/>
                  </a:cubicBezTo>
                  <a:lnTo>
                    <a:pt x="21045805" y="0"/>
                  </a:lnTo>
                  <a:cubicBezTo>
                    <a:pt x="21096732" y="0"/>
                    <a:pt x="21137880" y="41275"/>
                    <a:pt x="21137880" y="92075"/>
                  </a:cubicBezTo>
                  <a:lnTo>
                    <a:pt x="21137880" y="2026285"/>
                  </a:lnTo>
                  <a:cubicBezTo>
                    <a:pt x="21137880" y="2077212"/>
                    <a:pt x="21096605" y="2118360"/>
                    <a:pt x="21045805" y="2118360"/>
                  </a:cubicBezTo>
                  <a:lnTo>
                    <a:pt x="92075" y="2118360"/>
                  </a:lnTo>
                  <a:cubicBezTo>
                    <a:pt x="41148" y="2118360"/>
                    <a:pt x="0" y="2077085"/>
                    <a:pt x="0" y="2026285"/>
                  </a:cubicBezTo>
                  <a:close/>
                </a:path>
              </a:pathLst>
            </a:custGeom>
            <a:solidFill>
              <a:srgbClr val="101B2F">
                <a:alpha val="93725"/>
              </a:srgbClr>
            </a:solidFill>
            <a:ln w="1143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604772" y="6350508"/>
            <a:ext cx="822960" cy="438912"/>
            <a:chOff x="0" y="0"/>
            <a:chExt cx="1097280" cy="58521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97280" cy="585216"/>
            </a:xfrm>
            <a:custGeom>
              <a:avLst/>
              <a:gdLst/>
              <a:ahLst/>
              <a:cxnLst/>
              <a:rect r="r" b="b" t="t" l="l"/>
              <a:pathLst>
                <a:path h="585216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8428" t="0" r="-18428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097280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spc="5">
                  <a:solidFill>
                    <a:srgbClr val="F3C645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03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2674620" y="6336792"/>
            <a:ext cx="13441680" cy="411480"/>
            <a:chOff x="0" y="0"/>
            <a:chExt cx="17922240" cy="5486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7922239" cy="548640"/>
            </a:xfrm>
            <a:custGeom>
              <a:avLst/>
              <a:gdLst/>
              <a:ahLst/>
              <a:cxnLst/>
              <a:rect r="r" b="b" t="t" l="l"/>
              <a:pathLst>
                <a:path h="548640" w="17922239">
                  <a:moveTo>
                    <a:pt x="0" y="0"/>
                  </a:moveTo>
                  <a:lnTo>
                    <a:pt x="17922239" y="0"/>
                  </a:lnTo>
                  <a:lnTo>
                    <a:pt x="1792223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86511" r="0" b="-586511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1792224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spc="4">
                  <a:solidFill>
                    <a:srgbClr val="F7FA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Market maturity requires adoption, economic value and monetization.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2674620" y="6981444"/>
            <a:ext cx="13441680" cy="329184"/>
            <a:chOff x="0" y="0"/>
            <a:chExt cx="17922240" cy="43891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7922239" cy="438912"/>
            </a:xfrm>
            <a:custGeom>
              <a:avLst/>
              <a:gdLst/>
              <a:ahLst/>
              <a:cxnLst/>
              <a:rect r="r" b="b" t="t" l="l"/>
              <a:pathLst>
                <a:path h="438912" w="17922239">
                  <a:moveTo>
                    <a:pt x="0" y="0"/>
                  </a:moveTo>
                  <a:lnTo>
                    <a:pt x="17922239" y="0"/>
                  </a:lnTo>
                  <a:lnTo>
                    <a:pt x="17922239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45639" r="0" b="-745639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17922240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95"/>
                </a:lnSpc>
              </a:pPr>
              <a:r>
                <a:rPr lang="en-US" sz="1829" spc="3">
                  <a:solidFill>
                    <a:srgbClr val="B8C3D6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有設備不等於成熟；真正成熟是被大量採用、產生經濟價值並能商業化。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2185035" y="8288655"/>
            <a:ext cx="13872210" cy="869442"/>
            <a:chOff x="0" y="0"/>
            <a:chExt cx="18496280" cy="115925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8496280" cy="1159256"/>
            </a:xfrm>
            <a:custGeom>
              <a:avLst/>
              <a:gdLst/>
              <a:ahLst/>
              <a:cxnLst/>
              <a:rect r="r" b="b" t="t" l="l"/>
              <a:pathLst>
                <a:path h="1159256" w="18496280">
                  <a:moveTo>
                    <a:pt x="0" y="93472"/>
                  </a:moveTo>
                  <a:cubicBezTo>
                    <a:pt x="0" y="41910"/>
                    <a:pt x="41910" y="0"/>
                    <a:pt x="93472" y="0"/>
                  </a:cubicBezTo>
                  <a:lnTo>
                    <a:pt x="18402808" y="0"/>
                  </a:lnTo>
                  <a:cubicBezTo>
                    <a:pt x="18454497" y="0"/>
                    <a:pt x="18496280" y="41910"/>
                    <a:pt x="18496280" y="93472"/>
                  </a:cubicBezTo>
                  <a:lnTo>
                    <a:pt x="18496280" y="1065784"/>
                  </a:lnTo>
                  <a:cubicBezTo>
                    <a:pt x="18496280" y="1117473"/>
                    <a:pt x="18454371" y="1159256"/>
                    <a:pt x="18402808" y="1159256"/>
                  </a:cubicBezTo>
                  <a:lnTo>
                    <a:pt x="93472" y="1159256"/>
                  </a:lnTo>
                  <a:cubicBezTo>
                    <a:pt x="41910" y="1159256"/>
                    <a:pt x="0" y="1117346"/>
                    <a:pt x="0" y="1065784"/>
                  </a:cubicBezTo>
                  <a:close/>
                </a:path>
              </a:pathLst>
            </a:custGeom>
            <a:solidFill>
              <a:srgbClr val="17223A"/>
            </a:solidFill>
            <a:ln w="19050" cap="sq">
              <a:solidFill>
                <a:srgbClr val="12D7FF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2537460" y="8599932"/>
            <a:ext cx="13167360" cy="219456"/>
            <a:chOff x="0" y="0"/>
            <a:chExt cx="17556480" cy="29260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7556480" cy="292608"/>
            </a:xfrm>
            <a:custGeom>
              <a:avLst/>
              <a:gdLst/>
              <a:ahLst/>
              <a:cxnLst/>
              <a:rect r="r" b="b" t="t" l="l"/>
              <a:pathLst>
                <a:path h="292608" w="17556480">
                  <a:moveTo>
                    <a:pt x="0" y="0"/>
                  </a:moveTo>
                  <a:lnTo>
                    <a:pt x="17556480" y="0"/>
                  </a:lnTo>
                  <a:lnTo>
                    <a:pt x="1755648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19102" r="0" b="-1119102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"/>
              <a:ext cx="17556480" cy="3021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spc="3">
                  <a:solidFill>
                    <a:srgbClr val="F7FAFF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NEXT｜Which product and client flows can create this conversion in Taiwan?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754380" y="9779508"/>
            <a:ext cx="16596360" cy="274320"/>
            <a:chOff x="0" y="0"/>
            <a:chExt cx="22128480" cy="36576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2128480" cy="365760"/>
            </a:xfrm>
            <a:custGeom>
              <a:avLst/>
              <a:gdLst/>
              <a:ahLst/>
              <a:cxnLst/>
              <a:rect r="r" b="b" t="t" l="l"/>
              <a:pathLst>
                <a:path h="36576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28844" r="0" b="-1128844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22128480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87"/>
                </a:lnSpc>
              </a:pPr>
              <a:r>
                <a:rPr lang="en-US" sz="989" spc="1">
                  <a:solidFill>
                    <a:srgbClr val="8793A6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Transition to Chapter IV: Investment Conditions &amp; Broker Response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DAHSIRxGof4</dc:identifier>
  <dcterms:modified xsi:type="dcterms:W3CDTF">2011-08-01T06:04:30Z</dcterms:modified>
  <cp:revision>1</cp:revision>
  <dc:title>Blue Black Tech Programmer Presentation</dc:title>
</cp:coreProperties>
</file>